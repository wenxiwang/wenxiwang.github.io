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0" r:id="rId5"/>
    <p:sldMasterId id="2147483662" r:id="rId6"/>
    <p:sldMasterId id="2147483674" r:id="rId7"/>
    <p:sldMasterId id="2147483686" r:id="rId8"/>
    <p:sldMasterId id="214748369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y="6858000" cx="9144000"/>
  <p:notesSz cx="9236075" cy="7010400"/>
  <p:embeddedFontLst>
    <p:embeddedFont>
      <p:font typeface="Century Schoolbook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744">
          <p15:clr>
            <a:srgbClr val="A4A3A4"/>
          </p15:clr>
        </p15:guide>
      </p15:sldGuideLst>
    </p:ext>
    <p:ext uri="{2D200454-40CA-4A62-9FC3-DE9A4176ACB9}">
      <p15:notesGuideLst>
        <p15:guide id="1" orient="horz" pos="2208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  <p:ext uri="GoogleSlidesCustomDataVersion2">
      <go:slidesCustomData xmlns:go="http://customooxmlschemas.google.com/" r:id="rId29" roundtripDataSignature="AMtx7milczjhsevfFzNVIJ5N+HqINxRe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74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290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font" Target="fonts/CenturySchoolbook-bold.fntdata"/><Relationship Id="rId25" Type="http://schemas.openxmlformats.org/officeDocument/2006/relationships/font" Target="fonts/CenturySchoolbook-regular.fntdata"/><Relationship Id="rId28" Type="http://schemas.openxmlformats.org/officeDocument/2006/relationships/font" Target="fonts/CenturySchoolbook-boldItalic.fntdata"/><Relationship Id="rId27" Type="http://schemas.openxmlformats.org/officeDocument/2006/relationships/font" Target="fonts/CenturySchoolbook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" y="2"/>
            <a:ext cx="4003136" cy="35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32941" y="2"/>
            <a:ext cx="4003136" cy="35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6" name="Google Shape;396;p2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28" name="Google Shape;428;p3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0" name="Google Shape;460;p5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-292100" lvl="1" marL="6413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" name="Google Shape;461;p5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4" name="Google Shape;474;p6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83" name="Google Shape;483;p7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-276225" lvl="0" marL="2905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sz="1600">
              <a:solidFill>
                <a:srgbClr val="FFFD78"/>
              </a:solidFill>
            </a:endParaRPr>
          </a:p>
        </p:txBody>
      </p:sp>
      <p:sp>
        <p:nvSpPr>
          <p:cNvPr id="484" name="Google Shape;484;p7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94" name="Google Shape;494;p8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14" name="Google Shape;514;p9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9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0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1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1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2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3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0C0C0C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ctrTitle"/>
          </p:nvPr>
        </p:nvSpPr>
        <p:spPr>
          <a:xfrm>
            <a:off x="1066800" y="377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Verdana"/>
              <a:buNone/>
              <a:defRPr sz="6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subTitle"/>
          </p:nvPr>
        </p:nvSpPr>
        <p:spPr>
          <a:xfrm>
            <a:off x="1066800" y="44958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" name="Google Shape;20;p1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8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8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8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8"/>
          <p:cNvCxnSpPr/>
          <p:nvPr/>
        </p:nvCxnSpPr>
        <p:spPr>
          <a:xfrm>
            <a:off x="609600" y="3962400"/>
            <a:ext cx="7924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0C0C0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  <a:defRPr b="1" sz="4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066801"/>
            <a:ext cx="7955280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240"/>
              <a:buChar char="•"/>
              <a:defRPr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0C0C0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ctrTitle"/>
          </p:nvPr>
        </p:nvSpPr>
        <p:spPr>
          <a:xfrm>
            <a:off x="1066800" y="377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Verdana"/>
              <a:buNone/>
              <a:defRPr sz="6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1066800" y="44958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" name="Google Shape;39;p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sz="1000" u="non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 u="non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000" u="non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sz="1000" u="non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17"/>
          <p:cNvCxnSpPr/>
          <p:nvPr/>
        </p:nvCxnSpPr>
        <p:spPr>
          <a:xfrm>
            <a:off x="609600" y="3962400"/>
            <a:ext cx="7924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C0C0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entury Schoolbook"/>
              <a:buNone/>
              <a:defRPr b="0"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0C0C0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974539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974539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0" name="Google Shape;50;p21"/>
          <p:cNvSpPr txBox="1"/>
          <p:nvPr>
            <p:ph idx="2" type="body"/>
          </p:nvPr>
        </p:nvSpPr>
        <p:spPr>
          <a:xfrm>
            <a:off x="4622995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455811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2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077200" y="62484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7" name="Google Shape;57;p22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5" name="Google Shape;65;p25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6"/>
          <p:cNvSpPr txBox="1"/>
          <p:nvPr>
            <p:ph type="title"/>
          </p:nvPr>
        </p:nvSpPr>
        <p:spPr>
          <a:xfrm>
            <a:off x="685800" y="5257800"/>
            <a:ext cx="7486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26"/>
          <p:cNvPicPr preferRelativeResize="0"/>
          <p:nvPr>
            <p:ph idx="2" type="pic"/>
          </p:nvPr>
        </p:nvPicPr>
        <p:blipFill/>
        <p:spPr>
          <a:xfrm>
            <a:off x="0" y="1"/>
            <a:ext cx="8469630" cy="512892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3" name="Google Shape;73;p26"/>
          <p:cNvSpPr txBox="1"/>
          <p:nvPr>
            <p:ph idx="1" type="body"/>
          </p:nvPr>
        </p:nvSpPr>
        <p:spPr>
          <a:xfrm>
            <a:off x="685800" y="6108590"/>
            <a:ext cx="748665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6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5" name="Google Shape;75;p26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" type="body"/>
          </p:nvPr>
        </p:nvSpPr>
        <p:spPr>
          <a:xfrm rot="5400000">
            <a:off x="1993995" y="781210"/>
            <a:ext cx="4351337" cy="644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1" name="Google Shape;81;p27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2" name="Google Shape;82;p27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/>
          <p:nvPr>
            <p:ph type="title"/>
          </p:nvPr>
        </p:nvSpPr>
        <p:spPr>
          <a:xfrm rot="5400000">
            <a:off x="4466432" y="2401093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" type="body"/>
          </p:nvPr>
        </p:nvSpPr>
        <p:spPr>
          <a:xfrm rot="5400000">
            <a:off x="523081" y="429418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7" name="Google Shape;11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4" name="Google Shape;12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9" name="Google Shape;14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1" name="Google Shape;191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2" name="Google Shape;192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9" name="Google Shape;199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1" name="Google Shape;20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6" name="Google Shape;216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7" name="Google Shape;217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4" name="Google Shape;224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8" name="Google Shape;24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0" name="Google Shape;260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5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6" name="Google Shape;266;p5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7" name="Google Shape;26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3" name="Google Shape;273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4" name="Google Shape;274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5" name="Google Shape;275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6" name="Google Shape;276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1" name="Google Shape;291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2" name="Google Shape;292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9" name="Google Shape;299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6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6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3" name="Google Shape;323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9" name="Google Shape;329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6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5" name="Google Shape;335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6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1" name="Google Shape;341;p6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2" name="Google Shape;342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7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8" name="Google Shape;348;p7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9" name="Google Shape;349;p7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0" name="Google Shape;350;p7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1" name="Google Shape;35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7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6" name="Google Shape;366;p7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7" name="Google Shape;36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7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7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4" name="Google Shape;374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7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7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909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16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FF4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16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" name="Google Shape;14;p16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6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1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FF4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15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0" name="Google Shape;30;p15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5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3" name="Google Shape;9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6" name="Google Shape;166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8" name="Google Shape;16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9" name="Google Shape;16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3" name="Google Shape;243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4" name="Google Shape;244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6" name="Google Shape;316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8" name="Google Shape;318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9" name="Google Shape;319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cs.virginia.edu/~up3f/cs3250/" TargetMode="External"/><Relationship Id="rId4" Type="http://schemas.openxmlformats.org/officeDocument/2006/relationships/image" Target="../media/image6.jpg"/><Relationship Id="rId5" Type="http://schemas.openxmlformats.org/officeDocument/2006/relationships/hyperlink" Target="https://www.albany.edu/faculty/offutt/softwaretest/" TargetMode="External"/><Relationship Id="rId6" Type="http://schemas.openxmlformats.org/officeDocument/2006/relationships/hyperlink" Target="https://www.albany.edu/faculty/offutt/softwaretest/exer-student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iazza.com/virginia/fall2026/cs3250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orms.office.com/r/uwbbLJEGQ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gradescope.com/courses/1341917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s.virginia.edu/~up3f/cs3250/policies.html#no-extension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"/>
          <p:cNvSpPr txBox="1"/>
          <p:nvPr>
            <p:ph type="ctrTitle"/>
          </p:nvPr>
        </p:nvSpPr>
        <p:spPr>
          <a:xfrm>
            <a:off x="685800" y="6096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Verdana"/>
              <a:buNone/>
            </a:pPr>
            <a:r>
              <a:rPr b="1" lang="en-US" sz="4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Welcome to </a:t>
            </a:r>
            <a:br>
              <a:rPr b="1" lang="en-US" sz="4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4800">
                <a:solidFill>
                  <a:srgbClr val="FFFF00"/>
                </a:solidFill>
              </a:rPr>
              <a:t>CS 3250 </a:t>
            </a:r>
            <a:br>
              <a:rPr b="1" lang="en-US" sz="4800">
                <a:solidFill>
                  <a:srgbClr val="FFFF00"/>
                </a:solidFill>
              </a:rPr>
            </a:br>
            <a:r>
              <a:rPr b="1" lang="en-US" sz="4800">
                <a:solidFill>
                  <a:srgbClr val="FFFF00"/>
                </a:solidFill>
              </a:rPr>
              <a:t>Software Testing</a:t>
            </a:r>
            <a:br>
              <a:rPr b="1" lang="en-US" sz="4800">
                <a:solidFill>
                  <a:srgbClr val="FFFF00"/>
                </a:solidFill>
              </a:rPr>
            </a:br>
            <a:br>
              <a:rPr b="1" lang="en-US" sz="5000">
                <a:solidFill>
                  <a:srgbClr val="FFFF00"/>
                </a:solidFill>
              </a:rPr>
            </a:br>
            <a:r>
              <a:rPr b="1" lang="en-US" sz="2800"/>
              <a:t>Upsorn Praphamontripong</a:t>
            </a:r>
            <a:br>
              <a:rPr b="1" lang="en-US" sz="3100">
                <a:solidFill>
                  <a:srgbClr val="001279"/>
                </a:solidFill>
              </a:rPr>
            </a:br>
            <a:r>
              <a:rPr b="0" lang="en-US" sz="2000">
                <a:latin typeface="Verdana"/>
                <a:ea typeface="Verdana"/>
                <a:cs typeface="Verdana"/>
                <a:sym typeface="Verdana"/>
              </a:rPr>
              <a:t>upsorn@virginia.edu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Have You Ever Wondered</a:t>
            </a:r>
            <a:endParaRPr/>
          </a:p>
        </p:txBody>
      </p:sp>
      <p:grpSp>
        <p:nvGrpSpPr>
          <p:cNvPr id="400" name="Google Shape;400;p2"/>
          <p:cNvGrpSpPr/>
          <p:nvPr/>
        </p:nvGrpSpPr>
        <p:grpSpPr>
          <a:xfrm>
            <a:off x="1770609" y="4876800"/>
            <a:ext cx="2311901" cy="1057393"/>
            <a:chOff x="3680889" y="4419519"/>
            <a:chExt cx="2951789" cy="1082721"/>
          </a:xfrm>
        </p:grpSpPr>
        <p:sp>
          <p:nvSpPr>
            <p:cNvPr id="401" name="Google Shape;401;p2"/>
            <p:cNvSpPr/>
            <p:nvPr/>
          </p:nvSpPr>
          <p:spPr>
            <a:xfrm>
              <a:off x="3680889" y="4419519"/>
              <a:ext cx="2918720" cy="1082721"/>
            </a:xfrm>
            <a:prstGeom prst="cloudCallout">
              <a:avLst>
                <a:gd fmla="val 55433" name="adj1"/>
                <a:gd fmla="val -53833" name="adj2"/>
              </a:avLst>
            </a:prstGeom>
            <a:solidFill>
              <a:srgbClr val="D6D7FF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-3175" lvl="0" marL="17463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02" name="Google Shape;402;p2"/>
            <p:cNvSpPr txBox="1"/>
            <p:nvPr/>
          </p:nvSpPr>
          <p:spPr>
            <a:xfrm>
              <a:off x="3755366" y="4704557"/>
              <a:ext cx="2877312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How do we design effective tests?</a:t>
              </a:r>
              <a:endParaRPr/>
            </a:p>
          </p:txBody>
        </p:sp>
      </p:grpSp>
      <p:grpSp>
        <p:nvGrpSpPr>
          <p:cNvPr id="403" name="Google Shape;403;p2"/>
          <p:cNvGrpSpPr/>
          <p:nvPr/>
        </p:nvGrpSpPr>
        <p:grpSpPr>
          <a:xfrm>
            <a:off x="7000137" y="4307261"/>
            <a:ext cx="1937002" cy="1026739"/>
            <a:chOff x="2228256" y="2150050"/>
            <a:chExt cx="2353957" cy="1026739"/>
          </a:xfrm>
        </p:grpSpPr>
        <p:sp>
          <p:nvSpPr>
            <p:cNvPr id="404" name="Google Shape;404;p2"/>
            <p:cNvSpPr/>
            <p:nvPr/>
          </p:nvSpPr>
          <p:spPr>
            <a:xfrm>
              <a:off x="2228256" y="2150050"/>
              <a:ext cx="2353957" cy="1026739"/>
            </a:xfrm>
            <a:prstGeom prst="cloudCallout">
              <a:avLst>
                <a:gd fmla="val -63498" name="adj1"/>
                <a:gd fmla="val -44320" name="adj2"/>
              </a:avLst>
            </a:prstGeom>
            <a:solidFill>
              <a:srgbClr val="FFE0DC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05" name="Google Shape;405;p2"/>
            <p:cNvSpPr txBox="1"/>
            <p:nvPr/>
          </p:nvSpPr>
          <p:spPr>
            <a:xfrm>
              <a:off x="2432325" y="2331069"/>
              <a:ext cx="2015759" cy="720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How many tests do we need?</a:t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06" name="Google Shape;406;p2"/>
          <p:cNvGrpSpPr/>
          <p:nvPr/>
        </p:nvGrpSpPr>
        <p:grpSpPr>
          <a:xfrm>
            <a:off x="368630" y="1786645"/>
            <a:ext cx="2438400" cy="1289951"/>
            <a:chOff x="640080" y="3884790"/>
            <a:chExt cx="2882025" cy="1425582"/>
          </a:xfrm>
        </p:grpSpPr>
        <p:sp>
          <p:nvSpPr>
            <p:cNvPr id="407" name="Google Shape;407;p2"/>
            <p:cNvSpPr/>
            <p:nvPr/>
          </p:nvSpPr>
          <p:spPr>
            <a:xfrm>
              <a:off x="640080" y="3884790"/>
              <a:ext cx="2882025" cy="1425582"/>
            </a:xfrm>
            <a:prstGeom prst="cloudCallout">
              <a:avLst>
                <a:gd fmla="val 48898" name="adj1"/>
                <a:gd fmla="val 53664" name="adj2"/>
              </a:avLst>
            </a:prstGeom>
            <a:solidFill>
              <a:srgbClr val="FFFED6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08" name="Google Shape;408;p2"/>
            <p:cNvSpPr txBox="1"/>
            <p:nvPr/>
          </p:nvSpPr>
          <p:spPr>
            <a:xfrm>
              <a:off x="962218" y="4214330"/>
              <a:ext cx="2243327" cy="795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Why are some tests difficult to automate?</a:t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09" name="Google Shape;409;p2"/>
          <p:cNvGrpSpPr/>
          <p:nvPr/>
        </p:nvGrpSpPr>
        <p:grpSpPr>
          <a:xfrm>
            <a:off x="6810001" y="2935445"/>
            <a:ext cx="2086356" cy="1019073"/>
            <a:chOff x="4864608" y="2574358"/>
            <a:chExt cx="2450592" cy="1019073"/>
          </a:xfrm>
        </p:grpSpPr>
        <p:sp>
          <p:nvSpPr>
            <p:cNvPr id="410" name="Google Shape;410;p2"/>
            <p:cNvSpPr/>
            <p:nvPr/>
          </p:nvSpPr>
          <p:spPr>
            <a:xfrm>
              <a:off x="4864608" y="2574358"/>
              <a:ext cx="2450592" cy="1019073"/>
            </a:xfrm>
            <a:prstGeom prst="cloudCallout">
              <a:avLst>
                <a:gd fmla="val -63856" name="adj1"/>
                <a:gd fmla="val 42542" name="adj2"/>
              </a:avLst>
            </a:prstGeom>
            <a:solidFill>
              <a:srgbClr val="FFE0DC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1" name="Google Shape;411;p2"/>
            <p:cNvSpPr txBox="1"/>
            <p:nvPr/>
          </p:nvSpPr>
          <p:spPr>
            <a:xfrm>
              <a:off x="5087938" y="2840239"/>
              <a:ext cx="2048256" cy="510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When should we stop testing?</a:t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12" name="Google Shape;412;p2"/>
          <p:cNvGrpSpPr/>
          <p:nvPr/>
        </p:nvGrpSpPr>
        <p:grpSpPr>
          <a:xfrm>
            <a:off x="5386284" y="1781884"/>
            <a:ext cx="2496312" cy="1191630"/>
            <a:chOff x="606312" y="3916763"/>
            <a:chExt cx="2837688" cy="1316924"/>
          </a:xfrm>
        </p:grpSpPr>
        <p:sp>
          <p:nvSpPr>
            <p:cNvPr id="413" name="Google Shape;413;p2"/>
            <p:cNvSpPr/>
            <p:nvPr/>
          </p:nvSpPr>
          <p:spPr>
            <a:xfrm>
              <a:off x="606312" y="3916763"/>
              <a:ext cx="2837688" cy="1316924"/>
            </a:xfrm>
            <a:prstGeom prst="cloudCallout">
              <a:avLst>
                <a:gd fmla="val -21231" name="adj1"/>
                <a:gd fmla="val 76114" name="adj2"/>
              </a:avLst>
            </a:prstGeom>
            <a:solidFill>
              <a:srgbClr val="FFE0DC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4" name="Google Shape;414;p2"/>
            <p:cNvSpPr txBox="1"/>
            <p:nvPr/>
          </p:nvSpPr>
          <p:spPr>
            <a:xfrm>
              <a:off x="923823" y="4212166"/>
              <a:ext cx="2243328" cy="795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How do we know if we have tested enough?</a:t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15" name="Google Shape;415;p2"/>
          <p:cNvGrpSpPr/>
          <p:nvPr/>
        </p:nvGrpSpPr>
        <p:grpSpPr>
          <a:xfrm>
            <a:off x="174440" y="3413214"/>
            <a:ext cx="3330760" cy="1463586"/>
            <a:chOff x="502920" y="3684196"/>
            <a:chExt cx="3191256" cy="1617475"/>
          </a:xfrm>
        </p:grpSpPr>
        <p:sp>
          <p:nvSpPr>
            <p:cNvPr id="416" name="Google Shape;416;p2"/>
            <p:cNvSpPr/>
            <p:nvPr/>
          </p:nvSpPr>
          <p:spPr>
            <a:xfrm>
              <a:off x="502920" y="3684196"/>
              <a:ext cx="3191256" cy="1617475"/>
            </a:xfrm>
            <a:prstGeom prst="cloudCallout">
              <a:avLst>
                <a:gd fmla="val 69452" name="adj1"/>
                <a:gd fmla="val 19424" name="adj2"/>
              </a:avLst>
            </a:prstGeom>
            <a:solidFill>
              <a:srgbClr val="DFFDC8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7" name="Google Shape;417;p2"/>
            <p:cNvSpPr txBox="1"/>
            <p:nvPr/>
          </p:nvSpPr>
          <p:spPr>
            <a:xfrm>
              <a:off x="861447" y="4014911"/>
              <a:ext cx="2478826" cy="1027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175" lvl="0" marL="17463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We write tests to test software, but how do we determine if our tests are good enough?</a:t>
              </a:r>
              <a:endParaRPr b="0" i="0" sz="1600" u="none" cap="none" strike="noStrike">
                <a:solidFill>
                  <a:srgbClr val="FFFD78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id="418" name="Google Shape;4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6935" y="3809724"/>
            <a:ext cx="2362476" cy="2362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"/>
          <p:cNvGrpSpPr/>
          <p:nvPr/>
        </p:nvGrpSpPr>
        <p:grpSpPr>
          <a:xfrm>
            <a:off x="2837688" y="2614396"/>
            <a:ext cx="2877312" cy="975849"/>
            <a:chOff x="5715000" y="1415066"/>
            <a:chExt cx="2877312" cy="975849"/>
          </a:xfrm>
        </p:grpSpPr>
        <p:sp>
          <p:nvSpPr>
            <p:cNvPr id="420" name="Google Shape;420;p2"/>
            <p:cNvSpPr/>
            <p:nvPr/>
          </p:nvSpPr>
          <p:spPr>
            <a:xfrm>
              <a:off x="6007608" y="1415066"/>
              <a:ext cx="2286000" cy="975849"/>
            </a:xfrm>
            <a:prstGeom prst="cloudCallout">
              <a:avLst>
                <a:gd fmla="val 39223" name="adj1"/>
                <a:gd fmla="val 64133" name="adj2"/>
              </a:avLst>
            </a:prstGeom>
            <a:solidFill>
              <a:srgbClr val="DEEAF5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21" name="Google Shape;421;p2"/>
            <p:cNvSpPr txBox="1"/>
            <p:nvPr/>
          </p:nvSpPr>
          <p:spPr>
            <a:xfrm>
              <a:off x="5715000" y="1635011"/>
              <a:ext cx="2877312" cy="510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How should we</a:t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test software?</a:t>
              </a: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>
            <a:off x="2698245" y="1025253"/>
            <a:ext cx="2438400" cy="1289951"/>
            <a:chOff x="640080" y="3884790"/>
            <a:chExt cx="2882025" cy="1425582"/>
          </a:xfrm>
        </p:grpSpPr>
        <p:sp>
          <p:nvSpPr>
            <p:cNvPr id="423" name="Google Shape;423;p2"/>
            <p:cNvSpPr/>
            <p:nvPr/>
          </p:nvSpPr>
          <p:spPr>
            <a:xfrm>
              <a:off x="640080" y="3884790"/>
              <a:ext cx="2882025" cy="1425582"/>
            </a:xfrm>
            <a:prstGeom prst="cloudCallout">
              <a:avLst>
                <a:gd fmla="val 42560" name="adj1"/>
                <a:gd fmla="val 55661" name="adj2"/>
              </a:avLst>
            </a:prstGeom>
            <a:solidFill>
              <a:srgbClr val="FFFED6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24" name="Google Shape;424;p2"/>
            <p:cNvSpPr txBox="1"/>
            <p:nvPr/>
          </p:nvSpPr>
          <p:spPr>
            <a:xfrm>
              <a:off x="962218" y="4272935"/>
              <a:ext cx="2243327" cy="795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Why don’t we just test all possible things?</a:t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25" name="Google Shape;425;p2"/>
          <p:cNvSpPr txBox="1"/>
          <p:nvPr/>
        </p:nvSpPr>
        <p:spPr>
          <a:xfrm>
            <a:off x="6912299" y="6345936"/>
            <a:ext cx="22317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FBFBF"/>
                </a:solidFill>
                <a:latin typeface="Verdana"/>
                <a:ea typeface="Verdana"/>
                <a:cs typeface="Verdana"/>
                <a:sym typeface="Verdana"/>
              </a:rPr>
              <a:t>[Ref: emoji by Ekarin Apirakthanakorn]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Why This Course</a:t>
            </a:r>
            <a:endParaRPr/>
          </a:p>
        </p:txBody>
      </p:sp>
      <p:grpSp>
        <p:nvGrpSpPr>
          <p:cNvPr id="432" name="Google Shape;432;p3"/>
          <p:cNvGrpSpPr/>
          <p:nvPr/>
        </p:nvGrpSpPr>
        <p:grpSpPr>
          <a:xfrm>
            <a:off x="5222547" y="3962398"/>
            <a:ext cx="3712463" cy="1609344"/>
            <a:chOff x="3347796" y="3915902"/>
            <a:chExt cx="3442115" cy="1647894"/>
          </a:xfrm>
        </p:grpSpPr>
        <p:sp>
          <p:nvSpPr>
            <p:cNvPr id="433" name="Google Shape;433;p3"/>
            <p:cNvSpPr/>
            <p:nvPr/>
          </p:nvSpPr>
          <p:spPr>
            <a:xfrm>
              <a:off x="3347796" y="3915902"/>
              <a:ext cx="3442115" cy="1647894"/>
            </a:xfrm>
            <a:prstGeom prst="cloudCallout">
              <a:avLst>
                <a:gd fmla="val -61984" name="adj1"/>
                <a:gd fmla="val -24452" name="adj2"/>
              </a:avLst>
            </a:prstGeom>
            <a:solidFill>
              <a:srgbClr val="FFFED6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-3175" lvl="0" marL="17463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34" name="Google Shape;434;p3"/>
            <p:cNvSpPr txBox="1"/>
            <p:nvPr/>
          </p:nvSpPr>
          <p:spPr>
            <a:xfrm>
              <a:off x="3484942" y="4306030"/>
              <a:ext cx="3228006" cy="1002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Software testing is about </a:t>
              </a:r>
              <a:r>
                <a:rPr b="1" lang="en-US" sz="1600">
                  <a:solidFill>
                    <a:srgbClr val="C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designing good and effective </a:t>
              </a:r>
              <a:r>
                <a:rPr b="0" lang="en-US" sz="1600">
                  <a:solidFill>
                    <a:srgbClr val="C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tests</a:t>
              </a:r>
              <a:r>
                <a:rPr b="0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under time and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budget constraints</a:t>
              </a:r>
              <a:endParaRPr/>
            </a:p>
          </p:txBody>
        </p:sp>
      </p:grpSp>
      <p:grpSp>
        <p:nvGrpSpPr>
          <p:cNvPr id="435" name="Google Shape;435;p3"/>
          <p:cNvGrpSpPr/>
          <p:nvPr/>
        </p:nvGrpSpPr>
        <p:grpSpPr>
          <a:xfrm>
            <a:off x="3581403" y="1093271"/>
            <a:ext cx="3809997" cy="1573729"/>
            <a:chOff x="5971904" y="1435682"/>
            <a:chExt cx="2569027" cy="946206"/>
          </a:xfrm>
        </p:grpSpPr>
        <p:sp>
          <p:nvSpPr>
            <p:cNvPr id="436" name="Google Shape;436;p3"/>
            <p:cNvSpPr/>
            <p:nvPr/>
          </p:nvSpPr>
          <p:spPr>
            <a:xfrm>
              <a:off x="5971904" y="1435682"/>
              <a:ext cx="2569027" cy="946206"/>
            </a:xfrm>
            <a:prstGeom prst="cloudCallout">
              <a:avLst>
                <a:gd fmla="val -27482" name="adj1"/>
                <a:gd fmla="val 75519" name="adj2"/>
              </a:avLst>
            </a:prstGeom>
            <a:solidFill>
              <a:srgbClr val="DEEAF5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37" name="Google Shape;437;p3"/>
            <p:cNvSpPr txBox="1"/>
            <p:nvPr/>
          </p:nvSpPr>
          <p:spPr>
            <a:xfrm>
              <a:off x="6100355" y="1614023"/>
              <a:ext cx="2312126" cy="588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Software testing is a crucial activity to verify that programs fulfill requirements and to ensure software compliance</a:t>
              </a:r>
              <a:endParaRPr/>
            </a:p>
          </p:txBody>
        </p:sp>
      </p:grpSp>
      <p:grpSp>
        <p:nvGrpSpPr>
          <p:cNvPr id="438" name="Google Shape;438;p3"/>
          <p:cNvGrpSpPr/>
          <p:nvPr/>
        </p:nvGrpSpPr>
        <p:grpSpPr>
          <a:xfrm>
            <a:off x="109728" y="3276600"/>
            <a:ext cx="2651760" cy="1463040"/>
            <a:chOff x="890617" y="3760583"/>
            <a:chExt cx="2664564" cy="1616871"/>
          </a:xfrm>
        </p:grpSpPr>
        <p:sp>
          <p:nvSpPr>
            <p:cNvPr id="439" name="Google Shape;439;p3"/>
            <p:cNvSpPr/>
            <p:nvPr/>
          </p:nvSpPr>
          <p:spPr>
            <a:xfrm>
              <a:off x="890617" y="3760583"/>
              <a:ext cx="2664564" cy="1616871"/>
            </a:xfrm>
            <a:prstGeom prst="cloudCallout">
              <a:avLst>
                <a:gd fmla="val 48171" name="adj1"/>
                <a:gd fmla="val 53863" name="adj2"/>
              </a:avLst>
            </a:prstGeom>
            <a:solidFill>
              <a:srgbClr val="DFFDC8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0" name="Google Shape;440;p3"/>
            <p:cNvSpPr txBox="1"/>
            <p:nvPr/>
          </p:nvSpPr>
          <p:spPr>
            <a:xfrm>
              <a:off x="1086600" y="4041025"/>
              <a:ext cx="2243327" cy="1081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Testing is so much more than writing a bunch of JUnit or Selenium tests</a:t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41" name="Google Shape;441;p3"/>
          <p:cNvGrpSpPr/>
          <p:nvPr/>
        </p:nvGrpSpPr>
        <p:grpSpPr>
          <a:xfrm>
            <a:off x="304800" y="1600200"/>
            <a:ext cx="3200402" cy="1554480"/>
            <a:chOff x="387020" y="3910448"/>
            <a:chExt cx="3071500" cy="1398435"/>
          </a:xfrm>
        </p:grpSpPr>
        <p:sp>
          <p:nvSpPr>
            <p:cNvPr id="442" name="Google Shape;442;p3"/>
            <p:cNvSpPr/>
            <p:nvPr/>
          </p:nvSpPr>
          <p:spPr>
            <a:xfrm>
              <a:off x="387020" y="3910448"/>
              <a:ext cx="3071500" cy="1398435"/>
            </a:xfrm>
            <a:prstGeom prst="cloudCallout">
              <a:avLst>
                <a:gd fmla="val 42845" name="adj1"/>
                <a:gd fmla="val 62540" name="adj2"/>
              </a:avLst>
            </a:prstGeom>
            <a:solidFill>
              <a:srgbClr val="FFE0DC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3" name="Google Shape;443;p3"/>
            <p:cNvSpPr txBox="1"/>
            <p:nvPr/>
          </p:nvSpPr>
          <p:spPr>
            <a:xfrm>
              <a:off x="670118" y="4235803"/>
              <a:ext cx="2603793" cy="880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Testing software properly is a fundamental skill in modern software development</a:t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44" name="Google Shape;444;p3"/>
          <p:cNvGrpSpPr/>
          <p:nvPr/>
        </p:nvGrpSpPr>
        <p:grpSpPr>
          <a:xfrm>
            <a:off x="5410199" y="2601829"/>
            <a:ext cx="3429001" cy="1208171"/>
            <a:chOff x="424903" y="3727092"/>
            <a:chExt cx="3264046" cy="1335204"/>
          </a:xfrm>
        </p:grpSpPr>
        <p:sp>
          <p:nvSpPr>
            <p:cNvPr id="445" name="Google Shape;445;p3"/>
            <p:cNvSpPr/>
            <p:nvPr/>
          </p:nvSpPr>
          <p:spPr>
            <a:xfrm>
              <a:off x="424903" y="3727092"/>
              <a:ext cx="3264046" cy="1335204"/>
            </a:xfrm>
            <a:prstGeom prst="cloudCallout">
              <a:avLst>
                <a:gd fmla="val -44868" name="adj1"/>
                <a:gd fmla="val 62164" name="adj2"/>
              </a:avLst>
            </a:prstGeom>
            <a:solidFill>
              <a:srgbClr val="D6D7FF"/>
            </a:solidFill>
            <a:ln cap="flat" cmpd="sng" w="139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6" name="Google Shape;446;p3"/>
            <p:cNvSpPr txBox="1"/>
            <p:nvPr/>
          </p:nvSpPr>
          <p:spPr>
            <a:xfrm>
              <a:off x="504111" y="3990501"/>
              <a:ext cx="3118376" cy="8367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175" lvl="0" marL="17463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Software testing is about engineering tests that detect problems in software</a:t>
              </a:r>
              <a:endParaRPr b="0" sz="1600">
                <a:solidFill>
                  <a:srgbClr val="FFFD78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47" name="Google Shape;447;p3"/>
          <p:cNvSpPr txBox="1"/>
          <p:nvPr/>
        </p:nvSpPr>
        <p:spPr>
          <a:xfrm>
            <a:off x="6912299" y="6345936"/>
            <a:ext cx="22317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BFBFBF"/>
                </a:solidFill>
                <a:latin typeface="Verdana"/>
                <a:ea typeface="Verdana"/>
                <a:cs typeface="Verdana"/>
                <a:sym typeface="Verdana"/>
              </a:rPr>
              <a:t>[Ref: emoji by Ekarin Apirakthanakorn]</a:t>
            </a:r>
            <a:endParaRPr/>
          </a:p>
        </p:txBody>
      </p:sp>
      <p:pic>
        <p:nvPicPr>
          <p:cNvPr id="448" name="Google Shape;4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590800" y="3810000"/>
            <a:ext cx="2362476" cy="236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What This Course is About</a:t>
            </a:r>
            <a:endParaRPr/>
          </a:p>
        </p:txBody>
      </p:sp>
      <p:sp>
        <p:nvSpPr>
          <p:cNvPr id="454" name="Google Shape;454;p4"/>
          <p:cNvSpPr txBox="1"/>
          <p:nvPr>
            <p:ph idx="1" type="body"/>
          </p:nvPr>
        </p:nvSpPr>
        <p:spPr>
          <a:xfrm>
            <a:off x="228600" y="990600"/>
            <a:ext cx="8915400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Importance of Software Testing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Testing in Practice: design, automation, execution, evaluation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Test-Driven Development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Test Coverage Criteria</a:t>
            </a:r>
            <a:endParaRPr/>
          </a:p>
          <a:p>
            <a:pPr indent="-173038" lvl="1" marL="6350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FFFD78"/>
                </a:solidFill>
              </a:rPr>
              <a:t>Input space partitioning </a:t>
            </a:r>
            <a:endParaRPr/>
          </a:p>
          <a:p>
            <a:pPr indent="-173038" lvl="1" marL="635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FFFD78"/>
                </a:solidFill>
              </a:rPr>
              <a:t>Graph coverage</a:t>
            </a:r>
            <a:endParaRPr/>
          </a:p>
          <a:p>
            <a:pPr indent="-173038" lvl="1" marL="635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FFFD78"/>
                </a:solidFill>
              </a:rPr>
              <a:t>Logic coverage</a:t>
            </a:r>
            <a:endParaRPr/>
          </a:p>
          <a:p>
            <a:pPr indent="-173038" lvl="1" marL="635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FFFD78"/>
                </a:solidFill>
              </a:rPr>
              <a:t>Syntax coverage</a:t>
            </a:r>
            <a:endParaRPr i="1" sz="1400">
              <a:solidFill>
                <a:srgbClr val="FFFD78"/>
              </a:solidFill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Web app testing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Bypass testing</a:t>
            </a:r>
            <a:endParaRPr i="1" sz="1400"/>
          </a:p>
          <a:p>
            <a:pPr indent="-81280" lvl="0" marL="18288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  <p:sp>
        <p:nvSpPr>
          <p:cNvPr id="455" name="Google Shape;455;p4"/>
          <p:cNvSpPr/>
          <p:nvPr/>
        </p:nvSpPr>
        <p:spPr>
          <a:xfrm>
            <a:off x="152400" y="5865269"/>
            <a:ext cx="449580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FFFE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 true subject matter of the tester is not testing, but the design of test cases” —Jeff Offutt</a:t>
            </a:r>
            <a:endParaRPr/>
          </a:p>
        </p:txBody>
      </p:sp>
      <p:sp>
        <p:nvSpPr>
          <p:cNvPr id="456" name="Google Shape;456;p4"/>
          <p:cNvSpPr/>
          <p:nvPr/>
        </p:nvSpPr>
        <p:spPr>
          <a:xfrm>
            <a:off x="4791456" y="5181600"/>
            <a:ext cx="4206240" cy="117104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D3E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Instead of how testing </a:t>
            </a:r>
            <a:r>
              <a:rPr b="0" lang="en-US" sz="1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is done</a:t>
            </a: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 focus 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it </a:t>
            </a:r>
            <a:r>
              <a:rPr b="0" lang="en-US" sz="1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should be done </a:t>
            </a: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it </a:t>
            </a:r>
            <a:r>
              <a:rPr b="0" lang="en-US" sz="1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will be done</a:t>
            </a:r>
            <a:endParaRPr/>
          </a:p>
        </p:txBody>
      </p:sp>
      <p:pic>
        <p:nvPicPr>
          <p:cNvPr descr="Timeline&#10;&#10;Description automatically generated" id="457" name="Google Shape;4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4730" y="2265228"/>
            <a:ext cx="5093070" cy="268777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Our Focus</a:t>
            </a:r>
            <a:endParaRPr/>
          </a:p>
        </p:txBody>
      </p:sp>
      <p:sp>
        <p:nvSpPr>
          <p:cNvPr id="464" name="Google Shape;464;p5"/>
          <p:cNvSpPr txBox="1"/>
          <p:nvPr>
            <p:ph idx="1" type="body"/>
          </p:nvPr>
        </p:nvSpPr>
        <p:spPr>
          <a:xfrm>
            <a:off x="228600" y="990600"/>
            <a:ext cx="335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>
                <a:solidFill>
                  <a:srgbClr val="FFFC00"/>
                </a:solidFill>
              </a:rPr>
              <a:t>Designing effective tests</a:t>
            </a:r>
            <a:endParaRPr/>
          </a:p>
        </p:txBody>
      </p:sp>
      <p:sp>
        <p:nvSpPr>
          <p:cNvPr id="465" name="Google Shape;465;p5"/>
          <p:cNvSpPr txBox="1"/>
          <p:nvPr/>
        </p:nvSpPr>
        <p:spPr>
          <a:xfrm>
            <a:off x="3581400" y="1042416"/>
            <a:ext cx="5486400" cy="208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3675" lvl="1" marL="2619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test engineers design tests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Explore a variety of test design concepts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Apply the theories to design tests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Automate tests using JUnit and Selenium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 exposed to challenges and explore best practices in test automation</a:t>
            </a:r>
            <a:endParaRPr/>
          </a:p>
        </p:txBody>
      </p:sp>
      <p:sp>
        <p:nvSpPr>
          <p:cNvPr id="466" name="Google Shape;466;p5"/>
          <p:cNvSpPr txBox="1"/>
          <p:nvPr/>
        </p:nvSpPr>
        <p:spPr>
          <a:xfrm>
            <a:off x="3581400" y="3163824"/>
            <a:ext cx="5486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3675" lvl="1" marL="2619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Foundational principles rather than specific programming syntax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Does not train specific test automation or software development frameworks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Provide the fundamentals needed to explore any automation framework independently </a:t>
            </a:r>
            <a:endParaRPr/>
          </a:p>
        </p:txBody>
      </p:sp>
      <p:sp>
        <p:nvSpPr>
          <p:cNvPr id="467" name="Google Shape;467;p5"/>
          <p:cNvSpPr txBox="1"/>
          <p:nvPr/>
        </p:nvSpPr>
        <p:spPr>
          <a:xfrm>
            <a:off x="228600" y="3127248"/>
            <a:ext cx="335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lang="en-US" sz="2000">
                <a:solidFill>
                  <a:srgbClr val="FFFC00"/>
                </a:solidFill>
                <a:latin typeface="Verdana"/>
                <a:ea typeface="Verdana"/>
                <a:cs typeface="Verdana"/>
                <a:sym typeface="Verdana"/>
              </a:rPr>
              <a:t>Principles over syntax</a:t>
            </a:r>
            <a:endParaRPr/>
          </a:p>
        </p:txBody>
      </p:sp>
      <p:sp>
        <p:nvSpPr>
          <p:cNvPr id="468" name="Google Shape;468;p5"/>
          <p:cNvSpPr txBox="1"/>
          <p:nvPr/>
        </p:nvSpPr>
        <p:spPr>
          <a:xfrm>
            <a:off x="3581400" y="5102352"/>
            <a:ext cx="5486400" cy="120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3675" lvl="1" marL="2619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Does not teach how to use AI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Focus on not blindly relying on AI outputs</a:t>
            </a:r>
            <a:endParaRPr/>
          </a:p>
          <a:p>
            <a:pPr indent="-193675" lvl="1" marL="261938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 Symbols"/>
              <a:buChar char="●"/>
            </a:pPr>
            <a:r>
              <a:rPr b="0" i="0" lang="en-US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Explore, analyze, assess, and revise AI outputs to facilitate the testing process</a:t>
            </a:r>
            <a:endParaRPr/>
          </a:p>
        </p:txBody>
      </p:sp>
      <p:sp>
        <p:nvSpPr>
          <p:cNvPr id="469" name="Google Shape;469;p5"/>
          <p:cNvSpPr txBox="1"/>
          <p:nvPr/>
        </p:nvSpPr>
        <p:spPr>
          <a:xfrm>
            <a:off x="228600" y="5070764"/>
            <a:ext cx="335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lang="en-US" sz="2000">
                <a:solidFill>
                  <a:srgbClr val="FFFC00"/>
                </a:solidFill>
                <a:latin typeface="Verdana"/>
                <a:ea typeface="Verdana"/>
                <a:cs typeface="Verdana"/>
                <a:sym typeface="Verdana"/>
              </a:rPr>
              <a:t>Role of generative AI</a:t>
            </a:r>
            <a:endParaRPr/>
          </a:p>
        </p:txBody>
      </p:sp>
      <p:cxnSp>
        <p:nvCxnSpPr>
          <p:cNvPr id="470" name="Google Shape;470;p5"/>
          <p:cNvCxnSpPr/>
          <p:nvPr/>
        </p:nvCxnSpPr>
        <p:spPr>
          <a:xfrm>
            <a:off x="152400" y="3090672"/>
            <a:ext cx="8839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1" name="Google Shape;471;p5"/>
          <p:cNvCxnSpPr/>
          <p:nvPr/>
        </p:nvCxnSpPr>
        <p:spPr>
          <a:xfrm>
            <a:off x="152400" y="5010912"/>
            <a:ext cx="8839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You Will be Able to Answer</a:t>
            </a:r>
            <a:endParaRPr/>
          </a:p>
        </p:txBody>
      </p:sp>
      <p:sp>
        <p:nvSpPr>
          <p:cNvPr id="478" name="Google Shape;478;p6"/>
          <p:cNvSpPr txBox="1"/>
          <p:nvPr>
            <p:ph idx="1" type="body"/>
          </p:nvPr>
        </p:nvSpPr>
        <p:spPr>
          <a:xfrm>
            <a:off x="2209800" y="1066800"/>
            <a:ext cx="6705600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What is software testing?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Why do we test software?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When should we test software? 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Who should test software?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How should we test software and why should we do it that way? 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When should we stop testing? Good enough? 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How many tests do we need to write?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How do we choose test inputs effectively? 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How can we measure the quality of a test suite?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How can we improve the quality of a test suite? 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How can we reduce the testing cost? </a:t>
            </a:r>
            <a:endParaRPr/>
          </a:p>
        </p:txBody>
      </p:sp>
      <p:sp>
        <p:nvSpPr>
          <p:cNvPr id="479" name="Google Shape;479;p6"/>
          <p:cNvSpPr/>
          <p:nvPr/>
        </p:nvSpPr>
        <p:spPr>
          <a:xfrm>
            <a:off x="2057400" y="2666999"/>
            <a:ext cx="6912864" cy="3291840"/>
          </a:xfrm>
          <a:prstGeom prst="roundRect">
            <a:avLst>
              <a:gd fmla="val 6566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lue cartoon character sitting at a desk using a computer&#10;&#10;Description automatically generated" id="480" name="Google Shape;4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43400"/>
            <a:ext cx="20574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I Hope to Help You</a:t>
            </a:r>
            <a:endParaRPr/>
          </a:p>
        </p:txBody>
      </p:sp>
      <p:pic>
        <p:nvPicPr>
          <p:cNvPr id="487" name="Google Shape;4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42" y="1371600"/>
            <a:ext cx="6907104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7"/>
          <p:cNvSpPr/>
          <p:nvPr/>
        </p:nvSpPr>
        <p:spPr>
          <a:xfrm>
            <a:off x="18288" y="969264"/>
            <a:ext cx="9089136" cy="555955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" name="Google Shape;4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24" y="969264"/>
            <a:ext cx="3596376" cy="234086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"/>
          <p:cNvSpPr/>
          <p:nvPr/>
        </p:nvSpPr>
        <p:spPr>
          <a:xfrm flipH="1" rot="10800000">
            <a:off x="1562100" y="3810000"/>
            <a:ext cx="952500" cy="864870"/>
          </a:xfrm>
          <a:prstGeom prst="bentArrow">
            <a:avLst>
              <a:gd fmla="val 21160" name="adj1"/>
              <a:gd fmla="val 27080" name="adj2"/>
              <a:gd fmla="val 28840" name="adj3"/>
              <a:gd fmla="val 45670" name="adj4"/>
            </a:avLst>
          </a:prstGeom>
          <a:solidFill>
            <a:srgbClr val="BFBFBF"/>
          </a:solidFill>
          <a:ln cap="flat" cmpd="sng" w="13950">
            <a:solidFill>
              <a:srgbClr val="0E5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1" name="Google Shape;4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5160" y="3075593"/>
            <a:ext cx="5882640" cy="3480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840" y="1554480"/>
            <a:ext cx="3867462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8"/>
          <p:cNvSpPr/>
          <p:nvPr/>
        </p:nvSpPr>
        <p:spPr>
          <a:xfrm>
            <a:off x="152400" y="5469725"/>
            <a:ext cx="3251866" cy="77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4313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Hands-on activities: </a:t>
            </a:r>
            <a:endParaRPr b="0" sz="16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01613" lvl="1" marL="403225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Almost every meeting</a:t>
            </a:r>
            <a:endParaRPr/>
          </a:p>
          <a:p>
            <a:pPr indent="-201613" lvl="1" marL="403225" marR="0" rtl="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 submission</a:t>
            </a:r>
            <a:endParaRPr/>
          </a:p>
        </p:txBody>
      </p:sp>
      <p:grpSp>
        <p:nvGrpSpPr>
          <p:cNvPr id="499" name="Google Shape;499;p8"/>
          <p:cNvGrpSpPr/>
          <p:nvPr/>
        </p:nvGrpSpPr>
        <p:grpSpPr>
          <a:xfrm>
            <a:off x="4474464" y="1295400"/>
            <a:ext cx="4517136" cy="1749710"/>
            <a:chOff x="3895344" y="1033807"/>
            <a:chExt cx="4517136" cy="1749710"/>
          </a:xfrm>
        </p:grpSpPr>
        <p:sp>
          <p:nvSpPr>
            <p:cNvPr id="500" name="Google Shape;500;p8"/>
            <p:cNvSpPr/>
            <p:nvPr/>
          </p:nvSpPr>
          <p:spPr>
            <a:xfrm>
              <a:off x="5175504" y="1033807"/>
              <a:ext cx="3236976" cy="1749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14313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00"/>
                  </a:solidFill>
                  <a:latin typeface="Verdana"/>
                  <a:ea typeface="Verdana"/>
                  <a:cs typeface="Verdana"/>
                  <a:sym typeface="Verdana"/>
                </a:rPr>
                <a:t>Practice-of-the-days: </a:t>
              </a:r>
              <a:endParaRPr b="0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Weekly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Grade on done/not done 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Due 1pm EST the next day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-25% for 24 hours late; -50% for 48 hours late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Not accepted after 48 hours past due</a:t>
              </a:r>
              <a:endParaRPr/>
            </a:p>
          </p:txBody>
        </p:sp>
        <p:cxnSp>
          <p:nvCxnSpPr>
            <p:cNvPr id="501" name="Google Shape;501;p8"/>
            <p:cNvCxnSpPr/>
            <p:nvPr/>
          </p:nvCxnSpPr>
          <p:spPr>
            <a:xfrm flipH="1">
              <a:off x="3895344" y="1170967"/>
              <a:ext cx="1225296" cy="396240"/>
            </a:xfrm>
            <a:prstGeom prst="bentConnector3">
              <a:avLst>
                <a:gd fmla="val 147818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2" name="Google Shape;502;p8"/>
          <p:cNvGrpSpPr/>
          <p:nvPr/>
        </p:nvGrpSpPr>
        <p:grpSpPr>
          <a:xfrm>
            <a:off x="5745480" y="3810000"/>
            <a:ext cx="3462528" cy="2046410"/>
            <a:chOff x="5696712" y="3322320"/>
            <a:chExt cx="3462528" cy="2046410"/>
          </a:xfrm>
        </p:grpSpPr>
        <p:sp>
          <p:nvSpPr>
            <p:cNvPr id="503" name="Google Shape;503;p8"/>
            <p:cNvSpPr/>
            <p:nvPr/>
          </p:nvSpPr>
          <p:spPr>
            <a:xfrm>
              <a:off x="5751576" y="3593372"/>
              <a:ext cx="3407664" cy="1775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14313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00"/>
                  </a:solidFill>
                  <a:latin typeface="Verdana"/>
                  <a:ea typeface="Verdana"/>
                  <a:cs typeface="Verdana"/>
                  <a:sym typeface="Verdana"/>
                </a:rPr>
                <a:t>Homework assignments:</a:t>
              </a:r>
              <a:endParaRPr b="0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Almost weekly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Due before class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Early-submission bonus points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-25% for 24 hours late;       </a:t>
              </a:r>
              <a:endParaRPr/>
            </a:p>
            <a:p>
              <a:pPr indent="0" lvl="1" marL="406400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-50% for 48 hours late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Not accepted after 48 hours past due</a:t>
              </a:r>
              <a:endParaRPr/>
            </a:p>
          </p:txBody>
        </p:sp>
        <p:cxnSp>
          <p:nvCxnSpPr>
            <p:cNvPr id="504" name="Google Shape;504;p8"/>
            <p:cNvCxnSpPr/>
            <p:nvPr/>
          </p:nvCxnSpPr>
          <p:spPr>
            <a:xfrm rot="10800000">
              <a:off x="5696712" y="3322320"/>
              <a:ext cx="1188720" cy="182880"/>
            </a:xfrm>
            <a:prstGeom prst="bentConnector3">
              <a:avLst>
                <a:gd fmla="val 4103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5" name="Google Shape;505;p8"/>
          <p:cNvGrpSpPr/>
          <p:nvPr/>
        </p:nvGrpSpPr>
        <p:grpSpPr>
          <a:xfrm>
            <a:off x="76200" y="1054944"/>
            <a:ext cx="3048000" cy="1383456"/>
            <a:chOff x="198120" y="1143000"/>
            <a:chExt cx="3048000" cy="1383456"/>
          </a:xfrm>
        </p:grpSpPr>
        <p:sp>
          <p:nvSpPr>
            <p:cNvPr id="506" name="Google Shape;506;p8"/>
            <p:cNvSpPr/>
            <p:nvPr/>
          </p:nvSpPr>
          <p:spPr>
            <a:xfrm>
              <a:off x="198120" y="1143000"/>
              <a:ext cx="2993136" cy="138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14313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00"/>
                  </a:solidFill>
                  <a:latin typeface="Verdana"/>
                  <a:ea typeface="Verdana"/>
                  <a:cs typeface="Verdana"/>
                  <a:sym typeface="Verdana"/>
                </a:rPr>
                <a:t>Quizzes:</a:t>
              </a:r>
              <a:endParaRPr b="0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5 quizzes 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First 15 minutes of class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Close book/note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In class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Reflection &amp; correction</a:t>
              </a:r>
              <a:endParaRPr/>
            </a:p>
          </p:txBody>
        </p:sp>
        <p:cxnSp>
          <p:nvCxnSpPr>
            <p:cNvPr id="507" name="Google Shape;507;p8"/>
            <p:cNvCxnSpPr/>
            <p:nvPr/>
          </p:nvCxnSpPr>
          <p:spPr>
            <a:xfrm rot="10800000">
              <a:off x="1438656" y="1312080"/>
              <a:ext cx="1807464" cy="914399"/>
            </a:xfrm>
            <a:prstGeom prst="bentConnector3">
              <a:avLst>
                <a:gd fmla="val -5754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8" name="Google Shape;508;p8"/>
          <p:cNvGrpSpPr/>
          <p:nvPr/>
        </p:nvGrpSpPr>
        <p:grpSpPr>
          <a:xfrm>
            <a:off x="152400" y="3342704"/>
            <a:ext cx="2209800" cy="1646847"/>
            <a:chOff x="115824" y="3343656"/>
            <a:chExt cx="2209800" cy="1646847"/>
          </a:xfrm>
        </p:grpSpPr>
        <p:sp>
          <p:nvSpPr>
            <p:cNvPr id="509" name="Google Shape;509;p8"/>
            <p:cNvSpPr/>
            <p:nvPr/>
          </p:nvSpPr>
          <p:spPr>
            <a:xfrm>
              <a:off x="115824" y="3581399"/>
              <a:ext cx="2209800" cy="1409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14313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00"/>
                  </a:solidFill>
                  <a:latin typeface="Verdana"/>
                  <a:ea typeface="Verdana"/>
                  <a:cs typeface="Verdana"/>
                  <a:sym typeface="Verdana"/>
                </a:rPr>
                <a:t>Final exam:</a:t>
              </a:r>
              <a:endParaRPr b="0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Comprehensive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Close book/note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1 handwritten note sheet</a:t>
              </a:r>
              <a:endParaRPr/>
            </a:p>
            <a:p>
              <a:pPr indent="-201613" lvl="1" marL="403225" marR="0" rtl="0" algn="l">
                <a:lnSpc>
                  <a:spcPct val="8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In class</a:t>
              </a:r>
              <a:endParaRPr/>
            </a:p>
          </p:txBody>
        </p:sp>
        <p:cxnSp>
          <p:nvCxnSpPr>
            <p:cNvPr id="510" name="Google Shape;510;p8"/>
            <p:cNvCxnSpPr/>
            <p:nvPr/>
          </p:nvCxnSpPr>
          <p:spPr>
            <a:xfrm flipH="1" rot="10800000">
              <a:off x="679704" y="3343656"/>
              <a:ext cx="1645920" cy="182880"/>
            </a:xfrm>
            <a:prstGeom prst="bentConnector3">
              <a:avLst>
                <a:gd fmla="val -2466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1" name="Google Shape;511;p8"/>
          <p:cNvSpPr txBox="1"/>
          <p:nvPr>
            <p:ph type="title"/>
          </p:nvPr>
        </p:nvSpPr>
        <p:spPr>
          <a:xfrm>
            <a:off x="0" y="76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Verdana"/>
              <a:buNone/>
            </a:pPr>
            <a:r>
              <a:rPr lang="en-US" sz="3600"/>
              <a:t>What You will Do &amp; How Your Learning will be Evaluated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9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More Info to Help You Learn</a:t>
            </a:r>
            <a:endParaRPr/>
          </a:p>
        </p:txBody>
      </p:sp>
      <p:sp>
        <p:nvSpPr>
          <p:cNvPr id="518" name="Google Shape;518;p9"/>
          <p:cNvSpPr txBox="1"/>
          <p:nvPr>
            <p:ph idx="1" type="body"/>
          </p:nvPr>
        </p:nvSpPr>
        <p:spPr>
          <a:xfrm>
            <a:off x="228600" y="1024128"/>
            <a:ext cx="8915400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3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F00"/>
                </a:solidFill>
              </a:rPr>
              <a:t>Class URL:</a:t>
            </a:r>
            <a:r>
              <a:rPr lang="en-US" sz="2000">
                <a:solidFill>
                  <a:srgbClr val="00FDFF"/>
                </a:solidFill>
              </a:rPr>
              <a:t> </a:t>
            </a:r>
            <a:r>
              <a:rPr lang="en-US" sz="1800" u="sng">
                <a:solidFill>
                  <a:srgbClr val="00FD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http://www.cs.virginia.edu/~up3f/cs3250/</a:t>
            </a:r>
            <a:r>
              <a:rPr lang="en-US" sz="1800">
                <a:solidFill>
                  <a:srgbClr val="00FDFF"/>
                </a:solidFill>
              </a:rPr>
              <a:t> </a:t>
            </a:r>
            <a:endParaRPr/>
          </a:p>
          <a:p>
            <a:pPr indent="-214313" lvl="0" marL="228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F00"/>
                </a:solidFill>
              </a:rPr>
              <a:t>Readings: </a:t>
            </a:r>
            <a:r>
              <a:rPr lang="en-US" sz="1800"/>
              <a:t>Check schedule page, please read before class</a:t>
            </a:r>
            <a:endParaRPr sz="1800">
              <a:solidFill>
                <a:srgbClr val="FFFD78"/>
              </a:solidFill>
            </a:endParaRPr>
          </a:p>
          <a:p>
            <a:pPr indent="-214313" lvl="0" marL="228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D78"/>
                </a:solidFill>
              </a:rPr>
              <a:t>Textbook:</a:t>
            </a:r>
            <a:endParaRPr/>
          </a:p>
          <a:p>
            <a:pPr indent="-112713" lvl="0" marL="22860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solidFill>
                <a:srgbClr val="FFFD78"/>
              </a:solidFill>
            </a:endParaRPr>
          </a:p>
          <a:p>
            <a:pPr indent="0" lvl="0" marL="14287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solidFill>
                <a:srgbClr val="FFFD78"/>
              </a:solidFill>
            </a:endParaRPr>
          </a:p>
          <a:p>
            <a:pPr indent="-214313" lvl="0" marL="22860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D78"/>
                </a:solidFill>
              </a:rPr>
              <a:t>Emails: </a:t>
            </a:r>
            <a:r>
              <a:rPr lang="en-US" sz="1800"/>
              <a:t>Use UVA email, check it regularly, </a:t>
            </a:r>
            <a:r>
              <a:rPr lang="en-US" sz="1800">
                <a:highlight>
                  <a:srgbClr val="800000"/>
                </a:highlight>
              </a:rPr>
              <a:t>include “</a:t>
            </a:r>
            <a:r>
              <a:rPr lang="en-US" sz="1800">
                <a:solidFill>
                  <a:srgbClr val="FFFF00"/>
                </a:solidFill>
                <a:highlight>
                  <a:srgbClr val="800000"/>
                </a:highlight>
              </a:rPr>
              <a:t>CS 3250</a:t>
            </a:r>
            <a:r>
              <a:rPr lang="en-US" sz="1800">
                <a:highlight>
                  <a:srgbClr val="800000"/>
                </a:highlight>
              </a:rPr>
              <a:t>”</a:t>
            </a:r>
            <a:r>
              <a:rPr lang="en-US" sz="1800"/>
              <a:t>   </a:t>
            </a:r>
            <a:r>
              <a:rPr lang="en-US" sz="1800">
                <a:highlight>
                  <a:srgbClr val="800000"/>
                </a:highlight>
              </a:rPr>
              <a:t> </a:t>
            </a:r>
            <a:endParaRPr/>
          </a:p>
          <a:p>
            <a:pPr indent="-122873" lvl="0" marL="687388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/>
          </a:p>
        </p:txBody>
      </p:sp>
      <p:pic>
        <p:nvPicPr>
          <p:cNvPr id="519" name="Google Shape;5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682240"/>
            <a:ext cx="9245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9"/>
          <p:cNvSpPr txBox="1"/>
          <p:nvPr/>
        </p:nvSpPr>
        <p:spPr>
          <a:xfrm>
            <a:off x="1600200" y="2626143"/>
            <a:ext cx="7452360" cy="1793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(book website) </a:t>
            </a:r>
            <a:endParaRPr/>
          </a:p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Arial"/>
              <a:buNone/>
            </a:pPr>
            <a:r>
              <a:rPr b="0" lang="en-US" sz="1600" u="sng">
                <a:solidFill>
                  <a:srgbClr val="73FEFF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https://www.albany.edu/faculty/offutt/softwaretest/</a:t>
            </a: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Arial"/>
              <a:buNone/>
            </a:pPr>
            <a:r>
              <a:t/>
            </a:r>
            <a:endParaRPr b="0" sz="1400">
              <a:solidFill>
                <a:srgbClr val="FFFD7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428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(student solution)</a:t>
            </a:r>
            <a:r>
              <a:rPr b="0" lang="en-US" sz="18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lang="en-US" sz="1600" u="sng">
                <a:solidFill>
                  <a:srgbClr val="73FEFF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https://www.albany.edu/faculty/offutt/softwaretest/exer-student.pdf</a:t>
            </a: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b="0" sz="1600">
              <a:solidFill>
                <a:srgbClr val="FFFD7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0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800"/>
              <a:buFont typeface="Verdana"/>
              <a:buNone/>
            </a:pPr>
            <a:r>
              <a:rPr lang="en-US" sz="3800"/>
              <a:t>Share Ideas, Get Help, Just Talk</a:t>
            </a:r>
            <a:endParaRPr/>
          </a:p>
        </p:txBody>
      </p:sp>
      <p:sp>
        <p:nvSpPr>
          <p:cNvPr id="526" name="Google Shape;526;p10"/>
          <p:cNvSpPr txBox="1"/>
          <p:nvPr/>
        </p:nvSpPr>
        <p:spPr>
          <a:xfrm>
            <a:off x="228600" y="2819400"/>
            <a:ext cx="8686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0175" lvl="1" marL="641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7" name="Google Shape;527;p10"/>
          <p:cNvSpPr txBox="1"/>
          <p:nvPr/>
        </p:nvSpPr>
        <p:spPr>
          <a:xfrm>
            <a:off x="228600" y="1024128"/>
            <a:ext cx="8915400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3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Instructor office hours: </a:t>
            </a: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days/times on class website</a:t>
            </a:r>
            <a:endParaRPr/>
          </a:p>
          <a:p>
            <a:pPr indent="-214313" lvl="0" marL="2286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Piazza:</a:t>
            </a: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lang="en-US" sz="2000" u="sng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https://piazza.com/virginia/fall2026/cs3250</a:t>
            </a:r>
            <a:r>
              <a:rPr b="0" lang="en-US" sz="2000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290513" lvl="0" marL="29051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Questions should be posted to an appropriate thread</a:t>
            </a:r>
            <a:endParaRPr/>
          </a:p>
          <a:p>
            <a:pPr indent="-228600" lvl="1" marL="6413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Answered by instructor and your peers</a:t>
            </a:r>
            <a:endParaRPr/>
          </a:p>
          <a:p>
            <a:pPr indent="-228600" lvl="1" marL="641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Public: general questions and answers</a:t>
            </a:r>
            <a:endParaRPr/>
          </a:p>
          <a:p>
            <a:pPr indent="-228600" lvl="1" marL="641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Private: Grade/homework-specific questions – instructor and Tas</a:t>
            </a:r>
            <a:endParaRPr/>
          </a:p>
          <a:p>
            <a:pPr indent="-114300" lvl="1" marL="641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36703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 not email general homework or class questions, </a:t>
            </a:r>
            <a:r>
              <a:rPr b="0" lang="en-US" sz="2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use Piazza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800"/>
              <a:buFont typeface="Verdana"/>
              <a:buNone/>
            </a:pPr>
            <a:r>
              <a:rPr lang="en-US" sz="3800"/>
              <a:t>Learn with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“</a:t>
            </a:r>
            <a:r>
              <a:rPr lang="en-US" sz="4200">
                <a:latin typeface="Comic Sans MS"/>
                <a:ea typeface="Comic Sans MS"/>
                <a:cs typeface="Comic Sans MS"/>
                <a:sym typeface="Comic Sans MS"/>
              </a:rPr>
              <a:t>Purpose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”</a:t>
            </a:r>
            <a:r>
              <a:rPr lang="en-US" sz="3800"/>
              <a:t> and </a:t>
            </a:r>
            <a:r>
              <a:rPr lang="en-US" sz="3800">
                <a:latin typeface="Comic Sans MS"/>
                <a:ea typeface="Comic Sans MS"/>
                <a:cs typeface="Comic Sans MS"/>
                <a:sym typeface="Comic Sans MS"/>
              </a:rPr>
              <a:t>“</a:t>
            </a:r>
            <a:r>
              <a:rPr lang="en-US" sz="4200">
                <a:latin typeface="Comic Sans MS"/>
                <a:ea typeface="Comic Sans MS"/>
                <a:cs typeface="Comic Sans MS"/>
                <a:sym typeface="Comic Sans MS"/>
              </a:rPr>
              <a:t>Vision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”</a:t>
            </a:r>
            <a:endParaRPr/>
          </a:p>
        </p:txBody>
      </p:sp>
      <p:sp>
        <p:nvSpPr>
          <p:cNvPr id="533" name="Google Shape;533;p11"/>
          <p:cNvSpPr txBox="1"/>
          <p:nvPr/>
        </p:nvSpPr>
        <p:spPr>
          <a:xfrm>
            <a:off x="342900" y="2590800"/>
            <a:ext cx="8458200" cy="244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better support and emphasize your differences, energy, and passions, as well as to enhance your strengths </a:t>
            </a:r>
            <a:endParaRPr/>
          </a:p>
          <a:p>
            <a:pPr indent="-285750" lvl="0" marL="28575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You are encouraged to be involved in designing and shaping this course to maximize your learning experience, skills, and knowledge </a:t>
            </a:r>
            <a:endParaRPr/>
          </a:p>
          <a:p>
            <a:pPr indent="-285750" lvl="0" marL="28575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Please feel free to share your ideas / opinions / suggestions on things that we should do or try to help you learn software testing, using the “Help yourself learn” form</a:t>
            </a:r>
            <a:endParaRPr/>
          </a:p>
        </p:txBody>
      </p:sp>
      <p:sp>
        <p:nvSpPr>
          <p:cNvPr id="534" name="Google Shape;534;p11"/>
          <p:cNvSpPr txBox="1"/>
          <p:nvPr/>
        </p:nvSpPr>
        <p:spPr>
          <a:xfrm>
            <a:off x="533400" y="1346200"/>
            <a:ext cx="8267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Help yourself learn</a:t>
            </a: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b="0" lang="en-US" sz="2000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lang="en-US" sz="2000" u="sng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https://forms.office.com/r/uwbbLJEGQT</a:t>
            </a:r>
            <a:r>
              <a:rPr b="0" lang="en-US" sz="2000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Additional Things to Know</a:t>
            </a:r>
            <a:endParaRPr/>
          </a:p>
        </p:txBody>
      </p:sp>
      <p:sp>
        <p:nvSpPr>
          <p:cNvPr id="540" name="Google Shape;540;p12"/>
          <p:cNvSpPr txBox="1"/>
          <p:nvPr/>
        </p:nvSpPr>
        <p:spPr>
          <a:xfrm>
            <a:off x="152400" y="1100328"/>
            <a:ext cx="8915400" cy="5376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3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Submission site: </a:t>
            </a: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Gradescope</a:t>
            </a:r>
            <a:endParaRPr b="0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57467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r>
              <a:rPr b="0" lang="en-US" sz="1800" u="sng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https://www.gradescope.com/courses/1341917</a:t>
            </a:r>
            <a:r>
              <a:rPr b="0"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14313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Regrade request: </a:t>
            </a: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Submit to Gradescope</a:t>
            </a:r>
            <a:endParaRPr b="0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4475" lvl="1" marL="6413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Regrade the </a:t>
            </a:r>
            <a:r>
              <a:rPr b="0" i="0" lang="en-US" sz="18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“entire”</a:t>
            </a: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work</a:t>
            </a:r>
            <a:endParaRPr/>
          </a:p>
          <a:p>
            <a:pPr indent="-244475" lvl="1" marL="641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Correct any grading mistakes</a:t>
            </a:r>
            <a:endParaRPr/>
          </a:p>
          <a:p>
            <a:pPr indent="-244475" lvl="1" marL="641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May result in either an increase or a decrease in grade</a:t>
            </a:r>
            <a:endParaRPr/>
          </a:p>
          <a:p>
            <a:pPr indent="-244475" lvl="1" marL="641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Not try to scare off students whose work was graded incorrectly, but try to avoid frivolous requests</a:t>
            </a:r>
            <a:endParaRPr/>
          </a:p>
          <a:p>
            <a:pPr indent="-188913" lvl="0" marL="29051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0513" lvl="0" marL="29051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Check schedule page regularly</a:t>
            </a:r>
            <a:endParaRPr/>
          </a:p>
          <a:p>
            <a:pPr indent="-228600" lvl="1" marL="6413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 case of emergency, email &amp; post update on the schedule page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3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546" name="Google Shape;546;p13"/>
          <p:cNvSpPr txBox="1"/>
          <p:nvPr>
            <p:ph idx="1" type="body"/>
          </p:nvPr>
        </p:nvSpPr>
        <p:spPr>
          <a:xfrm>
            <a:off x="152400" y="1005840"/>
            <a:ext cx="8991600" cy="280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3" lvl="0" marL="2286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CS 2120 and (CS 2100 or place out test) with C- or better</a:t>
            </a:r>
            <a:endParaRPr/>
          </a:p>
          <a:p>
            <a:pPr indent="-214313" lvl="0" marL="228600" rtl="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Discrete math, data representation, (some) software engineering</a:t>
            </a:r>
            <a:endParaRPr/>
          </a:p>
          <a:p>
            <a:pPr indent="-214313" lvl="0" marL="228600" rtl="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Java, syntax and semantics of multiple programming languages</a:t>
            </a:r>
            <a:endParaRPr/>
          </a:p>
          <a:p>
            <a:pPr indent="-214313" lvl="0" marL="228600" rtl="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Programming skills</a:t>
            </a:r>
            <a:endParaRPr/>
          </a:p>
          <a:p>
            <a:pPr indent="-214313" lvl="0" marL="228600" rtl="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Software installation and troubleshooting skills</a:t>
            </a:r>
            <a:endParaRPr/>
          </a:p>
          <a:p>
            <a:pPr indent="-214313" lvl="0" marL="228600" rtl="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520"/>
              <a:buChar char="•"/>
            </a:pPr>
            <a:r>
              <a:rPr lang="en-US" sz="1900">
                <a:solidFill>
                  <a:srgbClr val="FFFD78"/>
                </a:solidFill>
              </a:rPr>
              <a:t>Willingness </a:t>
            </a:r>
            <a:r>
              <a:rPr lang="en-US" sz="1900"/>
              <a:t>and</a:t>
            </a:r>
            <a:r>
              <a:rPr lang="en-US" sz="1900">
                <a:solidFill>
                  <a:srgbClr val="FFFD78"/>
                </a:solidFill>
              </a:rPr>
              <a:t> excitement </a:t>
            </a:r>
            <a:r>
              <a:rPr lang="en-US" sz="1900"/>
              <a:t>to learn new concepts and experience new frameworks 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411480" y="4754880"/>
            <a:ext cx="8339327" cy="9144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D3E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7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Prerequisites</a:t>
            </a:r>
            <a:r>
              <a:rPr b="0" i="1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define what you need to know </a:t>
            </a:r>
            <a:r>
              <a:rPr b="0" i="1" lang="en-US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before</a:t>
            </a:r>
            <a:r>
              <a:rPr b="0" i="1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taking a class to succeed </a:t>
            </a:r>
            <a:endParaRPr/>
          </a:p>
          <a:p>
            <a:pPr indent="0" lvl="0" marL="127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 the class. Please do not ask if you can take the class without the prerequisites, I have to advise </a:t>
            </a:r>
            <a:r>
              <a:rPr b="0" i="1" lang="en-US" sz="1600" u="sng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against</a:t>
            </a:r>
            <a:r>
              <a:rPr b="0" i="1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it</a:t>
            </a:r>
            <a:endParaRPr b="0" i="1" sz="16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411480" y="5760720"/>
            <a:ext cx="8339327" cy="694944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D3E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CS student services staff will monitor and remove students not meeting prerequisites in courses in which they are enrolled</a:t>
            </a:r>
            <a:endParaRPr/>
          </a:p>
        </p:txBody>
      </p:sp>
      <p:grpSp>
        <p:nvGrpSpPr>
          <p:cNvPr id="549" name="Google Shape;549;p13"/>
          <p:cNvGrpSpPr/>
          <p:nvPr/>
        </p:nvGrpSpPr>
        <p:grpSpPr>
          <a:xfrm>
            <a:off x="1371600" y="3657600"/>
            <a:ext cx="6422033" cy="758952"/>
            <a:chOff x="1349114" y="4032355"/>
            <a:chExt cx="7057227" cy="1117129"/>
          </a:xfrm>
        </p:grpSpPr>
        <p:sp>
          <p:nvSpPr>
            <p:cNvPr id="550" name="Google Shape;550;p13"/>
            <p:cNvSpPr/>
            <p:nvPr/>
          </p:nvSpPr>
          <p:spPr>
            <a:xfrm>
              <a:off x="1349114" y="4032355"/>
              <a:ext cx="7057227" cy="1117129"/>
            </a:xfrm>
            <a:custGeom>
              <a:rect b="b" l="l" r="r" t="t"/>
              <a:pathLst>
                <a:path extrusionOk="0" fill="none" h="1117129" w="7057227">
                  <a:moveTo>
                    <a:pt x="0" y="0"/>
                  </a:moveTo>
                  <a:cubicBezTo>
                    <a:pt x="341844" y="-75846"/>
                    <a:pt x="510152" y="43440"/>
                    <a:pt x="729247" y="0"/>
                  </a:cubicBezTo>
                  <a:cubicBezTo>
                    <a:pt x="948342" y="-43440"/>
                    <a:pt x="1304019" y="36937"/>
                    <a:pt x="1458494" y="0"/>
                  </a:cubicBezTo>
                  <a:cubicBezTo>
                    <a:pt x="1612969" y="-36937"/>
                    <a:pt x="1796368" y="46812"/>
                    <a:pt x="2046596" y="0"/>
                  </a:cubicBezTo>
                  <a:cubicBezTo>
                    <a:pt x="2296824" y="-46812"/>
                    <a:pt x="2493927" y="39546"/>
                    <a:pt x="2705270" y="0"/>
                  </a:cubicBezTo>
                  <a:cubicBezTo>
                    <a:pt x="2916613" y="-39546"/>
                    <a:pt x="3067713" y="52919"/>
                    <a:pt x="3222800" y="0"/>
                  </a:cubicBezTo>
                  <a:cubicBezTo>
                    <a:pt x="3377887" y="-52919"/>
                    <a:pt x="3589046" y="12698"/>
                    <a:pt x="3810903" y="0"/>
                  </a:cubicBezTo>
                  <a:cubicBezTo>
                    <a:pt x="4032760" y="-12698"/>
                    <a:pt x="4385313" y="21954"/>
                    <a:pt x="4540149" y="0"/>
                  </a:cubicBezTo>
                  <a:cubicBezTo>
                    <a:pt x="4694985" y="-21954"/>
                    <a:pt x="4787472" y="47328"/>
                    <a:pt x="4987107" y="0"/>
                  </a:cubicBezTo>
                  <a:cubicBezTo>
                    <a:pt x="5186742" y="-47328"/>
                    <a:pt x="5347666" y="24789"/>
                    <a:pt x="5645782" y="0"/>
                  </a:cubicBezTo>
                  <a:cubicBezTo>
                    <a:pt x="5943899" y="-24789"/>
                    <a:pt x="5875212" y="32320"/>
                    <a:pt x="6092739" y="0"/>
                  </a:cubicBezTo>
                  <a:cubicBezTo>
                    <a:pt x="6310266" y="-32320"/>
                    <a:pt x="6830922" y="92881"/>
                    <a:pt x="7057227" y="0"/>
                  </a:cubicBezTo>
                  <a:cubicBezTo>
                    <a:pt x="7125336" y="148520"/>
                    <a:pt x="7015155" y="376881"/>
                    <a:pt x="7057227" y="569736"/>
                  </a:cubicBezTo>
                  <a:cubicBezTo>
                    <a:pt x="7099299" y="762591"/>
                    <a:pt x="7007326" y="946293"/>
                    <a:pt x="7057227" y="1117129"/>
                  </a:cubicBezTo>
                  <a:cubicBezTo>
                    <a:pt x="6852914" y="1196065"/>
                    <a:pt x="6546850" y="1105463"/>
                    <a:pt x="6327980" y="1117129"/>
                  </a:cubicBezTo>
                  <a:cubicBezTo>
                    <a:pt x="6109110" y="1128795"/>
                    <a:pt x="5998989" y="1060879"/>
                    <a:pt x="5739878" y="1117129"/>
                  </a:cubicBezTo>
                  <a:cubicBezTo>
                    <a:pt x="5480767" y="1173379"/>
                    <a:pt x="5401658" y="1047042"/>
                    <a:pt x="5151776" y="1117129"/>
                  </a:cubicBezTo>
                  <a:cubicBezTo>
                    <a:pt x="4901894" y="1187216"/>
                    <a:pt x="4791513" y="1083166"/>
                    <a:pt x="4563673" y="1117129"/>
                  </a:cubicBezTo>
                  <a:cubicBezTo>
                    <a:pt x="4335833" y="1151092"/>
                    <a:pt x="4096627" y="1055162"/>
                    <a:pt x="3975571" y="1117129"/>
                  </a:cubicBezTo>
                  <a:cubicBezTo>
                    <a:pt x="3854515" y="1179096"/>
                    <a:pt x="3716645" y="1088817"/>
                    <a:pt x="3458041" y="1117129"/>
                  </a:cubicBezTo>
                  <a:cubicBezTo>
                    <a:pt x="3199437" y="1145441"/>
                    <a:pt x="3124616" y="1070646"/>
                    <a:pt x="2799367" y="1117129"/>
                  </a:cubicBezTo>
                  <a:cubicBezTo>
                    <a:pt x="2474118" y="1163612"/>
                    <a:pt x="2488608" y="1107262"/>
                    <a:pt x="2211264" y="1117129"/>
                  </a:cubicBezTo>
                  <a:cubicBezTo>
                    <a:pt x="1933920" y="1126996"/>
                    <a:pt x="1822121" y="1105795"/>
                    <a:pt x="1482018" y="1117129"/>
                  </a:cubicBezTo>
                  <a:cubicBezTo>
                    <a:pt x="1141915" y="1128463"/>
                    <a:pt x="964700" y="1103147"/>
                    <a:pt x="752771" y="1117129"/>
                  </a:cubicBezTo>
                  <a:cubicBezTo>
                    <a:pt x="540842" y="1131111"/>
                    <a:pt x="153195" y="1059904"/>
                    <a:pt x="0" y="1117129"/>
                  </a:cubicBezTo>
                  <a:cubicBezTo>
                    <a:pt x="-68185" y="943497"/>
                    <a:pt x="42357" y="780624"/>
                    <a:pt x="0" y="547393"/>
                  </a:cubicBezTo>
                  <a:cubicBezTo>
                    <a:pt x="-42357" y="314162"/>
                    <a:pt x="11392" y="163679"/>
                    <a:pt x="0" y="0"/>
                  </a:cubicBezTo>
                  <a:close/>
                </a:path>
                <a:path extrusionOk="0" h="1117129" w="7057227">
                  <a:moveTo>
                    <a:pt x="0" y="0"/>
                  </a:moveTo>
                  <a:cubicBezTo>
                    <a:pt x="182791" y="-3840"/>
                    <a:pt x="329797" y="20716"/>
                    <a:pt x="517530" y="0"/>
                  </a:cubicBezTo>
                  <a:cubicBezTo>
                    <a:pt x="705263" y="-20716"/>
                    <a:pt x="725240" y="26575"/>
                    <a:pt x="893915" y="0"/>
                  </a:cubicBezTo>
                  <a:cubicBezTo>
                    <a:pt x="1062590" y="-26575"/>
                    <a:pt x="1423339" y="23937"/>
                    <a:pt x="1623162" y="0"/>
                  </a:cubicBezTo>
                  <a:cubicBezTo>
                    <a:pt x="1822985" y="-23937"/>
                    <a:pt x="2030968" y="7994"/>
                    <a:pt x="2140692" y="0"/>
                  </a:cubicBezTo>
                  <a:cubicBezTo>
                    <a:pt x="2250416" y="-7994"/>
                    <a:pt x="2476697" y="7967"/>
                    <a:pt x="2658222" y="0"/>
                  </a:cubicBezTo>
                  <a:cubicBezTo>
                    <a:pt x="2839747" y="-7967"/>
                    <a:pt x="3139345" y="7694"/>
                    <a:pt x="3387469" y="0"/>
                  </a:cubicBezTo>
                  <a:cubicBezTo>
                    <a:pt x="3635593" y="-7694"/>
                    <a:pt x="3637592" y="6684"/>
                    <a:pt x="3834427" y="0"/>
                  </a:cubicBezTo>
                  <a:cubicBezTo>
                    <a:pt x="4031262" y="-6684"/>
                    <a:pt x="4347085" y="86685"/>
                    <a:pt x="4563673" y="0"/>
                  </a:cubicBezTo>
                  <a:cubicBezTo>
                    <a:pt x="4780261" y="-86685"/>
                    <a:pt x="4979165" y="27520"/>
                    <a:pt x="5292920" y="0"/>
                  </a:cubicBezTo>
                  <a:cubicBezTo>
                    <a:pt x="5606675" y="-27520"/>
                    <a:pt x="5687268" y="12523"/>
                    <a:pt x="5881023" y="0"/>
                  </a:cubicBezTo>
                  <a:cubicBezTo>
                    <a:pt x="6074778" y="-12523"/>
                    <a:pt x="6705836" y="9495"/>
                    <a:pt x="7057227" y="0"/>
                  </a:cubicBezTo>
                  <a:cubicBezTo>
                    <a:pt x="7103480" y="258227"/>
                    <a:pt x="7016202" y="381384"/>
                    <a:pt x="7057227" y="547393"/>
                  </a:cubicBezTo>
                  <a:cubicBezTo>
                    <a:pt x="7098252" y="713402"/>
                    <a:pt x="6995139" y="833038"/>
                    <a:pt x="7057227" y="1117129"/>
                  </a:cubicBezTo>
                  <a:cubicBezTo>
                    <a:pt x="6928472" y="1117521"/>
                    <a:pt x="6647542" y="1083960"/>
                    <a:pt x="6469125" y="1117129"/>
                  </a:cubicBezTo>
                  <a:cubicBezTo>
                    <a:pt x="6290708" y="1150298"/>
                    <a:pt x="6190709" y="1088550"/>
                    <a:pt x="6022167" y="1117129"/>
                  </a:cubicBezTo>
                  <a:cubicBezTo>
                    <a:pt x="5853625" y="1145708"/>
                    <a:pt x="5615124" y="1085396"/>
                    <a:pt x="5434065" y="1117129"/>
                  </a:cubicBezTo>
                  <a:cubicBezTo>
                    <a:pt x="5253006" y="1148862"/>
                    <a:pt x="4968825" y="1066948"/>
                    <a:pt x="4704818" y="1117129"/>
                  </a:cubicBezTo>
                  <a:cubicBezTo>
                    <a:pt x="4440811" y="1167310"/>
                    <a:pt x="4368439" y="1083540"/>
                    <a:pt x="4116716" y="1117129"/>
                  </a:cubicBezTo>
                  <a:cubicBezTo>
                    <a:pt x="3864993" y="1150718"/>
                    <a:pt x="3897717" y="1108667"/>
                    <a:pt x="3740330" y="1117129"/>
                  </a:cubicBezTo>
                  <a:cubicBezTo>
                    <a:pt x="3582943" y="1125591"/>
                    <a:pt x="3462478" y="1078550"/>
                    <a:pt x="3293373" y="1117129"/>
                  </a:cubicBezTo>
                  <a:cubicBezTo>
                    <a:pt x="3124268" y="1155708"/>
                    <a:pt x="2845140" y="1051024"/>
                    <a:pt x="2564126" y="1117129"/>
                  </a:cubicBezTo>
                  <a:cubicBezTo>
                    <a:pt x="2283112" y="1183234"/>
                    <a:pt x="2227389" y="1080200"/>
                    <a:pt x="1976024" y="1117129"/>
                  </a:cubicBezTo>
                  <a:cubicBezTo>
                    <a:pt x="1724659" y="1154058"/>
                    <a:pt x="1692502" y="1072120"/>
                    <a:pt x="1529066" y="1117129"/>
                  </a:cubicBezTo>
                  <a:cubicBezTo>
                    <a:pt x="1365630" y="1162138"/>
                    <a:pt x="1061414" y="1092445"/>
                    <a:pt x="940964" y="1117129"/>
                  </a:cubicBezTo>
                  <a:cubicBezTo>
                    <a:pt x="820514" y="1141813"/>
                    <a:pt x="656507" y="1092927"/>
                    <a:pt x="564578" y="1117129"/>
                  </a:cubicBezTo>
                  <a:cubicBezTo>
                    <a:pt x="472649" y="1141331"/>
                    <a:pt x="121224" y="1078710"/>
                    <a:pt x="0" y="1117129"/>
                  </a:cubicBezTo>
                  <a:cubicBezTo>
                    <a:pt x="-58730" y="854130"/>
                    <a:pt x="33325" y="734234"/>
                    <a:pt x="0" y="558565"/>
                  </a:cubicBezTo>
                  <a:cubicBezTo>
                    <a:pt x="-33325" y="382896"/>
                    <a:pt x="51265" y="13920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38100">
              <a:solidFill>
                <a:srgbClr val="AB15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000" cap="none">
                  <a:solidFill>
                    <a:srgbClr val="011EAA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Your       and soul !!</a:t>
              </a:r>
              <a:endParaRPr/>
            </a:p>
          </p:txBody>
        </p:sp>
        <p:pic>
          <p:nvPicPr>
            <p:cNvPr descr="A red heart with a black background&#10;&#10;Description automatically generated" id="551" name="Google Shape;55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1651" y="4167267"/>
              <a:ext cx="873402" cy="8818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"/>
          <p:cNvSpPr txBox="1"/>
          <p:nvPr>
            <p:ph type="title"/>
          </p:nvPr>
        </p:nvSpPr>
        <p:spPr>
          <a:xfrm>
            <a:off x="0" y="0"/>
            <a:ext cx="9144000" cy="5911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Accommodations</a:t>
            </a:r>
            <a:endParaRPr/>
          </a:p>
        </p:txBody>
      </p:sp>
      <p:sp>
        <p:nvSpPr>
          <p:cNvPr id="557" name="Google Shape;557;p14"/>
          <p:cNvSpPr txBox="1"/>
          <p:nvPr/>
        </p:nvSpPr>
        <p:spPr>
          <a:xfrm>
            <a:off x="597408" y="533400"/>
            <a:ext cx="79766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sng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https://www.cs.virginia.edu/~up3f/cs3250/policies.html#no-extension</a:t>
            </a:r>
            <a:r>
              <a:rPr b="0" lang="en-US" sz="1600">
                <a:solidFill>
                  <a:srgbClr val="00FD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pic>
        <p:nvPicPr>
          <p:cNvPr id="558" name="Google Shape;5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90600"/>
            <a:ext cx="9144000" cy="2514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505200"/>
            <a:ext cx="9144000" cy="1891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410200"/>
            <a:ext cx="9144000" cy="9777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" name="Google Shape;561;p14"/>
          <p:cNvCxnSpPr/>
          <p:nvPr/>
        </p:nvCxnSpPr>
        <p:spPr>
          <a:xfrm>
            <a:off x="3505200" y="3381375"/>
            <a:ext cx="31242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14"/>
          <p:cNvCxnSpPr/>
          <p:nvPr/>
        </p:nvCxnSpPr>
        <p:spPr>
          <a:xfrm>
            <a:off x="3157538" y="4148138"/>
            <a:ext cx="2319337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14"/>
          <p:cNvCxnSpPr/>
          <p:nvPr/>
        </p:nvCxnSpPr>
        <p:spPr>
          <a:xfrm>
            <a:off x="5443537" y="6034088"/>
            <a:ext cx="1947863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View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View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2017-07-01T01:04:54Z</dcterms:created>
  <dc:creator>Microsoft Office User</dc:creator>
</cp:coreProperties>
</file>