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0" r:id="rId5"/>
    <p:sldMasterId id="2147483663" r:id="rId6"/>
    <p:sldMasterId id="2147483675" r:id="rId7"/>
    <p:sldMasterId id="2147483687" r:id="rId8"/>
    <p:sldMasterId id="2147483699"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Lst>
  <p:sldSz cy="6858000" cx="9144000"/>
  <p:notesSz cx="9236075" cy="7010400"/>
  <p:embeddedFontLst>
    <p:embeddedFont>
      <p:font typeface="Century Schoolbook"/>
      <p:regular r:id="rId40"/>
      <p:bold r:id="rId41"/>
      <p:italic r:id="rId42"/>
      <p:boldItalic r:id="rId43"/>
    </p:embeddedFont>
    <p:embeddedFont>
      <p:font typeface="Short Stack"/>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544">
          <p15:clr>
            <a:srgbClr val="A4A3A4"/>
          </p15:clr>
        </p15:guide>
        <p15:guide id="2" pos="2880">
          <p15:clr>
            <a:srgbClr val="A4A3A4"/>
          </p15:clr>
        </p15:guide>
      </p15:sldGuideLst>
    </p:ext>
    <p:ext uri="{2D200454-40CA-4A62-9FC3-DE9A4176ACB9}">
      <p15:notesGuideLst>
        <p15:guide id="1" orient="horz" pos="2208">
          <p15:clr>
            <a:srgbClr val="A4A3A4"/>
          </p15:clr>
        </p15:guide>
        <p15:guide id="2" pos="2909">
          <p15:clr>
            <a:srgbClr val="A4A3A4"/>
          </p15:clr>
        </p15:guide>
      </p15:notesGuideLst>
    </p:ext>
    <p:ext uri="GoogleSlidesCustomDataVersion2">
      <go:slidesCustomData xmlns:go="http://customooxmlschemas.google.com/" r:id="rId45" roundtripDataSignature="AMtx7mgzZWuLZbarDuiJ2U0KSoJTcZX2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544" orient="horz"/>
        <p:guide pos="2880"/>
      </p:guideLst>
    </p:cSldViewPr>
  </p:slideViewPr>
  <p:notesViewPr>
    <p:cSldViewPr snapToGrid="0">
      <p:cViewPr varScale="1">
        <p:scale>
          <a:sx n="100" d="100"/>
          <a:sy n="100" d="100"/>
        </p:scale>
        <p:origin x="0" y="0"/>
      </p:cViewPr>
      <p:guideLst>
        <p:guide pos="2208" orient="horz"/>
        <p:guide pos="2909"/>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CenturySchoolbook-regular.fntdata"/><Relationship Id="rId20" Type="http://schemas.openxmlformats.org/officeDocument/2006/relationships/slide" Target="slides/slide10.xml"/><Relationship Id="rId42" Type="http://schemas.openxmlformats.org/officeDocument/2006/relationships/font" Target="fonts/CenturySchoolbook-italic.fntdata"/><Relationship Id="rId41" Type="http://schemas.openxmlformats.org/officeDocument/2006/relationships/font" Target="fonts/CenturySchoolbook-bold.fntdata"/><Relationship Id="rId22" Type="http://schemas.openxmlformats.org/officeDocument/2006/relationships/slide" Target="slides/slide12.xml"/><Relationship Id="rId44" Type="http://schemas.openxmlformats.org/officeDocument/2006/relationships/font" Target="fonts/ShortStack-regular.fntdata"/><Relationship Id="rId21" Type="http://schemas.openxmlformats.org/officeDocument/2006/relationships/slide" Target="slides/slide11.xml"/><Relationship Id="rId43" Type="http://schemas.openxmlformats.org/officeDocument/2006/relationships/font" Target="fonts/CenturySchoolbook-boldItalic.fntdata"/><Relationship Id="rId24" Type="http://schemas.openxmlformats.org/officeDocument/2006/relationships/slide" Target="slides/slide14.xml"/><Relationship Id="rId23" Type="http://schemas.openxmlformats.org/officeDocument/2006/relationships/slide" Target="slides/slide13.xml"/><Relationship Id="rId45" Type="http://customschemas.google.com/relationships/presentationmetadata" Target="meta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19.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1.xml"/><Relationship Id="rId30" Type="http://schemas.openxmlformats.org/officeDocument/2006/relationships/slide" Target="slides/slide20.xml"/><Relationship Id="rId11" Type="http://schemas.openxmlformats.org/officeDocument/2006/relationships/slide" Target="slides/slide1.xml"/><Relationship Id="rId33" Type="http://schemas.openxmlformats.org/officeDocument/2006/relationships/slide" Target="slides/slide23.xml"/><Relationship Id="rId10" Type="http://schemas.openxmlformats.org/officeDocument/2006/relationships/notesMaster" Target="notesMasters/notesMaster1.xml"/><Relationship Id="rId32" Type="http://schemas.openxmlformats.org/officeDocument/2006/relationships/slide" Target="slides/slide22.xml"/><Relationship Id="rId13" Type="http://schemas.openxmlformats.org/officeDocument/2006/relationships/slide" Target="slides/slide3.xml"/><Relationship Id="rId35" Type="http://schemas.openxmlformats.org/officeDocument/2006/relationships/slide" Target="slides/slide25.xml"/><Relationship Id="rId12" Type="http://schemas.openxmlformats.org/officeDocument/2006/relationships/slide" Target="slides/slide2.xml"/><Relationship Id="rId34" Type="http://schemas.openxmlformats.org/officeDocument/2006/relationships/slide" Target="slides/slide24.xml"/><Relationship Id="rId15" Type="http://schemas.openxmlformats.org/officeDocument/2006/relationships/slide" Target="slides/slide5.xml"/><Relationship Id="rId37" Type="http://schemas.openxmlformats.org/officeDocument/2006/relationships/slide" Target="slides/slide27.xml"/><Relationship Id="rId14" Type="http://schemas.openxmlformats.org/officeDocument/2006/relationships/slide" Target="slides/slide4.xml"/><Relationship Id="rId36" Type="http://schemas.openxmlformats.org/officeDocument/2006/relationships/slide" Target="slides/slide26.xml"/><Relationship Id="rId17" Type="http://schemas.openxmlformats.org/officeDocument/2006/relationships/slide" Target="slides/slide7.xml"/><Relationship Id="rId39" Type="http://schemas.openxmlformats.org/officeDocument/2006/relationships/slide" Target="slides/slide29.xml"/><Relationship Id="rId16" Type="http://schemas.openxmlformats.org/officeDocument/2006/relationships/slide" Target="slides/slide6.xml"/><Relationship Id="rId38" Type="http://schemas.openxmlformats.org/officeDocument/2006/relationships/slide" Target="slides/slide28.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2" y="1"/>
            <a:ext cx="4003136" cy="350641"/>
          </a:xfrm>
          <a:prstGeom prst="rect">
            <a:avLst/>
          </a:prstGeom>
          <a:noFill/>
          <a:ln>
            <a:noFill/>
          </a:ln>
        </p:spPr>
        <p:txBody>
          <a:bodyPr anchorCtr="0" anchor="t" bIns="46400" lIns="92800" spcFirstLastPara="1" rIns="92800" wrap="square" tIns="464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5232941" y="1"/>
            <a:ext cx="4003136" cy="350641"/>
          </a:xfrm>
          <a:prstGeom prst="rect">
            <a:avLst/>
          </a:prstGeom>
          <a:noFill/>
          <a:ln>
            <a:noFill/>
          </a:ln>
        </p:spPr>
        <p:txBody>
          <a:bodyPr anchorCtr="0" anchor="t" bIns="46400" lIns="92800" spcFirstLastPara="1" rIns="92800" wrap="square" tIns="464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2" y="6659760"/>
            <a:ext cx="4003136" cy="350640"/>
          </a:xfrm>
          <a:prstGeom prst="rect">
            <a:avLst/>
          </a:prstGeom>
          <a:noFill/>
          <a:ln>
            <a:noFill/>
          </a:ln>
        </p:spPr>
        <p:txBody>
          <a:bodyPr anchorCtr="0" anchor="b" bIns="46400" lIns="92800" spcFirstLastPara="1" rIns="92800" wrap="square" tIns="464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1: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sz="10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05" name="Google Shape;405;p2: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06" name="Google Shape;406;p2: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32" name="Google Shape;432;p3: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33" name="Google Shape;433;p3: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41" name="Google Shape;441;p4: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42" name="Google Shape;442;p4: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5: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469" name="Google Shape;469;p5: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470" name="Google Shape;470;p5: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6: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27" name="Google Shape;527;p6: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528" name="Google Shape;528;p6: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7: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50" name="Google Shape;550;p7: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551" name="Google Shape;551;p7: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8: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60" name="Google Shape;560;p8: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561" name="Google Shape;561;p8: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9: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72" name="Google Shape;572;p9: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Clr>
                <a:schemeClr val="dk1"/>
              </a:buClr>
              <a:buSzPts val="1200"/>
              <a:buFont typeface="Times New Roman"/>
              <a:buNone/>
            </a:pPr>
            <a:r>
              <a:t/>
            </a:r>
            <a:endParaRPr/>
          </a:p>
        </p:txBody>
      </p:sp>
      <p:sp>
        <p:nvSpPr>
          <p:cNvPr id="573" name="Google Shape;573;p9: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0: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594" name="Google Shape;594;p10: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Clr>
                <a:schemeClr val="dk1"/>
              </a:buClr>
              <a:buSzPts val="1200"/>
              <a:buFont typeface="Times New Roman"/>
              <a:buNone/>
            </a:pPr>
            <a:r>
              <a:t/>
            </a:r>
            <a:endParaRPr/>
          </a:p>
        </p:txBody>
      </p:sp>
      <p:sp>
        <p:nvSpPr>
          <p:cNvPr id="595" name="Google Shape;595;p10: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1: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06" name="Google Shape;606;p11: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07" name="Google Shape;607;p11: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2: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13" name="Google Shape;613;p12: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14" name="Google Shape;614;p12: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3: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21" name="Google Shape;621;p13: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22" name="Google Shape;622;p13: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4: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28" name="Google Shape;628;p14: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29" name="Google Shape;629;p14: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5: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35" name="Google Shape;635;p15: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36" name="Google Shape;636;p15: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16: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42" name="Google Shape;642;p16: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43" name="Google Shape;643;p16: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7: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51" name="Google Shape;651;p17: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52" name="Google Shape;652;p17: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8: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59" name="Google Shape;659;p18: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60" name="Google Shape;660;p18: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19: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68" name="Google Shape;668;p19: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69" name="Google Shape;669;p19: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0: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75" name="Google Shape;675;p20: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76" name="Google Shape;676;p20: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1: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83" name="Google Shape;683;p21: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84" name="Google Shape;684;p21: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22: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90" name="Google Shape;690;p22: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691" name="Google Shape;691;p22: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3: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06" name="Google Shape;706;p23: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707" name="Google Shape;707;p23: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24: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23" name="Google Shape;723;p24: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724" name="Google Shape;724;p24: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25: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30" name="Google Shape;730;p25: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731" name="Google Shape;731;p25: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26: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73" name="Google Shape;773;p26: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774" name="Google Shape;774;p26: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27: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83" name="Google Shape;783;p27: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784" name="Google Shape;784;p27: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28: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790" name="Google Shape;790;p28:notes"/>
          <p:cNvSpPr txBox="1"/>
          <p:nvPr>
            <p:ph idx="1" type="body"/>
          </p:nvPr>
        </p:nvSpPr>
        <p:spPr>
          <a:xfrm>
            <a:off x="1229804" y="3330482"/>
            <a:ext cx="6776468" cy="3153355"/>
          </a:xfrm>
          <a:prstGeom prst="rect">
            <a:avLst/>
          </a:prstGeom>
          <a:noFill/>
          <a:ln>
            <a:noFill/>
          </a:ln>
        </p:spPr>
        <p:txBody>
          <a:bodyPr anchorCtr="0" anchor="t" bIns="46400" lIns="92800" spcFirstLastPara="1" rIns="92800" wrap="square" tIns="46400">
            <a:noAutofit/>
          </a:bodyPr>
          <a:lstStyle/>
          <a:p>
            <a:pPr indent="0" lvl="0" marL="0" rtl="0" algn="l">
              <a:spcBef>
                <a:spcPts val="0"/>
              </a:spcBef>
              <a:spcAft>
                <a:spcPts val="0"/>
              </a:spcAft>
              <a:buNone/>
            </a:pPr>
            <a:r>
              <a:t/>
            </a:r>
            <a:endParaRPr/>
          </a:p>
        </p:txBody>
      </p:sp>
      <p:sp>
        <p:nvSpPr>
          <p:cNvPr id="791" name="Google Shape;791;p28:notes"/>
          <p:cNvSpPr txBox="1"/>
          <p:nvPr>
            <p:ph idx="12" type="sldNum"/>
          </p:nvPr>
        </p:nvSpPr>
        <p:spPr>
          <a:xfrm>
            <a:off x="5232941" y="6659760"/>
            <a:ext cx="4003136" cy="350640"/>
          </a:xfrm>
          <a:prstGeom prst="rect">
            <a:avLst/>
          </a:prstGeom>
          <a:noFill/>
          <a:ln>
            <a:noFill/>
          </a:ln>
        </p:spPr>
        <p:txBody>
          <a:bodyPr anchorCtr="0" anchor="b" bIns="46400" lIns="92800" spcFirstLastPara="1" rIns="92800" wrap="square" tIns="464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29:notes"/>
          <p:cNvSpPr txBox="1"/>
          <p:nvPr>
            <p:ph idx="1" type="body"/>
          </p:nvPr>
        </p:nvSpPr>
        <p:spPr>
          <a:xfrm>
            <a:off x="1229804" y="3330482"/>
            <a:ext cx="6776468" cy="3153355"/>
          </a:xfrm>
          <a:prstGeom prst="rect">
            <a:avLst/>
          </a:prstGeom>
        </p:spPr>
        <p:txBody>
          <a:bodyPr anchorCtr="0" anchor="t" bIns="46400" lIns="92800" spcFirstLastPara="1" rIns="92800" wrap="square" tIns="46400">
            <a:noAutofit/>
          </a:bodyPr>
          <a:lstStyle/>
          <a:p>
            <a:pPr indent="0" lvl="0" marL="0" rtl="0" algn="l">
              <a:spcBef>
                <a:spcPts val="360"/>
              </a:spcBef>
              <a:spcAft>
                <a:spcPts val="0"/>
              </a:spcAft>
              <a:buNone/>
            </a:pPr>
            <a:r>
              <a:t/>
            </a:r>
            <a:endParaRPr/>
          </a:p>
        </p:txBody>
      </p:sp>
      <p:sp>
        <p:nvSpPr>
          <p:cNvPr id="797" name="Google Shape;797;p29:notes"/>
          <p:cNvSpPr/>
          <p:nvPr>
            <p:ph idx="2" type="sldImg"/>
          </p:nvPr>
        </p:nvSpPr>
        <p:spPr>
          <a:xfrm>
            <a:off x="2867025" y="527050"/>
            <a:ext cx="3502025" cy="26273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rgbClr val="0C0C0C"/>
        </a:solidFill>
      </p:bgPr>
    </p:bg>
    <p:spTree>
      <p:nvGrpSpPr>
        <p:cNvPr id="17" name="Shape 17"/>
        <p:cNvGrpSpPr/>
        <p:nvPr/>
      </p:nvGrpSpPr>
      <p:grpSpPr>
        <a:xfrm>
          <a:off x="0" y="0"/>
          <a:ext cx="0" cy="0"/>
          <a:chOff x="0" y="0"/>
          <a:chExt cx="0" cy="0"/>
        </a:xfrm>
      </p:grpSpPr>
      <p:sp>
        <p:nvSpPr>
          <p:cNvPr id="18" name="Google Shape;18;p33"/>
          <p:cNvSpPr txBox="1"/>
          <p:nvPr>
            <p:ph idx="1" type="subTitle"/>
          </p:nvPr>
        </p:nvSpPr>
        <p:spPr>
          <a:xfrm>
            <a:off x="1066800" y="4495800"/>
            <a:ext cx="7063740" cy="1691640"/>
          </a:xfrm>
          <a:prstGeom prst="rect">
            <a:avLst/>
          </a:prstGeom>
          <a:noFill/>
          <a:ln>
            <a:noFill/>
          </a:ln>
        </p:spPr>
        <p:txBody>
          <a:bodyPr anchorCtr="0" anchor="t" bIns="45700" lIns="91425" spcFirstLastPara="1" rIns="91425" wrap="square" tIns="45700">
            <a:normAutofit/>
          </a:bodyPr>
          <a:lstStyle>
            <a:lvl1pPr lvl="0" algn="ctr">
              <a:lnSpc>
                <a:spcPct val="95000"/>
              </a:lnSpc>
              <a:spcBef>
                <a:spcPts val="1400"/>
              </a:spcBef>
              <a:spcAft>
                <a:spcPts val="0"/>
              </a:spcAft>
              <a:buSzPts val="2240"/>
              <a:buNone/>
              <a:defRPr sz="2800">
                <a:solidFill>
                  <a:srgbClr val="D8D8D8"/>
                </a:solidFill>
                <a:latin typeface="Verdana"/>
                <a:ea typeface="Verdana"/>
                <a:cs typeface="Verdana"/>
                <a:sym typeface="Verdana"/>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2000"/>
              <a:buNone/>
              <a:defRPr sz="20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cxnSp>
        <p:nvCxnSpPr>
          <p:cNvPr id="19" name="Google Shape;19;p33"/>
          <p:cNvCxnSpPr/>
          <p:nvPr/>
        </p:nvCxnSpPr>
        <p:spPr>
          <a:xfrm>
            <a:off x="609600" y="3200400"/>
            <a:ext cx="7924800" cy="0"/>
          </a:xfrm>
          <a:prstGeom prst="straightConnector1">
            <a:avLst/>
          </a:prstGeom>
          <a:noFill/>
          <a:ln cap="flat" cmpd="sng" w="38100">
            <a:solidFill>
              <a:srgbClr val="FF4C00"/>
            </a:solidFill>
            <a:prstDash val="solid"/>
            <a:round/>
            <a:headEnd len="sm" w="sm" type="none"/>
            <a:tailEnd len="sm" w="sm" type="none"/>
          </a:ln>
        </p:spPr>
      </p:cxnSp>
      <p:sp>
        <p:nvSpPr>
          <p:cNvPr id="20" name="Google Shape;20;p33"/>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3"/>
          <p:cNvSpPr/>
          <p:nvPr/>
        </p:nvSpPr>
        <p:spPr>
          <a:xfrm>
            <a:off x="0" y="6583680"/>
            <a:ext cx="9144000" cy="274320"/>
          </a:xfrm>
          <a:prstGeom prst="rect">
            <a:avLst/>
          </a:prstGeom>
          <a:solidFill>
            <a:srgbClr val="072B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000" u="none" cap="none" strike="noStrike">
              <a:solidFill>
                <a:schemeClr val="lt1"/>
              </a:solidFill>
              <a:latin typeface="Arial"/>
              <a:ea typeface="Arial"/>
              <a:cs typeface="Arial"/>
              <a:sym typeface="Arial"/>
            </a:endParaRPr>
          </a:p>
        </p:txBody>
      </p:sp>
      <p:sp>
        <p:nvSpPr>
          <p:cNvPr id="22" name="Google Shape;22;p33"/>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9DE"/>
                </a:solidFill>
                <a:latin typeface="Arial"/>
                <a:ea typeface="Arial"/>
                <a:cs typeface="Arial"/>
                <a:sym typeface="Arial"/>
              </a:rPr>
              <a:t>Fall 2026 – University of Virginia</a:t>
            </a:r>
            <a:endParaRPr b="0" i="0" sz="1000" u="none" cap="none" strike="noStrike">
              <a:solidFill>
                <a:srgbClr val="BBD9DE"/>
              </a:solidFill>
              <a:latin typeface="Arial"/>
              <a:ea typeface="Arial"/>
              <a:cs typeface="Arial"/>
              <a:sym typeface="Arial"/>
            </a:endParaRPr>
          </a:p>
        </p:txBody>
      </p:sp>
      <p:sp>
        <p:nvSpPr>
          <p:cNvPr id="23" name="Google Shape;23;p33"/>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i="0" lang="en-US" sz="1000" u="none" cap="none" strike="noStrike">
                <a:solidFill>
                  <a:srgbClr val="BBD9DE"/>
                </a:solidFill>
                <a:latin typeface="Arial"/>
                <a:ea typeface="Arial"/>
                <a:cs typeface="Arial"/>
                <a:sym typeface="Arial"/>
              </a:rPr>
              <a:t>‹#›</a:t>
            </a:fld>
            <a:endParaRPr b="0" i="0" sz="1000" u="none" cap="none" strike="noStrike">
              <a:solidFill>
                <a:srgbClr val="BBD9DE"/>
              </a:solidFill>
              <a:latin typeface="Arial"/>
              <a:ea typeface="Arial"/>
              <a:cs typeface="Arial"/>
              <a:sym typeface="Arial"/>
            </a:endParaRPr>
          </a:p>
        </p:txBody>
      </p:sp>
      <p:sp>
        <p:nvSpPr>
          <p:cNvPr id="24" name="Google Shape;24;p33"/>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BBD9DE"/>
                </a:solidFill>
                <a:latin typeface="Arial"/>
                <a:ea typeface="Arial"/>
                <a:cs typeface="Arial"/>
                <a:sym typeface="Arial"/>
              </a:rPr>
              <a:t>© Praphamontripong</a:t>
            </a:r>
            <a:endParaRPr b="0" i="0" sz="1000" u="none" cap="none" strike="noStrike">
              <a:solidFill>
                <a:srgbClr val="BBD9DE"/>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rgbClr val="0C0C0C"/>
        </a:solidFill>
      </p:bgPr>
    </p:bg>
    <p:spTree>
      <p:nvGrpSpPr>
        <p:cNvPr id="33" name="Shape 33"/>
        <p:cNvGrpSpPr/>
        <p:nvPr/>
      </p:nvGrpSpPr>
      <p:grpSpPr>
        <a:xfrm>
          <a:off x="0" y="0"/>
          <a:ext cx="0" cy="0"/>
          <a:chOff x="0" y="0"/>
          <a:chExt cx="0" cy="0"/>
        </a:xfrm>
      </p:grpSpPr>
      <p:sp>
        <p:nvSpPr>
          <p:cNvPr id="34" name="Google Shape;34;p34"/>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FFFF00"/>
              </a:buClr>
              <a:buSzPts val="4000"/>
              <a:buFont typeface="Verdana"/>
              <a:buNone/>
              <a:defRPr b="1" sz="4000">
                <a:solidFill>
                  <a:srgbClr val="FFFF00"/>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4"/>
          <p:cNvSpPr txBox="1"/>
          <p:nvPr>
            <p:ph idx="1" type="body"/>
          </p:nvPr>
        </p:nvSpPr>
        <p:spPr>
          <a:xfrm>
            <a:off x="457200" y="1066801"/>
            <a:ext cx="7955280" cy="5113338"/>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1400"/>
              </a:spcBef>
              <a:spcAft>
                <a:spcPts val="0"/>
              </a:spcAft>
              <a:buClr>
                <a:schemeClr val="lt1"/>
              </a:buClr>
              <a:buSzPts val="2240"/>
              <a:buChar char="•"/>
              <a:defRPr sz="2800">
                <a:solidFill>
                  <a:schemeClr val="lt1"/>
                </a:solidFill>
                <a:latin typeface="Verdana"/>
                <a:ea typeface="Verdana"/>
                <a:cs typeface="Verdana"/>
                <a:sym typeface="Verdana"/>
              </a:defRPr>
            </a:lvl1pPr>
            <a:lvl2pPr indent="-381000" lvl="1" marL="914400" algn="l">
              <a:lnSpc>
                <a:spcPct val="100000"/>
              </a:lnSpc>
              <a:spcBef>
                <a:spcPts val="300"/>
              </a:spcBef>
              <a:spcAft>
                <a:spcPts val="0"/>
              </a:spcAft>
              <a:buClr>
                <a:schemeClr val="lt1"/>
              </a:buClr>
              <a:buSzPts val="2400"/>
              <a:buChar char="●"/>
              <a:defRPr sz="2400">
                <a:solidFill>
                  <a:schemeClr val="lt1"/>
                </a:solidFill>
                <a:latin typeface="Verdana"/>
                <a:ea typeface="Verdana"/>
                <a:cs typeface="Verdana"/>
                <a:sym typeface="Verdana"/>
              </a:defRPr>
            </a:lvl2pPr>
            <a:lvl3pPr indent="-355600" lvl="2" marL="1371600" algn="l">
              <a:lnSpc>
                <a:spcPct val="100000"/>
              </a:lnSpc>
              <a:spcBef>
                <a:spcPts val="300"/>
              </a:spcBef>
              <a:spcAft>
                <a:spcPts val="0"/>
              </a:spcAft>
              <a:buClr>
                <a:schemeClr val="lt1"/>
              </a:buClr>
              <a:buSzPts val="2000"/>
              <a:buChar char="●"/>
              <a:defRPr sz="2000">
                <a:solidFill>
                  <a:schemeClr val="lt1"/>
                </a:solidFill>
                <a:latin typeface="Verdana"/>
                <a:ea typeface="Verdana"/>
                <a:cs typeface="Verdana"/>
                <a:sym typeface="Verdana"/>
              </a:defRPr>
            </a:lvl3pPr>
            <a:lvl4pPr indent="-355600" lvl="3" marL="1828800" algn="l">
              <a:lnSpc>
                <a:spcPct val="100000"/>
              </a:lnSpc>
              <a:spcBef>
                <a:spcPts val="300"/>
              </a:spcBef>
              <a:spcAft>
                <a:spcPts val="0"/>
              </a:spcAft>
              <a:buClr>
                <a:schemeClr val="lt1"/>
              </a:buClr>
              <a:buSzPts val="2000"/>
              <a:buChar char="●"/>
              <a:defRPr sz="2000">
                <a:solidFill>
                  <a:schemeClr val="lt1"/>
                </a:solidFill>
                <a:latin typeface="Verdana"/>
                <a:ea typeface="Verdana"/>
                <a:cs typeface="Verdana"/>
                <a:sym typeface="Verdana"/>
              </a:defRPr>
            </a:lvl4pPr>
            <a:lvl5pPr indent="-355600" lvl="4" marL="2286000" algn="l">
              <a:lnSpc>
                <a:spcPct val="100000"/>
              </a:lnSpc>
              <a:spcBef>
                <a:spcPts val="300"/>
              </a:spcBef>
              <a:spcAft>
                <a:spcPts val="0"/>
              </a:spcAft>
              <a:buClr>
                <a:schemeClr val="lt1"/>
              </a:buClr>
              <a:buSzPts val="2000"/>
              <a:buChar char="●"/>
              <a:defRPr sz="2000">
                <a:solidFill>
                  <a:schemeClr val="lt1"/>
                </a:solidFill>
                <a:latin typeface="Verdana"/>
                <a:ea typeface="Verdana"/>
                <a:cs typeface="Verdana"/>
                <a:sym typeface="Verdana"/>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solidFill>
          <a:srgbClr val="0C0C0C"/>
        </a:solidFill>
      </p:bgPr>
    </p:bg>
    <p:spTree>
      <p:nvGrpSpPr>
        <p:cNvPr id="36" name="Shape 36"/>
        <p:cNvGrpSpPr/>
        <p:nvPr/>
      </p:nvGrpSpPr>
      <p:grpSpPr>
        <a:xfrm>
          <a:off x="0" y="0"/>
          <a:ext cx="0" cy="0"/>
          <a:chOff x="0" y="0"/>
          <a:chExt cx="0" cy="0"/>
        </a:xfrm>
      </p:grpSpPr>
      <p:sp>
        <p:nvSpPr>
          <p:cNvPr id="37" name="Google Shape;37;p35"/>
          <p:cNvSpPr txBox="1"/>
          <p:nvPr>
            <p:ph idx="1" type="subTitle"/>
          </p:nvPr>
        </p:nvSpPr>
        <p:spPr>
          <a:xfrm>
            <a:off x="1066800" y="4495800"/>
            <a:ext cx="7063740" cy="1691640"/>
          </a:xfrm>
          <a:prstGeom prst="rect">
            <a:avLst/>
          </a:prstGeom>
          <a:noFill/>
          <a:ln>
            <a:noFill/>
          </a:ln>
        </p:spPr>
        <p:txBody>
          <a:bodyPr anchorCtr="0" anchor="t" bIns="45700" lIns="91425" spcFirstLastPara="1" rIns="91425" wrap="square" tIns="45700">
            <a:normAutofit/>
          </a:bodyPr>
          <a:lstStyle>
            <a:lvl1pPr lvl="0" algn="ctr">
              <a:lnSpc>
                <a:spcPct val="95000"/>
              </a:lnSpc>
              <a:spcBef>
                <a:spcPts val="1400"/>
              </a:spcBef>
              <a:spcAft>
                <a:spcPts val="0"/>
              </a:spcAft>
              <a:buSzPts val="2240"/>
              <a:buNone/>
              <a:defRPr sz="2800">
                <a:solidFill>
                  <a:srgbClr val="D8D8D8"/>
                </a:solidFill>
                <a:latin typeface="Verdana"/>
                <a:ea typeface="Verdana"/>
                <a:cs typeface="Verdana"/>
                <a:sym typeface="Verdana"/>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2000"/>
              <a:buNone/>
              <a:defRPr sz="20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cxnSp>
        <p:nvCxnSpPr>
          <p:cNvPr id="38" name="Google Shape;38;p35"/>
          <p:cNvCxnSpPr/>
          <p:nvPr/>
        </p:nvCxnSpPr>
        <p:spPr>
          <a:xfrm>
            <a:off x="609600" y="3200400"/>
            <a:ext cx="7924800" cy="0"/>
          </a:xfrm>
          <a:prstGeom prst="straightConnector1">
            <a:avLst/>
          </a:prstGeom>
          <a:noFill/>
          <a:ln cap="flat" cmpd="sng" w="38100">
            <a:solidFill>
              <a:srgbClr val="FF4C00"/>
            </a:solidFill>
            <a:prstDash val="solid"/>
            <a:round/>
            <a:headEnd len="sm" w="sm" type="none"/>
            <a:tailEnd len="sm" w="sm" type="none"/>
          </a:ln>
        </p:spPr>
      </p:cxnSp>
      <p:sp>
        <p:nvSpPr>
          <p:cNvPr id="39" name="Google Shape;39;p35"/>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5"/>
          <p:cNvSpPr/>
          <p:nvPr/>
        </p:nvSpPr>
        <p:spPr>
          <a:xfrm>
            <a:off x="0" y="6583680"/>
            <a:ext cx="9144000" cy="274320"/>
          </a:xfrm>
          <a:prstGeom prst="rect">
            <a:avLst/>
          </a:prstGeom>
          <a:solidFill>
            <a:srgbClr val="072B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000">
              <a:solidFill>
                <a:schemeClr val="lt1"/>
              </a:solidFill>
              <a:latin typeface="Arial"/>
              <a:ea typeface="Arial"/>
              <a:cs typeface="Arial"/>
              <a:sym typeface="Arial"/>
            </a:endParaRPr>
          </a:p>
        </p:txBody>
      </p:sp>
      <p:sp>
        <p:nvSpPr>
          <p:cNvPr id="41" name="Google Shape;41;p35"/>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a:solidFill>
                  <a:srgbClr val="BBD9DE"/>
                </a:solidFill>
                <a:latin typeface="Arial"/>
                <a:ea typeface="Arial"/>
                <a:cs typeface="Arial"/>
                <a:sym typeface="Arial"/>
              </a:rPr>
              <a:t>Fall 2018 – University of Virginia</a:t>
            </a:r>
            <a:endParaRPr b="0" sz="1000">
              <a:solidFill>
                <a:srgbClr val="BBD9DE"/>
              </a:solidFill>
              <a:latin typeface="Arial"/>
              <a:ea typeface="Arial"/>
              <a:cs typeface="Arial"/>
              <a:sym typeface="Arial"/>
            </a:endParaRPr>
          </a:p>
        </p:txBody>
      </p:sp>
      <p:sp>
        <p:nvSpPr>
          <p:cNvPr id="42" name="Google Shape;42;p35"/>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lang="en-US" sz="1000">
                <a:solidFill>
                  <a:srgbClr val="BBD9DE"/>
                </a:solidFill>
                <a:latin typeface="Arial"/>
                <a:ea typeface="Arial"/>
                <a:cs typeface="Arial"/>
                <a:sym typeface="Arial"/>
              </a:rPr>
              <a:t>‹#›</a:t>
            </a:fld>
            <a:endParaRPr b="0" sz="1000">
              <a:solidFill>
                <a:srgbClr val="BBD9DE"/>
              </a:solidFill>
              <a:latin typeface="Arial"/>
              <a:ea typeface="Arial"/>
              <a:cs typeface="Arial"/>
              <a:sym typeface="Arial"/>
            </a:endParaRPr>
          </a:p>
        </p:txBody>
      </p:sp>
      <p:sp>
        <p:nvSpPr>
          <p:cNvPr id="43" name="Google Shape;43;p35"/>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000">
                <a:solidFill>
                  <a:srgbClr val="BBD9DE"/>
                </a:solidFill>
                <a:latin typeface="Arial"/>
                <a:ea typeface="Arial"/>
                <a:cs typeface="Arial"/>
                <a:sym typeface="Arial"/>
              </a:rPr>
              <a:t>© Praphamontripong</a:t>
            </a:r>
            <a:endParaRPr b="0" sz="1000">
              <a:solidFill>
                <a:srgbClr val="BBD9DE"/>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rgbClr val="0C0C0C"/>
        </a:solidFill>
      </p:bgPr>
    </p:bg>
    <p:spTree>
      <p:nvGrpSpPr>
        <p:cNvPr id="44" name="Shape 44"/>
        <p:cNvGrpSpPr/>
        <p:nvPr/>
      </p:nvGrpSpPr>
      <p:grpSpPr>
        <a:xfrm>
          <a:off x="0" y="0"/>
          <a:ext cx="0" cy="0"/>
          <a:chOff x="0" y="0"/>
          <a:chExt cx="0" cy="0"/>
        </a:xfrm>
      </p:grpSpPr>
      <p:sp>
        <p:nvSpPr>
          <p:cNvPr id="45" name="Google Shape;45;p32"/>
          <p:cNvSpPr txBox="1"/>
          <p:nvPr>
            <p:ph idx="1" type="subTitle"/>
          </p:nvPr>
        </p:nvSpPr>
        <p:spPr>
          <a:xfrm>
            <a:off x="1066800" y="4495800"/>
            <a:ext cx="7063740" cy="1691640"/>
          </a:xfrm>
          <a:prstGeom prst="rect">
            <a:avLst/>
          </a:prstGeom>
          <a:noFill/>
          <a:ln>
            <a:noFill/>
          </a:ln>
        </p:spPr>
        <p:txBody>
          <a:bodyPr anchorCtr="0" anchor="t" bIns="45700" lIns="91425" spcFirstLastPara="1" rIns="91425" wrap="square" tIns="45700">
            <a:normAutofit/>
          </a:bodyPr>
          <a:lstStyle>
            <a:lvl1pPr lvl="0" algn="ctr">
              <a:lnSpc>
                <a:spcPct val="95000"/>
              </a:lnSpc>
              <a:spcBef>
                <a:spcPts val="1400"/>
              </a:spcBef>
              <a:spcAft>
                <a:spcPts val="0"/>
              </a:spcAft>
              <a:buSzPts val="2240"/>
              <a:buNone/>
              <a:defRPr sz="2800">
                <a:solidFill>
                  <a:srgbClr val="D8D8D8"/>
                </a:solidFill>
                <a:latin typeface="Verdana"/>
                <a:ea typeface="Verdana"/>
                <a:cs typeface="Verdana"/>
                <a:sym typeface="Verdana"/>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2000"/>
              <a:buNone/>
              <a:defRPr sz="20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cxnSp>
        <p:nvCxnSpPr>
          <p:cNvPr id="46" name="Google Shape;46;p32"/>
          <p:cNvCxnSpPr/>
          <p:nvPr/>
        </p:nvCxnSpPr>
        <p:spPr>
          <a:xfrm>
            <a:off x="609600" y="3200400"/>
            <a:ext cx="7924800" cy="0"/>
          </a:xfrm>
          <a:prstGeom prst="straightConnector1">
            <a:avLst/>
          </a:prstGeom>
          <a:noFill/>
          <a:ln cap="flat" cmpd="sng" w="38100">
            <a:solidFill>
              <a:srgbClr val="FF4C00"/>
            </a:solidFill>
            <a:prstDash val="solid"/>
            <a:round/>
            <a:headEnd len="sm" w="sm" type="none"/>
            <a:tailEnd len="sm" w="sm" type="none"/>
          </a:ln>
        </p:spPr>
      </p:cxnSp>
      <p:sp>
        <p:nvSpPr>
          <p:cNvPr id="47" name="Google Shape;47;p32"/>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2"/>
          <p:cNvSpPr/>
          <p:nvPr/>
        </p:nvSpPr>
        <p:spPr>
          <a:xfrm>
            <a:off x="0" y="6583680"/>
            <a:ext cx="9144000" cy="274320"/>
          </a:xfrm>
          <a:prstGeom prst="rect">
            <a:avLst/>
          </a:prstGeom>
          <a:solidFill>
            <a:srgbClr val="072B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000">
              <a:solidFill>
                <a:schemeClr val="lt1"/>
              </a:solidFill>
              <a:latin typeface="Arial"/>
              <a:ea typeface="Arial"/>
              <a:cs typeface="Arial"/>
              <a:sym typeface="Arial"/>
            </a:endParaRPr>
          </a:p>
        </p:txBody>
      </p:sp>
      <p:sp>
        <p:nvSpPr>
          <p:cNvPr id="49" name="Google Shape;49;p32"/>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00" u="none">
                <a:solidFill>
                  <a:srgbClr val="BBD9DE"/>
                </a:solidFill>
                <a:latin typeface="Arial"/>
                <a:ea typeface="Arial"/>
                <a:cs typeface="Arial"/>
                <a:sym typeface="Arial"/>
              </a:rPr>
              <a:t>Fall 2026 – University of Virginia</a:t>
            </a:r>
            <a:endParaRPr b="0" sz="1000" u="none">
              <a:solidFill>
                <a:srgbClr val="BBD9DE"/>
              </a:solidFill>
              <a:latin typeface="Arial"/>
              <a:ea typeface="Arial"/>
              <a:cs typeface="Arial"/>
              <a:sym typeface="Arial"/>
            </a:endParaRPr>
          </a:p>
        </p:txBody>
      </p:sp>
      <p:sp>
        <p:nvSpPr>
          <p:cNvPr id="50" name="Google Shape;50;p32"/>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lang="en-US" sz="1000" u="none">
                <a:solidFill>
                  <a:srgbClr val="BBD9DE"/>
                </a:solidFill>
                <a:latin typeface="Arial"/>
                <a:ea typeface="Arial"/>
                <a:cs typeface="Arial"/>
                <a:sym typeface="Arial"/>
              </a:rPr>
              <a:t>‹#›</a:t>
            </a:fld>
            <a:endParaRPr b="0" sz="1000" u="none">
              <a:solidFill>
                <a:srgbClr val="BBD9DE"/>
              </a:solidFill>
              <a:latin typeface="Arial"/>
              <a:ea typeface="Arial"/>
              <a:cs typeface="Arial"/>
              <a:sym typeface="Arial"/>
            </a:endParaRPr>
          </a:p>
        </p:txBody>
      </p:sp>
      <p:sp>
        <p:nvSpPr>
          <p:cNvPr id="51" name="Google Shape;51;p32"/>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1000" u="none">
                <a:solidFill>
                  <a:srgbClr val="BBD9DE"/>
                </a:solidFill>
                <a:latin typeface="Arial"/>
                <a:ea typeface="Arial"/>
                <a:cs typeface="Arial"/>
                <a:sym typeface="Arial"/>
              </a:rPr>
              <a:t>© Praphamontripong</a:t>
            </a:r>
            <a:endParaRPr b="0" sz="1000" u="none">
              <a:solidFill>
                <a:srgbClr val="BBD9DE"/>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C0C0C"/>
        </a:solidFill>
      </p:bgPr>
    </p:bg>
    <p:spTree>
      <p:nvGrpSpPr>
        <p:cNvPr id="52" name="Shape 52"/>
        <p:cNvGrpSpPr/>
        <p:nvPr/>
      </p:nvGrpSpPr>
      <p:grpSpPr>
        <a:xfrm>
          <a:off x="0" y="0"/>
          <a:ext cx="0" cy="0"/>
          <a:chOff x="0" y="0"/>
          <a:chExt cx="0" cy="0"/>
        </a:xfrm>
      </p:grpSpPr>
      <p:sp>
        <p:nvSpPr>
          <p:cNvPr id="53" name="Google Shape;53;p36"/>
          <p:cNvSpPr txBox="1"/>
          <p:nvPr>
            <p:ph type="title"/>
          </p:nvPr>
        </p:nvSpPr>
        <p:spPr>
          <a:xfrm>
            <a:off x="946404" y="758952"/>
            <a:ext cx="706374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dk1"/>
              </a:buClr>
              <a:buSzPts val="6600"/>
              <a:buFont typeface="Century Schoolbook"/>
              <a:buNone/>
              <a:defRPr b="0"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6"/>
          <p:cNvSpPr txBox="1"/>
          <p:nvPr>
            <p:ph idx="1" type="body"/>
          </p:nvPr>
        </p:nvSpPr>
        <p:spPr>
          <a:xfrm>
            <a:off x="946404" y="4800600"/>
            <a:ext cx="7063740" cy="169164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400"/>
              </a:spcBef>
              <a:spcAft>
                <a:spcPts val="0"/>
              </a:spcAft>
              <a:buSzPts val="1600"/>
              <a:buNone/>
              <a:defRPr sz="2000">
                <a:solidFill>
                  <a:srgbClr val="3F3F3F"/>
                </a:solidFill>
              </a:defRPr>
            </a:lvl1pPr>
            <a:lvl2pPr indent="-228600" lvl="1" marL="914400" algn="l">
              <a:lnSpc>
                <a:spcPct val="90000"/>
              </a:lnSpc>
              <a:spcBef>
                <a:spcPts val="300"/>
              </a:spcBef>
              <a:spcAft>
                <a:spcPts val="0"/>
              </a:spcAft>
              <a:buSzPts val="1800"/>
              <a:buNone/>
              <a:defRPr sz="1800">
                <a:solidFill>
                  <a:srgbClr val="888888"/>
                </a:solidFill>
              </a:defRPr>
            </a:lvl2pPr>
            <a:lvl3pPr indent="-228600" lvl="2" marL="1371600" algn="l">
              <a:lnSpc>
                <a:spcPct val="90000"/>
              </a:lnSpc>
              <a:spcBef>
                <a:spcPts val="300"/>
              </a:spcBef>
              <a:spcAft>
                <a:spcPts val="0"/>
              </a:spcAft>
              <a:buSzPts val="1600"/>
              <a:buNone/>
              <a:defRPr sz="1600">
                <a:solidFill>
                  <a:srgbClr val="888888"/>
                </a:solidFill>
              </a:defRPr>
            </a:lvl3pPr>
            <a:lvl4pPr indent="-228600" lvl="3" marL="1828800" algn="l">
              <a:lnSpc>
                <a:spcPct val="90000"/>
              </a:lnSpc>
              <a:spcBef>
                <a:spcPts val="300"/>
              </a:spcBef>
              <a:spcAft>
                <a:spcPts val="0"/>
              </a:spcAft>
              <a:buSzPts val="1400"/>
              <a:buNone/>
              <a:defRPr sz="1400">
                <a:solidFill>
                  <a:srgbClr val="888888"/>
                </a:solidFill>
              </a:defRPr>
            </a:lvl4pPr>
            <a:lvl5pPr indent="-228600" lvl="4" marL="2286000" algn="l">
              <a:lnSpc>
                <a:spcPct val="90000"/>
              </a:lnSpc>
              <a:spcBef>
                <a:spcPts val="300"/>
              </a:spcBef>
              <a:spcAft>
                <a:spcPts val="0"/>
              </a:spcAft>
              <a:buSzPts val="1400"/>
              <a:buNone/>
              <a:defRPr sz="1400">
                <a:solidFill>
                  <a:srgbClr val="888888"/>
                </a:solidFill>
              </a:defRPr>
            </a:lvl5pPr>
            <a:lvl6pPr indent="-228600" lvl="5" marL="2743200" algn="l">
              <a:lnSpc>
                <a:spcPct val="90000"/>
              </a:lnSpc>
              <a:spcBef>
                <a:spcPts val="300"/>
              </a:spcBef>
              <a:spcAft>
                <a:spcPts val="0"/>
              </a:spcAft>
              <a:buSzPts val="1400"/>
              <a:buNone/>
              <a:defRPr sz="1400">
                <a:solidFill>
                  <a:srgbClr val="888888"/>
                </a:solidFill>
              </a:defRPr>
            </a:lvl6pPr>
            <a:lvl7pPr indent="-228600" lvl="6" marL="3200400" algn="l">
              <a:lnSpc>
                <a:spcPct val="90000"/>
              </a:lnSpc>
              <a:spcBef>
                <a:spcPts val="300"/>
              </a:spcBef>
              <a:spcAft>
                <a:spcPts val="0"/>
              </a:spcAft>
              <a:buSzPts val="1400"/>
              <a:buNone/>
              <a:defRPr sz="1400">
                <a:solidFill>
                  <a:srgbClr val="888888"/>
                </a:solidFill>
              </a:defRPr>
            </a:lvl7pPr>
            <a:lvl8pPr indent="-228600" lvl="7" marL="3657600" algn="l">
              <a:lnSpc>
                <a:spcPct val="90000"/>
              </a:lnSpc>
              <a:spcBef>
                <a:spcPts val="300"/>
              </a:spcBef>
              <a:spcAft>
                <a:spcPts val="0"/>
              </a:spcAft>
              <a:buSzPts val="1400"/>
              <a:buNone/>
              <a:defRPr sz="1400">
                <a:solidFill>
                  <a:srgbClr val="888888"/>
                </a:solidFill>
              </a:defRPr>
            </a:lvl8pPr>
            <a:lvl9pPr indent="-228600" lvl="8" marL="4114800" algn="l">
              <a:lnSpc>
                <a:spcPct val="90000"/>
              </a:lnSpc>
              <a:spcBef>
                <a:spcPts val="300"/>
              </a:spcBef>
              <a:spcAft>
                <a:spcPts val="300"/>
              </a:spcAft>
              <a:buSzPts val="1400"/>
              <a:buNone/>
              <a:defRPr sz="1400">
                <a:solidFill>
                  <a:srgbClr val="888888"/>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solidFill>
          <a:srgbClr val="0C0C0C"/>
        </a:solidFill>
      </p:bgPr>
    </p:bg>
    <p:spTree>
      <p:nvGrpSpPr>
        <p:cNvPr id="55" name="Shape 55"/>
        <p:cNvGrpSpPr/>
        <p:nvPr/>
      </p:nvGrpSpPr>
      <p:grpSpPr>
        <a:xfrm>
          <a:off x="0" y="0"/>
          <a:ext cx="0" cy="0"/>
          <a:chOff x="0" y="0"/>
          <a:chExt cx="0" cy="0"/>
        </a:xfrm>
      </p:grpSpPr>
      <p:sp>
        <p:nvSpPr>
          <p:cNvPr id="56" name="Google Shape;56;p37"/>
          <p:cNvSpPr txBox="1"/>
          <p:nvPr>
            <p:ph type="title"/>
          </p:nvPr>
        </p:nvSpPr>
        <p:spPr>
          <a:xfrm>
            <a:off x="974539"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Schoolbook"/>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7"/>
          <p:cNvSpPr txBox="1"/>
          <p:nvPr>
            <p:ph idx="1" type="body"/>
          </p:nvPr>
        </p:nvSpPr>
        <p:spPr>
          <a:xfrm>
            <a:off x="974539" y="1828801"/>
            <a:ext cx="336042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solidFill>
                  <a:schemeClr val="lt1"/>
                </a:solidFill>
              </a:defRPr>
            </a:lvl1pPr>
            <a:lvl2pPr indent="-330200" lvl="1" marL="914400" algn="l">
              <a:lnSpc>
                <a:spcPct val="90000"/>
              </a:lnSpc>
              <a:spcBef>
                <a:spcPts val="300"/>
              </a:spcBef>
              <a:spcAft>
                <a:spcPts val="0"/>
              </a:spcAft>
              <a:buSzPts val="1600"/>
              <a:buChar char="●"/>
              <a:defRPr sz="1600">
                <a:solidFill>
                  <a:schemeClr val="lt1"/>
                </a:solidFill>
              </a:defRPr>
            </a:lvl2pPr>
            <a:lvl3pPr indent="-317500" lvl="2" marL="1371600" algn="l">
              <a:lnSpc>
                <a:spcPct val="90000"/>
              </a:lnSpc>
              <a:spcBef>
                <a:spcPts val="300"/>
              </a:spcBef>
              <a:spcAft>
                <a:spcPts val="0"/>
              </a:spcAft>
              <a:buSzPts val="1400"/>
              <a:buChar char="●"/>
              <a:defRPr sz="1400">
                <a:solidFill>
                  <a:schemeClr val="lt1"/>
                </a:solidFill>
              </a:defRPr>
            </a:lvl3pPr>
            <a:lvl4pPr indent="-317500" lvl="3" marL="1828800" algn="l">
              <a:lnSpc>
                <a:spcPct val="90000"/>
              </a:lnSpc>
              <a:spcBef>
                <a:spcPts val="300"/>
              </a:spcBef>
              <a:spcAft>
                <a:spcPts val="0"/>
              </a:spcAft>
              <a:buSzPts val="1400"/>
              <a:buChar char="●"/>
              <a:defRPr sz="1400">
                <a:solidFill>
                  <a:schemeClr val="lt1"/>
                </a:solidFill>
              </a:defRPr>
            </a:lvl4pPr>
            <a:lvl5pPr indent="-317500" lvl="4" marL="2286000" algn="l">
              <a:lnSpc>
                <a:spcPct val="90000"/>
              </a:lnSpc>
              <a:spcBef>
                <a:spcPts val="300"/>
              </a:spcBef>
              <a:spcAft>
                <a:spcPts val="0"/>
              </a:spcAft>
              <a:buSzPts val="1400"/>
              <a:buChar char="●"/>
              <a:defRPr sz="1400">
                <a:solidFill>
                  <a:schemeClr val="lt1"/>
                </a:solidFill>
              </a:defRPr>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8" name="Google Shape;58;p37"/>
          <p:cNvSpPr txBox="1"/>
          <p:nvPr>
            <p:ph idx="2" type="body"/>
          </p:nvPr>
        </p:nvSpPr>
        <p:spPr>
          <a:xfrm>
            <a:off x="4622995" y="1828801"/>
            <a:ext cx="336042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solidFill>
                  <a:schemeClr val="lt1"/>
                </a:solidFill>
              </a:defRPr>
            </a:lvl1pPr>
            <a:lvl2pPr indent="-330200" lvl="1" marL="914400" algn="l">
              <a:lnSpc>
                <a:spcPct val="90000"/>
              </a:lnSpc>
              <a:spcBef>
                <a:spcPts val="300"/>
              </a:spcBef>
              <a:spcAft>
                <a:spcPts val="0"/>
              </a:spcAft>
              <a:buSzPts val="1600"/>
              <a:buChar char="●"/>
              <a:defRPr sz="1600">
                <a:solidFill>
                  <a:schemeClr val="lt1"/>
                </a:solidFill>
              </a:defRPr>
            </a:lvl2pPr>
            <a:lvl3pPr indent="-317500" lvl="2" marL="1371600" algn="l">
              <a:lnSpc>
                <a:spcPct val="90000"/>
              </a:lnSpc>
              <a:spcBef>
                <a:spcPts val="300"/>
              </a:spcBef>
              <a:spcAft>
                <a:spcPts val="0"/>
              </a:spcAft>
              <a:buSzPts val="1400"/>
              <a:buChar char="●"/>
              <a:defRPr sz="1400">
                <a:solidFill>
                  <a:schemeClr val="lt1"/>
                </a:solidFill>
              </a:defRPr>
            </a:lvl3pPr>
            <a:lvl4pPr indent="-317500" lvl="3" marL="1828800" algn="l">
              <a:lnSpc>
                <a:spcPct val="90000"/>
              </a:lnSpc>
              <a:spcBef>
                <a:spcPts val="300"/>
              </a:spcBef>
              <a:spcAft>
                <a:spcPts val="0"/>
              </a:spcAft>
              <a:buSzPts val="1400"/>
              <a:buChar char="●"/>
              <a:defRPr sz="1400">
                <a:solidFill>
                  <a:schemeClr val="lt1"/>
                </a:solidFill>
              </a:defRPr>
            </a:lvl4pPr>
            <a:lvl5pPr indent="-317500" lvl="4" marL="2286000" algn="l">
              <a:lnSpc>
                <a:spcPct val="90000"/>
              </a:lnSpc>
              <a:spcBef>
                <a:spcPts val="300"/>
              </a:spcBef>
              <a:spcAft>
                <a:spcPts val="0"/>
              </a:spcAft>
              <a:buSzPts val="1400"/>
              <a:buChar char="●"/>
              <a:defRPr sz="1400">
                <a:solidFill>
                  <a:schemeClr val="lt1"/>
                </a:solidFill>
              </a:defRPr>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9" name="Google Shape;59;p37"/>
          <p:cNvSpPr txBox="1"/>
          <p:nvPr>
            <p:ph idx="11" type="ftr"/>
          </p:nvPr>
        </p:nvSpPr>
        <p:spPr>
          <a:xfrm>
            <a:off x="3124200" y="6455811"/>
            <a:ext cx="3581400" cy="273844"/>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sz="1200">
                <a:solidFill>
                  <a:srgbClr val="BBD9DE"/>
                </a:solidFill>
                <a:latin typeface="Arial"/>
                <a:ea typeface="Arial"/>
                <a:cs typeface="Arial"/>
                <a:sym typeface="Arial"/>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60" name="Google Shape;60;p37"/>
          <p:cNvSpPr txBox="1"/>
          <p:nvPr>
            <p:ph idx="12" type="sldNum"/>
          </p:nvPr>
        </p:nvSpPr>
        <p:spPr>
          <a:xfrm>
            <a:off x="8077200" y="6248400"/>
            <a:ext cx="685800" cy="593725"/>
          </a:xfrm>
          <a:prstGeom prst="rect">
            <a:avLst/>
          </a:prstGeom>
          <a:noFill/>
          <a:ln>
            <a:noFill/>
          </a:ln>
        </p:spPr>
        <p:txBody>
          <a:bodyPr anchorCtr="0" anchor="t" bIns="45700" lIns="91425" spcFirstLastPara="1" rIns="91425" wrap="square" tIns="45700">
            <a:normAutofit/>
          </a:bodyPr>
          <a:lstStyle>
            <a:lvl1pPr indent="0" lvl="0" marL="0" marR="0" rtl="0" algn="l">
              <a:spcBef>
                <a:spcPts val="0"/>
              </a:spcBef>
              <a:spcAft>
                <a:spcPts val="0"/>
              </a:spcAft>
              <a:buNone/>
              <a:defRPr b="1" sz="1600">
                <a:solidFill>
                  <a:srgbClr val="BBD9DE"/>
                </a:solidFill>
                <a:latin typeface="Arial"/>
                <a:ea typeface="Arial"/>
                <a:cs typeface="Arial"/>
                <a:sym typeface="Arial"/>
              </a:defRPr>
            </a:lvl1pPr>
            <a:lvl2pPr indent="0" lvl="1" marL="0" marR="0" rtl="0" algn="l">
              <a:spcBef>
                <a:spcPts val="0"/>
              </a:spcBef>
              <a:spcAft>
                <a:spcPts val="0"/>
              </a:spcAft>
              <a:buNone/>
              <a:defRPr b="1" sz="1600">
                <a:solidFill>
                  <a:srgbClr val="BBD9DE"/>
                </a:solidFill>
                <a:latin typeface="Arial"/>
                <a:ea typeface="Arial"/>
                <a:cs typeface="Arial"/>
                <a:sym typeface="Arial"/>
              </a:defRPr>
            </a:lvl2pPr>
            <a:lvl3pPr indent="0" lvl="2" marL="0" marR="0" rtl="0" algn="l">
              <a:spcBef>
                <a:spcPts val="0"/>
              </a:spcBef>
              <a:spcAft>
                <a:spcPts val="0"/>
              </a:spcAft>
              <a:buNone/>
              <a:defRPr b="1" sz="1600">
                <a:solidFill>
                  <a:srgbClr val="BBD9DE"/>
                </a:solidFill>
                <a:latin typeface="Arial"/>
                <a:ea typeface="Arial"/>
                <a:cs typeface="Arial"/>
                <a:sym typeface="Arial"/>
              </a:defRPr>
            </a:lvl3pPr>
            <a:lvl4pPr indent="0" lvl="3" marL="0" marR="0" rtl="0" algn="l">
              <a:spcBef>
                <a:spcPts val="0"/>
              </a:spcBef>
              <a:spcAft>
                <a:spcPts val="0"/>
              </a:spcAft>
              <a:buNone/>
              <a:defRPr b="1" sz="1600">
                <a:solidFill>
                  <a:srgbClr val="BBD9DE"/>
                </a:solidFill>
                <a:latin typeface="Arial"/>
                <a:ea typeface="Arial"/>
                <a:cs typeface="Arial"/>
                <a:sym typeface="Arial"/>
              </a:defRPr>
            </a:lvl4pPr>
            <a:lvl5pPr indent="0" lvl="4" marL="0" marR="0" rtl="0" algn="l">
              <a:spcBef>
                <a:spcPts val="0"/>
              </a:spcBef>
              <a:spcAft>
                <a:spcPts val="0"/>
              </a:spcAft>
              <a:buNone/>
              <a:defRPr b="1" sz="1600">
                <a:solidFill>
                  <a:srgbClr val="BBD9DE"/>
                </a:solidFill>
                <a:latin typeface="Arial"/>
                <a:ea typeface="Arial"/>
                <a:cs typeface="Arial"/>
                <a:sym typeface="Arial"/>
              </a:defRPr>
            </a:lvl5pPr>
            <a:lvl6pPr indent="0" lvl="5" marL="0" marR="0" rtl="0" algn="l">
              <a:spcBef>
                <a:spcPts val="0"/>
              </a:spcBef>
              <a:spcAft>
                <a:spcPts val="0"/>
              </a:spcAft>
              <a:buNone/>
              <a:defRPr b="1" sz="1600">
                <a:solidFill>
                  <a:srgbClr val="BBD9DE"/>
                </a:solidFill>
                <a:latin typeface="Arial"/>
                <a:ea typeface="Arial"/>
                <a:cs typeface="Arial"/>
                <a:sym typeface="Arial"/>
              </a:defRPr>
            </a:lvl6pPr>
            <a:lvl7pPr indent="0" lvl="6" marL="0" marR="0" rtl="0" algn="l">
              <a:spcBef>
                <a:spcPts val="0"/>
              </a:spcBef>
              <a:spcAft>
                <a:spcPts val="0"/>
              </a:spcAft>
              <a:buNone/>
              <a:defRPr b="1" sz="1600">
                <a:solidFill>
                  <a:srgbClr val="BBD9DE"/>
                </a:solidFill>
                <a:latin typeface="Arial"/>
                <a:ea typeface="Arial"/>
                <a:cs typeface="Arial"/>
                <a:sym typeface="Arial"/>
              </a:defRPr>
            </a:lvl7pPr>
            <a:lvl8pPr indent="0" lvl="7" marL="0" marR="0" rtl="0" algn="l">
              <a:spcBef>
                <a:spcPts val="0"/>
              </a:spcBef>
              <a:spcAft>
                <a:spcPts val="0"/>
              </a:spcAft>
              <a:buNone/>
              <a:defRPr b="1" sz="1600">
                <a:solidFill>
                  <a:srgbClr val="BBD9DE"/>
                </a:solidFill>
                <a:latin typeface="Arial"/>
                <a:ea typeface="Arial"/>
                <a:cs typeface="Arial"/>
                <a:sym typeface="Arial"/>
              </a:defRPr>
            </a:lvl8pPr>
            <a:lvl9pPr indent="0" lvl="8" marL="0" marR="0" rtl="0" algn="l">
              <a:spcBef>
                <a:spcPts val="0"/>
              </a:spcBef>
              <a:spcAft>
                <a:spcPts val="0"/>
              </a:spcAft>
              <a:buNone/>
              <a:defRPr b="1" sz="1600">
                <a:solidFill>
                  <a:srgbClr val="BBD9DE"/>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38"/>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8"/>
          <p:cNvSpPr txBox="1"/>
          <p:nvPr>
            <p:ph idx="1" type="body"/>
          </p:nvPr>
        </p:nvSpPr>
        <p:spPr>
          <a:xfrm>
            <a:off x="946404" y="1717185"/>
            <a:ext cx="336042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440"/>
              <a:buNone/>
              <a:defRPr b="0" sz="1800">
                <a:solidFill>
                  <a:schemeClr val="dk2"/>
                </a:solidFill>
              </a:defRPr>
            </a:lvl1pPr>
            <a:lvl2pPr indent="-228600" lvl="1" marL="914400" algn="l">
              <a:lnSpc>
                <a:spcPct val="90000"/>
              </a:lnSpc>
              <a:spcBef>
                <a:spcPts val="300"/>
              </a:spcBef>
              <a:spcAft>
                <a:spcPts val="0"/>
              </a:spcAft>
              <a:buSzPts val="1800"/>
              <a:buNone/>
              <a:defRPr b="1" sz="18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64" name="Google Shape;64;p38"/>
          <p:cNvSpPr txBox="1"/>
          <p:nvPr>
            <p:ph idx="2" type="body"/>
          </p:nvPr>
        </p:nvSpPr>
        <p:spPr>
          <a:xfrm>
            <a:off x="946404" y="2507550"/>
            <a:ext cx="336042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65" name="Google Shape;65;p38"/>
          <p:cNvSpPr txBox="1"/>
          <p:nvPr>
            <p:ph idx="3" type="body"/>
          </p:nvPr>
        </p:nvSpPr>
        <p:spPr>
          <a:xfrm>
            <a:off x="4599432" y="1717185"/>
            <a:ext cx="3364992"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1400"/>
              </a:spcBef>
              <a:spcAft>
                <a:spcPts val="0"/>
              </a:spcAft>
              <a:buSzPts val="1440"/>
              <a:buFont typeface="Century Schoolbook"/>
              <a:buNone/>
              <a:defRPr b="0" sz="1800">
                <a:solidFill>
                  <a:schemeClr val="dk2"/>
                </a:solidFill>
                <a:latin typeface="Century Schoolbook"/>
                <a:ea typeface="Century Schoolbook"/>
                <a:cs typeface="Century Schoolbook"/>
                <a:sym typeface="Century Schoolbook"/>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66" name="Google Shape;66;p38"/>
          <p:cNvSpPr txBox="1"/>
          <p:nvPr>
            <p:ph idx="4" type="body"/>
          </p:nvPr>
        </p:nvSpPr>
        <p:spPr>
          <a:xfrm>
            <a:off x="4594860" y="2507550"/>
            <a:ext cx="336042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39"/>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41"/>
          <p:cNvSpPr txBox="1"/>
          <p:nvPr>
            <p:ph type="title"/>
          </p:nvPr>
        </p:nvSpPr>
        <p:spPr>
          <a:xfrm>
            <a:off x="630936" y="457201"/>
            <a:ext cx="240030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entury Schoolbook"/>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41"/>
          <p:cNvSpPr txBox="1"/>
          <p:nvPr>
            <p:ph idx="1" type="body"/>
          </p:nvPr>
        </p:nvSpPr>
        <p:spPr>
          <a:xfrm>
            <a:off x="3378200" y="685800"/>
            <a:ext cx="4559300" cy="54864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73" name="Google Shape;73;p41"/>
          <p:cNvSpPr txBox="1"/>
          <p:nvPr>
            <p:ph idx="2" type="body"/>
          </p:nvPr>
        </p:nvSpPr>
        <p:spPr>
          <a:xfrm>
            <a:off x="630936" y="2099735"/>
            <a:ext cx="240030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114000"/>
              </a:lnSpc>
              <a:spcBef>
                <a:spcPts val="800"/>
              </a:spcBef>
              <a:spcAft>
                <a:spcPts val="0"/>
              </a:spcAft>
              <a:buSzPts val="1040"/>
              <a:buNone/>
              <a:defRPr sz="1300"/>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74" name="Google Shape;74;p41"/>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75" name="Google Shape;75;p41"/>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76" name="Google Shape;76;p41"/>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42"/>
          <p:cNvSpPr/>
          <p:nvPr/>
        </p:nvSpPr>
        <p:spPr>
          <a:xfrm>
            <a:off x="0" y="5105400"/>
            <a:ext cx="8469630" cy="1752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2"/>
          <p:cNvSpPr txBox="1"/>
          <p:nvPr>
            <p:ph type="title"/>
          </p:nvPr>
        </p:nvSpPr>
        <p:spPr>
          <a:xfrm>
            <a:off x="685800" y="5257800"/>
            <a:ext cx="748665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entury Schoolbook"/>
              <a:buNone/>
              <a:defRPr b="0"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0" name="Google Shape;80;p42"/>
          <p:cNvPicPr preferRelativeResize="0"/>
          <p:nvPr>
            <p:ph idx="2" type="pic"/>
          </p:nvPr>
        </p:nvPicPr>
        <p:blipFill/>
        <p:spPr>
          <a:xfrm>
            <a:off x="0" y="1"/>
            <a:ext cx="8469630" cy="5128923"/>
          </a:xfrm>
          <a:prstGeom prst="rect">
            <a:avLst/>
          </a:prstGeom>
          <a:blipFill rotWithShape="1">
            <a:blip r:embed="rId2">
              <a:alphaModFix/>
            </a:blip>
            <a:stretch>
              <a:fillRect b="0" l="0" r="0" t="0"/>
            </a:stretch>
          </a:blipFill>
          <a:ln>
            <a:noFill/>
          </a:ln>
        </p:spPr>
      </p:pic>
      <p:sp>
        <p:nvSpPr>
          <p:cNvPr id="81" name="Google Shape;81;p42"/>
          <p:cNvSpPr txBox="1"/>
          <p:nvPr>
            <p:ph idx="1" type="body"/>
          </p:nvPr>
        </p:nvSpPr>
        <p:spPr>
          <a:xfrm>
            <a:off x="685800" y="6108590"/>
            <a:ext cx="7486650" cy="5970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040"/>
              <a:buNone/>
              <a:defRPr sz="1300">
                <a:solidFill>
                  <a:srgbClr val="D8D8D8"/>
                </a:solidFill>
              </a:defRPr>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82" name="Google Shape;82;p42"/>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3" name="Google Shape;83;p42"/>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4" name="Google Shape;84;p42"/>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43"/>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3"/>
          <p:cNvSpPr txBox="1"/>
          <p:nvPr>
            <p:ph idx="1" type="body"/>
          </p:nvPr>
        </p:nvSpPr>
        <p:spPr>
          <a:xfrm rot="5400000">
            <a:off x="1993995" y="781210"/>
            <a:ext cx="4351337" cy="644652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88" name="Google Shape;88;p43"/>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89" name="Google Shape;89;p43"/>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0" name="Google Shape;90;p43"/>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p44"/>
          <p:cNvSpPr txBox="1"/>
          <p:nvPr>
            <p:ph type="title"/>
          </p:nvPr>
        </p:nvSpPr>
        <p:spPr>
          <a:xfrm rot="5400000">
            <a:off x="4466432" y="2401093"/>
            <a:ext cx="5897562" cy="18573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44"/>
          <p:cNvSpPr txBox="1"/>
          <p:nvPr>
            <p:ph idx="1" type="body"/>
          </p:nvPr>
        </p:nvSpPr>
        <p:spPr>
          <a:xfrm rot="5400000">
            <a:off x="523081" y="429418"/>
            <a:ext cx="5897562" cy="5800725"/>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4" name="Google Shape;94;p44"/>
          <p:cNvSpPr txBox="1"/>
          <p:nvPr>
            <p:ph idx="10" type="dt"/>
          </p:nvPr>
        </p:nvSpPr>
        <p:spPr>
          <a:xfrm rot="-5400000">
            <a:off x="7831456" y="1044178"/>
            <a:ext cx="1904999"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5" name="Google Shape;95;p44"/>
          <p:cNvSpPr txBox="1"/>
          <p:nvPr>
            <p:ph idx="11" type="ftr"/>
          </p:nvPr>
        </p:nvSpPr>
        <p:spPr>
          <a:xfrm rot="-5400000">
            <a:off x="6993255" y="4092178"/>
            <a:ext cx="3581400" cy="27384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sz="2400">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6" name="Google Shape;96;p44"/>
          <p:cNvSpPr txBox="1"/>
          <p:nvPr>
            <p:ph idx="12" type="sldNum"/>
          </p:nvPr>
        </p:nvSpPr>
        <p:spPr>
          <a:xfrm>
            <a:off x="8441055" y="6172201"/>
            <a:ext cx="685800" cy="5937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sz="2400">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1" sz="2400">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1" sz="2400">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1" sz="2400">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1" sz="2400">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1" sz="2400">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1" sz="2400">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1" sz="2400">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1" sz="2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6" name="Google Shape;106;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9" name="Shape 109"/>
        <p:cNvGrpSpPr/>
        <p:nvPr/>
      </p:nvGrpSpPr>
      <p:grpSpPr>
        <a:xfrm>
          <a:off x="0" y="0"/>
          <a:ext cx="0" cy="0"/>
          <a:chOff x="0" y="0"/>
          <a:chExt cx="0" cy="0"/>
        </a:xfrm>
      </p:grpSpPr>
      <p:sp>
        <p:nvSpPr>
          <p:cNvPr id="110" name="Google Shape;110;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2" name="Google Shape;112;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5" name="Shape 115"/>
        <p:cNvGrpSpPr/>
        <p:nvPr/>
      </p:nvGrpSpPr>
      <p:grpSpPr>
        <a:xfrm>
          <a:off x="0" y="0"/>
          <a:ext cx="0" cy="0"/>
          <a:chOff x="0" y="0"/>
          <a:chExt cx="0" cy="0"/>
        </a:xfrm>
      </p:grpSpPr>
      <p:sp>
        <p:nvSpPr>
          <p:cNvPr id="116" name="Google Shape;116;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18" name="Google Shape;11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1" name="Shape 121"/>
        <p:cNvGrpSpPr/>
        <p:nvPr/>
      </p:nvGrpSpPr>
      <p:grpSpPr>
        <a:xfrm>
          <a:off x="0" y="0"/>
          <a:ext cx="0" cy="0"/>
          <a:chOff x="0" y="0"/>
          <a:chExt cx="0" cy="0"/>
        </a:xfrm>
      </p:grpSpPr>
      <p:sp>
        <p:nvSpPr>
          <p:cNvPr id="122" name="Google Shape;12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4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24" name="Google Shape;124;p4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25" name="Google Shape;125;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8" name="Shape 128"/>
        <p:cNvGrpSpPr/>
        <p:nvPr/>
      </p:nvGrpSpPr>
      <p:grpSpPr>
        <a:xfrm>
          <a:off x="0" y="0"/>
          <a:ext cx="0" cy="0"/>
          <a:chOff x="0" y="0"/>
          <a:chExt cx="0" cy="0"/>
        </a:xfrm>
      </p:grpSpPr>
      <p:sp>
        <p:nvSpPr>
          <p:cNvPr id="129" name="Google Shape;129;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1" name="Google Shape;131;p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32" name="Google Shape;132;p5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33" name="Google Shape;133;p5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34" name="Google Shape;13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7" name="Shape 137"/>
        <p:cNvGrpSpPr/>
        <p:nvPr/>
      </p:nvGrpSpPr>
      <p:grpSpPr>
        <a:xfrm>
          <a:off x="0" y="0"/>
          <a:ext cx="0" cy="0"/>
          <a:chOff x="0" y="0"/>
          <a:chExt cx="0" cy="0"/>
        </a:xfrm>
      </p:grpSpPr>
      <p:sp>
        <p:nvSpPr>
          <p:cNvPr id="138" name="Google Shape;138;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6" name="Shape 146"/>
        <p:cNvGrpSpPr/>
        <p:nvPr/>
      </p:nvGrpSpPr>
      <p:grpSpPr>
        <a:xfrm>
          <a:off x="0" y="0"/>
          <a:ext cx="0" cy="0"/>
          <a:chOff x="0" y="0"/>
          <a:chExt cx="0" cy="0"/>
        </a:xfrm>
      </p:grpSpPr>
      <p:sp>
        <p:nvSpPr>
          <p:cNvPr id="147" name="Google Shape;147;p5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5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49" name="Google Shape;149;p5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0" name="Google Shape;150;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3" name="Shape 153"/>
        <p:cNvGrpSpPr/>
        <p:nvPr/>
      </p:nvGrpSpPr>
      <p:grpSpPr>
        <a:xfrm>
          <a:off x="0" y="0"/>
          <a:ext cx="0" cy="0"/>
          <a:chOff x="0" y="0"/>
          <a:chExt cx="0" cy="0"/>
        </a:xfrm>
      </p:grpSpPr>
      <p:sp>
        <p:nvSpPr>
          <p:cNvPr id="154" name="Google Shape;154;p5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54"/>
          <p:cNvSpPr/>
          <p:nvPr>
            <p:ph idx="2" type="pic"/>
          </p:nvPr>
        </p:nvSpPr>
        <p:spPr>
          <a:xfrm>
            <a:off x="1792288" y="612775"/>
            <a:ext cx="5486400" cy="4114800"/>
          </a:xfrm>
          <a:prstGeom prst="rect">
            <a:avLst/>
          </a:prstGeom>
          <a:noFill/>
          <a:ln>
            <a:noFill/>
          </a:ln>
        </p:spPr>
      </p:sp>
      <p:sp>
        <p:nvSpPr>
          <p:cNvPr id="156" name="Google Shape;156;p5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7" name="Google Shape;157;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0" name="Shape 160"/>
        <p:cNvGrpSpPr/>
        <p:nvPr/>
      </p:nvGrpSpPr>
      <p:grpSpPr>
        <a:xfrm>
          <a:off x="0" y="0"/>
          <a:ext cx="0" cy="0"/>
          <a:chOff x="0" y="0"/>
          <a:chExt cx="0" cy="0"/>
        </a:xfrm>
      </p:grpSpPr>
      <p:sp>
        <p:nvSpPr>
          <p:cNvPr id="161" name="Google Shape;161;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5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3" name="Google Shape;163;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6" name="Shape 166"/>
        <p:cNvGrpSpPr/>
        <p:nvPr/>
      </p:nvGrpSpPr>
      <p:grpSpPr>
        <a:xfrm>
          <a:off x="0" y="0"/>
          <a:ext cx="0" cy="0"/>
          <a:chOff x="0" y="0"/>
          <a:chExt cx="0" cy="0"/>
        </a:xfrm>
      </p:grpSpPr>
      <p:sp>
        <p:nvSpPr>
          <p:cNvPr id="167" name="Google Shape;167;p5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5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9" name="Google Shape;169;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8" name="Shape 178"/>
        <p:cNvGrpSpPr/>
        <p:nvPr/>
      </p:nvGrpSpPr>
      <p:grpSpPr>
        <a:xfrm>
          <a:off x="0" y="0"/>
          <a:ext cx="0" cy="0"/>
          <a:chOff x="0" y="0"/>
          <a:chExt cx="0" cy="0"/>
        </a:xfrm>
      </p:grpSpPr>
      <p:sp>
        <p:nvSpPr>
          <p:cNvPr id="179" name="Google Shape;179;p5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 name="Google Shape;180;p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1" name="Google Shape;181;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4" name="Shape 184"/>
        <p:cNvGrpSpPr/>
        <p:nvPr/>
      </p:nvGrpSpPr>
      <p:grpSpPr>
        <a:xfrm>
          <a:off x="0" y="0"/>
          <a:ext cx="0" cy="0"/>
          <a:chOff x="0" y="0"/>
          <a:chExt cx="0" cy="0"/>
        </a:xfrm>
      </p:grpSpPr>
      <p:sp>
        <p:nvSpPr>
          <p:cNvPr id="185" name="Google Shape;185;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7" name="Google Shape;18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0" name="Shape 190"/>
        <p:cNvGrpSpPr/>
        <p:nvPr/>
      </p:nvGrpSpPr>
      <p:grpSpPr>
        <a:xfrm>
          <a:off x="0" y="0"/>
          <a:ext cx="0" cy="0"/>
          <a:chOff x="0" y="0"/>
          <a:chExt cx="0" cy="0"/>
        </a:xfrm>
      </p:grpSpPr>
      <p:sp>
        <p:nvSpPr>
          <p:cNvPr id="191" name="Google Shape;191;p6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6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93" name="Google Shape;193;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6" name="Shape 196"/>
        <p:cNvGrpSpPr/>
        <p:nvPr/>
      </p:nvGrpSpPr>
      <p:grpSpPr>
        <a:xfrm>
          <a:off x="0" y="0"/>
          <a:ext cx="0" cy="0"/>
          <a:chOff x="0" y="0"/>
          <a:chExt cx="0" cy="0"/>
        </a:xfrm>
      </p:grpSpPr>
      <p:sp>
        <p:nvSpPr>
          <p:cNvPr id="197" name="Google Shape;197;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6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99" name="Google Shape;199;p6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00" name="Google Shape;200;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3" name="Shape 203"/>
        <p:cNvGrpSpPr/>
        <p:nvPr/>
      </p:nvGrpSpPr>
      <p:grpSpPr>
        <a:xfrm>
          <a:off x="0" y="0"/>
          <a:ext cx="0" cy="0"/>
          <a:chOff x="0" y="0"/>
          <a:chExt cx="0" cy="0"/>
        </a:xfrm>
      </p:grpSpPr>
      <p:sp>
        <p:nvSpPr>
          <p:cNvPr id="204" name="Google Shape;204;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06" name="Google Shape;206;p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07" name="Google Shape;207;p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08" name="Google Shape;208;p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09" name="Google Shape;209;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2" name="Shape 212"/>
        <p:cNvGrpSpPr/>
        <p:nvPr/>
      </p:nvGrpSpPr>
      <p:grpSpPr>
        <a:xfrm>
          <a:off x="0" y="0"/>
          <a:ext cx="0" cy="0"/>
          <a:chOff x="0" y="0"/>
          <a:chExt cx="0" cy="0"/>
        </a:xfrm>
      </p:grpSpPr>
      <p:sp>
        <p:nvSpPr>
          <p:cNvPr id="213" name="Google Shape;213;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7" name="Shape 217"/>
        <p:cNvGrpSpPr/>
        <p:nvPr/>
      </p:nvGrpSpPr>
      <p:grpSpPr>
        <a:xfrm>
          <a:off x="0" y="0"/>
          <a:ext cx="0" cy="0"/>
          <a:chOff x="0" y="0"/>
          <a:chExt cx="0" cy="0"/>
        </a:xfrm>
      </p:grpSpPr>
      <p:sp>
        <p:nvSpPr>
          <p:cNvPr id="218" name="Google Shape;218;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1" name="Shape 221"/>
        <p:cNvGrpSpPr/>
        <p:nvPr/>
      </p:nvGrpSpPr>
      <p:grpSpPr>
        <a:xfrm>
          <a:off x="0" y="0"/>
          <a:ext cx="0" cy="0"/>
          <a:chOff x="0" y="0"/>
          <a:chExt cx="0" cy="0"/>
        </a:xfrm>
      </p:grpSpPr>
      <p:sp>
        <p:nvSpPr>
          <p:cNvPr id="222" name="Google Shape;222;p6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6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24" name="Google Shape;224;p6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25" name="Google Shape;225;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8" name="Shape 228"/>
        <p:cNvGrpSpPr/>
        <p:nvPr/>
      </p:nvGrpSpPr>
      <p:grpSpPr>
        <a:xfrm>
          <a:off x="0" y="0"/>
          <a:ext cx="0" cy="0"/>
          <a:chOff x="0" y="0"/>
          <a:chExt cx="0" cy="0"/>
        </a:xfrm>
      </p:grpSpPr>
      <p:sp>
        <p:nvSpPr>
          <p:cNvPr id="229" name="Google Shape;229;p6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66"/>
          <p:cNvSpPr/>
          <p:nvPr>
            <p:ph idx="2" type="pic"/>
          </p:nvPr>
        </p:nvSpPr>
        <p:spPr>
          <a:xfrm>
            <a:off x="1792288" y="612775"/>
            <a:ext cx="5486400" cy="4114800"/>
          </a:xfrm>
          <a:prstGeom prst="rect">
            <a:avLst/>
          </a:prstGeom>
          <a:noFill/>
          <a:ln>
            <a:noFill/>
          </a:ln>
        </p:spPr>
      </p:sp>
      <p:sp>
        <p:nvSpPr>
          <p:cNvPr id="231" name="Google Shape;231;p6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32" name="Google Shape;232;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5" name="Shape 235"/>
        <p:cNvGrpSpPr/>
        <p:nvPr/>
      </p:nvGrpSpPr>
      <p:grpSpPr>
        <a:xfrm>
          <a:off x="0" y="0"/>
          <a:ext cx="0" cy="0"/>
          <a:chOff x="0" y="0"/>
          <a:chExt cx="0" cy="0"/>
        </a:xfrm>
      </p:grpSpPr>
      <p:sp>
        <p:nvSpPr>
          <p:cNvPr id="236" name="Google Shape;236;p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6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8" name="Google Shape;238;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1" name="Shape 241"/>
        <p:cNvGrpSpPr/>
        <p:nvPr/>
      </p:nvGrpSpPr>
      <p:grpSpPr>
        <a:xfrm>
          <a:off x="0" y="0"/>
          <a:ext cx="0" cy="0"/>
          <a:chOff x="0" y="0"/>
          <a:chExt cx="0" cy="0"/>
        </a:xfrm>
      </p:grpSpPr>
      <p:sp>
        <p:nvSpPr>
          <p:cNvPr id="242" name="Google Shape;242;p6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6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4" name="Google Shape;244;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3" name="Shape 253"/>
        <p:cNvGrpSpPr/>
        <p:nvPr/>
      </p:nvGrpSpPr>
      <p:grpSpPr>
        <a:xfrm>
          <a:off x="0" y="0"/>
          <a:ext cx="0" cy="0"/>
          <a:chOff x="0" y="0"/>
          <a:chExt cx="0" cy="0"/>
        </a:xfrm>
      </p:grpSpPr>
      <p:sp>
        <p:nvSpPr>
          <p:cNvPr id="254" name="Google Shape;254;p7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7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56" name="Google Shape;256;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9" name="Shape 259"/>
        <p:cNvGrpSpPr/>
        <p:nvPr/>
      </p:nvGrpSpPr>
      <p:grpSpPr>
        <a:xfrm>
          <a:off x="0" y="0"/>
          <a:ext cx="0" cy="0"/>
          <a:chOff x="0" y="0"/>
          <a:chExt cx="0" cy="0"/>
        </a:xfrm>
      </p:grpSpPr>
      <p:sp>
        <p:nvSpPr>
          <p:cNvPr id="260" name="Google Shape;260;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7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2" name="Google Shape;262;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5" name="Shape 265"/>
        <p:cNvGrpSpPr/>
        <p:nvPr/>
      </p:nvGrpSpPr>
      <p:grpSpPr>
        <a:xfrm>
          <a:off x="0" y="0"/>
          <a:ext cx="0" cy="0"/>
          <a:chOff x="0" y="0"/>
          <a:chExt cx="0" cy="0"/>
        </a:xfrm>
      </p:grpSpPr>
      <p:sp>
        <p:nvSpPr>
          <p:cNvPr id="266" name="Google Shape;266;p7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7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8" name="Google Shape;268;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1" name="Shape 271"/>
        <p:cNvGrpSpPr/>
        <p:nvPr/>
      </p:nvGrpSpPr>
      <p:grpSpPr>
        <a:xfrm>
          <a:off x="0" y="0"/>
          <a:ext cx="0" cy="0"/>
          <a:chOff x="0" y="0"/>
          <a:chExt cx="0" cy="0"/>
        </a:xfrm>
      </p:grpSpPr>
      <p:sp>
        <p:nvSpPr>
          <p:cNvPr id="272" name="Google Shape;272;p7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7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4" name="Google Shape;274;p7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5" name="Google Shape;275;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8" name="Shape 278"/>
        <p:cNvGrpSpPr/>
        <p:nvPr/>
      </p:nvGrpSpPr>
      <p:grpSpPr>
        <a:xfrm>
          <a:off x="0" y="0"/>
          <a:ext cx="0" cy="0"/>
          <a:chOff x="0" y="0"/>
          <a:chExt cx="0" cy="0"/>
        </a:xfrm>
      </p:grpSpPr>
      <p:sp>
        <p:nvSpPr>
          <p:cNvPr id="279" name="Google Shape;279;p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7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1" name="Google Shape;281;p7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2" name="Google Shape;282;p7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83" name="Google Shape;283;p7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4" name="Google Shape;284;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7" name="Shape 287"/>
        <p:cNvGrpSpPr/>
        <p:nvPr/>
      </p:nvGrpSpPr>
      <p:grpSpPr>
        <a:xfrm>
          <a:off x="0" y="0"/>
          <a:ext cx="0" cy="0"/>
          <a:chOff x="0" y="0"/>
          <a:chExt cx="0" cy="0"/>
        </a:xfrm>
      </p:grpSpPr>
      <p:sp>
        <p:nvSpPr>
          <p:cNvPr id="288" name="Google Shape;288;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2" name="Shape 292"/>
        <p:cNvGrpSpPr/>
        <p:nvPr/>
      </p:nvGrpSpPr>
      <p:grpSpPr>
        <a:xfrm>
          <a:off x="0" y="0"/>
          <a:ext cx="0" cy="0"/>
          <a:chOff x="0" y="0"/>
          <a:chExt cx="0" cy="0"/>
        </a:xfrm>
      </p:grpSpPr>
      <p:sp>
        <p:nvSpPr>
          <p:cNvPr id="293" name="Google Shape;293;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4" name="Google Shape;294;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5" name="Google Shape;295;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96" name="Shape 296"/>
        <p:cNvGrpSpPr/>
        <p:nvPr/>
      </p:nvGrpSpPr>
      <p:grpSpPr>
        <a:xfrm>
          <a:off x="0" y="0"/>
          <a:ext cx="0" cy="0"/>
          <a:chOff x="0" y="0"/>
          <a:chExt cx="0" cy="0"/>
        </a:xfrm>
      </p:grpSpPr>
      <p:sp>
        <p:nvSpPr>
          <p:cNvPr id="297" name="Google Shape;297;p7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7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99" name="Google Shape;299;p7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00" name="Google Shape;300;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1" name="Google Shape;301;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03" name="Shape 303"/>
        <p:cNvGrpSpPr/>
        <p:nvPr/>
      </p:nvGrpSpPr>
      <p:grpSpPr>
        <a:xfrm>
          <a:off x="0" y="0"/>
          <a:ext cx="0" cy="0"/>
          <a:chOff x="0" y="0"/>
          <a:chExt cx="0" cy="0"/>
        </a:xfrm>
      </p:grpSpPr>
      <p:sp>
        <p:nvSpPr>
          <p:cNvPr id="304" name="Google Shape;304;p7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78"/>
          <p:cNvSpPr/>
          <p:nvPr>
            <p:ph idx="2" type="pic"/>
          </p:nvPr>
        </p:nvSpPr>
        <p:spPr>
          <a:xfrm>
            <a:off x="1792288" y="612775"/>
            <a:ext cx="5486400" cy="4114800"/>
          </a:xfrm>
          <a:prstGeom prst="rect">
            <a:avLst/>
          </a:prstGeom>
          <a:noFill/>
          <a:ln>
            <a:noFill/>
          </a:ln>
        </p:spPr>
      </p:sp>
      <p:sp>
        <p:nvSpPr>
          <p:cNvPr id="306" name="Google Shape;306;p7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07" name="Google Shape;307;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9" name="Google Shape;309;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0" name="Shape 310"/>
        <p:cNvGrpSpPr/>
        <p:nvPr/>
      </p:nvGrpSpPr>
      <p:grpSpPr>
        <a:xfrm>
          <a:off x="0" y="0"/>
          <a:ext cx="0" cy="0"/>
          <a:chOff x="0" y="0"/>
          <a:chExt cx="0" cy="0"/>
        </a:xfrm>
      </p:grpSpPr>
      <p:sp>
        <p:nvSpPr>
          <p:cNvPr id="311" name="Google Shape;311;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7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3" name="Google Shape;313;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4" name="Google Shape;314;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5" name="Google Shape;315;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6" name="Shape 316"/>
        <p:cNvGrpSpPr/>
        <p:nvPr/>
      </p:nvGrpSpPr>
      <p:grpSpPr>
        <a:xfrm>
          <a:off x="0" y="0"/>
          <a:ext cx="0" cy="0"/>
          <a:chOff x="0" y="0"/>
          <a:chExt cx="0" cy="0"/>
        </a:xfrm>
      </p:grpSpPr>
      <p:sp>
        <p:nvSpPr>
          <p:cNvPr id="317" name="Google Shape;317;p8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8" name="Google Shape;318;p8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9" name="Google Shape;319;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0" name="Google Shape;320;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1" name="Google Shape;321;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8" name="Shape 328"/>
        <p:cNvGrpSpPr/>
        <p:nvPr/>
      </p:nvGrpSpPr>
      <p:grpSpPr>
        <a:xfrm>
          <a:off x="0" y="0"/>
          <a:ext cx="0" cy="0"/>
          <a:chOff x="0" y="0"/>
          <a:chExt cx="0" cy="0"/>
        </a:xfrm>
      </p:grpSpPr>
      <p:sp>
        <p:nvSpPr>
          <p:cNvPr id="329" name="Google Shape;329;p8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8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31" name="Google Shape;331;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2" name="Google Shape;332;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3" name="Google Shape;333;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4" name="Shape 334"/>
        <p:cNvGrpSpPr/>
        <p:nvPr/>
      </p:nvGrpSpPr>
      <p:grpSpPr>
        <a:xfrm>
          <a:off x="0" y="0"/>
          <a:ext cx="0" cy="0"/>
          <a:chOff x="0" y="0"/>
          <a:chExt cx="0" cy="0"/>
        </a:xfrm>
      </p:grpSpPr>
      <p:sp>
        <p:nvSpPr>
          <p:cNvPr id="335" name="Google Shape;335;p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6" name="Google Shape;336;p8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7" name="Google Shape;337;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8" name="Google Shape;338;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0" name="Shape 340"/>
        <p:cNvGrpSpPr/>
        <p:nvPr/>
      </p:nvGrpSpPr>
      <p:grpSpPr>
        <a:xfrm>
          <a:off x="0" y="0"/>
          <a:ext cx="0" cy="0"/>
          <a:chOff x="0" y="0"/>
          <a:chExt cx="0" cy="0"/>
        </a:xfrm>
      </p:grpSpPr>
      <p:sp>
        <p:nvSpPr>
          <p:cNvPr id="341" name="Google Shape;341;p8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8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3" name="Google Shape;343;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5" name="Google Shape;345;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6" name="Shape 346"/>
        <p:cNvGrpSpPr/>
        <p:nvPr/>
      </p:nvGrpSpPr>
      <p:grpSpPr>
        <a:xfrm>
          <a:off x="0" y="0"/>
          <a:ext cx="0" cy="0"/>
          <a:chOff x="0" y="0"/>
          <a:chExt cx="0" cy="0"/>
        </a:xfrm>
      </p:grpSpPr>
      <p:sp>
        <p:nvSpPr>
          <p:cNvPr id="347" name="Google Shape;347;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8" name="Google Shape;348;p8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9" name="Google Shape;349;p8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0" name="Google Shape;350;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1" name="Google Shape;351;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2" name="Google Shape;352;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3" name="Shape 353"/>
        <p:cNvGrpSpPr/>
        <p:nvPr/>
      </p:nvGrpSpPr>
      <p:grpSpPr>
        <a:xfrm>
          <a:off x="0" y="0"/>
          <a:ext cx="0" cy="0"/>
          <a:chOff x="0" y="0"/>
          <a:chExt cx="0" cy="0"/>
        </a:xfrm>
      </p:grpSpPr>
      <p:sp>
        <p:nvSpPr>
          <p:cNvPr id="354" name="Google Shape;354;p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5" name="Google Shape;355;p8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56" name="Google Shape;356;p8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57" name="Google Shape;357;p8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58" name="Google Shape;358;p8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59" name="Google Shape;359;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1" name="Google Shape;361;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2" name="Shape 362"/>
        <p:cNvGrpSpPr/>
        <p:nvPr/>
      </p:nvGrpSpPr>
      <p:grpSpPr>
        <a:xfrm>
          <a:off x="0" y="0"/>
          <a:ext cx="0" cy="0"/>
          <a:chOff x="0" y="0"/>
          <a:chExt cx="0" cy="0"/>
        </a:xfrm>
      </p:grpSpPr>
      <p:sp>
        <p:nvSpPr>
          <p:cNvPr id="363" name="Google Shape;363;p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4" name="Google Shape;364;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7" name="Shape 367"/>
        <p:cNvGrpSpPr/>
        <p:nvPr/>
      </p:nvGrpSpPr>
      <p:grpSpPr>
        <a:xfrm>
          <a:off x="0" y="0"/>
          <a:ext cx="0" cy="0"/>
          <a:chOff x="0" y="0"/>
          <a:chExt cx="0" cy="0"/>
        </a:xfrm>
      </p:grpSpPr>
      <p:sp>
        <p:nvSpPr>
          <p:cNvPr id="368" name="Google Shape;368;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0" name="Google Shape;370;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1" name="Shape 371"/>
        <p:cNvGrpSpPr/>
        <p:nvPr/>
      </p:nvGrpSpPr>
      <p:grpSpPr>
        <a:xfrm>
          <a:off x="0" y="0"/>
          <a:ext cx="0" cy="0"/>
          <a:chOff x="0" y="0"/>
          <a:chExt cx="0" cy="0"/>
        </a:xfrm>
      </p:grpSpPr>
      <p:sp>
        <p:nvSpPr>
          <p:cNvPr id="372" name="Google Shape;372;p8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8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74" name="Google Shape;374;p8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5" name="Google Shape;375;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6" name="Google Shape;376;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7" name="Google Shape;377;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78" name="Shape 378"/>
        <p:cNvGrpSpPr/>
        <p:nvPr/>
      </p:nvGrpSpPr>
      <p:grpSpPr>
        <a:xfrm>
          <a:off x="0" y="0"/>
          <a:ext cx="0" cy="0"/>
          <a:chOff x="0" y="0"/>
          <a:chExt cx="0" cy="0"/>
        </a:xfrm>
      </p:grpSpPr>
      <p:sp>
        <p:nvSpPr>
          <p:cNvPr id="379" name="Google Shape;379;p9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0" name="Google Shape;380;p90"/>
          <p:cNvSpPr/>
          <p:nvPr>
            <p:ph idx="2" type="pic"/>
          </p:nvPr>
        </p:nvSpPr>
        <p:spPr>
          <a:xfrm>
            <a:off x="1792288" y="612775"/>
            <a:ext cx="5486400" cy="4114800"/>
          </a:xfrm>
          <a:prstGeom prst="rect">
            <a:avLst/>
          </a:prstGeom>
          <a:noFill/>
          <a:ln>
            <a:noFill/>
          </a:ln>
        </p:spPr>
      </p:sp>
      <p:sp>
        <p:nvSpPr>
          <p:cNvPr id="381" name="Google Shape;381;p9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82" name="Google Shape;382;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3" name="Google Shape;383;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85" name="Shape 385"/>
        <p:cNvGrpSpPr/>
        <p:nvPr/>
      </p:nvGrpSpPr>
      <p:grpSpPr>
        <a:xfrm>
          <a:off x="0" y="0"/>
          <a:ext cx="0" cy="0"/>
          <a:chOff x="0" y="0"/>
          <a:chExt cx="0" cy="0"/>
        </a:xfrm>
      </p:grpSpPr>
      <p:sp>
        <p:nvSpPr>
          <p:cNvPr id="386" name="Google Shape;386;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7" name="Google Shape;387;p9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8" name="Google Shape;388;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9" name="Google Shape;389;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91" name="Shape 391"/>
        <p:cNvGrpSpPr/>
        <p:nvPr/>
      </p:nvGrpSpPr>
      <p:grpSpPr>
        <a:xfrm>
          <a:off x="0" y="0"/>
          <a:ext cx="0" cy="0"/>
          <a:chOff x="0" y="0"/>
          <a:chExt cx="0" cy="0"/>
        </a:xfrm>
      </p:grpSpPr>
      <p:sp>
        <p:nvSpPr>
          <p:cNvPr id="392" name="Google Shape;392;p9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9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4" name="Google Shape;394;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5" name="Google Shape;395;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theme" Target="../theme/theme3.xml"/><Relationship Id="rId12" Type="http://schemas.openxmlformats.org/officeDocument/2006/relationships/slideLayout" Target="../slideLayouts/slideLayout13.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4.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2" Type="http://schemas.openxmlformats.org/officeDocument/2006/relationships/theme" Target="../theme/theme7.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2" Type="http://schemas.openxmlformats.org/officeDocument/2006/relationships/theme" Target="../theme/theme6.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57.xml"/><Relationship Id="rId10" Type="http://schemas.openxmlformats.org/officeDocument/2006/relationships/slideLayout" Target="../slideLayouts/slideLayout56.xml"/><Relationship Id="rId12" Type="http://schemas.openxmlformats.org/officeDocument/2006/relationships/theme" Target="../theme/theme1.xml"/><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cxnSp>
        <p:nvCxnSpPr>
          <p:cNvPr id="10" name="Google Shape;10;p31"/>
          <p:cNvCxnSpPr/>
          <p:nvPr/>
        </p:nvCxnSpPr>
        <p:spPr>
          <a:xfrm>
            <a:off x="0" y="914400"/>
            <a:ext cx="9144000" cy="0"/>
          </a:xfrm>
          <a:prstGeom prst="straightConnector1">
            <a:avLst/>
          </a:prstGeom>
          <a:noFill/>
          <a:ln cap="flat" cmpd="sng" w="57150">
            <a:solidFill>
              <a:srgbClr val="FF4C00"/>
            </a:solidFill>
            <a:prstDash val="solid"/>
            <a:round/>
            <a:headEnd len="med" w="med" type="none"/>
            <a:tailEnd len="med" w="med" type="none"/>
          </a:ln>
        </p:spPr>
      </p:cxnSp>
      <p:sp>
        <p:nvSpPr>
          <p:cNvPr id="11" name="Google Shape;11;p31"/>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4000"/>
              <a:buFont typeface="Century Schoolbook"/>
              <a:buNone/>
              <a:defRPr b="0" i="0" sz="4000" u="none" cap="none" strike="noStrike">
                <a:solidFill>
                  <a:schemeClr val="lt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1"/>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lt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FEFEFE"/>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9pPr>
          </a:lstStyle>
          <a:p/>
        </p:txBody>
      </p:sp>
      <p:sp>
        <p:nvSpPr>
          <p:cNvPr id="13" name="Google Shape;13;p31"/>
          <p:cNvSpPr/>
          <p:nvPr/>
        </p:nvSpPr>
        <p:spPr>
          <a:xfrm>
            <a:off x="0" y="6583680"/>
            <a:ext cx="9144000" cy="274320"/>
          </a:xfrm>
          <a:prstGeom prst="rect">
            <a:avLst/>
          </a:prstGeom>
          <a:solidFill>
            <a:srgbClr val="498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000" u="none" cap="none" strike="noStrike">
              <a:solidFill>
                <a:schemeClr val="lt1"/>
              </a:solidFill>
              <a:latin typeface="Arial"/>
              <a:ea typeface="Arial"/>
              <a:cs typeface="Arial"/>
              <a:sym typeface="Arial"/>
            </a:endParaRPr>
          </a:p>
        </p:txBody>
      </p:sp>
      <p:sp>
        <p:nvSpPr>
          <p:cNvPr id="14" name="Google Shape;14;p31"/>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9DE"/>
                </a:solidFill>
                <a:latin typeface="Arial"/>
                <a:ea typeface="Arial"/>
                <a:cs typeface="Arial"/>
                <a:sym typeface="Arial"/>
              </a:rPr>
              <a:t>Fall 2026 – University of Virginia</a:t>
            </a:r>
            <a:endParaRPr b="0" i="0" sz="1000" u="none" cap="none" strike="noStrike">
              <a:solidFill>
                <a:srgbClr val="BBD9DE"/>
              </a:solidFill>
              <a:latin typeface="Arial"/>
              <a:ea typeface="Arial"/>
              <a:cs typeface="Arial"/>
              <a:sym typeface="Arial"/>
            </a:endParaRPr>
          </a:p>
        </p:txBody>
      </p:sp>
      <p:sp>
        <p:nvSpPr>
          <p:cNvPr id="15" name="Google Shape;15;p31"/>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i="0" lang="en-US" sz="1000" u="none" cap="none" strike="noStrike">
                <a:solidFill>
                  <a:srgbClr val="BBD9DE"/>
                </a:solidFill>
                <a:latin typeface="Arial"/>
                <a:ea typeface="Arial"/>
                <a:cs typeface="Arial"/>
                <a:sym typeface="Arial"/>
              </a:rPr>
              <a:t>‹#›</a:t>
            </a:fld>
            <a:endParaRPr b="0" i="0" sz="1000" u="none" cap="none" strike="noStrike">
              <a:solidFill>
                <a:srgbClr val="BBD9DE"/>
              </a:solidFill>
              <a:latin typeface="Arial"/>
              <a:ea typeface="Arial"/>
              <a:cs typeface="Arial"/>
              <a:sym typeface="Arial"/>
            </a:endParaRPr>
          </a:p>
        </p:txBody>
      </p:sp>
      <p:sp>
        <p:nvSpPr>
          <p:cNvPr id="16" name="Google Shape;16;p31"/>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BBD9DE"/>
                </a:solidFill>
                <a:latin typeface="Arial"/>
                <a:ea typeface="Arial"/>
                <a:cs typeface="Arial"/>
                <a:sym typeface="Arial"/>
              </a:rPr>
              <a:t>© Praphamontripong</a:t>
            </a:r>
            <a:endParaRPr b="0" i="0" sz="1000" u="none" cap="none" strike="noStrike">
              <a:solidFill>
                <a:srgbClr val="BBD9DE"/>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cxnSp>
        <p:nvCxnSpPr>
          <p:cNvPr id="26" name="Google Shape;26;p30"/>
          <p:cNvCxnSpPr/>
          <p:nvPr/>
        </p:nvCxnSpPr>
        <p:spPr>
          <a:xfrm>
            <a:off x="0" y="914400"/>
            <a:ext cx="9144000" cy="0"/>
          </a:xfrm>
          <a:prstGeom prst="straightConnector1">
            <a:avLst/>
          </a:prstGeom>
          <a:noFill/>
          <a:ln cap="flat" cmpd="sng" w="57150">
            <a:solidFill>
              <a:srgbClr val="FF4C00"/>
            </a:solidFill>
            <a:prstDash val="solid"/>
            <a:round/>
            <a:headEnd len="med" w="med" type="none"/>
            <a:tailEnd len="med" w="med" type="none"/>
          </a:ln>
        </p:spPr>
      </p:cxnSp>
      <p:sp>
        <p:nvSpPr>
          <p:cNvPr id="27" name="Google Shape;27;p30"/>
          <p:cNvSpPr txBox="1"/>
          <p:nvPr>
            <p:ph type="title"/>
          </p:nvPr>
        </p:nvSpPr>
        <p:spPr>
          <a:xfrm>
            <a:off x="946404" y="365760"/>
            <a:ext cx="726948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entury Schoolbook"/>
              <a:buNone/>
              <a:defRPr b="0" i="0" sz="4000" u="none" cap="none" strike="noStrik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30"/>
          <p:cNvSpPr txBox="1"/>
          <p:nvPr>
            <p:ph idx="1" type="body"/>
          </p:nvPr>
        </p:nvSpPr>
        <p:spPr>
          <a:xfrm>
            <a:off x="946404" y="1828801"/>
            <a:ext cx="644652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dk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262626"/>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9pPr>
          </a:lstStyle>
          <a:p/>
        </p:txBody>
      </p:sp>
      <p:sp>
        <p:nvSpPr>
          <p:cNvPr id="29" name="Google Shape;29;p30"/>
          <p:cNvSpPr/>
          <p:nvPr/>
        </p:nvSpPr>
        <p:spPr>
          <a:xfrm>
            <a:off x="0" y="6583680"/>
            <a:ext cx="9144000" cy="274320"/>
          </a:xfrm>
          <a:prstGeom prst="rect">
            <a:avLst/>
          </a:prstGeom>
          <a:solidFill>
            <a:srgbClr val="1A1D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000" u="none" cap="none" strike="noStrike">
              <a:solidFill>
                <a:schemeClr val="lt1"/>
              </a:solidFill>
              <a:latin typeface="Arial"/>
              <a:ea typeface="Arial"/>
              <a:cs typeface="Arial"/>
              <a:sym typeface="Arial"/>
            </a:endParaRPr>
          </a:p>
        </p:txBody>
      </p:sp>
      <p:sp>
        <p:nvSpPr>
          <p:cNvPr id="30" name="Google Shape;30;p30"/>
          <p:cNvSpPr txBox="1"/>
          <p:nvPr/>
        </p:nvSpPr>
        <p:spPr>
          <a:xfrm>
            <a:off x="76200" y="6584156"/>
            <a:ext cx="2286000" cy="304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BBD9DE"/>
                </a:solidFill>
                <a:latin typeface="Arial"/>
                <a:ea typeface="Arial"/>
                <a:cs typeface="Arial"/>
                <a:sym typeface="Arial"/>
              </a:rPr>
              <a:t>Fall 2026 – University of Virginia</a:t>
            </a:r>
            <a:endParaRPr b="0" i="0" sz="1000" u="none" cap="none" strike="noStrike">
              <a:solidFill>
                <a:srgbClr val="BBD9DE"/>
              </a:solidFill>
              <a:latin typeface="Arial"/>
              <a:ea typeface="Arial"/>
              <a:cs typeface="Arial"/>
              <a:sym typeface="Arial"/>
            </a:endParaRPr>
          </a:p>
        </p:txBody>
      </p:sp>
      <p:sp>
        <p:nvSpPr>
          <p:cNvPr id="31" name="Google Shape;31;p30"/>
          <p:cNvSpPr txBox="1"/>
          <p:nvPr/>
        </p:nvSpPr>
        <p:spPr>
          <a:xfrm>
            <a:off x="8686800" y="6553200"/>
            <a:ext cx="457200" cy="304800"/>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None/>
            </a:pPr>
            <a:fld id="{00000000-1234-1234-1234-123412341234}" type="slidenum">
              <a:rPr b="0" i="0" lang="en-US" sz="1000" u="none" cap="none" strike="noStrike">
                <a:solidFill>
                  <a:srgbClr val="BBD9DE"/>
                </a:solidFill>
                <a:latin typeface="Arial"/>
                <a:ea typeface="Arial"/>
                <a:cs typeface="Arial"/>
                <a:sym typeface="Arial"/>
              </a:rPr>
              <a:t>‹#›</a:t>
            </a:fld>
            <a:endParaRPr b="0" i="0" sz="1000" u="none" cap="none" strike="noStrike">
              <a:solidFill>
                <a:srgbClr val="BBD9DE"/>
              </a:solidFill>
              <a:latin typeface="Arial"/>
              <a:ea typeface="Arial"/>
              <a:cs typeface="Arial"/>
              <a:sym typeface="Arial"/>
            </a:endParaRPr>
          </a:p>
        </p:txBody>
      </p:sp>
      <p:sp>
        <p:nvSpPr>
          <p:cNvPr id="32" name="Google Shape;32;p30"/>
          <p:cNvSpPr txBox="1"/>
          <p:nvPr/>
        </p:nvSpPr>
        <p:spPr>
          <a:xfrm>
            <a:off x="3352800" y="6584156"/>
            <a:ext cx="2438400" cy="27384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000" u="none" cap="none" strike="noStrike">
                <a:solidFill>
                  <a:srgbClr val="BBD9DE"/>
                </a:solidFill>
                <a:latin typeface="Arial"/>
                <a:ea typeface="Arial"/>
                <a:cs typeface="Arial"/>
                <a:sym typeface="Arial"/>
              </a:rPr>
              <a:t>© Praphamontripong</a:t>
            </a:r>
            <a:endParaRPr b="0" i="0" sz="1000" u="none" cap="none" strike="noStrike">
              <a:solidFill>
                <a:srgbClr val="BBD9DE"/>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9" name="Google Shape;99;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0" name="Google Shape;100;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01" name="Google Shape;101;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02" name="Google Shape;102;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2" name="Shape 172"/>
        <p:cNvGrpSpPr/>
        <p:nvPr/>
      </p:nvGrpSpPr>
      <p:grpSpPr>
        <a:xfrm>
          <a:off x="0" y="0"/>
          <a:ext cx="0" cy="0"/>
          <a:chOff x="0" y="0"/>
          <a:chExt cx="0" cy="0"/>
        </a:xfrm>
      </p:grpSpPr>
      <p:sp>
        <p:nvSpPr>
          <p:cNvPr id="173" name="Google Shape;173;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4" name="Google Shape;174;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75" name="Google Shape;17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76" name="Google Shape;176;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77" name="Google Shape;17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7" name="Shape 247"/>
        <p:cNvGrpSpPr/>
        <p:nvPr/>
      </p:nvGrpSpPr>
      <p:grpSpPr>
        <a:xfrm>
          <a:off x="0" y="0"/>
          <a:ext cx="0" cy="0"/>
          <a:chOff x="0" y="0"/>
          <a:chExt cx="0" cy="0"/>
        </a:xfrm>
      </p:grpSpPr>
      <p:sp>
        <p:nvSpPr>
          <p:cNvPr id="248" name="Google Shape;248;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9" name="Google Shape;249;p6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0" name="Google Shape;250;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251" name="Google Shape;251;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252" name="Google Shape;252;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sp>
        <p:nvSpPr>
          <p:cNvPr id="323" name="Google Shape;323;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4" name="Google Shape;324;p8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25" name="Google Shape;325;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326" name="Google Shape;326;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sz="1200">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327" name="Google Shape;327;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sz="1200">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1" sz="1200">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1" sz="1200">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1" sz="1200">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1" sz="1200">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1" sz="1200">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1" sz="1200">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1" sz="1200">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1" sz="1200">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tldraw.com/f/yNEXuP8KFY9eM6gMhaV7_?d=v0.0.1087.732.pag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www.tldraw.com/f/HzI5N9BSrRuBYWLxeWsQK?d=v0.0.1147.721.ZuKxMmA5lKK99lQzd_ZU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
          <p:cNvSpPr txBox="1"/>
          <p:nvPr>
            <p:ph idx="4294967295" type="ctrTitle"/>
          </p:nvPr>
        </p:nvSpPr>
        <p:spPr>
          <a:xfrm>
            <a:off x="-76200" y="1066800"/>
            <a:ext cx="9220200" cy="46482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FF00"/>
              </a:buClr>
              <a:buSzPts val="5000"/>
              <a:buFont typeface="Verdana"/>
              <a:buNone/>
            </a:pPr>
            <a:r>
              <a:rPr b="1" i="0" lang="en-US" sz="5000" u="none" cap="none" strike="noStrike">
                <a:solidFill>
                  <a:srgbClr val="FFFF00"/>
                </a:solidFill>
                <a:latin typeface="Verdana"/>
                <a:ea typeface="Verdana"/>
                <a:cs typeface="Verdana"/>
                <a:sym typeface="Verdana"/>
              </a:rPr>
              <a:t>Test Automation</a:t>
            </a:r>
            <a:br>
              <a:rPr b="1" i="0" lang="en-US" sz="5000" u="none" cap="none" strike="noStrike">
                <a:solidFill>
                  <a:srgbClr val="FFFF00"/>
                </a:solidFill>
                <a:latin typeface="Verdana"/>
                <a:ea typeface="Verdana"/>
                <a:cs typeface="Verdana"/>
                <a:sym typeface="Verdana"/>
              </a:rPr>
            </a:br>
            <a:br>
              <a:rPr b="1" i="0" lang="en-US" sz="3000" u="none" cap="none" strike="noStrike">
                <a:solidFill>
                  <a:srgbClr val="FFFF00"/>
                </a:solidFill>
                <a:latin typeface="Verdana"/>
                <a:ea typeface="Verdana"/>
                <a:cs typeface="Verdana"/>
                <a:sym typeface="Verdana"/>
              </a:rPr>
            </a:br>
            <a:r>
              <a:rPr b="1" i="0" lang="en-US" sz="4000" u="none" cap="none" strike="noStrike">
                <a:solidFill>
                  <a:srgbClr val="FFFFFF"/>
                </a:solidFill>
                <a:latin typeface="Verdana"/>
                <a:ea typeface="Verdana"/>
                <a:cs typeface="Verdana"/>
                <a:sym typeface="Verdana"/>
              </a:rPr>
              <a:t>CS 3250</a:t>
            </a:r>
            <a:br>
              <a:rPr b="1" i="0" lang="en-US" sz="4000" u="none" cap="none" strike="noStrike">
                <a:solidFill>
                  <a:srgbClr val="FFFFFF"/>
                </a:solidFill>
                <a:latin typeface="Verdana"/>
                <a:ea typeface="Verdana"/>
                <a:cs typeface="Verdana"/>
                <a:sym typeface="Verdana"/>
              </a:rPr>
            </a:br>
            <a:r>
              <a:rPr b="1" i="0" lang="en-US" sz="4000" u="none" cap="none" strike="noStrike">
                <a:solidFill>
                  <a:srgbClr val="FFFFFF"/>
                </a:solidFill>
                <a:latin typeface="Verdana"/>
                <a:ea typeface="Verdana"/>
                <a:cs typeface="Verdana"/>
                <a:sym typeface="Verdana"/>
              </a:rPr>
              <a:t>Software Testing</a:t>
            </a:r>
            <a:endParaRPr/>
          </a:p>
        </p:txBody>
      </p:sp>
      <p:sp>
        <p:nvSpPr>
          <p:cNvPr id="402" name="Google Shape;402;p1"/>
          <p:cNvSpPr/>
          <p:nvPr/>
        </p:nvSpPr>
        <p:spPr>
          <a:xfrm>
            <a:off x="2590800" y="6277740"/>
            <a:ext cx="6478062" cy="27546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b="0" i="0" lang="en-US" sz="1400" u="none" cap="none" strike="noStrike">
                <a:solidFill>
                  <a:schemeClr val="lt1"/>
                </a:solidFill>
                <a:latin typeface="Verdana"/>
                <a:ea typeface="Verdana"/>
                <a:cs typeface="Verdana"/>
                <a:sym typeface="Verdana"/>
              </a:rPr>
              <a:t>[Ammann and Offutt, “Introduction to Software Testing,” Ch.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cxnSp>
        <p:nvCxnSpPr>
          <p:cNvPr id="408" name="Google Shape;408;p2"/>
          <p:cNvCxnSpPr>
            <a:stCxn id="409" idx="2"/>
            <a:endCxn id="410" idx="0"/>
          </p:cNvCxnSpPr>
          <p:nvPr/>
        </p:nvCxnSpPr>
        <p:spPr>
          <a:xfrm>
            <a:off x="7315200" y="2438400"/>
            <a:ext cx="0" cy="387000"/>
          </a:xfrm>
          <a:prstGeom prst="straightConnector1">
            <a:avLst/>
          </a:prstGeom>
          <a:noFill/>
          <a:ln cap="flat" cmpd="sng" w="19050">
            <a:solidFill>
              <a:srgbClr val="FFFFFF"/>
            </a:solidFill>
            <a:prstDash val="solid"/>
            <a:round/>
            <a:headEnd len="sm" w="sm" type="none"/>
            <a:tailEnd len="med" w="med" type="triangle"/>
          </a:ln>
        </p:spPr>
      </p:cxnSp>
      <p:cxnSp>
        <p:nvCxnSpPr>
          <p:cNvPr id="411" name="Google Shape;411;p2"/>
          <p:cNvCxnSpPr>
            <a:stCxn id="410" idx="2"/>
            <a:endCxn id="412" idx="0"/>
          </p:cNvCxnSpPr>
          <p:nvPr/>
        </p:nvCxnSpPr>
        <p:spPr>
          <a:xfrm>
            <a:off x="7315200" y="3206496"/>
            <a:ext cx="0" cy="381000"/>
          </a:xfrm>
          <a:prstGeom prst="straightConnector1">
            <a:avLst/>
          </a:prstGeom>
          <a:noFill/>
          <a:ln cap="flat" cmpd="sng" w="19050">
            <a:solidFill>
              <a:srgbClr val="FFFFFF"/>
            </a:solidFill>
            <a:prstDash val="solid"/>
            <a:round/>
            <a:headEnd len="sm" w="sm" type="none"/>
            <a:tailEnd len="med" w="med" type="triangle"/>
          </a:ln>
        </p:spPr>
      </p:cxnSp>
      <p:cxnSp>
        <p:nvCxnSpPr>
          <p:cNvPr id="413" name="Google Shape;413;p2"/>
          <p:cNvCxnSpPr>
            <a:stCxn id="412" idx="2"/>
            <a:endCxn id="414" idx="0"/>
          </p:cNvCxnSpPr>
          <p:nvPr/>
        </p:nvCxnSpPr>
        <p:spPr>
          <a:xfrm>
            <a:off x="7315200" y="3968496"/>
            <a:ext cx="0" cy="381000"/>
          </a:xfrm>
          <a:prstGeom prst="straightConnector1">
            <a:avLst/>
          </a:prstGeom>
          <a:noFill/>
          <a:ln cap="flat" cmpd="sng" w="19050">
            <a:solidFill>
              <a:srgbClr val="FFFFFF"/>
            </a:solidFill>
            <a:prstDash val="solid"/>
            <a:round/>
            <a:headEnd len="sm" w="sm" type="none"/>
            <a:tailEnd len="med" w="med" type="triangle"/>
          </a:ln>
        </p:spPr>
      </p:cxnSp>
      <p:sp>
        <p:nvSpPr>
          <p:cNvPr id="409" name="Google Shape;409;p2"/>
          <p:cNvSpPr/>
          <p:nvPr/>
        </p:nvSpPr>
        <p:spPr>
          <a:xfrm>
            <a:off x="5715000" y="2057400"/>
            <a:ext cx="3200400" cy="381000"/>
          </a:xfrm>
          <a:prstGeom prst="rect">
            <a:avLst/>
          </a:prstGeom>
          <a:solidFill>
            <a:schemeClr val="lt2"/>
          </a:solidFill>
          <a:ln cap="flat" cmpd="sng" w="1395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Verdana"/>
                <a:ea typeface="Verdana"/>
                <a:cs typeface="Verdana"/>
                <a:sym typeface="Verdana"/>
              </a:rPr>
              <a:t>Load the web program</a:t>
            </a:r>
            <a:endParaRPr/>
          </a:p>
        </p:txBody>
      </p:sp>
      <p:sp>
        <p:nvSpPr>
          <p:cNvPr id="410" name="Google Shape;410;p2"/>
          <p:cNvSpPr/>
          <p:nvPr/>
        </p:nvSpPr>
        <p:spPr>
          <a:xfrm>
            <a:off x="5715000" y="2825496"/>
            <a:ext cx="3200400" cy="381000"/>
          </a:xfrm>
          <a:prstGeom prst="rect">
            <a:avLst/>
          </a:prstGeom>
          <a:solidFill>
            <a:schemeClr val="lt2"/>
          </a:solidFill>
          <a:ln cap="flat" cmpd="sng" w="1395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Verdana"/>
                <a:ea typeface="Verdana"/>
                <a:cs typeface="Verdana"/>
                <a:sym typeface="Verdana"/>
              </a:rPr>
              <a:t>Enter all inputs</a:t>
            </a:r>
            <a:endParaRPr b="1" i="0" sz="1800" u="none" cap="none" strike="noStrike">
              <a:solidFill>
                <a:schemeClr val="dk1"/>
              </a:solidFill>
              <a:latin typeface="Verdana"/>
              <a:ea typeface="Verdana"/>
              <a:cs typeface="Verdana"/>
              <a:sym typeface="Verdana"/>
            </a:endParaRPr>
          </a:p>
        </p:txBody>
      </p:sp>
      <p:sp>
        <p:nvSpPr>
          <p:cNvPr id="412" name="Google Shape;412;p2"/>
          <p:cNvSpPr/>
          <p:nvPr/>
        </p:nvSpPr>
        <p:spPr>
          <a:xfrm>
            <a:off x="5715000" y="3587496"/>
            <a:ext cx="3200400" cy="381000"/>
          </a:xfrm>
          <a:prstGeom prst="rect">
            <a:avLst/>
          </a:prstGeom>
          <a:solidFill>
            <a:schemeClr val="lt2"/>
          </a:solidFill>
          <a:ln cap="flat" cmpd="sng" w="1395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Verdana"/>
                <a:ea typeface="Verdana"/>
                <a:cs typeface="Verdana"/>
                <a:sym typeface="Verdana"/>
              </a:rPr>
              <a:t>Click “Place order” button</a:t>
            </a:r>
            <a:endParaRPr b="1" i="0" sz="1800" u="none" cap="none" strike="noStrike">
              <a:solidFill>
                <a:schemeClr val="dk1"/>
              </a:solidFill>
              <a:latin typeface="Verdana"/>
              <a:ea typeface="Verdana"/>
              <a:cs typeface="Verdana"/>
              <a:sym typeface="Verdana"/>
            </a:endParaRPr>
          </a:p>
        </p:txBody>
      </p:sp>
      <p:sp>
        <p:nvSpPr>
          <p:cNvPr id="414" name="Google Shape;414;p2"/>
          <p:cNvSpPr/>
          <p:nvPr/>
        </p:nvSpPr>
        <p:spPr>
          <a:xfrm>
            <a:off x="5715000" y="4349496"/>
            <a:ext cx="3200400" cy="381000"/>
          </a:xfrm>
          <a:prstGeom prst="rect">
            <a:avLst/>
          </a:prstGeom>
          <a:solidFill>
            <a:schemeClr val="lt2"/>
          </a:solidFill>
          <a:ln cap="flat" cmpd="sng" w="1395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Verdana"/>
                <a:ea typeface="Verdana"/>
                <a:cs typeface="Verdana"/>
                <a:sym typeface="Verdana"/>
              </a:rPr>
              <a:t>Record the test result</a:t>
            </a:r>
            <a:endParaRPr b="1" i="0" sz="1800" u="none" cap="none" strike="noStrike">
              <a:solidFill>
                <a:schemeClr val="dk1"/>
              </a:solidFill>
              <a:latin typeface="Verdana"/>
              <a:ea typeface="Verdana"/>
              <a:cs typeface="Verdana"/>
              <a:sym typeface="Verdana"/>
            </a:endParaRPr>
          </a:p>
        </p:txBody>
      </p:sp>
      <p:cxnSp>
        <p:nvCxnSpPr>
          <p:cNvPr id="415" name="Google Shape;415;p2"/>
          <p:cNvCxnSpPr>
            <a:stCxn id="414" idx="2"/>
            <a:endCxn id="409" idx="1"/>
          </p:cNvCxnSpPr>
          <p:nvPr/>
        </p:nvCxnSpPr>
        <p:spPr>
          <a:xfrm flipH="1" rot="5400000">
            <a:off x="5273850" y="2689146"/>
            <a:ext cx="2482500" cy="1600200"/>
          </a:xfrm>
          <a:prstGeom prst="bentConnector4">
            <a:avLst>
              <a:gd fmla="val -9208" name="adj1"/>
              <a:gd fmla="val 121559" name="adj2"/>
            </a:avLst>
          </a:prstGeom>
          <a:noFill/>
          <a:ln cap="flat" cmpd="sng" w="19050">
            <a:solidFill>
              <a:srgbClr val="FFFFFF"/>
            </a:solidFill>
            <a:prstDash val="solid"/>
            <a:round/>
            <a:headEnd len="sm" w="sm" type="none"/>
            <a:tailEnd len="med" w="med" type="triangle"/>
          </a:ln>
        </p:spPr>
      </p:cxnSp>
      <p:sp>
        <p:nvSpPr>
          <p:cNvPr id="416" name="Google Shape;416;p2"/>
          <p:cNvSpPr txBox="1"/>
          <p:nvPr>
            <p:ph type="title"/>
          </p:nvPr>
        </p:nvSpPr>
        <p:spPr>
          <a:xfrm>
            <a:off x="0" y="7620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Manual Testing</a:t>
            </a:r>
            <a:endParaRPr/>
          </a:p>
        </p:txBody>
      </p:sp>
      <p:pic>
        <p:nvPicPr>
          <p:cNvPr id="417" name="Google Shape;417;p2"/>
          <p:cNvPicPr preferRelativeResize="0"/>
          <p:nvPr/>
        </p:nvPicPr>
        <p:blipFill rotWithShape="1">
          <a:blip r:embed="rId3">
            <a:alphaModFix/>
          </a:blip>
          <a:srcRect b="0" l="0" r="0" t="0"/>
          <a:stretch/>
        </p:blipFill>
        <p:spPr>
          <a:xfrm>
            <a:off x="152400" y="1295400"/>
            <a:ext cx="4750887" cy="4419600"/>
          </a:xfrm>
          <a:prstGeom prst="rect">
            <a:avLst/>
          </a:prstGeom>
          <a:noFill/>
          <a:ln>
            <a:noFill/>
          </a:ln>
        </p:spPr>
      </p:pic>
      <p:sp>
        <p:nvSpPr>
          <p:cNvPr id="418" name="Google Shape;418;p2"/>
          <p:cNvSpPr txBox="1"/>
          <p:nvPr/>
        </p:nvSpPr>
        <p:spPr>
          <a:xfrm>
            <a:off x="5295900" y="1066800"/>
            <a:ext cx="3848100" cy="1219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chemeClr val="lt1"/>
              </a:buClr>
              <a:buSzPts val="1440"/>
              <a:buFont typeface="Arial"/>
              <a:buNone/>
            </a:pPr>
            <a:r>
              <a:rPr b="0" i="0" lang="en-US" sz="1800" u="none" cap="none" strike="noStrike">
                <a:solidFill>
                  <a:schemeClr val="lt1"/>
                </a:solidFill>
                <a:latin typeface="Verdana"/>
                <a:ea typeface="Verdana"/>
                <a:cs typeface="Verdana"/>
                <a:sym typeface="Verdana"/>
              </a:rPr>
              <a:t>Imagine you are testing a web program that takes a drink order</a:t>
            </a:r>
            <a:endParaRPr b="0" i="0" sz="1800" u="none" cap="none" strike="noStrike">
              <a:solidFill>
                <a:schemeClr val="lt1"/>
              </a:solidFill>
              <a:latin typeface="Verdana"/>
              <a:ea typeface="Verdana"/>
              <a:cs typeface="Verdana"/>
              <a:sym typeface="Verdana"/>
            </a:endParaRPr>
          </a:p>
        </p:txBody>
      </p:sp>
      <p:sp>
        <p:nvSpPr>
          <p:cNvPr id="419" name="Google Shape;419;p2"/>
          <p:cNvSpPr txBox="1"/>
          <p:nvPr/>
        </p:nvSpPr>
        <p:spPr>
          <a:xfrm>
            <a:off x="1676400" y="1066800"/>
            <a:ext cx="3429000" cy="2286000"/>
          </a:xfrm>
          <a:prstGeom prst="rect">
            <a:avLst/>
          </a:prstGeom>
          <a:solidFill>
            <a:srgbClr val="FFFED6"/>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65088" marR="0" rtl="0" algn="l">
              <a:lnSpc>
                <a:spcPct val="90000"/>
              </a:lnSpc>
              <a:spcBef>
                <a:spcPts val="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Name [ valid, invalid ]</a:t>
            </a:r>
            <a:endParaRPr/>
          </a:p>
          <a:p>
            <a:pPr indent="0" lvl="0" marL="65088" marR="0" rtl="0" algn="l">
              <a:lnSpc>
                <a:spcPct val="90000"/>
              </a:lnSpc>
              <a:spcBef>
                <a:spcPts val="20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Email [ valid, invalid ]</a:t>
            </a:r>
            <a:endParaRPr/>
          </a:p>
          <a:p>
            <a:pPr indent="0" lvl="0" marL="65088" marR="0" rtl="0" algn="l">
              <a:lnSpc>
                <a:spcPct val="90000"/>
              </a:lnSpc>
              <a:spcBef>
                <a:spcPts val="20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Phone [ valid, invalid ]</a:t>
            </a:r>
            <a:endParaRPr/>
          </a:p>
          <a:p>
            <a:pPr indent="0" lvl="0" marL="65088" marR="0" rtl="0" algn="l">
              <a:lnSpc>
                <a:spcPct val="90000"/>
              </a:lnSpc>
              <a:spcBef>
                <a:spcPts val="20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Drink [ select, not select ]</a:t>
            </a:r>
            <a:endParaRPr/>
          </a:p>
          <a:p>
            <a:pPr indent="0" lvl="0" marL="65088" marR="0" rtl="0" algn="l">
              <a:lnSpc>
                <a:spcPct val="90000"/>
              </a:lnSpc>
              <a:spcBef>
                <a:spcPts val="20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Hot or cold [ hot, cold, not select ]</a:t>
            </a:r>
            <a:endParaRPr/>
          </a:p>
          <a:p>
            <a:pPr indent="0" lvl="0" marL="65088" marR="0" rtl="0" algn="l">
              <a:lnSpc>
                <a:spcPct val="90000"/>
              </a:lnSpc>
              <a:spcBef>
                <a:spcPts val="20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Send text [ send, not send ]</a:t>
            </a:r>
            <a:endParaRPr/>
          </a:p>
          <a:p>
            <a:pPr indent="0" lvl="0" marL="65088" marR="0" rtl="0" algn="l">
              <a:lnSpc>
                <a:spcPct val="90000"/>
              </a:lnSpc>
              <a:spcBef>
                <a:spcPts val="200"/>
              </a:spcBef>
              <a:spcAft>
                <a:spcPts val="0"/>
              </a:spcAft>
              <a:buClr>
                <a:schemeClr val="lt1"/>
              </a:buClr>
              <a:buSzPts val="1120"/>
              <a:buFont typeface="Arial"/>
              <a:buNone/>
            </a:pPr>
            <a:r>
              <a:t/>
            </a:r>
            <a:endParaRPr b="0" i="0" sz="1400" u="none" cap="none" strike="noStrike">
              <a:solidFill>
                <a:schemeClr val="dk2"/>
              </a:solidFill>
              <a:latin typeface="Verdana"/>
              <a:ea typeface="Verdana"/>
              <a:cs typeface="Verdana"/>
              <a:sym typeface="Verdana"/>
            </a:endParaRPr>
          </a:p>
          <a:p>
            <a:pPr indent="0" lvl="0" marL="65088" marR="0" rtl="0" algn="l">
              <a:lnSpc>
                <a:spcPct val="90000"/>
              </a:lnSpc>
              <a:spcBef>
                <a:spcPts val="20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How many tests? </a:t>
            </a:r>
            <a:endParaRPr/>
          </a:p>
          <a:p>
            <a:pPr indent="0" lvl="0" marL="65088" marR="0" rtl="0" algn="l">
              <a:lnSpc>
                <a:spcPct val="90000"/>
              </a:lnSpc>
              <a:spcBef>
                <a:spcPts val="200"/>
              </a:spcBef>
              <a:spcAft>
                <a:spcPts val="0"/>
              </a:spcAft>
              <a:buClr>
                <a:schemeClr val="lt1"/>
              </a:buClr>
              <a:buSzPts val="1120"/>
              <a:buFont typeface="Arial"/>
              <a:buNone/>
            </a:pPr>
            <a:r>
              <a:rPr b="0" i="0" lang="en-US" sz="1400" u="none" cap="none" strike="noStrike">
                <a:solidFill>
                  <a:schemeClr val="dk2"/>
                </a:solidFill>
                <a:latin typeface="Verdana"/>
                <a:ea typeface="Verdana"/>
                <a:cs typeface="Verdana"/>
                <a:sym typeface="Verdana"/>
              </a:rPr>
              <a:t>How many clicks, keystrokes? </a:t>
            </a:r>
            <a:endParaRPr/>
          </a:p>
        </p:txBody>
      </p:sp>
      <p:sp>
        <p:nvSpPr>
          <p:cNvPr id="420" name="Google Shape;420;p2"/>
          <p:cNvSpPr txBox="1"/>
          <p:nvPr/>
        </p:nvSpPr>
        <p:spPr>
          <a:xfrm>
            <a:off x="3733800" y="3657600"/>
            <a:ext cx="228600" cy="1371600"/>
          </a:xfrm>
          <a:prstGeom prst="rect">
            <a:avLst/>
          </a:prstGeom>
          <a:noFill/>
          <a:ln cap="flat" cmpd="sng" w="9525">
            <a:solidFill>
              <a:schemeClr val="lt1"/>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1" name="Google Shape;421;p2"/>
          <p:cNvSpPr txBox="1"/>
          <p:nvPr/>
        </p:nvSpPr>
        <p:spPr>
          <a:xfrm>
            <a:off x="54299" y="6345936"/>
            <a:ext cx="223170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rgbClr val="BFBFBF"/>
                </a:solidFill>
                <a:latin typeface="Verdana"/>
                <a:ea typeface="Verdana"/>
                <a:cs typeface="Verdana"/>
                <a:sym typeface="Verdana"/>
              </a:rPr>
              <a:t>[Ref: emoji by Ekarin Apirakthanakorn]</a:t>
            </a:r>
            <a:endParaRPr/>
          </a:p>
        </p:txBody>
      </p:sp>
      <p:grpSp>
        <p:nvGrpSpPr>
          <p:cNvPr id="422" name="Google Shape;422;p2"/>
          <p:cNvGrpSpPr/>
          <p:nvPr/>
        </p:nvGrpSpPr>
        <p:grpSpPr>
          <a:xfrm>
            <a:off x="6541008" y="5221224"/>
            <a:ext cx="2442279" cy="1484376"/>
            <a:chOff x="6541008" y="5221224"/>
            <a:chExt cx="2442279" cy="1484376"/>
          </a:xfrm>
        </p:grpSpPr>
        <p:pic>
          <p:nvPicPr>
            <p:cNvPr id="423" name="Google Shape;423;p2"/>
            <p:cNvPicPr preferRelativeResize="0"/>
            <p:nvPr/>
          </p:nvPicPr>
          <p:blipFill rotWithShape="1">
            <a:blip r:embed="rId4">
              <a:alphaModFix/>
            </a:blip>
            <a:srcRect b="0" l="0" r="0" t="0"/>
            <a:stretch/>
          </p:blipFill>
          <p:spPr>
            <a:xfrm>
              <a:off x="8153400" y="5875713"/>
              <a:ext cx="829887" cy="829887"/>
            </a:xfrm>
            <a:prstGeom prst="rect">
              <a:avLst/>
            </a:prstGeom>
            <a:noFill/>
            <a:ln>
              <a:noFill/>
            </a:ln>
          </p:spPr>
        </p:pic>
        <p:grpSp>
          <p:nvGrpSpPr>
            <p:cNvPr id="424" name="Google Shape;424;p2"/>
            <p:cNvGrpSpPr/>
            <p:nvPr/>
          </p:nvGrpSpPr>
          <p:grpSpPr>
            <a:xfrm>
              <a:off x="6541008" y="5632704"/>
              <a:ext cx="1536192" cy="603504"/>
              <a:chOff x="549518" y="4036240"/>
              <a:chExt cx="2228537" cy="940881"/>
            </a:xfrm>
          </p:grpSpPr>
          <p:sp>
            <p:nvSpPr>
              <p:cNvPr id="425" name="Google Shape;425;p2"/>
              <p:cNvSpPr/>
              <p:nvPr/>
            </p:nvSpPr>
            <p:spPr>
              <a:xfrm>
                <a:off x="646795" y="4036240"/>
                <a:ext cx="1936705" cy="940881"/>
              </a:xfrm>
              <a:prstGeom prst="cloudCallout">
                <a:avLst>
                  <a:gd fmla="val 64798" name="adj1"/>
                  <a:gd fmla="val 15630" name="adj2"/>
                </a:avLst>
              </a:prstGeom>
              <a:solidFill>
                <a:srgbClr val="FFFED6"/>
              </a:solidFill>
              <a:ln cap="flat" cmpd="sng" w="139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sz="1400">
                  <a:solidFill>
                    <a:schemeClr val="dk2"/>
                  </a:solidFill>
                  <a:latin typeface="Comic Sans MS"/>
                  <a:ea typeface="Comic Sans MS"/>
                  <a:cs typeface="Comic Sans MS"/>
                  <a:sym typeface="Comic Sans MS"/>
                </a:endParaRPr>
              </a:p>
            </p:txBody>
          </p:sp>
          <p:sp>
            <p:nvSpPr>
              <p:cNvPr id="426" name="Google Shape;426;p2"/>
              <p:cNvSpPr txBox="1"/>
              <p:nvPr/>
            </p:nvSpPr>
            <p:spPr>
              <a:xfrm>
                <a:off x="549518" y="4215163"/>
                <a:ext cx="2228537" cy="60719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0" lang="en-US" sz="1200">
                    <a:solidFill>
                      <a:schemeClr val="dk1"/>
                    </a:solidFill>
                    <a:latin typeface="Comic Sans MS"/>
                    <a:ea typeface="Comic Sans MS"/>
                    <a:cs typeface="Comic Sans MS"/>
                    <a:sym typeface="Comic Sans MS"/>
                  </a:rPr>
                  <a:t>Entered inputs incorrectly?</a:t>
                </a:r>
                <a:endParaRPr b="0" sz="1200">
                  <a:solidFill>
                    <a:schemeClr val="dk2"/>
                  </a:solidFill>
                  <a:latin typeface="Comic Sans MS"/>
                  <a:ea typeface="Comic Sans MS"/>
                  <a:cs typeface="Comic Sans MS"/>
                  <a:sym typeface="Comic Sans MS"/>
                </a:endParaRPr>
              </a:p>
            </p:txBody>
          </p:sp>
        </p:grpSp>
        <p:grpSp>
          <p:nvGrpSpPr>
            <p:cNvPr id="427" name="Google Shape;427;p2"/>
            <p:cNvGrpSpPr/>
            <p:nvPr/>
          </p:nvGrpSpPr>
          <p:grpSpPr>
            <a:xfrm>
              <a:off x="7674864" y="5221224"/>
              <a:ext cx="896112" cy="493776"/>
              <a:chOff x="1129967" y="4126531"/>
              <a:chExt cx="1299981" cy="769813"/>
            </a:xfrm>
          </p:grpSpPr>
          <p:sp>
            <p:nvSpPr>
              <p:cNvPr id="428" name="Google Shape;428;p2"/>
              <p:cNvSpPr/>
              <p:nvPr/>
            </p:nvSpPr>
            <p:spPr>
              <a:xfrm>
                <a:off x="1129967" y="4126531"/>
                <a:ext cx="1299981" cy="769813"/>
              </a:xfrm>
              <a:prstGeom prst="cloudCallout">
                <a:avLst>
                  <a:gd fmla="val 42956" name="adj1"/>
                  <a:gd fmla="val 69129" name="adj2"/>
                </a:avLst>
              </a:prstGeom>
              <a:solidFill>
                <a:srgbClr val="FFFED6"/>
              </a:solidFill>
              <a:ln cap="flat" cmpd="sng" w="1395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t/>
                </a:r>
                <a:endParaRPr b="0" sz="1400">
                  <a:solidFill>
                    <a:schemeClr val="dk2"/>
                  </a:solidFill>
                  <a:latin typeface="Comic Sans MS"/>
                  <a:ea typeface="Comic Sans MS"/>
                  <a:cs typeface="Comic Sans MS"/>
                  <a:sym typeface="Comic Sans MS"/>
                </a:endParaRPr>
              </a:p>
            </p:txBody>
          </p:sp>
          <p:sp>
            <p:nvSpPr>
              <p:cNvPr id="429" name="Google Shape;429;p2"/>
              <p:cNvSpPr txBox="1"/>
              <p:nvPr/>
            </p:nvSpPr>
            <p:spPr>
              <a:xfrm>
                <a:off x="1218401" y="4226322"/>
                <a:ext cx="1193860" cy="57023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0" lang="en-US" sz="1200">
                    <a:solidFill>
                      <a:schemeClr val="dk1"/>
                    </a:solidFill>
                    <a:latin typeface="Comic Sans MS"/>
                    <a:ea typeface="Comic Sans MS"/>
                    <a:cs typeface="Comic Sans MS"/>
                    <a:sym typeface="Comic Sans MS"/>
                  </a:rPr>
                  <a:t>Updated code?</a:t>
                </a:r>
                <a:endParaRPr b="0" sz="1200">
                  <a:solidFill>
                    <a:schemeClr val="dk2"/>
                  </a:solidFill>
                  <a:latin typeface="Comic Sans MS"/>
                  <a:ea typeface="Comic Sans MS"/>
                  <a:cs typeface="Comic Sans MS"/>
                  <a:sym typeface="Comic Sans MS"/>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
          <p:cNvSpPr txBox="1"/>
          <p:nvPr>
            <p:ph type="title"/>
          </p:nvPr>
        </p:nvSpPr>
        <p:spPr>
          <a:xfrm>
            <a:off x="0" y="7620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Manual Testing</a:t>
            </a:r>
            <a:endParaRPr/>
          </a:p>
        </p:txBody>
      </p:sp>
      <p:sp>
        <p:nvSpPr>
          <p:cNvPr id="436" name="Google Shape;436;p3"/>
          <p:cNvSpPr txBox="1"/>
          <p:nvPr/>
        </p:nvSpPr>
        <p:spPr>
          <a:xfrm>
            <a:off x="114300" y="990600"/>
            <a:ext cx="4381500" cy="556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920"/>
              <a:buFont typeface="Arial"/>
              <a:buNone/>
            </a:pPr>
            <a:r>
              <a:rPr b="1" lang="en-US" sz="2400">
                <a:solidFill>
                  <a:srgbClr val="FFFF00"/>
                </a:solidFill>
                <a:latin typeface="Verdana"/>
                <a:ea typeface="Verdana"/>
                <a:cs typeface="Verdana"/>
                <a:sym typeface="Verdana"/>
              </a:rPr>
              <a:t>Benefits</a:t>
            </a:r>
            <a:endParaRPr/>
          </a:p>
          <a:p>
            <a:pPr indent="-214313" lvl="0" marL="460375" marR="0" rtl="0" algn="l">
              <a:lnSpc>
                <a:spcPct val="100000"/>
              </a:lnSpc>
              <a:spcBef>
                <a:spcPts val="14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Simple and straightforward</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No up-front cost</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Easy to set up</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No additional software to learn, purchase, write</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Flexible</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More likely to test things that users care about</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Possible to catch issues that automated testing does not</a:t>
            </a:r>
            <a:endParaRPr/>
          </a:p>
        </p:txBody>
      </p:sp>
      <p:sp>
        <p:nvSpPr>
          <p:cNvPr id="437" name="Google Shape;437;p3"/>
          <p:cNvSpPr txBox="1"/>
          <p:nvPr/>
        </p:nvSpPr>
        <p:spPr>
          <a:xfrm>
            <a:off x="4724400" y="990600"/>
            <a:ext cx="4381500" cy="556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920"/>
              <a:buFont typeface="Arial"/>
              <a:buNone/>
            </a:pPr>
            <a:r>
              <a:rPr b="1" lang="en-US" sz="2400">
                <a:solidFill>
                  <a:srgbClr val="FFFF00"/>
                </a:solidFill>
                <a:latin typeface="Verdana"/>
                <a:ea typeface="Verdana"/>
                <a:cs typeface="Verdana"/>
                <a:sym typeface="Verdana"/>
              </a:rPr>
              <a:t>Drawbacks</a:t>
            </a:r>
            <a:endParaRPr/>
          </a:p>
          <a:p>
            <a:pPr indent="-214313" lvl="0" marL="460375" marR="0" rtl="0" algn="l">
              <a:lnSpc>
                <a:spcPct val="100000"/>
              </a:lnSpc>
              <a:spcBef>
                <a:spcPts val="14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(Extremely) boring</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Often not repeatable</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Some tasks are difficult or impossible to test manually</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Human errors</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Extremely time- and resource-intensive</a:t>
            </a:r>
            <a:endParaRPr/>
          </a:p>
          <a:p>
            <a:pPr indent="-214313" lvl="0" marL="460375" marR="0" rtl="0" algn="l">
              <a:lnSpc>
                <a:spcPct val="100000"/>
              </a:lnSpc>
              <a:spcBef>
                <a:spcPts val="1800"/>
              </a:spcBef>
              <a:spcAft>
                <a:spcPts val="0"/>
              </a:spcAft>
              <a:buClr>
                <a:schemeClr val="lt1"/>
              </a:buClr>
              <a:buSzPts val="1520"/>
              <a:buFont typeface="Arial"/>
              <a:buChar char="•"/>
            </a:pPr>
            <a:r>
              <a:rPr b="0" lang="en-US" sz="1900">
                <a:solidFill>
                  <a:schemeClr val="lt1"/>
                </a:solidFill>
                <a:latin typeface="Verdana"/>
                <a:ea typeface="Verdana"/>
                <a:cs typeface="Verdana"/>
                <a:sym typeface="Verdana"/>
              </a:rPr>
              <a:t>Limit to black-box and gray-box testing</a:t>
            </a:r>
            <a:endParaRPr/>
          </a:p>
        </p:txBody>
      </p:sp>
      <p:cxnSp>
        <p:nvCxnSpPr>
          <p:cNvPr id="438" name="Google Shape;438;p3"/>
          <p:cNvCxnSpPr/>
          <p:nvPr/>
        </p:nvCxnSpPr>
        <p:spPr>
          <a:xfrm>
            <a:off x="4495800" y="1066800"/>
            <a:ext cx="0" cy="5334000"/>
          </a:xfrm>
          <a:prstGeom prst="straightConnector1">
            <a:avLst/>
          </a:prstGeom>
          <a:noFill/>
          <a:ln cap="flat" cmpd="sng" w="9525">
            <a:solidFill>
              <a:srgbClr val="A5A5A5"/>
            </a:solidFill>
            <a:prstDash val="dot"/>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Tasks in Testing Process</a:t>
            </a:r>
            <a:endParaRPr/>
          </a:p>
        </p:txBody>
      </p:sp>
      <p:cxnSp>
        <p:nvCxnSpPr>
          <p:cNvPr id="445" name="Google Shape;445;p4"/>
          <p:cNvCxnSpPr/>
          <p:nvPr/>
        </p:nvCxnSpPr>
        <p:spPr>
          <a:xfrm>
            <a:off x="2074481" y="2992360"/>
            <a:ext cx="822960" cy="0"/>
          </a:xfrm>
          <a:prstGeom prst="straightConnector1">
            <a:avLst/>
          </a:prstGeom>
          <a:noFill/>
          <a:ln cap="flat" cmpd="sng" w="38100">
            <a:solidFill>
              <a:schemeClr val="lt1"/>
            </a:solidFill>
            <a:prstDash val="solid"/>
            <a:round/>
            <a:headEnd len="sm" w="sm" type="none"/>
            <a:tailEnd len="med" w="med" type="stealth"/>
          </a:ln>
        </p:spPr>
      </p:cxnSp>
      <p:cxnSp>
        <p:nvCxnSpPr>
          <p:cNvPr id="446" name="Google Shape;446;p4"/>
          <p:cNvCxnSpPr/>
          <p:nvPr/>
        </p:nvCxnSpPr>
        <p:spPr>
          <a:xfrm>
            <a:off x="4603832" y="2992360"/>
            <a:ext cx="822960" cy="0"/>
          </a:xfrm>
          <a:prstGeom prst="straightConnector1">
            <a:avLst/>
          </a:prstGeom>
          <a:noFill/>
          <a:ln cap="flat" cmpd="sng" w="38100">
            <a:solidFill>
              <a:schemeClr val="lt1"/>
            </a:solidFill>
            <a:prstDash val="solid"/>
            <a:round/>
            <a:headEnd len="sm" w="sm" type="none"/>
            <a:tailEnd len="med" w="med" type="stealth"/>
          </a:ln>
        </p:spPr>
      </p:cxnSp>
      <p:sp>
        <p:nvSpPr>
          <p:cNvPr id="447" name="Google Shape;447;p4"/>
          <p:cNvSpPr/>
          <p:nvPr/>
        </p:nvSpPr>
        <p:spPr>
          <a:xfrm>
            <a:off x="427889" y="2673887"/>
            <a:ext cx="1553182"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lang="en-US" sz="1800">
                <a:solidFill>
                  <a:schemeClr val="lt1"/>
                </a:solidFill>
                <a:latin typeface="Verdana"/>
                <a:ea typeface="Verdana"/>
                <a:cs typeface="Verdana"/>
                <a:sym typeface="Verdana"/>
              </a:rPr>
              <a:t>Enter</a:t>
            </a:r>
            <a:endParaRPr/>
          </a:p>
          <a:p>
            <a:pPr indent="0" lvl="0" marL="0" marR="0" rtl="0" algn="ctr">
              <a:lnSpc>
                <a:spcPct val="90000"/>
              </a:lnSpc>
              <a:spcBef>
                <a:spcPts val="0"/>
              </a:spcBef>
              <a:spcAft>
                <a:spcPts val="0"/>
              </a:spcAft>
              <a:buNone/>
            </a:pPr>
            <a:r>
              <a:rPr b="0" lang="en-US" sz="1800">
                <a:solidFill>
                  <a:srgbClr val="D5FC79"/>
                </a:solidFill>
                <a:latin typeface="Verdana"/>
                <a:ea typeface="Verdana"/>
                <a:cs typeface="Verdana"/>
                <a:sym typeface="Verdana"/>
              </a:rPr>
              <a:t>Test values </a:t>
            </a:r>
            <a:endParaRPr/>
          </a:p>
          <a:p>
            <a:pPr indent="0" lvl="0" marL="0" marR="0" rtl="0" algn="ctr">
              <a:lnSpc>
                <a:spcPct val="90000"/>
              </a:lnSpc>
              <a:spcBef>
                <a:spcPts val="0"/>
              </a:spcBef>
              <a:spcAft>
                <a:spcPts val="0"/>
              </a:spcAft>
              <a:buNone/>
            </a:pPr>
            <a:r>
              <a:rPr b="0" lang="en-US" sz="1800">
                <a:solidFill>
                  <a:srgbClr val="D5FC79"/>
                </a:solidFill>
                <a:latin typeface="Verdana"/>
                <a:ea typeface="Verdana"/>
                <a:cs typeface="Verdana"/>
                <a:sym typeface="Verdana"/>
              </a:rPr>
              <a:t>(inputs)</a:t>
            </a:r>
            <a:endParaRPr/>
          </a:p>
        </p:txBody>
      </p:sp>
      <p:sp>
        <p:nvSpPr>
          <p:cNvPr id="448" name="Google Shape;448;p4"/>
          <p:cNvSpPr/>
          <p:nvPr/>
        </p:nvSpPr>
        <p:spPr>
          <a:xfrm>
            <a:off x="5473973" y="2758855"/>
            <a:ext cx="1104928"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lang="en-US" sz="1800">
                <a:solidFill>
                  <a:schemeClr val="lt1"/>
                </a:solidFill>
                <a:latin typeface="Verdana"/>
                <a:ea typeface="Verdana"/>
                <a:cs typeface="Verdana"/>
                <a:sym typeface="Verdana"/>
              </a:rPr>
              <a:t>Actual results</a:t>
            </a:r>
            <a:endParaRPr/>
          </a:p>
        </p:txBody>
      </p:sp>
      <p:grpSp>
        <p:nvGrpSpPr>
          <p:cNvPr id="449" name="Google Shape;449;p4"/>
          <p:cNvGrpSpPr/>
          <p:nvPr/>
        </p:nvGrpSpPr>
        <p:grpSpPr>
          <a:xfrm>
            <a:off x="2887168" y="2722678"/>
            <a:ext cx="1711927" cy="539364"/>
            <a:chOff x="2965600" y="5669177"/>
            <a:chExt cx="1711927" cy="539364"/>
          </a:xfrm>
        </p:grpSpPr>
        <p:sp>
          <p:nvSpPr>
            <p:cNvPr id="450" name="Google Shape;450;p4"/>
            <p:cNvSpPr/>
            <p:nvPr/>
          </p:nvSpPr>
          <p:spPr>
            <a:xfrm>
              <a:off x="3091667" y="5727397"/>
              <a:ext cx="145979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Program</a:t>
              </a:r>
              <a:endParaRPr/>
            </a:p>
          </p:txBody>
        </p:sp>
        <p:sp>
          <p:nvSpPr>
            <p:cNvPr id="451" name="Google Shape;451;p4"/>
            <p:cNvSpPr/>
            <p:nvPr/>
          </p:nvSpPr>
          <p:spPr>
            <a:xfrm>
              <a:off x="2965600" y="5669177"/>
              <a:ext cx="1711927" cy="539364"/>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800">
                <a:solidFill>
                  <a:schemeClr val="lt1"/>
                </a:solidFill>
                <a:latin typeface="Verdana"/>
                <a:ea typeface="Verdana"/>
                <a:cs typeface="Verdana"/>
                <a:sym typeface="Verdana"/>
              </a:endParaRPr>
            </a:p>
          </p:txBody>
        </p:sp>
      </p:grpSp>
      <p:sp>
        <p:nvSpPr>
          <p:cNvPr id="452" name="Google Shape;452;p4"/>
          <p:cNvSpPr/>
          <p:nvPr/>
        </p:nvSpPr>
        <p:spPr>
          <a:xfrm>
            <a:off x="7392295" y="2758855"/>
            <a:ext cx="1401432"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0" lang="en-US" sz="1800">
                <a:solidFill>
                  <a:srgbClr val="D5FC79"/>
                </a:solidFill>
                <a:latin typeface="Verdana"/>
                <a:ea typeface="Verdana"/>
                <a:cs typeface="Verdana"/>
                <a:sym typeface="Verdana"/>
              </a:rPr>
              <a:t>Expected results</a:t>
            </a:r>
            <a:endParaRPr/>
          </a:p>
        </p:txBody>
      </p:sp>
      <p:sp>
        <p:nvSpPr>
          <p:cNvPr id="453" name="Google Shape;453;p4"/>
          <p:cNvSpPr/>
          <p:nvPr/>
        </p:nvSpPr>
        <p:spPr>
          <a:xfrm>
            <a:off x="6273176" y="2773746"/>
            <a:ext cx="140143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vs</a:t>
            </a:r>
            <a:endParaRPr b="0" sz="1800">
              <a:solidFill>
                <a:schemeClr val="lt1"/>
              </a:solidFill>
              <a:latin typeface="Verdana"/>
              <a:ea typeface="Verdana"/>
              <a:cs typeface="Verdana"/>
              <a:sym typeface="Verdana"/>
            </a:endParaRPr>
          </a:p>
        </p:txBody>
      </p:sp>
      <p:sp>
        <p:nvSpPr>
          <p:cNvPr id="454" name="Google Shape;454;p4"/>
          <p:cNvSpPr/>
          <p:nvPr/>
        </p:nvSpPr>
        <p:spPr>
          <a:xfrm>
            <a:off x="6348773" y="3395245"/>
            <a:ext cx="156004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Comparison</a:t>
            </a:r>
            <a:endParaRPr/>
          </a:p>
        </p:txBody>
      </p:sp>
      <p:sp>
        <p:nvSpPr>
          <p:cNvPr id="455" name="Google Shape;455;p4"/>
          <p:cNvSpPr/>
          <p:nvPr/>
        </p:nvSpPr>
        <p:spPr>
          <a:xfrm>
            <a:off x="289561" y="2599717"/>
            <a:ext cx="1737740" cy="991059"/>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456" name="Google Shape;456;p4"/>
          <p:cNvSpPr/>
          <p:nvPr/>
        </p:nvSpPr>
        <p:spPr>
          <a:xfrm>
            <a:off x="5440435" y="2663725"/>
            <a:ext cx="3398765" cy="749108"/>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grpSp>
        <p:nvGrpSpPr>
          <p:cNvPr id="457" name="Google Shape;457;p4"/>
          <p:cNvGrpSpPr/>
          <p:nvPr/>
        </p:nvGrpSpPr>
        <p:grpSpPr>
          <a:xfrm>
            <a:off x="289558" y="3913098"/>
            <a:ext cx="8504167" cy="921841"/>
            <a:chOff x="289558" y="4906090"/>
            <a:chExt cx="8504167" cy="921841"/>
          </a:xfrm>
        </p:grpSpPr>
        <p:sp>
          <p:nvSpPr>
            <p:cNvPr id="458" name="Google Shape;458;p4"/>
            <p:cNvSpPr/>
            <p:nvPr/>
          </p:nvSpPr>
          <p:spPr>
            <a:xfrm rot="5400000">
              <a:off x="4403886" y="791762"/>
              <a:ext cx="275511" cy="8504167"/>
            </a:xfrm>
            <a:prstGeom prst="rightBracket">
              <a:avLst>
                <a:gd fmla="val 8333"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dk1"/>
                </a:solidFill>
                <a:latin typeface="Times New Roman"/>
                <a:ea typeface="Times New Roman"/>
                <a:cs typeface="Times New Roman"/>
                <a:sym typeface="Times New Roman"/>
              </a:endParaRPr>
            </a:p>
          </p:txBody>
        </p:sp>
        <p:sp>
          <p:nvSpPr>
            <p:cNvPr id="459" name="Google Shape;459;p4"/>
            <p:cNvSpPr/>
            <p:nvPr/>
          </p:nvSpPr>
          <p:spPr>
            <a:xfrm>
              <a:off x="1133844" y="5181600"/>
              <a:ext cx="675973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Execute tests against the program under test (PUT)</a:t>
              </a:r>
              <a:endParaRPr/>
            </a:p>
            <a:p>
              <a:pPr indent="0" lvl="0" marL="0" marR="0" rtl="0" algn="ctr">
                <a:spcBef>
                  <a:spcPts val="0"/>
                </a:spcBef>
                <a:spcAft>
                  <a:spcPts val="0"/>
                </a:spcAft>
                <a:buNone/>
              </a:pPr>
              <a:r>
                <a:rPr b="0" lang="en-US" sz="1800">
                  <a:solidFill>
                    <a:schemeClr val="lt1"/>
                  </a:solidFill>
                  <a:latin typeface="Verdana"/>
                  <a:ea typeface="Verdana"/>
                  <a:cs typeface="Verdana"/>
                  <a:sym typeface="Verdana"/>
                </a:rPr>
                <a:t>or sometimes referred to as a software under test (SUT)</a:t>
              </a:r>
              <a:endParaRPr/>
            </a:p>
          </p:txBody>
        </p:sp>
      </p:grpSp>
      <p:sp>
        <p:nvSpPr>
          <p:cNvPr id="460" name="Google Shape;460;p4"/>
          <p:cNvSpPr/>
          <p:nvPr/>
        </p:nvSpPr>
        <p:spPr>
          <a:xfrm>
            <a:off x="304800" y="1062921"/>
            <a:ext cx="1770036" cy="400110"/>
          </a:xfrm>
          <a:prstGeom prst="rect">
            <a:avLst/>
          </a:prstGeom>
          <a:solidFill>
            <a:srgbClr val="00009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000">
                <a:solidFill>
                  <a:srgbClr val="FFFF00"/>
                </a:solidFill>
                <a:latin typeface="Verdana"/>
                <a:ea typeface="Verdana"/>
                <a:cs typeface="Verdana"/>
                <a:sym typeface="Verdana"/>
              </a:rPr>
              <a:t>Design tests</a:t>
            </a:r>
            <a:endParaRPr/>
          </a:p>
        </p:txBody>
      </p:sp>
      <p:sp>
        <p:nvSpPr>
          <p:cNvPr id="461" name="Google Shape;461;p4"/>
          <p:cNvSpPr/>
          <p:nvPr/>
        </p:nvSpPr>
        <p:spPr>
          <a:xfrm>
            <a:off x="318595" y="1866481"/>
            <a:ext cx="5500545" cy="400110"/>
          </a:xfrm>
          <a:prstGeom prst="rect">
            <a:avLst/>
          </a:prstGeom>
          <a:solidFill>
            <a:srgbClr val="00009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000">
                <a:solidFill>
                  <a:srgbClr val="FFFF00"/>
                </a:solidFill>
                <a:latin typeface="Verdana"/>
                <a:ea typeface="Verdana"/>
                <a:cs typeface="Verdana"/>
                <a:sym typeface="Verdana"/>
              </a:rPr>
              <a:t>Enter inputs, run program, record results</a:t>
            </a:r>
            <a:endParaRPr/>
          </a:p>
        </p:txBody>
      </p:sp>
      <p:sp>
        <p:nvSpPr>
          <p:cNvPr id="462" name="Google Shape;462;p4"/>
          <p:cNvSpPr/>
          <p:nvPr/>
        </p:nvSpPr>
        <p:spPr>
          <a:xfrm>
            <a:off x="109728" y="1694985"/>
            <a:ext cx="8915400" cy="3441192"/>
          </a:xfrm>
          <a:prstGeom prst="rect">
            <a:avLst/>
          </a:prstGeom>
          <a:noFill/>
          <a:ln cap="flat" cmpd="sng" w="38100">
            <a:solidFill>
              <a:srgbClr val="BED7EC"/>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463" name="Google Shape;463;p4"/>
          <p:cNvSpPr/>
          <p:nvPr/>
        </p:nvSpPr>
        <p:spPr>
          <a:xfrm>
            <a:off x="6998080" y="1062921"/>
            <a:ext cx="1917320" cy="400110"/>
          </a:xfrm>
          <a:prstGeom prst="rect">
            <a:avLst/>
          </a:prstGeom>
          <a:solidFill>
            <a:srgbClr val="D8D8D8"/>
          </a:solidFill>
          <a:ln cap="flat" cmpd="sng" w="9525">
            <a:solidFill>
              <a:srgbClr val="D8D8D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2000">
                <a:solidFill>
                  <a:schemeClr val="dk2"/>
                </a:solidFill>
                <a:latin typeface="Verdana"/>
                <a:ea typeface="Verdana"/>
                <a:cs typeface="Verdana"/>
                <a:sym typeface="Verdana"/>
              </a:rPr>
              <a:t>Revenue task</a:t>
            </a:r>
            <a:endParaRPr/>
          </a:p>
        </p:txBody>
      </p:sp>
      <p:sp>
        <p:nvSpPr>
          <p:cNvPr id="464" name="Google Shape;464;p4"/>
          <p:cNvSpPr/>
          <p:nvPr/>
        </p:nvSpPr>
        <p:spPr>
          <a:xfrm>
            <a:off x="6996682" y="1858808"/>
            <a:ext cx="1920240" cy="400110"/>
          </a:xfrm>
          <a:prstGeom prst="rect">
            <a:avLst/>
          </a:prstGeom>
          <a:solidFill>
            <a:srgbClr val="D8D8D8"/>
          </a:solidFill>
          <a:ln cap="flat" cmpd="sng" w="9525">
            <a:solidFill>
              <a:srgbClr val="D8D8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lang="en-US" sz="2000">
                <a:solidFill>
                  <a:schemeClr val="dk2"/>
                </a:solidFill>
                <a:latin typeface="Verdana"/>
                <a:ea typeface="Verdana"/>
                <a:cs typeface="Verdana"/>
                <a:sym typeface="Verdana"/>
              </a:rPr>
              <a:t>Excise task</a:t>
            </a:r>
            <a:endParaRPr/>
          </a:p>
        </p:txBody>
      </p:sp>
      <p:sp>
        <p:nvSpPr>
          <p:cNvPr id="465" name="Google Shape;465;p4"/>
          <p:cNvSpPr/>
          <p:nvPr/>
        </p:nvSpPr>
        <p:spPr>
          <a:xfrm>
            <a:off x="304800" y="5314890"/>
            <a:ext cx="2134046" cy="400110"/>
          </a:xfrm>
          <a:prstGeom prst="rect">
            <a:avLst/>
          </a:prstGeom>
          <a:solidFill>
            <a:srgbClr val="00009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000">
                <a:solidFill>
                  <a:srgbClr val="FFFF00"/>
                </a:solidFill>
                <a:latin typeface="Verdana"/>
                <a:ea typeface="Verdana"/>
                <a:cs typeface="Verdana"/>
                <a:sym typeface="Verdana"/>
              </a:rPr>
              <a:t>Analyze results</a:t>
            </a:r>
            <a:endParaRPr/>
          </a:p>
        </p:txBody>
      </p:sp>
      <p:sp>
        <p:nvSpPr>
          <p:cNvPr id="466" name="Google Shape;466;p4"/>
          <p:cNvSpPr/>
          <p:nvPr/>
        </p:nvSpPr>
        <p:spPr>
          <a:xfrm>
            <a:off x="6998080" y="5314890"/>
            <a:ext cx="1917320" cy="400110"/>
          </a:xfrm>
          <a:prstGeom prst="rect">
            <a:avLst/>
          </a:prstGeom>
          <a:solidFill>
            <a:srgbClr val="D8D8D8"/>
          </a:solidFill>
          <a:ln cap="flat" cmpd="sng" w="9525">
            <a:solidFill>
              <a:srgbClr val="D8D8D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2000">
                <a:solidFill>
                  <a:schemeClr val="dk2"/>
                </a:solidFill>
                <a:latin typeface="Verdana"/>
                <a:ea typeface="Verdana"/>
                <a:cs typeface="Verdana"/>
                <a:sym typeface="Verdana"/>
              </a:rPr>
              <a:t>Revenue task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
          <p:cNvSpPr/>
          <p:nvPr/>
        </p:nvSpPr>
        <p:spPr>
          <a:xfrm>
            <a:off x="109728" y="990600"/>
            <a:ext cx="8915400" cy="487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473" name="Google Shape;473;p5"/>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Software Testing Activities</a:t>
            </a:r>
            <a:endParaRPr/>
          </a:p>
        </p:txBody>
      </p:sp>
      <p:grpSp>
        <p:nvGrpSpPr>
          <p:cNvPr id="474" name="Google Shape;474;p5"/>
          <p:cNvGrpSpPr/>
          <p:nvPr/>
        </p:nvGrpSpPr>
        <p:grpSpPr>
          <a:xfrm>
            <a:off x="228600" y="2514600"/>
            <a:ext cx="1526212" cy="1371600"/>
            <a:chOff x="535277" y="1504282"/>
            <a:chExt cx="1771529" cy="1442693"/>
          </a:xfrm>
        </p:grpSpPr>
        <p:pic>
          <p:nvPicPr>
            <p:cNvPr descr="mage result for human cartoon images" id="475" name="Google Shape;475;p5"/>
            <p:cNvPicPr preferRelativeResize="0"/>
            <p:nvPr/>
          </p:nvPicPr>
          <p:blipFill rotWithShape="1">
            <a:blip r:embed="rId3">
              <a:alphaModFix/>
            </a:blip>
            <a:srcRect b="0" l="0" r="0" t="0"/>
            <a:stretch/>
          </p:blipFill>
          <p:spPr>
            <a:xfrm>
              <a:off x="535277" y="1504282"/>
              <a:ext cx="1771529" cy="995374"/>
            </a:xfrm>
            <a:prstGeom prst="rect">
              <a:avLst/>
            </a:prstGeom>
            <a:noFill/>
            <a:ln>
              <a:noFill/>
            </a:ln>
          </p:spPr>
        </p:pic>
        <p:sp>
          <p:nvSpPr>
            <p:cNvPr id="476" name="Google Shape;476;p5"/>
            <p:cNvSpPr/>
            <p:nvPr/>
          </p:nvSpPr>
          <p:spPr>
            <a:xfrm>
              <a:off x="875859" y="2362200"/>
              <a:ext cx="109036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Test </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Engineer</a:t>
              </a:r>
              <a:endParaRPr/>
            </a:p>
          </p:txBody>
        </p:sp>
      </p:grpSp>
      <p:grpSp>
        <p:nvGrpSpPr>
          <p:cNvPr id="477" name="Google Shape;477;p5"/>
          <p:cNvGrpSpPr/>
          <p:nvPr/>
        </p:nvGrpSpPr>
        <p:grpSpPr>
          <a:xfrm>
            <a:off x="3095597" y="990600"/>
            <a:ext cx="1526212" cy="1371529"/>
            <a:chOff x="325180" y="1504282"/>
            <a:chExt cx="1771529" cy="1442618"/>
          </a:xfrm>
        </p:grpSpPr>
        <p:pic>
          <p:nvPicPr>
            <p:cNvPr descr="mage result for human cartoon images" id="478" name="Google Shape;478;p5"/>
            <p:cNvPicPr preferRelativeResize="0"/>
            <p:nvPr/>
          </p:nvPicPr>
          <p:blipFill rotWithShape="1">
            <a:blip r:embed="rId3">
              <a:alphaModFix/>
            </a:blip>
            <a:srcRect b="0" l="0" r="0" t="0"/>
            <a:stretch/>
          </p:blipFill>
          <p:spPr>
            <a:xfrm>
              <a:off x="325180" y="1504282"/>
              <a:ext cx="1771529" cy="995374"/>
            </a:xfrm>
            <a:prstGeom prst="rect">
              <a:avLst/>
            </a:prstGeom>
            <a:noFill/>
            <a:ln>
              <a:noFill/>
            </a:ln>
          </p:spPr>
        </p:pic>
        <p:sp>
          <p:nvSpPr>
            <p:cNvPr id="479" name="Google Shape;479;p5"/>
            <p:cNvSpPr/>
            <p:nvPr/>
          </p:nvSpPr>
          <p:spPr>
            <a:xfrm>
              <a:off x="674579" y="2362200"/>
              <a:ext cx="1072800" cy="584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Test </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Manager</a:t>
              </a:r>
              <a:endParaRPr/>
            </a:p>
          </p:txBody>
        </p:sp>
      </p:grpSp>
      <p:grpSp>
        <p:nvGrpSpPr>
          <p:cNvPr id="480" name="Google Shape;480;p5"/>
          <p:cNvGrpSpPr/>
          <p:nvPr/>
        </p:nvGrpSpPr>
        <p:grpSpPr>
          <a:xfrm>
            <a:off x="6169988" y="990600"/>
            <a:ext cx="1526212" cy="1371600"/>
            <a:chOff x="535277" y="1504282"/>
            <a:chExt cx="1771529" cy="1442693"/>
          </a:xfrm>
        </p:grpSpPr>
        <p:pic>
          <p:nvPicPr>
            <p:cNvPr descr="mage result for human cartoon images" id="481" name="Google Shape;481;p5"/>
            <p:cNvPicPr preferRelativeResize="0"/>
            <p:nvPr/>
          </p:nvPicPr>
          <p:blipFill rotWithShape="1">
            <a:blip r:embed="rId3">
              <a:alphaModFix/>
            </a:blip>
            <a:srcRect b="0" l="0" r="0" t="0"/>
            <a:stretch/>
          </p:blipFill>
          <p:spPr>
            <a:xfrm>
              <a:off x="535277" y="1504282"/>
              <a:ext cx="1771529" cy="995374"/>
            </a:xfrm>
            <a:prstGeom prst="rect">
              <a:avLst/>
            </a:prstGeom>
            <a:noFill/>
            <a:ln>
              <a:noFill/>
            </a:ln>
          </p:spPr>
        </p:pic>
        <p:sp>
          <p:nvSpPr>
            <p:cNvPr id="482" name="Google Shape;482;p5"/>
            <p:cNvSpPr/>
            <p:nvPr/>
          </p:nvSpPr>
          <p:spPr>
            <a:xfrm>
              <a:off x="875859" y="2362200"/>
              <a:ext cx="109036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Test </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Engineer</a:t>
              </a:r>
              <a:endParaRPr/>
            </a:p>
          </p:txBody>
        </p:sp>
      </p:grpSp>
      <p:grpSp>
        <p:nvGrpSpPr>
          <p:cNvPr id="483" name="Google Shape;483;p5"/>
          <p:cNvGrpSpPr/>
          <p:nvPr/>
        </p:nvGrpSpPr>
        <p:grpSpPr>
          <a:xfrm>
            <a:off x="2514600" y="4038600"/>
            <a:ext cx="1526212" cy="1371600"/>
            <a:chOff x="535277" y="1504282"/>
            <a:chExt cx="1771529" cy="1442693"/>
          </a:xfrm>
        </p:grpSpPr>
        <p:pic>
          <p:nvPicPr>
            <p:cNvPr descr="mage result for human cartoon images" id="484" name="Google Shape;484;p5"/>
            <p:cNvPicPr preferRelativeResize="0"/>
            <p:nvPr/>
          </p:nvPicPr>
          <p:blipFill rotWithShape="1">
            <a:blip r:embed="rId3">
              <a:alphaModFix/>
            </a:blip>
            <a:srcRect b="0" l="0" r="0" t="0"/>
            <a:stretch/>
          </p:blipFill>
          <p:spPr>
            <a:xfrm>
              <a:off x="535277" y="1504282"/>
              <a:ext cx="1771529" cy="995374"/>
            </a:xfrm>
            <a:prstGeom prst="rect">
              <a:avLst/>
            </a:prstGeom>
            <a:noFill/>
            <a:ln>
              <a:noFill/>
            </a:ln>
          </p:spPr>
        </p:pic>
        <p:sp>
          <p:nvSpPr>
            <p:cNvPr id="485" name="Google Shape;485;p5"/>
            <p:cNvSpPr/>
            <p:nvPr/>
          </p:nvSpPr>
          <p:spPr>
            <a:xfrm>
              <a:off x="875859" y="2362200"/>
              <a:ext cx="1090363"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Test </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Engineer</a:t>
              </a:r>
              <a:endParaRPr/>
            </a:p>
          </p:txBody>
        </p:sp>
      </p:grpSp>
      <p:sp>
        <p:nvSpPr>
          <p:cNvPr id="486" name="Google Shape;486;p5"/>
          <p:cNvSpPr/>
          <p:nvPr/>
        </p:nvSpPr>
        <p:spPr>
          <a:xfrm>
            <a:off x="2341578" y="2758830"/>
            <a:ext cx="886781" cy="584775"/>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1. Test</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Design</a:t>
            </a:r>
            <a:endParaRPr/>
          </a:p>
        </p:txBody>
      </p:sp>
      <p:sp>
        <p:nvSpPr>
          <p:cNvPr id="487" name="Google Shape;487;p5"/>
          <p:cNvSpPr/>
          <p:nvPr/>
        </p:nvSpPr>
        <p:spPr>
          <a:xfrm>
            <a:off x="4536031" y="2758830"/>
            <a:ext cx="1374864" cy="584775"/>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2. Test </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Automation</a:t>
            </a:r>
            <a:endParaRPr/>
          </a:p>
        </p:txBody>
      </p:sp>
      <p:grpSp>
        <p:nvGrpSpPr>
          <p:cNvPr id="488" name="Google Shape;488;p5"/>
          <p:cNvGrpSpPr/>
          <p:nvPr/>
        </p:nvGrpSpPr>
        <p:grpSpPr>
          <a:xfrm>
            <a:off x="3228359" y="3029050"/>
            <a:ext cx="1307700" cy="307777"/>
            <a:chOff x="3228359" y="3029050"/>
            <a:chExt cx="1307700" cy="307777"/>
          </a:xfrm>
        </p:grpSpPr>
        <p:cxnSp>
          <p:nvCxnSpPr>
            <p:cNvPr id="489" name="Google Shape;489;p5"/>
            <p:cNvCxnSpPr>
              <a:stCxn id="486" idx="3"/>
              <a:endCxn id="487" idx="1"/>
            </p:cNvCxnSpPr>
            <p:nvPr/>
          </p:nvCxnSpPr>
          <p:spPr>
            <a:xfrm>
              <a:off x="3228359" y="3051218"/>
              <a:ext cx="1307700" cy="0"/>
            </a:xfrm>
            <a:prstGeom prst="straightConnector1">
              <a:avLst/>
            </a:prstGeom>
            <a:noFill/>
            <a:ln cap="flat" cmpd="sng" w="19050">
              <a:solidFill>
                <a:schemeClr val="dk1"/>
              </a:solidFill>
              <a:prstDash val="solid"/>
              <a:round/>
              <a:headEnd len="sm" w="sm" type="none"/>
              <a:tailEnd len="med" w="med" type="triangle"/>
            </a:ln>
          </p:spPr>
        </p:cxnSp>
        <p:sp>
          <p:nvSpPr>
            <p:cNvPr id="490" name="Google Shape;490;p5"/>
            <p:cNvSpPr/>
            <p:nvPr/>
          </p:nvSpPr>
          <p:spPr>
            <a:xfrm>
              <a:off x="3352800" y="3029050"/>
              <a:ext cx="113845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instantiate</a:t>
              </a:r>
              <a:endParaRPr b="0" sz="1400">
                <a:solidFill>
                  <a:schemeClr val="dk1"/>
                </a:solidFill>
                <a:latin typeface="Verdana"/>
                <a:ea typeface="Verdana"/>
                <a:cs typeface="Verdana"/>
                <a:sym typeface="Verdana"/>
              </a:endParaRPr>
            </a:p>
          </p:txBody>
        </p:sp>
      </p:grpSp>
      <p:grpSp>
        <p:nvGrpSpPr>
          <p:cNvPr id="491" name="Google Shape;491;p5"/>
          <p:cNvGrpSpPr/>
          <p:nvPr/>
        </p:nvGrpSpPr>
        <p:grpSpPr>
          <a:xfrm>
            <a:off x="1295400" y="3029049"/>
            <a:ext cx="992477" cy="376925"/>
            <a:chOff x="1801072" y="2856932"/>
            <a:chExt cx="1148353" cy="376925"/>
          </a:xfrm>
        </p:grpSpPr>
        <p:sp>
          <p:nvSpPr>
            <p:cNvPr id="492" name="Google Shape;492;p5"/>
            <p:cNvSpPr/>
            <p:nvPr/>
          </p:nvSpPr>
          <p:spPr>
            <a:xfrm>
              <a:off x="1920468" y="2856932"/>
              <a:ext cx="898932" cy="99627"/>
            </a:xfrm>
            <a:prstGeom prst="rightArrow">
              <a:avLst>
                <a:gd fmla="val 50000" name="adj1"/>
                <a:gd fmla="val 50000" name="adj2"/>
              </a:avLst>
            </a:prstGeom>
            <a:noFill/>
            <a:ln cap="flat" cmpd="sng" w="139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493" name="Google Shape;493;p5"/>
            <p:cNvSpPr/>
            <p:nvPr/>
          </p:nvSpPr>
          <p:spPr>
            <a:xfrm>
              <a:off x="1801072" y="2926080"/>
              <a:ext cx="114835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design</a:t>
              </a:r>
              <a:endParaRPr/>
            </a:p>
          </p:txBody>
        </p:sp>
      </p:grpSp>
      <p:sp>
        <p:nvSpPr>
          <p:cNvPr id="494" name="Google Shape;494;p5"/>
          <p:cNvSpPr/>
          <p:nvPr/>
        </p:nvSpPr>
        <p:spPr>
          <a:xfrm rot="5400000">
            <a:off x="3785583" y="2053666"/>
            <a:ext cx="228600" cy="1097400"/>
          </a:xfrm>
          <a:prstGeom prst="leftBrace">
            <a:avLst>
              <a:gd fmla="val 8333" name="adj1"/>
              <a:gd fmla="val 50000" name="adj2"/>
            </a:avLst>
          </a:prstGeom>
          <a:noFill/>
          <a:ln cap="flat" cmpd="sng" w="2857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dk1"/>
              </a:solidFill>
              <a:latin typeface="Times New Roman"/>
              <a:ea typeface="Times New Roman"/>
              <a:cs typeface="Times New Roman"/>
              <a:sym typeface="Times New Roman"/>
            </a:endParaRPr>
          </a:p>
        </p:txBody>
      </p:sp>
      <p:sp>
        <p:nvSpPr>
          <p:cNvPr id="495" name="Google Shape;495;p5"/>
          <p:cNvSpPr/>
          <p:nvPr/>
        </p:nvSpPr>
        <p:spPr>
          <a:xfrm>
            <a:off x="6600235" y="4876800"/>
            <a:ext cx="894797" cy="33855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Output</a:t>
            </a:r>
            <a:endParaRPr b="0" sz="1600">
              <a:solidFill>
                <a:schemeClr val="dk1"/>
              </a:solidFill>
              <a:latin typeface="Verdana"/>
              <a:ea typeface="Verdana"/>
              <a:cs typeface="Verdana"/>
              <a:sym typeface="Verdana"/>
            </a:endParaRPr>
          </a:p>
        </p:txBody>
      </p:sp>
      <p:grpSp>
        <p:nvGrpSpPr>
          <p:cNvPr id="496" name="Google Shape;496;p5"/>
          <p:cNvGrpSpPr/>
          <p:nvPr/>
        </p:nvGrpSpPr>
        <p:grpSpPr>
          <a:xfrm>
            <a:off x="8229600" y="3962400"/>
            <a:ext cx="338554" cy="353568"/>
            <a:chOff x="859536" y="4599432"/>
            <a:chExt cx="338554" cy="353568"/>
          </a:xfrm>
        </p:grpSpPr>
        <p:sp>
          <p:nvSpPr>
            <p:cNvPr id="497" name="Google Shape;497;p5"/>
            <p:cNvSpPr/>
            <p:nvPr/>
          </p:nvSpPr>
          <p:spPr>
            <a:xfrm>
              <a:off x="859536" y="4599432"/>
              <a:ext cx="338554" cy="338554"/>
            </a:xfrm>
            <a:prstGeom prst="ellipse">
              <a:avLst/>
            </a:prstGeom>
            <a:solidFill>
              <a:srgbClr val="BFBFBF"/>
            </a:solidFill>
            <a:ln cap="flat" cmpd="sng" w="139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498" name="Google Shape;498;p5"/>
            <p:cNvSpPr/>
            <p:nvPr/>
          </p:nvSpPr>
          <p:spPr>
            <a:xfrm>
              <a:off x="886244" y="4614446"/>
              <a:ext cx="30809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P</a:t>
              </a:r>
              <a:endParaRPr b="0" sz="1600">
                <a:solidFill>
                  <a:schemeClr val="dk1"/>
                </a:solidFill>
                <a:latin typeface="Verdana"/>
                <a:ea typeface="Verdana"/>
                <a:cs typeface="Verdana"/>
                <a:sym typeface="Verdana"/>
              </a:endParaRPr>
            </a:p>
          </p:txBody>
        </p:sp>
      </p:grpSp>
      <p:grpSp>
        <p:nvGrpSpPr>
          <p:cNvPr id="499" name="Google Shape;499;p5"/>
          <p:cNvGrpSpPr/>
          <p:nvPr/>
        </p:nvGrpSpPr>
        <p:grpSpPr>
          <a:xfrm>
            <a:off x="6448697" y="3962400"/>
            <a:ext cx="1200970" cy="353568"/>
            <a:chOff x="1952724" y="4599432"/>
            <a:chExt cx="1200970" cy="353568"/>
          </a:xfrm>
        </p:grpSpPr>
        <p:sp>
          <p:nvSpPr>
            <p:cNvPr id="500" name="Google Shape;500;p5"/>
            <p:cNvSpPr/>
            <p:nvPr/>
          </p:nvSpPr>
          <p:spPr>
            <a:xfrm>
              <a:off x="1952724" y="4614446"/>
              <a:ext cx="120097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Computer</a:t>
              </a:r>
              <a:endParaRPr b="0" sz="1600">
                <a:solidFill>
                  <a:schemeClr val="dk1"/>
                </a:solidFill>
                <a:latin typeface="Verdana"/>
                <a:ea typeface="Verdana"/>
                <a:cs typeface="Verdana"/>
                <a:sym typeface="Verdana"/>
              </a:endParaRPr>
            </a:p>
          </p:txBody>
        </p:sp>
        <p:sp>
          <p:nvSpPr>
            <p:cNvPr id="501" name="Google Shape;501;p5"/>
            <p:cNvSpPr/>
            <p:nvPr/>
          </p:nvSpPr>
          <p:spPr>
            <a:xfrm>
              <a:off x="1952724" y="4599432"/>
              <a:ext cx="1200970" cy="353568"/>
            </a:xfrm>
            <a:prstGeom prst="roundRect">
              <a:avLst>
                <a:gd fmla="val 16667" name="adj"/>
              </a:avLst>
            </a:prstGeom>
            <a:noFill/>
            <a:ln cap="flat" cmpd="sng" w="139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grpSp>
      <p:grpSp>
        <p:nvGrpSpPr>
          <p:cNvPr id="502" name="Google Shape;502;p5"/>
          <p:cNvGrpSpPr/>
          <p:nvPr/>
        </p:nvGrpSpPr>
        <p:grpSpPr>
          <a:xfrm>
            <a:off x="7036800" y="4315968"/>
            <a:ext cx="888000" cy="560700"/>
            <a:chOff x="5208000" y="4501670"/>
            <a:chExt cx="888000" cy="560700"/>
          </a:xfrm>
        </p:grpSpPr>
        <p:sp>
          <p:nvSpPr>
            <p:cNvPr id="503" name="Google Shape;503;p5"/>
            <p:cNvSpPr/>
            <p:nvPr/>
          </p:nvSpPr>
          <p:spPr>
            <a:xfrm>
              <a:off x="5208000" y="4690646"/>
              <a:ext cx="8880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execute</a:t>
              </a:r>
              <a:endParaRPr b="0" sz="1400">
                <a:solidFill>
                  <a:schemeClr val="dk1"/>
                </a:solidFill>
                <a:latin typeface="Verdana"/>
                <a:ea typeface="Verdana"/>
                <a:cs typeface="Verdana"/>
                <a:sym typeface="Verdana"/>
              </a:endParaRPr>
            </a:p>
          </p:txBody>
        </p:sp>
        <p:cxnSp>
          <p:nvCxnSpPr>
            <p:cNvPr id="504" name="Google Shape;504;p5"/>
            <p:cNvCxnSpPr>
              <a:stCxn id="501" idx="2"/>
              <a:endCxn id="495" idx="0"/>
            </p:cNvCxnSpPr>
            <p:nvPr/>
          </p:nvCxnSpPr>
          <p:spPr>
            <a:xfrm flipH="1">
              <a:off x="5218882" y="4501670"/>
              <a:ext cx="1500" cy="560700"/>
            </a:xfrm>
            <a:prstGeom prst="straightConnector1">
              <a:avLst/>
            </a:prstGeom>
            <a:noFill/>
            <a:ln cap="flat" cmpd="sng" w="19050">
              <a:solidFill>
                <a:schemeClr val="dk1"/>
              </a:solidFill>
              <a:prstDash val="solid"/>
              <a:round/>
              <a:headEnd len="sm" w="sm" type="none"/>
              <a:tailEnd len="med" w="med" type="triangle"/>
            </a:ln>
          </p:spPr>
        </p:cxnSp>
      </p:grpSp>
      <p:cxnSp>
        <p:nvCxnSpPr>
          <p:cNvPr id="505" name="Google Shape;505;p5"/>
          <p:cNvCxnSpPr>
            <a:stCxn id="495" idx="1"/>
            <a:endCxn id="506" idx="3"/>
          </p:cNvCxnSpPr>
          <p:nvPr/>
        </p:nvCxnSpPr>
        <p:spPr>
          <a:xfrm flipH="1">
            <a:off x="5851735" y="5046077"/>
            <a:ext cx="748500" cy="300"/>
          </a:xfrm>
          <a:prstGeom prst="straightConnector1">
            <a:avLst/>
          </a:prstGeom>
          <a:noFill/>
          <a:ln cap="flat" cmpd="sng" w="19050">
            <a:solidFill>
              <a:schemeClr val="dk1"/>
            </a:solidFill>
            <a:prstDash val="solid"/>
            <a:round/>
            <a:headEnd len="sm" w="sm" type="none"/>
            <a:tailEnd len="med" w="med" type="triangle"/>
          </a:ln>
        </p:spPr>
      </p:cxnSp>
      <p:cxnSp>
        <p:nvCxnSpPr>
          <p:cNvPr id="507" name="Google Shape;507;p5"/>
          <p:cNvCxnSpPr>
            <a:stCxn id="497" idx="2"/>
            <a:endCxn id="501" idx="3"/>
          </p:cNvCxnSpPr>
          <p:nvPr/>
        </p:nvCxnSpPr>
        <p:spPr>
          <a:xfrm flipH="1">
            <a:off x="7649700" y="4131677"/>
            <a:ext cx="579900" cy="7500"/>
          </a:xfrm>
          <a:prstGeom prst="straightConnector1">
            <a:avLst/>
          </a:prstGeom>
          <a:noFill/>
          <a:ln cap="flat" cmpd="sng" w="19050">
            <a:solidFill>
              <a:schemeClr val="dk1"/>
            </a:solidFill>
            <a:prstDash val="solid"/>
            <a:round/>
            <a:headEnd len="sm" w="sm" type="none"/>
            <a:tailEnd len="med" w="med" type="triangle"/>
          </a:ln>
        </p:spPr>
      </p:cxnSp>
      <p:cxnSp>
        <p:nvCxnSpPr>
          <p:cNvPr id="508" name="Google Shape;508;p5"/>
          <p:cNvCxnSpPr>
            <a:endCxn id="501" idx="0"/>
          </p:cNvCxnSpPr>
          <p:nvPr/>
        </p:nvCxnSpPr>
        <p:spPr>
          <a:xfrm flipH="1">
            <a:off x="7049182" y="2983800"/>
            <a:ext cx="3000" cy="978600"/>
          </a:xfrm>
          <a:prstGeom prst="straightConnector1">
            <a:avLst/>
          </a:prstGeom>
          <a:noFill/>
          <a:ln cap="flat" cmpd="sng" w="19050">
            <a:solidFill>
              <a:schemeClr val="dk1"/>
            </a:solidFill>
            <a:prstDash val="solid"/>
            <a:round/>
            <a:headEnd len="sm" w="sm" type="none"/>
            <a:tailEnd len="med" w="med" type="triangle"/>
          </a:ln>
        </p:spPr>
      </p:cxnSp>
      <p:grpSp>
        <p:nvGrpSpPr>
          <p:cNvPr id="509" name="Google Shape;509;p5"/>
          <p:cNvGrpSpPr/>
          <p:nvPr/>
        </p:nvGrpSpPr>
        <p:grpSpPr>
          <a:xfrm rot="-1696039">
            <a:off x="5366052" y="2208980"/>
            <a:ext cx="1090666" cy="360288"/>
            <a:chOff x="1863925" y="2846714"/>
            <a:chExt cx="1148353" cy="360288"/>
          </a:xfrm>
        </p:grpSpPr>
        <p:sp>
          <p:nvSpPr>
            <p:cNvPr id="510" name="Google Shape;510;p5"/>
            <p:cNvSpPr/>
            <p:nvPr/>
          </p:nvSpPr>
          <p:spPr>
            <a:xfrm rot="10721741">
              <a:off x="1920468" y="2856932"/>
              <a:ext cx="898932" cy="99627"/>
            </a:xfrm>
            <a:prstGeom prst="rightArrow">
              <a:avLst>
                <a:gd fmla="val 50000" name="adj1"/>
                <a:gd fmla="val 50000" name="adj2"/>
              </a:avLst>
            </a:prstGeom>
            <a:noFill/>
            <a:ln cap="flat" cmpd="sng" w="139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511" name="Google Shape;511;p5"/>
            <p:cNvSpPr/>
            <p:nvPr/>
          </p:nvSpPr>
          <p:spPr>
            <a:xfrm>
              <a:off x="1863925" y="2899225"/>
              <a:ext cx="114835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automate</a:t>
              </a:r>
              <a:endParaRPr/>
            </a:p>
          </p:txBody>
        </p:sp>
      </p:grpSp>
      <p:sp>
        <p:nvSpPr>
          <p:cNvPr id="512" name="Google Shape;512;p5"/>
          <p:cNvSpPr/>
          <p:nvPr/>
        </p:nvSpPr>
        <p:spPr>
          <a:xfrm>
            <a:off x="6426862" y="2758830"/>
            <a:ext cx="1184299" cy="584775"/>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3. Test</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Execution</a:t>
            </a:r>
            <a:endParaRPr/>
          </a:p>
        </p:txBody>
      </p:sp>
      <p:cxnSp>
        <p:nvCxnSpPr>
          <p:cNvPr id="513" name="Google Shape;513;p5"/>
          <p:cNvCxnSpPr>
            <a:endCxn id="512" idx="1"/>
          </p:cNvCxnSpPr>
          <p:nvPr/>
        </p:nvCxnSpPr>
        <p:spPr>
          <a:xfrm>
            <a:off x="5910862" y="3051218"/>
            <a:ext cx="516000" cy="0"/>
          </a:xfrm>
          <a:prstGeom prst="straightConnector1">
            <a:avLst/>
          </a:prstGeom>
          <a:noFill/>
          <a:ln cap="flat" cmpd="sng" w="19050">
            <a:solidFill>
              <a:schemeClr val="dk1"/>
            </a:solidFill>
            <a:prstDash val="solid"/>
            <a:round/>
            <a:headEnd len="sm" w="sm" type="none"/>
            <a:tailEnd len="med" w="med" type="triangle"/>
          </a:ln>
        </p:spPr>
      </p:cxnSp>
      <p:grpSp>
        <p:nvGrpSpPr>
          <p:cNvPr id="514" name="Google Shape;514;p5"/>
          <p:cNvGrpSpPr/>
          <p:nvPr/>
        </p:nvGrpSpPr>
        <p:grpSpPr>
          <a:xfrm rot="1395793">
            <a:off x="3539291" y="4547804"/>
            <a:ext cx="992477" cy="376925"/>
            <a:chOff x="1801072" y="2856932"/>
            <a:chExt cx="1148353" cy="376925"/>
          </a:xfrm>
        </p:grpSpPr>
        <p:sp>
          <p:nvSpPr>
            <p:cNvPr id="515" name="Google Shape;515;p5"/>
            <p:cNvSpPr/>
            <p:nvPr/>
          </p:nvSpPr>
          <p:spPr>
            <a:xfrm>
              <a:off x="1920468" y="2856932"/>
              <a:ext cx="898932" cy="99627"/>
            </a:xfrm>
            <a:prstGeom prst="rightArrow">
              <a:avLst>
                <a:gd fmla="val 50000" name="adj1"/>
                <a:gd fmla="val 50000" name="adj2"/>
              </a:avLst>
            </a:prstGeom>
            <a:noFill/>
            <a:ln cap="flat" cmpd="sng" w="139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516" name="Google Shape;516;p5"/>
            <p:cNvSpPr/>
            <p:nvPr/>
          </p:nvSpPr>
          <p:spPr>
            <a:xfrm>
              <a:off x="1801072" y="2926080"/>
              <a:ext cx="114835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analyze</a:t>
              </a:r>
              <a:endParaRPr/>
            </a:p>
          </p:txBody>
        </p:sp>
      </p:grpSp>
      <p:sp>
        <p:nvSpPr>
          <p:cNvPr id="506" name="Google Shape;506;p5"/>
          <p:cNvSpPr/>
          <p:nvPr/>
        </p:nvSpPr>
        <p:spPr>
          <a:xfrm>
            <a:off x="4595279" y="4753885"/>
            <a:ext cx="1256370" cy="584775"/>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4. Test </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Evaluation</a:t>
            </a:r>
            <a:endParaRPr/>
          </a:p>
        </p:txBody>
      </p:sp>
      <p:sp>
        <p:nvSpPr>
          <p:cNvPr id="517" name="Google Shape;517;p5"/>
          <p:cNvSpPr/>
          <p:nvPr/>
        </p:nvSpPr>
        <p:spPr>
          <a:xfrm>
            <a:off x="4267200" y="2514600"/>
            <a:ext cx="1926144" cy="1089604"/>
          </a:xfrm>
          <a:prstGeom prst="ellipse">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518" name="Google Shape;518;p5"/>
          <p:cNvSpPr txBox="1"/>
          <p:nvPr/>
        </p:nvSpPr>
        <p:spPr>
          <a:xfrm>
            <a:off x="0" y="5867400"/>
            <a:ext cx="1181100" cy="30480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120"/>
              <a:buFont typeface="Arial"/>
              <a:buNone/>
            </a:pPr>
            <a:r>
              <a:rPr b="0" lang="en-US" sz="1400">
                <a:solidFill>
                  <a:schemeClr val="lt1"/>
                </a:solidFill>
                <a:latin typeface="Verdana"/>
                <a:ea typeface="Verdana"/>
                <a:cs typeface="Verdana"/>
                <a:sym typeface="Verdana"/>
              </a:rPr>
              <a:t>[AO, p.22]</a:t>
            </a:r>
            <a:endParaRPr/>
          </a:p>
        </p:txBody>
      </p:sp>
      <p:grpSp>
        <p:nvGrpSpPr>
          <p:cNvPr id="519" name="Google Shape;519;p5"/>
          <p:cNvGrpSpPr/>
          <p:nvPr/>
        </p:nvGrpSpPr>
        <p:grpSpPr>
          <a:xfrm>
            <a:off x="762000" y="1321467"/>
            <a:ext cx="1909498" cy="1429194"/>
            <a:chOff x="820718" y="1335024"/>
            <a:chExt cx="1909498" cy="1429194"/>
          </a:xfrm>
        </p:grpSpPr>
        <p:grpSp>
          <p:nvGrpSpPr>
            <p:cNvPr id="520" name="Google Shape;520;p5"/>
            <p:cNvGrpSpPr/>
            <p:nvPr/>
          </p:nvGrpSpPr>
          <p:grpSpPr>
            <a:xfrm>
              <a:off x="820718" y="1335024"/>
              <a:ext cx="1909498" cy="667030"/>
              <a:chOff x="820718" y="1335024"/>
              <a:chExt cx="1909498" cy="667030"/>
            </a:xfrm>
          </p:grpSpPr>
          <p:sp>
            <p:nvSpPr>
              <p:cNvPr id="521" name="Google Shape;521;p5"/>
              <p:cNvSpPr/>
              <p:nvPr/>
            </p:nvSpPr>
            <p:spPr>
              <a:xfrm>
                <a:off x="820718" y="1335024"/>
                <a:ext cx="1909497" cy="667030"/>
              </a:xfrm>
              <a:prstGeom prst="foldedCorner">
                <a:avLst>
                  <a:gd fmla="val 16667" name="adj"/>
                </a:avLst>
              </a:prstGeom>
              <a:solidFill>
                <a:srgbClr val="FFFF00"/>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522" name="Google Shape;522;p5"/>
              <p:cNvSpPr/>
              <p:nvPr/>
            </p:nvSpPr>
            <p:spPr>
              <a:xfrm>
                <a:off x="820719" y="1390370"/>
                <a:ext cx="19094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dk1"/>
                    </a:solidFill>
                    <a:latin typeface="Verdana"/>
                    <a:ea typeface="Verdana"/>
                    <a:cs typeface="Verdana"/>
                    <a:sym typeface="Verdana"/>
                  </a:rPr>
                  <a:t>Human-based or</a:t>
                </a:r>
                <a:endParaRPr/>
              </a:p>
              <a:p>
                <a:pPr indent="0" lvl="0" marL="0" marR="0" rtl="0" algn="ctr">
                  <a:spcBef>
                    <a:spcPts val="0"/>
                  </a:spcBef>
                  <a:spcAft>
                    <a:spcPts val="0"/>
                  </a:spcAft>
                  <a:buNone/>
                </a:pPr>
                <a:r>
                  <a:rPr b="0" lang="en-US" sz="1600">
                    <a:solidFill>
                      <a:schemeClr val="dk1"/>
                    </a:solidFill>
                    <a:latin typeface="Verdana"/>
                    <a:ea typeface="Verdana"/>
                    <a:cs typeface="Verdana"/>
                    <a:sym typeface="Verdana"/>
                  </a:rPr>
                  <a:t>Criteria-based</a:t>
                </a:r>
                <a:endParaRPr/>
              </a:p>
            </p:txBody>
          </p:sp>
        </p:grpSp>
        <p:cxnSp>
          <p:nvCxnSpPr>
            <p:cNvPr id="523" name="Google Shape;523;p5"/>
            <p:cNvCxnSpPr/>
            <p:nvPr/>
          </p:nvCxnSpPr>
          <p:spPr>
            <a:xfrm>
              <a:off x="2175501" y="1988661"/>
              <a:ext cx="554714" cy="775557"/>
            </a:xfrm>
            <a:prstGeom prst="straightConnector1">
              <a:avLst/>
            </a:prstGeom>
            <a:noFill/>
            <a:ln cap="flat" cmpd="sng" w="9525">
              <a:solidFill>
                <a:schemeClr val="dk1"/>
              </a:solidFill>
              <a:prstDash val="solid"/>
              <a:round/>
              <a:headEnd len="sm" w="sm" type="none"/>
              <a:tailEnd len="sm" w="sm" type="none"/>
            </a:ln>
          </p:spPr>
        </p:cxnSp>
      </p:grpSp>
      <p:sp>
        <p:nvSpPr>
          <p:cNvPr id="524" name="Google Shape;524;p5"/>
          <p:cNvSpPr/>
          <p:nvPr/>
        </p:nvSpPr>
        <p:spPr>
          <a:xfrm>
            <a:off x="4191000" y="2362200"/>
            <a:ext cx="3733800" cy="3200400"/>
          </a:xfrm>
          <a:prstGeom prst="roundRect">
            <a:avLst>
              <a:gd fmla="val 16667" name="adj"/>
            </a:avLst>
          </a:prstGeom>
          <a:solidFill>
            <a:srgbClr val="498DF1">
              <a:alpha val="7843"/>
            </a:srgbClr>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grpSp>
        <p:nvGrpSpPr>
          <p:cNvPr id="530" name="Google Shape;530;p6"/>
          <p:cNvGrpSpPr/>
          <p:nvPr/>
        </p:nvGrpSpPr>
        <p:grpSpPr>
          <a:xfrm>
            <a:off x="4312920" y="2895600"/>
            <a:ext cx="3840480" cy="2830168"/>
            <a:chOff x="4389120" y="3156860"/>
            <a:chExt cx="3840480" cy="2830168"/>
          </a:xfrm>
        </p:grpSpPr>
        <p:sp>
          <p:nvSpPr>
            <p:cNvPr id="531" name="Google Shape;531;p6"/>
            <p:cNvSpPr/>
            <p:nvPr/>
          </p:nvSpPr>
          <p:spPr>
            <a:xfrm>
              <a:off x="4389120" y="3156860"/>
              <a:ext cx="3840480" cy="2830168"/>
            </a:xfrm>
            <a:prstGeom prst="homePlate">
              <a:avLst>
                <a:gd fmla="val 50000" name="adj"/>
              </a:avLst>
            </a:prstGeom>
            <a:solidFill>
              <a:srgbClr val="FFFED6"/>
            </a:solidFill>
            <a:ln cap="flat" cmpd="sng" w="13950">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532" name="Google Shape;532;p6"/>
            <p:cNvSpPr/>
            <p:nvPr/>
          </p:nvSpPr>
          <p:spPr>
            <a:xfrm>
              <a:off x="5791200" y="3532900"/>
              <a:ext cx="1371600" cy="535531"/>
            </a:xfrm>
            <a:prstGeom prst="rect">
              <a:avLst/>
            </a:prstGeom>
            <a:noFill/>
            <a:ln>
              <a:noFill/>
            </a:ln>
          </p:spPr>
          <p:txBody>
            <a:bodyPr anchorCtr="0" anchor="b" bIns="45700" lIns="91425" spcFirstLastPara="1" rIns="91425" wrap="square" tIns="45700">
              <a:spAutoFit/>
            </a:bodyPr>
            <a:lstStyle/>
            <a:p>
              <a:pPr indent="0" lvl="0" marL="0" marR="0" rtl="0" algn="ctr">
                <a:lnSpc>
                  <a:spcPct val="80000"/>
                </a:lnSpc>
                <a:spcBef>
                  <a:spcPts val="0"/>
                </a:spcBef>
                <a:spcAft>
                  <a:spcPts val="0"/>
                </a:spcAft>
                <a:buNone/>
              </a:pPr>
              <a:r>
                <a:rPr b="0" lang="en-US" sz="1800">
                  <a:solidFill>
                    <a:schemeClr val="dk1"/>
                  </a:solidFill>
                  <a:latin typeface="Verdana"/>
                  <a:ea typeface="Verdana"/>
                  <a:cs typeface="Verdana"/>
                  <a:sym typeface="Verdana"/>
                </a:rPr>
                <a:t>Actual results</a:t>
              </a:r>
              <a:endParaRPr/>
            </a:p>
          </p:txBody>
        </p:sp>
        <p:sp>
          <p:nvSpPr>
            <p:cNvPr id="533" name="Google Shape;533;p6"/>
            <p:cNvSpPr/>
            <p:nvPr/>
          </p:nvSpPr>
          <p:spPr>
            <a:xfrm>
              <a:off x="5791200" y="4538185"/>
              <a:ext cx="1371600" cy="535531"/>
            </a:xfrm>
            <a:prstGeom prst="rect">
              <a:avLst/>
            </a:prstGeom>
            <a:noFill/>
            <a:ln>
              <a:noFill/>
            </a:ln>
          </p:spPr>
          <p:txBody>
            <a:bodyPr anchorCtr="0" anchor="b" bIns="45700" lIns="91425" spcFirstLastPara="1" rIns="91425" wrap="square" tIns="45700">
              <a:spAutoFit/>
            </a:bodyPr>
            <a:lstStyle/>
            <a:p>
              <a:pPr indent="0" lvl="0" marL="0" marR="0" rtl="0" algn="ctr">
                <a:lnSpc>
                  <a:spcPct val="80000"/>
                </a:lnSpc>
                <a:spcBef>
                  <a:spcPts val="0"/>
                </a:spcBef>
                <a:spcAft>
                  <a:spcPts val="0"/>
                </a:spcAft>
                <a:buNone/>
              </a:pPr>
              <a:r>
                <a:rPr b="0" lang="en-US" sz="1800">
                  <a:solidFill>
                    <a:schemeClr val="dk1"/>
                  </a:solidFill>
                  <a:latin typeface="Verdana"/>
                  <a:ea typeface="Verdana"/>
                  <a:cs typeface="Verdana"/>
                  <a:sym typeface="Verdana"/>
                </a:rPr>
                <a:t>Expected results</a:t>
              </a:r>
              <a:endParaRPr/>
            </a:p>
          </p:txBody>
        </p:sp>
        <p:sp>
          <p:nvSpPr>
            <p:cNvPr id="534" name="Google Shape;534;p6"/>
            <p:cNvSpPr/>
            <p:nvPr/>
          </p:nvSpPr>
          <p:spPr>
            <a:xfrm>
              <a:off x="5815312" y="4083116"/>
              <a:ext cx="140143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dk1"/>
                  </a:solidFill>
                  <a:latin typeface="Verdana"/>
                  <a:ea typeface="Verdana"/>
                  <a:cs typeface="Verdana"/>
                  <a:sym typeface="Verdana"/>
                </a:rPr>
                <a:t>vs.</a:t>
              </a:r>
              <a:endParaRPr/>
            </a:p>
          </p:txBody>
        </p:sp>
        <p:sp>
          <p:nvSpPr>
            <p:cNvPr id="535" name="Google Shape;535;p6"/>
            <p:cNvSpPr/>
            <p:nvPr/>
          </p:nvSpPr>
          <p:spPr>
            <a:xfrm>
              <a:off x="5211217" y="5525672"/>
              <a:ext cx="1219200" cy="365760"/>
            </a:xfrm>
            <a:prstGeom prst="wedgeRoundRectCallout">
              <a:avLst>
                <a:gd fmla="val -8560" name="adj1"/>
                <a:gd fmla="val -39318" name="adj2"/>
                <a:gd fmla="val 16667" name="adj3"/>
              </a:avLst>
            </a:prstGeom>
            <a:solidFill>
              <a:srgbClr val="002060"/>
            </a:solidFill>
            <a:ln cap="flat" cmpd="sng" w="13950">
              <a:solidFill>
                <a:srgbClr val="364A7D"/>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Assert</a:t>
              </a:r>
              <a:endParaRPr/>
            </a:p>
          </p:txBody>
        </p:sp>
      </p:grpSp>
      <p:grpSp>
        <p:nvGrpSpPr>
          <p:cNvPr id="536" name="Google Shape;536;p6"/>
          <p:cNvGrpSpPr/>
          <p:nvPr/>
        </p:nvGrpSpPr>
        <p:grpSpPr>
          <a:xfrm>
            <a:off x="1872703" y="2895600"/>
            <a:ext cx="3840480" cy="2830168"/>
            <a:chOff x="1948903" y="3156860"/>
            <a:chExt cx="3840480" cy="2830168"/>
          </a:xfrm>
        </p:grpSpPr>
        <p:sp>
          <p:nvSpPr>
            <p:cNvPr id="537" name="Google Shape;537;p6"/>
            <p:cNvSpPr/>
            <p:nvPr/>
          </p:nvSpPr>
          <p:spPr>
            <a:xfrm>
              <a:off x="1948903" y="3156860"/>
              <a:ext cx="3840480" cy="2830168"/>
            </a:xfrm>
            <a:prstGeom prst="homePlate">
              <a:avLst>
                <a:gd fmla="val 50000" name="adj"/>
              </a:avLst>
            </a:prstGeom>
            <a:solidFill>
              <a:srgbClr val="A8CAEE"/>
            </a:solidFill>
            <a:ln cap="flat" cmpd="sng" w="13950">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538" name="Google Shape;538;p6"/>
            <p:cNvSpPr/>
            <p:nvPr/>
          </p:nvSpPr>
          <p:spPr>
            <a:xfrm>
              <a:off x="3554812" y="3962400"/>
              <a:ext cx="1169588"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lang="en-US" sz="1800">
                  <a:solidFill>
                    <a:schemeClr val="dk1"/>
                  </a:solidFill>
                  <a:latin typeface="Verdana"/>
                  <a:ea typeface="Verdana"/>
                  <a:cs typeface="Verdana"/>
                  <a:sym typeface="Verdana"/>
                </a:rPr>
                <a:t>Program</a:t>
              </a:r>
              <a:endParaRPr/>
            </a:p>
          </p:txBody>
        </p:sp>
        <p:sp>
          <p:nvSpPr>
            <p:cNvPr id="539" name="Google Shape;539;p6"/>
            <p:cNvSpPr/>
            <p:nvPr/>
          </p:nvSpPr>
          <p:spPr>
            <a:xfrm>
              <a:off x="2734024" y="5525672"/>
              <a:ext cx="1219200" cy="365760"/>
            </a:xfrm>
            <a:prstGeom prst="wedgeRoundRectCallout">
              <a:avLst>
                <a:gd fmla="val -8560" name="adj1"/>
                <a:gd fmla="val -39318" name="adj2"/>
                <a:gd fmla="val 16667" name="adj3"/>
              </a:avLst>
            </a:prstGeom>
            <a:solidFill>
              <a:srgbClr val="002060"/>
            </a:solidFill>
            <a:ln cap="flat" cmpd="sng" w="13950">
              <a:solidFill>
                <a:srgbClr val="364A7D"/>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Execute</a:t>
              </a:r>
              <a:endParaRPr/>
            </a:p>
          </p:txBody>
        </p:sp>
      </p:grpSp>
      <p:sp>
        <p:nvSpPr>
          <p:cNvPr id="540" name="Google Shape;540;p6"/>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Test Automation</a:t>
            </a:r>
            <a:endParaRPr/>
          </a:p>
        </p:txBody>
      </p:sp>
      <p:sp>
        <p:nvSpPr>
          <p:cNvPr id="541" name="Google Shape;541;p6"/>
          <p:cNvSpPr txBox="1"/>
          <p:nvPr/>
        </p:nvSpPr>
        <p:spPr>
          <a:xfrm>
            <a:off x="342900" y="990600"/>
            <a:ext cx="8496300" cy="2166260"/>
          </a:xfrm>
          <a:prstGeom prst="rect">
            <a:avLst/>
          </a:prstGeom>
          <a:noFill/>
          <a:ln>
            <a:noFill/>
          </a:ln>
        </p:spPr>
        <p:txBody>
          <a:bodyPr anchorCtr="0" anchor="t" bIns="45700" lIns="91425" spcFirstLastPara="1" rIns="91425" wrap="square" tIns="45700">
            <a:noAutofit/>
          </a:bodyPr>
          <a:lstStyle/>
          <a:p>
            <a:pPr indent="-182880" lvl="0" marL="182880" marR="0" rtl="0" algn="l">
              <a:lnSpc>
                <a:spcPct val="90000"/>
              </a:lnSpc>
              <a:spcBef>
                <a:spcPts val="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Use of software to control the </a:t>
            </a:r>
            <a:r>
              <a:rPr b="0" lang="en-US" sz="2000">
                <a:solidFill>
                  <a:srgbClr val="FFFF00"/>
                </a:solidFill>
                <a:latin typeface="Verdana"/>
                <a:ea typeface="Verdana"/>
                <a:cs typeface="Verdana"/>
                <a:sym typeface="Verdana"/>
              </a:rPr>
              <a:t>execution</a:t>
            </a:r>
            <a:r>
              <a:rPr b="0" lang="en-US" sz="2000">
                <a:solidFill>
                  <a:schemeClr val="lt1"/>
                </a:solidFill>
                <a:latin typeface="Verdana"/>
                <a:ea typeface="Verdana"/>
                <a:cs typeface="Verdana"/>
                <a:sym typeface="Verdana"/>
              </a:rPr>
              <a:t> of tests</a:t>
            </a:r>
            <a:endParaRPr/>
          </a:p>
          <a:p>
            <a:pPr indent="-182880" lvl="0" marL="182880" marR="0" rtl="0" algn="l">
              <a:lnSpc>
                <a:spcPct val="90000"/>
              </a:lnSpc>
              <a:spcBef>
                <a:spcPts val="1200"/>
              </a:spcBef>
              <a:spcAft>
                <a:spcPts val="0"/>
              </a:spcAft>
              <a:buClr>
                <a:schemeClr val="lt1"/>
              </a:buClr>
              <a:buSzPts val="1600"/>
              <a:buFont typeface="Arial"/>
              <a:buChar char="•"/>
            </a:pPr>
            <a:r>
              <a:rPr b="0" lang="en-US" sz="2000">
                <a:solidFill>
                  <a:srgbClr val="FFFF00"/>
                </a:solidFill>
                <a:latin typeface="Verdana"/>
                <a:ea typeface="Verdana"/>
                <a:cs typeface="Verdana"/>
                <a:sym typeface="Verdana"/>
              </a:rPr>
              <a:t>Comparison</a:t>
            </a:r>
            <a:r>
              <a:rPr b="0" lang="en-US" sz="2000">
                <a:solidFill>
                  <a:schemeClr val="lt1"/>
                </a:solidFill>
                <a:latin typeface="Verdana"/>
                <a:ea typeface="Verdana"/>
                <a:cs typeface="Verdana"/>
                <a:sym typeface="Verdana"/>
              </a:rPr>
              <a:t> of actual outcomes to predicted outputs</a:t>
            </a:r>
            <a:endParaRPr/>
          </a:p>
          <a:p>
            <a:pPr indent="-182880" lvl="0" marL="182880" marR="0" rtl="0" algn="l">
              <a:lnSpc>
                <a:spcPct val="90000"/>
              </a:lnSpc>
              <a:spcBef>
                <a:spcPts val="1200"/>
              </a:spcBef>
              <a:spcAft>
                <a:spcPts val="0"/>
              </a:spcAft>
              <a:buClr>
                <a:schemeClr val="lt1"/>
              </a:buClr>
              <a:buSzPts val="1600"/>
              <a:buFont typeface="Arial"/>
              <a:buChar char="•"/>
            </a:pPr>
            <a:r>
              <a:rPr b="0" lang="en-US" sz="2000">
                <a:solidFill>
                  <a:srgbClr val="FFFF00"/>
                </a:solidFill>
                <a:latin typeface="Verdana"/>
                <a:ea typeface="Verdana"/>
                <a:cs typeface="Verdana"/>
                <a:sym typeface="Verdana"/>
              </a:rPr>
              <a:t>Setting u</a:t>
            </a:r>
            <a:r>
              <a:rPr b="0" lang="en-US" sz="2000">
                <a:solidFill>
                  <a:schemeClr val="lt1"/>
                </a:solidFill>
                <a:latin typeface="Verdana"/>
                <a:ea typeface="Verdana"/>
                <a:cs typeface="Verdana"/>
                <a:sym typeface="Verdana"/>
              </a:rPr>
              <a:t>p of test preconditions, and other test </a:t>
            </a:r>
            <a:r>
              <a:rPr b="0" lang="en-US" sz="2000">
                <a:solidFill>
                  <a:srgbClr val="FFFF00"/>
                </a:solidFill>
                <a:latin typeface="Verdana"/>
                <a:ea typeface="Verdana"/>
                <a:cs typeface="Verdana"/>
                <a:sym typeface="Verdana"/>
              </a:rPr>
              <a:t>control</a:t>
            </a:r>
            <a:r>
              <a:rPr b="0" lang="en-US" sz="2000">
                <a:solidFill>
                  <a:schemeClr val="lt1"/>
                </a:solidFill>
                <a:latin typeface="Verdana"/>
                <a:ea typeface="Verdana"/>
                <a:cs typeface="Verdana"/>
                <a:sym typeface="Verdana"/>
              </a:rPr>
              <a:t> and test </a:t>
            </a:r>
            <a:r>
              <a:rPr b="0" lang="en-US" sz="2000">
                <a:solidFill>
                  <a:srgbClr val="FFFF00"/>
                </a:solidFill>
                <a:latin typeface="Verdana"/>
                <a:ea typeface="Verdana"/>
                <a:cs typeface="Verdana"/>
                <a:sym typeface="Verdana"/>
              </a:rPr>
              <a:t>reporting</a:t>
            </a:r>
            <a:r>
              <a:rPr b="0" lang="en-US" sz="2000">
                <a:solidFill>
                  <a:schemeClr val="lt1"/>
                </a:solidFill>
                <a:latin typeface="Verdana"/>
                <a:ea typeface="Verdana"/>
                <a:cs typeface="Verdana"/>
                <a:sym typeface="Verdana"/>
              </a:rPr>
              <a:t> functions</a:t>
            </a:r>
            <a:endParaRPr/>
          </a:p>
        </p:txBody>
      </p:sp>
      <p:sp>
        <p:nvSpPr>
          <p:cNvPr id="542" name="Google Shape;542;p6"/>
          <p:cNvSpPr/>
          <p:nvPr/>
        </p:nvSpPr>
        <p:spPr>
          <a:xfrm>
            <a:off x="8117603" y="4109572"/>
            <a:ext cx="950197" cy="3698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Report</a:t>
            </a:r>
            <a:endParaRPr/>
          </a:p>
        </p:txBody>
      </p:sp>
      <p:grpSp>
        <p:nvGrpSpPr>
          <p:cNvPr id="543" name="Google Shape;543;p6"/>
          <p:cNvGrpSpPr/>
          <p:nvPr/>
        </p:nvGrpSpPr>
        <p:grpSpPr>
          <a:xfrm>
            <a:off x="76200" y="2895600"/>
            <a:ext cx="3200400" cy="2830168"/>
            <a:chOff x="120103" y="3156860"/>
            <a:chExt cx="3200400" cy="2830168"/>
          </a:xfrm>
        </p:grpSpPr>
        <p:sp>
          <p:nvSpPr>
            <p:cNvPr id="544" name="Google Shape;544;p6"/>
            <p:cNvSpPr/>
            <p:nvPr/>
          </p:nvSpPr>
          <p:spPr>
            <a:xfrm>
              <a:off x="120103" y="3156860"/>
              <a:ext cx="3200400" cy="2830168"/>
            </a:xfrm>
            <a:prstGeom prst="homePlate">
              <a:avLst>
                <a:gd fmla="val 50000" name="adj"/>
              </a:avLst>
            </a:prstGeom>
            <a:solidFill>
              <a:srgbClr val="FFD7D6"/>
            </a:solidFill>
            <a:ln cap="flat" cmpd="sng" w="13950">
              <a:solidFill>
                <a:srgbClr val="26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545" name="Google Shape;545;p6"/>
            <p:cNvSpPr/>
            <p:nvPr/>
          </p:nvSpPr>
          <p:spPr>
            <a:xfrm>
              <a:off x="424903" y="3648468"/>
              <a:ext cx="1445460" cy="313932"/>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0" lang="en-US" sz="1800">
                  <a:solidFill>
                    <a:schemeClr val="dk1"/>
                  </a:solidFill>
                  <a:latin typeface="Verdana"/>
                  <a:ea typeface="Verdana"/>
                  <a:cs typeface="Verdana"/>
                  <a:sym typeface="Verdana"/>
                </a:rPr>
                <a:t>Test inputs</a:t>
              </a:r>
              <a:endParaRPr/>
            </a:p>
          </p:txBody>
        </p:sp>
        <p:sp>
          <p:nvSpPr>
            <p:cNvPr id="546" name="Google Shape;546;p6"/>
            <p:cNvSpPr/>
            <p:nvPr/>
          </p:nvSpPr>
          <p:spPr>
            <a:xfrm>
              <a:off x="223735" y="3981271"/>
              <a:ext cx="1896225" cy="1200329"/>
            </a:xfrm>
            <a:prstGeom prst="rect">
              <a:avLst/>
            </a:prstGeom>
            <a:noFill/>
            <a:ln cap="flat" cmpd="sng" w="9525">
              <a:solidFill>
                <a:srgbClr val="26262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lang="en-US" sz="1600">
                  <a:solidFill>
                    <a:schemeClr val="dk1"/>
                  </a:solidFill>
                  <a:latin typeface="Verdana"/>
                  <a:ea typeface="Verdana"/>
                  <a:cs typeface="Verdana"/>
                  <a:sym typeface="Verdana"/>
                </a:rPr>
                <a:t>Executable Tests</a:t>
              </a:r>
              <a:endParaRPr/>
            </a:p>
            <a:p>
              <a:pPr indent="-215900" lvl="0" marL="296863" marR="0" rtl="0" algn="l">
                <a:lnSpc>
                  <a:spcPct val="90000"/>
                </a:lnSpc>
                <a:spcBef>
                  <a:spcPts val="0"/>
                </a:spcBef>
                <a:spcAft>
                  <a:spcPts val="0"/>
                </a:spcAft>
                <a:buClr>
                  <a:schemeClr val="dk1"/>
                </a:buClr>
                <a:buSzPts val="1600"/>
                <a:buFont typeface="Arial"/>
                <a:buChar char="•"/>
              </a:pPr>
              <a:r>
                <a:rPr b="0" lang="en-US" sz="1600">
                  <a:solidFill>
                    <a:schemeClr val="dk1"/>
                  </a:solidFill>
                  <a:latin typeface="Verdana"/>
                  <a:ea typeface="Verdana"/>
                  <a:cs typeface="Verdana"/>
                  <a:sym typeface="Verdana"/>
                </a:rPr>
                <a:t>Precondition</a:t>
              </a:r>
              <a:endParaRPr/>
            </a:p>
            <a:p>
              <a:pPr indent="-215900" lvl="0" marL="296863" marR="0" rtl="0" algn="l">
                <a:lnSpc>
                  <a:spcPct val="90000"/>
                </a:lnSpc>
                <a:spcBef>
                  <a:spcPts val="0"/>
                </a:spcBef>
                <a:spcAft>
                  <a:spcPts val="0"/>
                </a:spcAft>
                <a:buClr>
                  <a:schemeClr val="dk1"/>
                </a:buClr>
                <a:buSzPts val="1600"/>
                <a:buFont typeface="Arial"/>
                <a:buChar char="•"/>
              </a:pPr>
              <a:r>
                <a:rPr b="0" lang="en-US" sz="1600">
                  <a:solidFill>
                    <a:schemeClr val="dk1"/>
                  </a:solidFill>
                  <a:latin typeface="Verdana"/>
                  <a:ea typeface="Verdana"/>
                  <a:cs typeface="Verdana"/>
                  <a:sym typeface="Verdana"/>
                </a:rPr>
                <a:t>Test control</a:t>
              </a:r>
              <a:endParaRPr/>
            </a:p>
            <a:p>
              <a:pPr indent="-215900" lvl="0" marL="296863" marR="0" rtl="0" algn="l">
                <a:lnSpc>
                  <a:spcPct val="90000"/>
                </a:lnSpc>
                <a:spcBef>
                  <a:spcPts val="0"/>
                </a:spcBef>
                <a:spcAft>
                  <a:spcPts val="0"/>
                </a:spcAft>
                <a:buClr>
                  <a:schemeClr val="dk1"/>
                </a:buClr>
                <a:buSzPts val="1600"/>
                <a:buFont typeface="Arial"/>
                <a:buChar char="•"/>
              </a:pPr>
              <a:r>
                <a:rPr b="0" lang="en-US" sz="1600">
                  <a:solidFill>
                    <a:schemeClr val="dk1"/>
                  </a:solidFill>
                  <a:latin typeface="Verdana"/>
                  <a:ea typeface="Verdana"/>
                  <a:cs typeface="Verdana"/>
                  <a:sym typeface="Verdana"/>
                </a:rPr>
                <a:t>Test inputs</a:t>
              </a:r>
              <a:endParaRPr/>
            </a:p>
            <a:p>
              <a:pPr indent="-215900" lvl="0" marL="296863" marR="0" rtl="0" algn="l">
                <a:lnSpc>
                  <a:spcPct val="90000"/>
                </a:lnSpc>
                <a:spcBef>
                  <a:spcPts val="0"/>
                </a:spcBef>
                <a:spcAft>
                  <a:spcPts val="0"/>
                </a:spcAft>
                <a:buClr>
                  <a:schemeClr val="dk1"/>
                </a:buClr>
                <a:buSzPts val="1600"/>
                <a:buFont typeface="Arial"/>
                <a:buChar char="•"/>
              </a:pPr>
              <a:r>
                <a:rPr b="0" lang="en-US" sz="1600">
                  <a:solidFill>
                    <a:schemeClr val="dk1"/>
                  </a:solidFill>
                  <a:latin typeface="Verdana"/>
                  <a:ea typeface="Verdana"/>
                  <a:cs typeface="Verdana"/>
                  <a:sym typeface="Verdana"/>
                </a:rPr>
                <a:t>Postcondition</a:t>
              </a:r>
              <a:endParaRPr/>
            </a:p>
          </p:txBody>
        </p:sp>
        <p:sp>
          <p:nvSpPr>
            <p:cNvPr id="547" name="Google Shape;547;p6"/>
            <p:cNvSpPr/>
            <p:nvPr/>
          </p:nvSpPr>
          <p:spPr>
            <a:xfrm>
              <a:off x="423086" y="5525672"/>
              <a:ext cx="1219200" cy="365760"/>
            </a:xfrm>
            <a:prstGeom prst="wedgeRoundRectCallout">
              <a:avLst>
                <a:gd fmla="val -8560" name="adj1"/>
                <a:gd fmla="val -39318" name="adj2"/>
                <a:gd fmla="val 16667" name="adj3"/>
              </a:avLst>
            </a:prstGeom>
            <a:solidFill>
              <a:srgbClr val="002060"/>
            </a:solidFill>
            <a:ln cap="flat" cmpd="sng" w="13950">
              <a:solidFill>
                <a:srgbClr val="364A7D"/>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Set up</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Automated Testing</a:t>
            </a:r>
            <a:endParaRPr/>
          </a:p>
        </p:txBody>
      </p:sp>
      <p:sp>
        <p:nvSpPr>
          <p:cNvPr id="554" name="Google Shape;554;p7"/>
          <p:cNvSpPr txBox="1"/>
          <p:nvPr/>
        </p:nvSpPr>
        <p:spPr>
          <a:xfrm>
            <a:off x="114300" y="990600"/>
            <a:ext cx="4533900" cy="556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920"/>
              <a:buFont typeface="Arial"/>
              <a:buNone/>
            </a:pPr>
            <a:r>
              <a:rPr b="1" lang="en-US" sz="2400">
                <a:solidFill>
                  <a:srgbClr val="FFFF00"/>
                </a:solidFill>
                <a:latin typeface="Verdana"/>
                <a:ea typeface="Verdana"/>
                <a:cs typeface="Verdana"/>
                <a:sym typeface="Verdana"/>
              </a:rPr>
              <a:t>Benefits</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Reduce human errors</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Reduce excise tasks</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Free up time to focus on revenue tasks</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Reduce cost, less resource-intensive</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Reduce variance in test quality from different individuals</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Easily repeatable</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Significantly reduce the cost of regression testing</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Cover aspects that manual testing is impossible</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Scalable</a:t>
            </a:r>
            <a:endParaRPr/>
          </a:p>
        </p:txBody>
      </p:sp>
      <p:sp>
        <p:nvSpPr>
          <p:cNvPr id="555" name="Google Shape;555;p7"/>
          <p:cNvSpPr txBox="1"/>
          <p:nvPr/>
        </p:nvSpPr>
        <p:spPr>
          <a:xfrm>
            <a:off x="4724400" y="990600"/>
            <a:ext cx="4381500" cy="556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920"/>
              <a:buFont typeface="Arial"/>
              <a:buNone/>
            </a:pPr>
            <a:r>
              <a:rPr b="1" lang="en-US" sz="2400">
                <a:solidFill>
                  <a:srgbClr val="FFFF00"/>
                </a:solidFill>
                <a:latin typeface="Verdana"/>
                <a:ea typeface="Verdana"/>
                <a:cs typeface="Verdana"/>
                <a:sym typeface="Verdana"/>
              </a:rPr>
              <a:t>Drawbacks</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Setup time up-front</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May miss some user-facing defects</a:t>
            </a:r>
            <a:endParaRPr/>
          </a:p>
          <a:p>
            <a:pPr indent="-214313" lvl="0" marL="460375" marR="0" rtl="0" algn="l">
              <a:lnSpc>
                <a:spcPct val="9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Require training (programming languages, testing frameworks, tools)</a:t>
            </a:r>
            <a:endParaRPr/>
          </a:p>
          <a:p>
            <a:pPr indent="-112713" lvl="0" marL="460375" marR="0" rtl="0" algn="l">
              <a:lnSpc>
                <a:spcPct val="90000"/>
              </a:lnSpc>
              <a:spcBef>
                <a:spcPts val="1800"/>
              </a:spcBef>
              <a:spcAft>
                <a:spcPts val="0"/>
              </a:spcAft>
              <a:buClr>
                <a:schemeClr val="lt1"/>
              </a:buClr>
              <a:buSzPts val="1600"/>
              <a:buFont typeface="Arial"/>
              <a:buNone/>
            </a:pPr>
            <a:r>
              <a:t/>
            </a:r>
            <a:endParaRPr b="0" sz="2000">
              <a:solidFill>
                <a:schemeClr val="lt1"/>
              </a:solidFill>
              <a:latin typeface="Verdana"/>
              <a:ea typeface="Verdana"/>
              <a:cs typeface="Verdana"/>
              <a:sym typeface="Verdana"/>
            </a:endParaRPr>
          </a:p>
        </p:txBody>
      </p:sp>
      <p:cxnSp>
        <p:nvCxnSpPr>
          <p:cNvPr id="556" name="Google Shape;556;p7"/>
          <p:cNvCxnSpPr/>
          <p:nvPr/>
        </p:nvCxnSpPr>
        <p:spPr>
          <a:xfrm>
            <a:off x="4648200" y="1066800"/>
            <a:ext cx="0" cy="5334000"/>
          </a:xfrm>
          <a:prstGeom prst="straightConnector1">
            <a:avLst/>
          </a:prstGeom>
          <a:noFill/>
          <a:ln cap="flat" cmpd="sng" w="9525">
            <a:solidFill>
              <a:srgbClr val="A5A5A5"/>
            </a:solidFill>
            <a:prstDash val="dot"/>
            <a:round/>
            <a:headEnd len="sm" w="sm" type="none"/>
            <a:tailEnd len="sm" w="sm" type="none"/>
          </a:ln>
        </p:spPr>
      </p:cxnSp>
      <p:sp>
        <p:nvSpPr>
          <p:cNvPr id="557" name="Google Shape;557;p7"/>
          <p:cNvSpPr/>
          <p:nvPr/>
        </p:nvSpPr>
        <p:spPr>
          <a:xfrm>
            <a:off x="4038600" y="5791200"/>
            <a:ext cx="4742688" cy="53340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2000">
                <a:solidFill>
                  <a:schemeClr val="lt1"/>
                </a:solidFill>
                <a:latin typeface="Verdana"/>
                <a:ea typeface="Verdana"/>
                <a:cs typeface="Verdana"/>
                <a:sym typeface="Verdana"/>
              </a:rPr>
              <a:t>Automate as much as possible</a:t>
            </a:r>
            <a:endParaRPr b="1" sz="2000">
              <a:solidFill>
                <a:schemeClr val="lt1"/>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Challenges in Test Automation</a:t>
            </a:r>
            <a:endParaRPr/>
          </a:p>
        </p:txBody>
      </p:sp>
      <p:sp>
        <p:nvSpPr>
          <p:cNvPr id="564" name="Google Shape;564;p8"/>
          <p:cNvSpPr txBox="1"/>
          <p:nvPr/>
        </p:nvSpPr>
        <p:spPr>
          <a:xfrm>
            <a:off x="342900" y="1066800"/>
            <a:ext cx="8572498" cy="14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lang="en-US" sz="2000">
                <a:solidFill>
                  <a:schemeClr val="lt1"/>
                </a:solidFill>
                <a:latin typeface="Verdana"/>
                <a:ea typeface="Verdana"/>
                <a:cs typeface="Verdana"/>
                <a:sym typeface="Verdana"/>
              </a:rPr>
              <a:t>Two common challenges: </a:t>
            </a:r>
            <a:r>
              <a:rPr b="1" lang="en-US" sz="2000">
                <a:solidFill>
                  <a:srgbClr val="FFFD78"/>
                </a:solidFill>
                <a:latin typeface="Verdana"/>
                <a:ea typeface="Verdana"/>
                <a:cs typeface="Verdana"/>
                <a:sym typeface="Verdana"/>
              </a:rPr>
              <a:t>flaky tests </a:t>
            </a:r>
            <a:r>
              <a:rPr b="0" lang="en-US" sz="2000">
                <a:solidFill>
                  <a:schemeClr val="lt1"/>
                </a:solidFill>
                <a:latin typeface="Verdana"/>
                <a:ea typeface="Verdana"/>
                <a:cs typeface="Verdana"/>
                <a:sym typeface="Verdana"/>
              </a:rPr>
              <a:t>and </a:t>
            </a:r>
            <a:r>
              <a:rPr b="1" lang="en-US" sz="2000">
                <a:solidFill>
                  <a:srgbClr val="FFFD78"/>
                </a:solidFill>
                <a:latin typeface="Verdana"/>
                <a:ea typeface="Verdana"/>
                <a:cs typeface="Verdana"/>
                <a:sym typeface="Verdana"/>
              </a:rPr>
              <a:t>blind tests</a:t>
            </a:r>
            <a:endParaRPr/>
          </a:p>
        </p:txBody>
      </p:sp>
      <p:grpSp>
        <p:nvGrpSpPr>
          <p:cNvPr id="565" name="Google Shape;565;p8"/>
          <p:cNvGrpSpPr/>
          <p:nvPr/>
        </p:nvGrpSpPr>
        <p:grpSpPr>
          <a:xfrm>
            <a:off x="182880" y="1524000"/>
            <a:ext cx="8778240" cy="3776246"/>
            <a:chOff x="5313113" y="1952224"/>
            <a:chExt cx="4079388" cy="413460"/>
          </a:xfrm>
        </p:grpSpPr>
        <p:sp>
          <p:nvSpPr>
            <p:cNvPr id="566" name="Google Shape;566;p8"/>
            <p:cNvSpPr/>
            <p:nvPr/>
          </p:nvSpPr>
          <p:spPr>
            <a:xfrm rot="5400000">
              <a:off x="7146077" y="119260"/>
              <a:ext cx="413460" cy="4079388"/>
            </a:xfrm>
            <a:prstGeom prst="moon">
              <a:avLst>
                <a:gd fmla="val 85196" name="adj"/>
              </a:avLst>
            </a:prstGeom>
            <a:solidFill>
              <a:srgbClr val="BFBFBF"/>
            </a:solidFill>
            <a:ln cap="flat" cmpd="sng" w="1395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lt1"/>
                </a:solidFill>
                <a:latin typeface="Verdana"/>
                <a:ea typeface="Verdana"/>
                <a:cs typeface="Verdana"/>
                <a:sym typeface="Verdana"/>
              </a:endParaRPr>
            </a:p>
          </p:txBody>
        </p:sp>
        <p:sp>
          <p:nvSpPr>
            <p:cNvPr id="567" name="Google Shape;567;p8"/>
            <p:cNvSpPr/>
            <p:nvPr/>
          </p:nvSpPr>
          <p:spPr>
            <a:xfrm>
              <a:off x="5372736" y="1976076"/>
              <a:ext cx="3966072" cy="341901"/>
            </a:xfrm>
            <a:custGeom>
              <a:rect b="b" l="l" r="r" t="t"/>
              <a:pathLst>
                <a:path extrusionOk="0" fill="none" h="3122678" w="8534401">
                  <a:moveTo>
                    <a:pt x="0" y="0"/>
                  </a:moveTo>
                  <a:cubicBezTo>
                    <a:pt x="332707" y="17091"/>
                    <a:pt x="649914" y="20915"/>
                    <a:pt x="827180" y="0"/>
                  </a:cubicBezTo>
                  <a:cubicBezTo>
                    <a:pt x="1004446" y="-20915"/>
                    <a:pt x="1194056" y="-15114"/>
                    <a:pt x="1312985" y="0"/>
                  </a:cubicBezTo>
                  <a:cubicBezTo>
                    <a:pt x="1431914" y="15114"/>
                    <a:pt x="1777890" y="213"/>
                    <a:pt x="1969477" y="0"/>
                  </a:cubicBezTo>
                  <a:cubicBezTo>
                    <a:pt x="2161064" y="-213"/>
                    <a:pt x="2484965" y="21630"/>
                    <a:pt x="2711314" y="0"/>
                  </a:cubicBezTo>
                  <a:cubicBezTo>
                    <a:pt x="2937663" y="-21630"/>
                    <a:pt x="3009597" y="10258"/>
                    <a:pt x="3111774" y="0"/>
                  </a:cubicBezTo>
                  <a:cubicBezTo>
                    <a:pt x="3213951" y="-10258"/>
                    <a:pt x="3418490" y="5910"/>
                    <a:pt x="3512234" y="0"/>
                  </a:cubicBezTo>
                  <a:cubicBezTo>
                    <a:pt x="3605978" y="-5910"/>
                    <a:pt x="4162303" y="-16721"/>
                    <a:pt x="4339415" y="0"/>
                  </a:cubicBezTo>
                  <a:cubicBezTo>
                    <a:pt x="4516527" y="16721"/>
                    <a:pt x="4743257" y="-22311"/>
                    <a:pt x="4995907" y="0"/>
                  </a:cubicBezTo>
                  <a:cubicBezTo>
                    <a:pt x="5248557" y="22311"/>
                    <a:pt x="5275055" y="17143"/>
                    <a:pt x="5396367" y="0"/>
                  </a:cubicBezTo>
                  <a:cubicBezTo>
                    <a:pt x="5517679" y="-17143"/>
                    <a:pt x="5823695" y="-27590"/>
                    <a:pt x="6052860" y="0"/>
                  </a:cubicBezTo>
                  <a:cubicBezTo>
                    <a:pt x="6282025" y="27590"/>
                    <a:pt x="6477543" y="867"/>
                    <a:pt x="6880040" y="0"/>
                  </a:cubicBezTo>
                  <a:cubicBezTo>
                    <a:pt x="7282537" y="-867"/>
                    <a:pt x="7263379" y="-22642"/>
                    <a:pt x="7451189" y="0"/>
                  </a:cubicBezTo>
                  <a:cubicBezTo>
                    <a:pt x="7638999" y="22642"/>
                    <a:pt x="8214154" y="52030"/>
                    <a:pt x="8534401" y="0"/>
                  </a:cubicBezTo>
                  <a:cubicBezTo>
                    <a:pt x="8565220" y="244823"/>
                    <a:pt x="8531800" y="347762"/>
                    <a:pt x="8534401" y="624536"/>
                  </a:cubicBezTo>
                  <a:cubicBezTo>
                    <a:pt x="8537002" y="901310"/>
                    <a:pt x="8531452" y="1070955"/>
                    <a:pt x="8534401" y="1311525"/>
                  </a:cubicBezTo>
                  <a:cubicBezTo>
                    <a:pt x="8537350" y="1552095"/>
                    <a:pt x="8519894" y="1689924"/>
                    <a:pt x="8534401" y="1936060"/>
                  </a:cubicBezTo>
                  <a:cubicBezTo>
                    <a:pt x="8548908" y="2182197"/>
                    <a:pt x="8501787" y="2722774"/>
                    <a:pt x="8534401" y="3122678"/>
                  </a:cubicBezTo>
                  <a:cubicBezTo>
                    <a:pt x="8284031" y="3140333"/>
                    <a:pt x="8217726" y="3107238"/>
                    <a:pt x="7963253" y="3122678"/>
                  </a:cubicBezTo>
                  <a:cubicBezTo>
                    <a:pt x="7708780" y="3138118"/>
                    <a:pt x="7608135" y="3106570"/>
                    <a:pt x="7477448" y="3122678"/>
                  </a:cubicBezTo>
                  <a:cubicBezTo>
                    <a:pt x="7346761" y="3138786"/>
                    <a:pt x="7063149" y="3113788"/>
                    <a:pt x="6650268" y="3122678"/>
                  </a:cubicBezTo>
                  <a:cubicBezTo>
                    <a:pt x="6237387" y="3131568"/>
                    <a:pt x="6148187" y="3089903"/>
                    <a:pt x="5993775" y="3122678"/>
                  </a:cubicBezTo>
                  <a:cubicBezTo>
                    <a:pt x="5839363" y="3155453"/>
                    <a:pt x="5766679" y="3129065"/>
                    <a:pt x="5593315" y="3122678"/>
                  </a:cubicBezTo>
                  <a:cubicBezTo>
                    <a:pt x="5419951" y="3116291"/>
                    <a:pt x="5159970" y="3130522"/>
                    <a:pt x="4936823" y="3122678"/>
                  </a:cubicBezTo>
                  <a:cubicBezTo>
                    <a:pt x="4713676" y="3114834"/>
                    <a:pt x="4632369" y="3122105"/>
                    <a:pt x="4365674" y="3122678"/>
                  </a:cubicBezTo>
                  <a:cubicBezTo>
                    <a:pt x="4098979" y="3123251"/>
                    <a:pt x="3961116" y="3149648"/>
                    <a:pt x="3794526" y="3122678"/>
                  </a:cubicBezTo>
                  <a:cubicBezTo>
                    <a:pt x="3627936" y="3095708"/>
                    <a:pt x="3397034" y="3107769"/>
                    <a:pt x="3223378" y="3122678"/>
                  </a:cubicBezTo>
                  <a:cubicBezTo>
                    <a:pt x="3049722" y="3137587"/>
                    <a:pt x="2925780" y="3126215"/>
                    <a:pt x="2652229" y="3122678"/>
                  </a:cubicBezTo>
                  <a:cubicBezTo>
                    <a:pt x="2378678" y="3119141"/>
                    <a:pt x="2199244" y="3142947"/>
                    <a:pt x="1910393" y="3122678"/>
                  </a:cubicBezTo>
                  <a:cubicBezTo>
                    <a:pt x="1621542" y="3102409"/>
                    <a:pt x="1442856" y="3106171"/>
                    <a:pt x="1253900" y="3122678"/>
                  </a:cubicBezTo>
                  <a:cubicBezTo>
                    <a:pt x="1064944" y="3139185"/>
                    <a:pt x="1048394" y="3140049"/>
                    <a:pt x="853440" y="3122678"/>
                  </a:cubicBezTo>
                  <a:cubicBezTo>
                    <a:pt x="658486" y="3105307"/>
                    <a:pt x="381336" y="3131112"/>
                    <a:pt x="0" y="3122678"/>
                  </a:cubicBezTo>
                  <a:cubicBezTo>
                    <a:pt x="-12937" y="2849249"/>
                    <a:pt x="-7148" y="2608892"/>
                    <a:pt x="0" y="2466916"/>
                  </a:cubicBezTo>
                  <a:cubicBezTo>
                    <a:pt x="7148" y="2324940"/>
                    <a:pt x="-20800" y="1960238"/>
                    <a:pt x="0" y="1779926"/>
                  </a:cubicBezTo>
                  <a:cubicBezTo>
                    <a:pt x="20800" y="1599614"/>
                    <a:pt x="-22046" y="1442497"/>
                    <a:pt x="0" y="1249071"/>
                  </a:cubicBezTo>
                  <a:cubicBezTo>
                    <a:pt x="22046" y="1055646"/>
                    <a:pt x="18833" y="910485"/>
                    <a:pt x="0" y="718216"/>
                  </a:cubicBezTo>
                  <a:cubicBezTo>
                    <a:pt x="-18833" y="525947"/>
                    <a:pt x="-22703" y="234677"/>
                    <a:pt x="0" y="0"/>
                  </a:cubicBezTo>
                  <a:close/>
                </a:path>
                <a:path extrusionOk="0" h="3122678" w="8534401">
                  <a:moveTo>
                    <a:pt x="0" y="0"/>
                  </a:moveTo>
                  <a:cubicBezTo>
                    <a:pt x="125672" y="24228"/>
                    <a:pt x="445628" y="-16407"/>
                    <a:pt x="571148" y="0"/>
                  </a:cubicBezTo>
                  <a:cubicBezTo>
                    <a:pt x="696668" y="16407"/>
                    <a:pt x="883691" y="19687"/>
                    <a:pt x="971609" y="0"/>
                  </a:cubicBezTo>
                  <a:cubicBezTo>
                    <a:pt x="1059527" y="-19687"/>
                    <a:pt x="1480559" y="6906"/>
                    <a:pt x="1798789" y="0"/>
                  </a:cubicBezTo>
                  <a:cubicBezTo>
                    <a:pt x="2117019" y="-6906"/>
                    <a:pt x="2233090" y="-19231"/>
                    <a:pt x="2369938" y="0"/>
                  </a:cubicBezTo>
                  <a:cubicBezTo>
                    <a:pt x="2506786" y="19231"/>
                    <a:pt x="2814448" y="4601"/>
                    <a:pt x="2941086" y="0"/>
                  </a:cubicBezTo>
                  <a:cubicBezTo>
                    <a:pt x="3067724" y="-4601"/>
                    <a:pt x="3558909" y="41094"/>
                    <a:pt x="3768266" y="0"/>
                  </a:cubicBezTo>
                  <a:cubicBezTo>
                    <a:pt x="3977623" y="-41094"/>
                    <a:pt x="4077310" y="4994"/>
                    <a:pt x="4254071" y="0"/>
                  </a:cubicBezTo>
                  <a:cubicBezTo>
                    <a:pt x="4430833" y="-4994"/>
                    <a:pt x="4864975" y="13772"/>
                    <a:pt x="5081251" y="0"/>
                  </a:cubicBezTo>
                  <a:cubicBezTo>
                    <a:pt x="5297527" y="-13772"/>
                    <a:pt x="5570731" y="-15400"/>
                    <a:pt x="5908431" y="0"/>
                  </a:cubicBezTo>
                  <a:cubicBezTo>
                    <a:pt x="6246131" y="15400"/>
                    <a:pt x="6336327" y="4825"/>
                    <a:pt x="6564924" y="0"/>
                  </a:cubicBezTo>
                  <a:cubicBezTo>
                    <a:pt x="6793521" y="-4825"/>
                    <a:pt x="7190222" y="5272"/>
                    <a:pt x="7392104" y="0"/>
                  </a:cubicBezTo>
                  <a:cubicBezTo>
                    <a:pt x="7593986" y="-5272"/>
                    <a:pt x="7719272" y="-14552"/>
                    <a:pt x="7963253" y="0"/>
                  </a:cubicBezTo>
                  <a:cubicBezTo>
                    <a:pt x="8207234" y="14552"/>
                    <a:pt x="8382697" y="-5460"/>
                    <a:pt x="8534401" y="0"/>
                  </a:cubicBezTo>
                  <a:cubicBezTo>
                    <a:pt x="8513783" y="238688"/>
                    <a:pt x="8556106" y="429232"/>
                    <a:pt x="8534401" y="655762"/>
                  </a:cubicBezTo>
                  <a:cubicBezTo>
                    <a:pt x="8512696" y="882292"/>
                    <a:pt x="8544522" y="1054742"/>
                    <a:pt x="8534401" y="1280298"/>
                  </a:cubicBezTo>
                  <a:cubicBezTo>
                    <a:pt x="8524280" y="1505854"/>
                    <a:pt x="8550353" y="1773418"/>
                    <a:pt x="8534401" y="1904834"/>
                  </a:cubicBezTo>
                  <a:cubicBezTo>
                    <a:pt x="8518449" y="2036250"/>
                    <a:pt x="8543104" y="2238168"/>
                    <a:pt x="8534401" y="2560596"/>
                  </a:cubicBezTo>
                  <a:cubicBezTo>
                    <a:pt x="8525698" y="2883024"/>
                    <a:pt x="8553889" y="2885704"/>
                    <a:pt x="8534401" y="3122678"/>
                  </a:cubicBezTo>
                  <a:cubicBezTo>
                    <a:pt x="8287043" y="3105882"/>
                    <a:pt x="7992320" y="3130044"/>
                    <a:pt x="7792565" y="3122678"/>
                  </a:cubicBezTo>
                  <a:cubicBezTo>
                    <a:pt x="7592810" y="3115312"/>
                    <a:pt x="7434341" y="3117309"/>
                    <a:pt x="7306760" y="3122678"/>
                  </a:cubicBezTo>
                  <a:cubicBezTo>
                    <a:pt x="7179179" y="3128047"/>
                    <a:pt x="6830909" y="3117797"/>
                    <a:pt x="6479580" y="3122678"/>
                  </a:cubicBezTo>
                  <a:cubicBezTo>
                    <a:pt x="6128251" y="3127559"/>
                    <a:pt x="6123346" y="3152565"/>
                    <a:pt x="5823087" y="3122678"/>
                  </a:cubicBezTo>
                  <a:cubicBezTo>
                    <a:pt x="5522828" y="3092791"/>
                    <a:pt x="5507749" y="3139120"/>
                    <a:pt x="5337283" y="3122678"/>
                  </a:cubicBezTo>
                  <a:cubicBezTo>
                    <a:pt x="5166817" y="3106236"/>
                    <a:pt x="4993992" y="3138997"/>
                    <a:pt x="4680791" y="3122678"/>
                  </a:cubicBezTo>
                  <a:cubicBezTo>
                    <a:pt x="4367590" y="3106359"/>
                    <a:pt x="4465597" y="3116217"/>
                    <a:pt x="4280330" y="3122678"/>
                  </a:cubicBezTo>
                  <a:cubicBezTo>
                    <a:pt x="4095063" y="3129139"/>
                    <a:pt x="4072783" y="3113639"/>
                    <a:pt x="3879870" y="3122678"/>
                  </a:cubicBezTo>
                  <a:cubicBezTo>
                    <a:pt x="3686957" y="3131717"/>
                    <a:pt x="3409186" y="3143975"/>
                    <a:pt x="3223378" y="3122678"/>
                  </a:cubicBezTo>
                  <a:cubicBezTo>
                    <a:pt x="3037570" y="3101381"/>
                    <a:pt x="2973079" y="3102750"/>
                    <a:pt x="2737573" y="3122678"/>
                  </a:cubicBezTo>
                  <a:cubicBezTo>
                    <a:pt x="2502067" y="3142606"/>
                    <a:pt x="2213753" y="3090967"/>
                    <a:pt x="1995737" y="3122678"/>
                  </a:cubicBezTo>
                  <a:cubicBezTo>
                    <a:pt x="1777721" y="3154389"/>
                    <a:pt x="1635276" y="3121142"/>
                    <a:pt x="1509932" y="3122678"/>
                  </a:cubicBezTo>
                  <a:cubicBezTo>
                    <a:pt x="1384588" y="3124214"/>
                    <a:pt x="1095731" y="3143824"/>
                    <a:pt x="768096" y="3122678"/>
                  </a:cubicBezTo>
                  <a:cubicBezTo>
                    <a:pt x="440461" y="3101532"/>
                    <a:pt x="281518" y="3130463"/>
                    <a:pt x="0" y="3122678"/>
                  </a:cubicBezTo>
                  <a:cubicBezTo>
                    <a:pt x="32597" y="2960366"/>
                    <a:pt x="21479" y="2760705"/>
                    <a:pt x="0" y="2466916"/>
                  </a:cubicBezTo>
                  <a:cubicBezTo>
                    <a:pt x="-21479" y="2173127"/>
                    <a:pt x="-29721" y="2107725"/>
                    <a:pt x="0" y="1811153"/>
                  </a:cubicBezTo>
                  <a:cubicBezTo>
                    <a:pt x="29721" y="1514581"/>
                    <a:pt x="-10640" y="1286180"/>
                    <a:pt x="0" y="1124164"/>
                  </a:cubicBezTo>
                  <a:cubicBezTo>
                    <a:pt x="10640" y="962148"/>
                    <a:pt x="21604" y="395111"/>
                    <a:pt x="0" y="0"/>
                  </a:cubicBezTo>
                  <a:close/>
                </a:path>
              </a:pathLst>
            </a:custGeom>
            <a:solidFill>
              <a:schemeClr val="lt1"/>
            </a:solidFill>
            <a:ln cap="flat" cmpd="sng" w="25400">
              <a:solidFill>
                <a:srgbClr val="C00000"/>
              </a:solidFill>
              <a:prstDash val="solid"/>
              <a:round/>
              <a:headEnd len="sm" w="sm" type="none"/>
              <a:tailEnd len="sm" w="sm" type="none"/>
            </a:ln>
            <a:effectLst>
              <a:outerShdw blurRad="63500" sx="102000" rotWithShape="0" algn="ctr" sy="102000">
                <a:srgbClr val="7F7F7F">
                  <a:alpha val="40000"/>
                </a:srgbClr>
              </a:outerShdw>
            </a:effectLst>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Clr>
                  <a:schemeClr val="dk1"/>
                </a:buClr>
                <a:buSzPts val="2000"/>
                <a:buFont typeface="Verdana"/>
                <a:buNone/>
              </a:pPr>
              <a:r>
                <a:rPr b="0" lang="en-US" sz="2000">
                  <a:solidFill>
                    <a:schemeClr val="dk1"/>
                  </a:solidFill>
                  <a:latin typeface="Verdana"/>
                  <a:ea typeface="Verdana"/>
                  <a:cs typeface="Verdana"/>
                  <a:sym typeface="Verdana"/>
                </a:rPr>
                <a:t>Imagine Upsorn’s 12-year-old niece visited our class. </a:t>
              </a:r>
              <a:endParaRPr/>
            </a:p>
            <a:p>
              <a:pPr indent="0" lvl="0" marL="0" marR="0" rtl="0" algn="ctr">
                <a:lnSpc>
                  <a:spcPct val="95000"/>
                </a:lnSpc>
                <a:spcBef>
                  <a:spcPts val="0"/>
                </a:spcBef>
                <a:spcAft>
                  <a:spcPts val="0"/>
                </a:spcAft>
                <a:buClr>
                  <a:schemeClr val="dk1"/>
                </a:buClr>
                <a:buSzPts val="2000"/>
                <a:buFont typeface="Times New Roman"/>
                <a:buNone/>
              </a:pPr>
              <a:r>
                <a:t/>
              </a:r>
              <a:endParaRPr b="0" sz="2000">
                <a:solidFill>
                  <a:schemeClr val="dk1"/>
                </a:solidFill>
                <a:latin typeface="Verdana"/>
                <a:ea typeface="Verdana"/>
                <a:cs typeface="Verdana"/>
                <a:sym typeface="Verdana"/>
              </a:endParaRPr>
            </a:p>
            <a:p>
              <a:pPr indent="0" lvl="0" marL="0" marR="0" rtl="0" algn="ctr">
                <a:lnSpc>
                  <a:spcPct val="95000"/>
                </a:lnSpc>
                <a:spcBef>
                  <a:spcPts val="0"/>
                </a:spcBef>
                <a:spcAft>
                  <a:spcPts val="0"/>
                </a:spcAft>
                <a:buClr>
                  <a:schemeClr val="dk1"/>
                </a:buClr>
                <a:buSzPts val="2000"/>
                <a:buFont typeface="Verdana"/>
                <a:buNone/>
              </a:pPr>
              <a:r>
                <a:rPr b="0" lang="en-US" sz="2000">
                  <a:solidFill>
                    <a:schemeClr val="dk1"/>
                  </a:solidFill>
                  <a:latin typeface="Verdana"/>
                  <a:ea typeface="Verdana"/>
                  <a:cs typeface="Verdana"/>
                  <a:sym typeface="Verdana"/>
                </a:rPr>
                <a:t>She asked</a:t>
              </a:r>
              <a:r>
                <a:rPr b="1" lang="en-US" sz="2000">
                  <a:solidFill>
                    <a:schemeClr val="dk1"/>
                  </a:solidFill>
                  <a:latin typeface="Verdana"/>
                  <a:ea typeface="Verdana"/>
                  <a:cs typeface="Verdana"/>
                  <a:sym typeface="Verdana"/>
                </a:rPr>
                <a:t>, </a:t>
              </a:r>
              <a:r>
                <a:rPr b="1" lang="en-US" sz="2200">
                  <a:solidFill>
                    <a:srgbClr val="521B93"/>
                  </a:solidFill>
                  <a:latin typeface="Short Stack"/>
                  <a:ea typeface="Short Stack"/>
                  <a:cs typeface="Short Stack"/>
                  <a:sym typeface="Short Stack"/>
                </a:rPr>
                <a:t>“What are flaky tests? What are blind tests? What do they look like? Are they bad? Why? What might cause them? How might we avoid them?”</a:t>
              </a:r>
              <a:r>
                <a:rPr b="1" lang="en-US" sz="2200">
                  <a:solidFill>
                    <a:schemeClr val="dk1"/>
                  </a:solidFill>
                  <a:latin typeface="Short Stack"/>
                  <a:ea typeface="Short Stack"/>
                  <a:cs typeface="Short Stack"/>
                  <a:sym typeface="Short Stack"/>
                </a:rPr>
                <a:t> </a:t>
              </a:r>
              <a:endParaRPr/>
            </a:p>
            <a:p>
              <a:pPr indent="0" lvl="0" marL="0" marR="0" rtl="0" algn="ctr">
                <a:lnSpc>
                  <a:spcPct val="95000"/>
                </a:lnSpc>
                <a:spcBef>
                  <a:spcPts val="0"/>
                </a:spcBef>
                <a:spcAft>
                  <a:spcPts val="0"/>
                </a:spcAft>
                <a:buClr>
                  <a:schemeClr val="dk1"/>
                </a:buClr>
                <a:buSzPts val="2000"/>
                <a:buFont typeface="Times New Roman"/>
                <a:buNone/>
              </a:pPr>
              <a:r>
                <a:t/>
              </a:r>
              <a:endParaRPr b="0" sz="2000">
                <a:solidFill>
                  <a:schemeClr val="dk1"/>
                </a:solidFill>
                <a:latin typeface="Verdana"/>
                <a:ea typeface="Verdana"/>
                <a:cs typeface="Verdana"/>
                <a:sym typeface="Verdana"/>
              </a:endParaRPr>
            </a:p>
            <a:p>
              <a:pPr indent="0" lvl="0" marL="0" marR="0" rtl="0" algn="ctr">
                <a:lnSpc>
                  <a:spcPct val="95000"/>
                </a:lnSpc>
                <a:spcBef>
                  <a:spcPts val="0"/>
                </a:spcBef>
                <a:spcAft>
                  <a:spcPts val="0"/>
                </a:spcAft>
                <a:buClr>
                  <a:schemeClr val="dk1"/>
                </a:buClr>
                <a:buSzPts val="2000"/>
                <a:buFont typeface="Verdana"/>
                <a:buNone/>
              </a:pPr>
              <a:r>
                <a:rPr b="0" lang="en-US" sz="2000">
                  <a:solidFill>
                    <a:schemeClr val="dk1"/>
                  </a:solidFill>
                  <a:latin typeface="Verdana"/>
                  <a:ea typeface="Verdana"/>
                  <a:cs typeface="Verdana"/>
                  <a:sym typeface="Verdana"/>
                </a:rPr>
                <a:t>Help Upsorn answer her niece. Feel free to share your opinions, experience, thoughts, or use your favorite search engine (or AI) to get ideas and examples. </a:t>
              </a:r>
              <a:endParaRPr/>
            </a:p>
          </p:txBody>
        </p:sp>
      </p:grpSp>
      <p:sp>
        <p:nvSpPr>
          <p:cNvPr id="568" name="Google Shape;568;p8"/>
          <p:cNvSpPr txBox="1"/>
          <p:nvPr/>
        </p:nvSpPr>
        <p:spPr>
          <a:xfrm>
            <a:off x="457200" y="5181600"/>
            <a:ext cx="662939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800">
                <a:solidFill>
                  <a:schemeClr val="lt1"/>
                </a:solidFill>
                <a:latin typeface="Verdana"/>
                <a:ea typeface="Verdana"/>
                <a:cs typeface="Verdana"/>
                <a:sym typeface="Verdana"/>
              </a:rPr>
              <a:t>To share ides, use</a:t>
            </a:r>
            <a:r>
              <a:rPr b="0" i="1" lang="en-US" sz="1800">
                <a:solidFill>
                  <a:schemeClr val="lt1"/>
                </a:solidFill>
                <a:latin typeface="Verdana"/>
                <a:ea typeface="Verdana"/>
                <a:cs typeface="Verdana"/>
                <a:sym typeface="Verdana"/>
              </a:rPr>
              <a:t> </a:t>
            </a:r>
            <a:r>
              <a:rPr b="0" i="1" lang="en-US" sz="1600">
                <a:solidFill>
                  <a:schemeClr val="lt1"/>
                </a:solidFill>
                <a:latin typeface="Verdana"/>
                <a:ea typeface="Verdana"/>
                <a:cs typeface="Verdana"/>
                <a:sym typeface="Verdana"/>
              </a:rPr>
              <a:t>(the link is also on the schedule page)</a:t>
            </a:r>
            <a:r>
              <a:rPr b="0" lang="en-US" sz="1600">
                <a:solidFill>
                  <a:schemeClr val="lt1"/>
                </a:solidFill>
                <a:latin typeface="Verdana"/>
                <a:ea typeface="Verdana"/>
                <a:cs typeface="Verdana"/>
                <a:sym typeface="Verdana"/>
              </a:rPr>
              <a:t> </a:t>
            </a:r>
            <a:r>
              <a:rPr b="0" lang="en-US" sz="1800" u="sng">
                <a:solidFill>
                  <a:srgbClr val="73FEFF"/>
                </a:solidFill>
                <a:latin typeface="Verdana"/>
                <a:ea typeface="Verdana"/>
                <a:cs typeface="Verdana"/>
                <a:sym typeface="Verdana"/>
                <a:hlinkClick r:id="rId3">
                  <a:extLst>
                    <a:ext uri="{A12FA001-AC4F-418D-AE19-62706E023703}">
                      <ahyp:hlinkClr val="tx"/>
                    </a:ext>
                  </a:extLst>
                </a:hlinkClick>
              </a:rPr>
              <a:t>https://www.tldraw.com/f/yNEXuP8KFY9eM6gMhaV7_?d=v0.0.1087.732.page</a:t>
            </a:r>
            <a:endParaRPr b="0" sz="1800">
              <a:solidFill>
                <a:schemeClr val="lt1"/>
              </a:solidFill>
              <a:latin typeface="Verdana"/>
              <a:ea typeface="Verdana"/>
              <a:cs typeface="Verdana"/>
              <a:sym typeface="Verdana"/>
            </a:endParaRPr>
          </a:p>
        </p:txBody>
      </p:sp>
      <p:sp>
        <p:nvSpPr>
          <p:cNvPr id="569" name="Google Shape;569;p8"/>
          <p:cNvSpPr/>
          <p:nvPr/>
        </p:nvSpPr>
        <p:spPr>
          <a:xfrm>
            <a:off x="7208520" y="5105400"/>
            <a:ext cx="1097280" cy="1097280"/>
          </a:xfrm>
          <a:prstGeom prst="rect">
            <a:avLst/>
          </a:prstGeom>
          <a:no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9"/>
          <p:cNvSpPr txBox="1"/>
          <p:nvPr>
            <p:ph type="title"/>
          </p:nvPr>
        </p:nvSpPr>
        <p:spPr>
          <a:xfrm>
            <a:off x="0" y="7620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800"/>
              <a:buFont typeface="Verdana"/>
              <a:buNone/>
            </a:pPr>
            <a:r>
              <a:rPr lang="en-US" sz="3800"/>
              <a:t>Flaky (Nondeterministic) Tests</a:t>
            </a:r>
            <a:endParaRPr sz="3800"/>
          </a:p>
        </p:txBody>
      </p:sp>
      <p:sp>
        <p:nvSpPr>
          <p:cNvPr id="576" name="Google Shape;576;p9"/>
          <p:cNvSpPr txBox="1"/>
          <p:nvPr/>
        </p:nvSpPr>
        <p:spPr>
          <a:xfrm>
            <a:off x="91440" y="6324600"/>
            <a:ext cx="84201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960"/>
              <a:buFont typeface="Arial"/>
              <a:buNone/>
            </a:pPr>
            <a:r>
              <a:rPr b="0" lang="en-US" sz="1200">
                <a:solidFill>
                  <a:schemeClr val="lt1"/>
                </a:solidFill>
                <a:latin typeface="Verdana"/>
                <a:ea typeface="Verdana"/>
                <a:cs typeface="Verdana"/>
                <a:sym typeface="Verdana"/>
              </a:rPr>
              <a:t>[Thanks to Professor Jeff Offutt, CS 3250 Guest speaker, Fall 2019]</a:t>
            </a:r>
            <a:endParaRPr/>
          </a:p>
        </p:txBody>
      </p:sp>
      <p:sp>
        <p:nvSpPr>
          <p:cNvPr id="577" name="Google Shape;577;p9"/>
          <p:cNvSpPr txBox="1"/>
          <p:nvPr/>
        </p:nvSpPr>
        <p:spPr>
          <a:xfrm>
            <a:off x="152400" y="1066800"/>
            <a:ext cx="8839200" cy="685800"/>
          </a:xfrm>
          <a:prstGeom prst="rect">
            <a:avLst/>
          </a:prstGeom>
          <a:noFill/>
          <a:ln>
            <a:noFill/>
          </a:ln>
        </p:spPr>
        <p:txBody>
          <a:bodyPr anchorCtr="0" anchor="t" bIns="45700" lIns="91425" spcFirstLastPara="1" rIns="91425" wrap="square" tIns="45700">
            <a:noAutofit/>
          </a:bodyPr>
          <a:lstStyle/>
          <a:p>
            <a:pPr indent="0" lvl="0" marL="15875" marR="0" rtl="0" algn="l">
              <a:lnSpc>
                <a:spcPct val="100000"/>
              </a:lnSpc>
              <a:spcBef>
                <a:spcPts val="0"/>
              </a:spcBef>
              <a:spcAft>
                <a:spcPts val="0"/>
              </a:spcAft>
              <a:buClr>
                <a:schemeClr val="lt1"/>
              </a:buClr>
              <a:buSzPts val="1760"/>
              <a:buFont typeface="Arial"/>
              <a:buNone/>
            </a:pPr>
            <a:r>
              <a:rPr b="0" i="1" lang="en-US" sz="2200">
                <a:solidFill>
                  <a:schemeClr val="lt1"/>
                </a:solidFill>
                <a:latin typeface="Times New Roman"/>
                <a:ea typeface="Times New Roman"/>
                <a:cs typeface="Times New Roman"/>
                <a:sym typeface="Times New Roman"/>
              </a:rPr>
              <a:t>“Tests that exhibits both a passing and a failing results with the same code” </a:t>
            </a:r>
            <a:endParaRPr/>
          </a:p>
          <a:p>
            <a:pPr indent="0" lvl="0" marL="15875" marR="0" rtl="0" algn="r">
              <a:lnSpc>
                <a:spcPct val="80000"/>
              </a:lnSpc>
              <a:spcBef>
                <a:spcPts val="0"/>
              </a:spcBef>
              <a:spcAft>
                <a:spcPts val="0"/>
              </a:spcAft>
              <a:buClr>
                <a:schemeClr val="lt1"/>
              </a:buClr>
              <a:buSzPts val="1760"/>
              <a:buFont typeface="Arial"/>
              <a:buNone/>
            </a:pPr>
            <a:r>
              <a:rPr b="0" i="1" lang="en-US" sz="2200">
                <a:solidFill>
                  <a:schemeClr val="lt1"/>
                </a:solidFill>
                <a:latin typeface="Times New Roman"/>
                <a:ea typeface="Times New Roman"/>
                <a:cs typeface="Times New Roman"/>
                <a:sym typeface="Times New Roman"/>
              </a:rPr>
              <a:t>– Google </a:t>
            </a:r>
            <a:endParaRPr/>
          </a:p>
        </p:txBody>
      </p:sp>
      <p:grpSp>
        <p:nvGrpSpPr>
          <p:cNvPr id="578" name="Google Shape;578;p9"/>
          <p:cNvGrpSpPr/>
          <p:nvPr/>
        </p:nvGrpSpPr>
        <p:grpSpPr>
          <a:xfrm>
            <a:off x="1066800" y="1905000"/>
            <a:ext cx="7042266" cy="1295400"/>
            <a:chOff x="1111135" y="2057400"/>
            <a:chExt cx="7042266" cy="1295400"/>
          </a:xfrm>
        </p:grpSpPr>
        <p:grpSp>
          <p:nvGrpSpPr>
            <p:cNvPr id="579" name="Google Shape;579;p9"/>
            <p:cNvGrpSpPr/>
            <p:nvPr/>
          </p:nvGrpSpPr>
          <p:grpSpPr>
            <a:xfrm>
              <a:off x="1111135" y="2057400"/>
              <a:ext cx="1828800" cy="1295400"/>
              <a:chOff x="0" y="0"/>
              <a:chExt cx="2420725" cy="3147688"/>
            </a:xfrm>
          </p:grpSpPr>
          <p:sp>
            <p:nvSpPr>
              <p:cNvPr id="580" name="Google Shape;580;p9"/>
              <p:cNvSpPr/>
              <p:nvPr/>
            </p:nvSpPr>
            <p:spPr>
              <a:xfrm>
                <a:off x="0" y="0"/>
                <a:ext cx="2420725" cy="3147688"/>
              </a:xfrm>
              <a:custGeom>
                <a:rect b="b" l="l" r="r" t="t"/>
                <a:pathLst>
                  <a:path extrusionOk="0" h="21600" w="21600">
                    <a:moveTo>
                      <a:pt x="0" y="21600"/>
                    </a:moveTo>
                    <a:lnTo>
                      <a:pt x="0" y="0"/>
                    </a:lnTo>
                    <a:lnTo>
                      <a:pt x="15879" y="0"/>
                    </a:lnTo>
                    <a:lnTo>
                      <a:pt x="21600" y="4443"/>
                    </a:lnTo>
                    <a:lnTo>
                      <a:pt x="21600" y="21496"/>
                    </a:lnTo>
                    <a:lnTo>
                      <a:pt x="0" y="21600"/>
                    </a:lnTo>
                    <a:close/>
                  </a:path>
                </a:pathLst>
              </a:custGeom>
              <a:solidFill>
                <a:srgbClr val="3CA642"/>
              </a:solidFill>
              <a:ln>
                <a:noFill/>
              </a:ln>
              <a:effectLst>
                <a:outerShdw blurRad="50800" rotWithShape="0" dir="5400000" dist="25400">
                  <a:srgbClr val="000000">
                    <a:alpha val="50196"/>
                  </a:srgbClr>
                </a:outerShdw>
              </a:effectLst>
            </p:spPr>
            <p:txBody>
              <a:bodyPr anchorCtr="0" anchor="ctr" bIns="71425" lIns="71425" spcFirstLastPara="1" rIns="71425" wrap="square" tIns="71425">
                <a:noAutofit/>
              </a:bodyPr>
              <a:lstStyle/>
              <a:p>
                <a:pPr indent="0" lvl="0" marL="180975" marR="0" rtl="0" algn="l">
                  <a:spcBef>
                    <a:spcPts val="0"/>
                  </a:spcBef>
                  <a:spcAft>
                    <a:spcPts val="0"/>
                  </a:spcAft>
                  <a:buNone/>
                </a:pPr>
                <a:r>
                  <a:rPr b="0" lang="en-US" sz="1800">
                    <a:solidFill>
                      <a:srgbClr val="FFFFFF"/>
                    </a:solidFill>
                    <a:latin typeface="Verdana"/>
                    <a:ea typeface="Verdana"/>
                    <a:cs typeface="Verdana"/>
                    <a:sym typeface="Verdana"/>
                  </a:rPr>
                  <a:t>Run #1</a:t>
                </a:r>
                <a:endParaRPr/>
              </a:p>
              <a:p>
                <a:pPr indent="0" lvl="0" marL="180975" marR="0" rtl="0" algn="l">
                  <a:spcBef>
                    <a:spcPts val="0"/>
                  </a:spcBef>
                  <a:spcAft>
                    <a:spcPts val="0"/>
                  </a:spcAft>
                  <a:buNone/>
                </a:pPr>
                <a:r>
                  <a:rPr b="0" lang="en-US" sz="1800">
                    <a:solidFill>
                      <a:srgbClr val="FFFFFF"/>
                    </a:solidFill>
                    <a:latin typeface="Verdana"/>
                    <a:ea typeface="Verdana"/>
                    <a:cs typeface="Verdana"/>
                    <a:sym typeface="Verdana"/>
                  </a:rPr>
                  <a:t>Test A on program P</a:t>
                </a:r>
                <a:endParaRPr b="0" sz="1800">
                  <a:solidFill>
                    <a:srgbClr val="FFFFFF"/>
                  </a:solidFill>
                  <a:latin typeface="Verdana"/>
                  <a:ea typeface="Verdana"/>
                  <a:cs typeface="Verdana"/>
                  <a:sym typeface="Verdana"/>
                </a:endParaRPr>
              </a:p>
            </p:txBody>
          </p:sp>
          <p:sp>
            <p:nvSpPr>
              <p:cNvPr id="581" name="Google Shape;581;p9"/>
              <p:cNvSpPr/>
              <p:nvPr/>
            </p:nvSpPr>
            <p:spPr>
              <a:xfrm>
                <a:off x="1759927" y="0"/>
                <a:ext cx="660798" cy="660797"/>
              </a:xfrm>
              <a:custGeom>
                <a:rect b="b" l="l" r="r" t="t"/>
                <a:pathLst>
                  <a:path extrusionOk="0" h="21600" w="21600">
                    <a:moveTo>
                      <a:pt x="0" y="0"/>
                    </a:moveTo>
                    <a:lnTo>
                      <a:pt x="0" y="21600"/>
                    </a:lnTo>
                    <a:lnTo>
                      <a:pt x="21600" y="21600"/>
                    </a:lnTo>
                    <a:close/>
                  </a:path>
                </a:pathLst>
              </a:custGeom>
              <a:blipFill rotWithShape="1">
                <a:blip r:embed="rId3">
                  <a:alphaModFix/>
                </a:blip>
                <a:tile algn="tl" flip="none" tx="0" sx="100000" ty="0" sy="100000"/>
              </a:blipFill>
              <a:ln>
                <a:noFill/>
              </a:ln>
              <a:effectLst>
                <a:outerShdw blurRad="88900" rotWithShape="0" dir="7918891" dist="76200">
                  <a:srgbClr val="000000">
                    <a:alpha val="83137"/>
                  </a:srgbClr>
                </a:outerShdw>
              </a:effectLst>
            </p:spPr>
            <p:txBody>
              <a:bodyPr anchorCtr="0" anchor="ctr" bIns="71425" lIns="71425" spcFirstLastPara="1" rIns="71425" wrap="square" tIns="71425">
                <a:noAutofit/>
              </a:bodyPr>
              <a:lstStyle/>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p:txBody>
          </p:sp>
        </p:grpSp>
        <p:grpSp>
          <p:nvGrpSpPr>
            <p:cNvPr id="582" name="Google Shape;582;p9"/>
            <p:cNvGrpSpPr/>
            <p:nvPr/>
          </p:nvGrpSpPr>
          <p:grpSpPr>
            <a:xfrm>
              <a:off x="3730752" y="2057400"/>
              <a:ext cx="1828800" cy="1295400"/>
              <a:chOff x="0" y="0"/>
              <a:chExt cx="2420725" cy="3147688"/>
            </a:xfrm>
          </p:grpSpPr>
          <p:sp>
            <p:nvSpPr>
              <p:cNvPr id="583" name="Google Shape;583;p9"/>
              <p:cNvSpPr/>
              <p:nvPr/>
            </p:nvSpPr>
            <p:spPr>
              <a:xfrm>
                <a:off x="0" y="0"/>
                <a:ext cx="2420725" cy="3147688"/>
              </a:xfrm>
              <a:custGeom>
                <a:rect b="b" l="l" r="r" t="t"/>
                <a:pathLst>
                  <a:path extrusionOk="0" h="21600" w="21600">
                    <a:moveTo>
                      <a:pt x="0" y="21600"/>
                    </a:moveTo>
                    <a:lnTo>
                      <a:pt x="0" y="0"/>
                    </a:lnTo>
                    <a:lnTo>
                      <a:pt x="15879" y="0"/>
                    </a:lnTo>
                    <a:lnTo>
                      <a:pt x="21600" y="4443"/>
                    </a:lnTo>
                    <a:lnTo>
                      <a:pt x="21600" y="21496"/>
                    </a:lnTo>
                    <a:lnTo>
                      <a:pt x="0" y="21600"/>
                    </a:lnTo>
                    <a:close/>
                  </a:path>
                </a:pathLst>
              </a:custGeom>
              <a:solidFill>
                <a:srgbClr val="FF0000"/>
              </a:solidFill>
              <a:ln>
                <a:noFill/>
              </a:ln>
              <a:effectLst>
                <a:outerShdw blurRad="50800" rotWithShape="0" dir="5400000" dist="25400">
                  <a:srgbClr val="000000">
                    <a:alpha val="50196"/>
                  </a:srgbClr>
                </a:outerShdw>
              </a:effectLst>
            </p:spPr>
            <p:txBody>
              <a:bodyPr anchorCtr="0" anchor="ctr" bIns="71425" lIns="71425" spcFirstLastPara="1" rIns="71425" wrap="square" tIns="71425">
                <a:noAutofit/>
              </a:bodyPr>
              <a:lstStyle/>
              <a:p>
                <a:pPr indent="0" lvl="0" marL="180975" marR="0" rtl="0" algn="l">
                  <a:spcBef>
                    <a:spcPts val="0"/>
                  </a:spcBef>
                  <a:spcAft>
                    <a:spcPts val="0"/>
                  </a:spcAft>
                  <a:buNone/>
                </a:pPr>
                <a:r>
                  <a:rPr b="0" lang="en-US" sz="1800">
                    <a:solidFill>
                      <a:srgbClr val="FFFFFF"/>
                    </a:solidFill>
                    <a:latin typeface="Verdana"/>
                    <a:ea typeface="Verdana"/>
                    <a:cs typeface="Verdana"/>
                    <a:sym typeface="Verdana"/>
                  </a:rPr>
                  <a:t>Run #2</a:t>
                </a:r>
                <a:endParaRPr/>
              </a:p>
              <a:p>
                <a:pPr indent="0" lvl="0" marL="180975" marR="0" rtl="0" algn="l">
                  <a:spcBef>
                    <a:spcPts val="0"/>
                  </a:spcBef>
                  <a:spcAft>
                    <a:spcPts val="0"/>
                  </a:spcAft>
                  <a:buNone/>
                </a:pPr>
                <a:r>
                  <a:rPr b="0" lang="en-US" sz="1800">
                    <a:solidFill>
                      <a:srgbClr val="FFFFFF"/>
                    </a:solidFill>
                    <a:latin typeface="Verdana"/>
                    <a:ea typeface="Verdana"/>
                    <a:cs typeface="Verdana"/>
                    <a:sym typeface="Verdana"/>
                  </a:rPr>
                  <a:t>Test A on program P</a:t>
                </a:r>
                <a:endParaRPr b="0" sz="1800">
                  <a:solidFill>
                    <a:srgbClr val="FFFFFF"/>
                  </a:solidFill>
                  <a:latin typeface="Verdana"/>
                  <a:ea typeface="Verdana"/>
                  <a:cs typeface="Verdana"/>
                  <a:sym typeface="Verdana"/>
                </a:endParaRPr>
              </a:p>
            </p:txBody>
          </p:sp>
          <p:sp>
            <p:nvSpPr>
              <p:cNvPr id="584" name="Google Shape;584;p9"/>
              <p:cNvSpPr/>
              <p:nvPr/>
            </p:nvSpPr>
            <p:spPr>
              <a:xfrm>
                <a:off x="1759927" y="0"/>
                <a:ext cx="660798" cy="660797"/>
              </a:xfrm>
              <a:custGeom>
                <a:rect b="b" l="l" r="r" t="t"/>
                <a:pathLst>
                  <a:path extrusionOk="0" h="21600" w="21600">
                    <a:moveTo>
                      <a:pt x="0" y="0"/>
                    </a:moveTo>
                    <a:lnTo>
                      <a:pt x="0" y="21600"/>
                    </a:lnTo>
                    <a:lnTo>
                      <a:pt x="21600" y="21600"/>
                    </a:lnTo>
                    <a:close/>
                  </a:path>
                </a:pathLst>
              </a:custGeom>
              <a:solidFill>
                <a:srgbClr val="FF0000"/>
              </a:solidFill>
              <a:ln>
                <a:noFill/>
              </a:ln>
              <a:effectLst>
                <a:outerShdw blurRad="88900" rotWithShape="0" dir="7918891" dist="76200">
                  <a:srgbClr val="000000">
                    <a:alpha val="83137"/>
                  </a:srgbClr>
                </a:outerShdw>
              </a:effectLst>
            </p:spPr>
            <p:txBody>
              <a:bodyPr anchorCtr="0" anchor="ctr" bIns="71425" lIns="71425" spcFirstLastPara="1" rIns="71425" wrap="square" tIns="71425">
                <a:noAutofit/>
              </a:bodyPr>
              <a:lstStyle/>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p:txBody>
          </p:sp>
        </p:grpSp>
        <p:grpSp>
          <p:nvGrpSpPr>
            <p:cNvPr id="585" name="Google Shape;585;p9"/>
            <p:cNvGrpSpPr/>
            <p:nvPr/>
          </p:nvGrpSpPr>
          <p:grpSpPr>
            <a:xfrm>
              <a:off x="6324601" y="2057400"/>
              <a:ext cx="1828800" cy="1295400"/>
              <a:chOff x="0" y="0"/>
              <a:chExt cx="2420725" cy="3147688"/>
            </a:xfrm>
          </p:grpSpPr>
          <p:sp>
            <p:nvSpPr>
              <p:cNvPr id="586" name="Google Shape;586;p9"/>
              <p:cNvSpPr/>
              <p:nvPr/>
            </p:nvSpPr>
            <p:spPr>
              <a:xfrm>
                <a:off x="0" y="0"/>
                <a:ext cx="2420725" cy="3147688"/>
              </a:xfrm>
              <a:custGeom>
                <a:rect b="b" l="l" r="r" t="t"/>
                <a:pathLst>
                  <a:path extrusionOk="0" h="21600" w="21600">
                    <a:moveTo>
                      <a:pt x="0" y="21600"/>
                    </a:moveTo>
                    <a:lnTo>
                      <a:pt x="0" y="0"/>
                    </a:lnTo>
                    <a:lnTo>
                      <a:pt x="15879" y="0"/>
                    </a:lnTo>
                    <a:lnTo>
                      <a:pt x="21600" y="4443"/>
                    </a:lnTo>
                    <a:lnTo>
                      <a:pt x="21600" y="21496"/>
                    </a:lnTo>
                    <a:lnTo>
                      <a:pt x="0" y="21600"/>
                    </a:lnTo>
                    <a:close/>
                  </a:path>
                </a:pathLst>
              </a:custGeom>
              <a:solidFill>
                <a:srgbClr val="3CA642"/>
              </a:solidFill>
              <a:ln>
                <a:noFill/>
              </a:ln>
              <a:effectLst>
                <a:outerShdw blurRad="50800" rotWithShape="0" dir="5400000" dist="25400">
                  <a:srgbClr val="000000">
                    <a:alpha val="50196"/>
                  </a:srgbClr>
                </a:outerShdw>
              </a:effectLst>
            </p:spPr>
            <p:txBody>
              <a:bodyPr anchorCtr="0" anchor="ctr" bIns="71425" lIns="71425" spcFirstLastPara="1" rIns="71425" wrap="square" tIns="71425">
                <a:noAutofit/>
              </a:bodyPr>
              <a:lstStyle/>
              <a:p>
                <a:pPr indent="0" lvl="0" marL="180975" marR="0" rtl="0" algn="l">
                  <a:spcBef>
                    <a:spcPts val="0"/>
                  </a:spcBef>
                  <a:spcAft>
                    <a:spcPts val="0"/>
                  </a:spcAft>
                  <a:buNone/>
                </a:pPr>
                <a:r>
                  <a:rPr b="0" lang="en-US" sz="1800">
                    <a:solidFill>
                      <a:srgbClr val="FFFFFF"/>
                    </a:solidFill>
                    <a:latin typeface="Verdana"/>
                    <a:ea typeface="Verdana"/>
                    <a:cs typeface="Verdana"/>
                    <a:sym typeface="Verdana"/>
                  </a:rPr>
                  <a:t>Run #3</a:t>
                </a:r>
                <a:endParaRPr/>
              </a:p>
              <a:p>
                <a:pPr indent="0" lvl="0" marL="180975" marR="0" rtl="0" algn="l">
                  <a:spcBef>
                    <a:spcPts val="0"/>
                  </a:spcBef>
                  <a:spcAft>
                    <a:spcPts val="0"/>
                  </a:spcAft>
                  <a:buNone/>
                </a:pPr>
                <a:r>
                  <a:rPr b="0" lang="en-US" sz="1800">
                    <a:solidFill>
                      <a:srgbClr val="FFFFFF"/>
                    </a:solidFill>
                    <a:latin typeface="Verdana"/>
                    <a:ea typeface="Verdana"/>
                    <a:cs typeface="Verdana"/>
                    <a:sym typeface="Verdana"/>
                  </a:rPr>
                  <a:t>Test A on program P</a:t>
                </a:r>
                <a:endParaRPr b="0" sz="1800">
                  <a:solidFill>
                    <a:srgbClr val="FFFFFF"/>
                  </a:solidFill>
                  <a:latin typeface="Verdana"/>
                  <a:ea typeface="Verdana"/>
                  <a:cs typeface="Verdana"/>
                  <a:sym typeface="Verdana"/>
                </a:endParaRPr>
              </a:p>
            </p:txBody>
          </p:sp>
          <p:sp>
            <p:nvSpPr>
              <p:cNvPr id="587" name="Google Shape;587;p9"/>
              <p:cNvSpPr/>
              <p:nvPr/>
            </p:nvSpPr>
            <p:spPr>
              <a:xfrm>
                <a:off x="1759927" y="0"/>
                <a:ext cx="660798" cy="660797"/>
              </a:xfrm>
              <a:custGeom>
                <a:rect b="b" l="l" r="r" t="t"/>
                <a:pathLst>
                  <a:path extrusionOk="0" h="21600" w="21600">
                    <a:moveTo>
                      <a:pt x="0" y="0"/>
                    </a:moveTo>
                    <a:lnTo>
                      <a:pt x="0" y="21600"/>
                    </a:lnTo>
                    <a:lnTo>
                      <a:pt x="21600" y="21600"/>
                    </a:lnTo>
                    <a:close/>
                  </a:path>
                </a:pathLst>
              </a:custGeom>
              <a:blipFill rotWithShape="1">
                <a:blip r:embed="rId3">
                  <a:alphaModFix/>
                </a:blip>
                <a:tile algn="tl" flip="none" tx="0" sx="100000" ty="0" sy="100000"/>
              </a:blipFill>
              <a:ln>
                <a:noFill/>
              </a:ln>
              <a:effectLst>
                <a:outerShdw blurRad="88900" rotWithShape="0" dir="7918891" dist="76200">
                  <a:srgbClr val="000000">
                    <a:alpha val="83137"/>
                  </a:srgbClr>
                </a:outerShdw>
              </a:effectLst>
            </p:spPr>
            <p:txBody>
              <a:bodyPr anchorCtr="0" anchor="ctr" bIns="71425" lIns="71425" spcFirstLastPara="1" rIns="71425" wrap="square" tIns="71425">
                <a:noAutofit/>
              </a:bodyPr>
              <a:lstStyle/>
              <a:p>
                <a:pPr indent="0" lvl="0" marL="0" marR="0" rtl="0" algn="l">
                  <a:spcBef>
                    <a:spcPts val="0"/>
                  </a:spcBef>
                  <a:spcAft>
                    <a:spcPts val="0"/>
                  </a:spcAft>
                  <a:buNone/>
                </a:pPr>
                <a:r>
                  <a:t/>
                </a:r>
                <a:endParaRPr b="1" sz="2000">
                  <a:solidFill>
                    <a:schemeClr val="dk1"/>
                  </a:solidFill>
                  <a:latin typeface="Verdana"/>
                  <a:ea typeface="Verdana"/>
                  <a:cs typeface="Verdana"/>
                  <a:sym typeface="Verdana"/>
                </a:endParaRPr>
              </a:p>
            </p:txBody>
          </p:sp>
        </p:grpSp>
      </p:grpSp>
      <p:sp>
        <p:nvSpPr>
          <p:cNvPr id="588" name="Google Shape;588;p9"/>
          <p:cNvSpPr txBox="1"/>
          <p:nvPr/>
        </p:nvSpPr>
        <p:spPr>
          <a:xfrm>
            <a:off x="304800" y="4267200"/>
            <a:ext cx="4838700" cy="2209800"/>
          </a:xfrm>
          <a:prstGeom prst="rect">
            <a:avLst/>
          </a:prstGeom>
          <a:noFill/>
          <a:ln>
            <a:noFill/>
          </a:ln>
        </p:spPr>
        <p:txBody>
          <a:bodyPr anchorCtr="0" anchor="t" bIns="45700" lIns="91425" spcFirstLastPara="1" rIns="91425" wrap="square" tIns="45700">
            <a:noAutofit/>
          </a:bodyPr>
          <a:lstStyle/>
          <a:p>
            <a:pPr indent="0" lvl="0" marL="15875" marR="0" rtl="0" algn="l">
              <a:lnSpc>
                <a:spcPct val="90000"/>
              </a:lnSpc>
              <a:spcBef>
                <a:spcPts val="0"/>
              </a:spcBef>
              <a:spcAft>
                <a:spcPts val="0"/>
              </a:spcAft>
              <a:buClr>
                <a:schemeClr val="lt1"/>
              </a:buClr>
              <a:buSzPts val="1600"/>
              <a:buFont typeface="Arial"/>
              <a:buNone/>
            </a:pPr>
            <a:r>
              <a:rPr b="0" lang="en-US" sz="2000">
                <a:solidFill>
                  <a:schemeClr val="lt1"/>
                </a:solidFill>
                <a:latin typeface="Verdana"/>
                <a:ea typeface="Verdana"/>
                <a:cs typeface="Verdana"/>
                <a:sym typeface="Verdana"/>
              </a:rPr>
              <a:t>Potential causes</a:t>
            </a:r>
            <a:endParaRPr/>
          </a:p>
          <a:p>
            <a:pPr indent="-279400" lvl="0" marL="460375" marR="0" rtl="0" algn="l">
              <a:lnSpc>
                <a:spcPct val="85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Concurrency</a:t>
            </a:r>
            <a:endParaRPr/>
          </a:p>
          <a:p>
            <a:pPr indent="-279400" lvl="0" marL="460375" marR="0" rtl="0" algn="l">
              <a:lnSpc>
                <a:spcPct val="85000"/>
              </a:lnSpc>
              <a:spcBef>
                <a:spcPts val="4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Asynchronous behavior</a:t>
            </a:r>
            <a:endParaRPr/>
          </a:p>
          <a:p>
            <a:pPr indent="-279400" lvl="0" marL="460375" marR="0" rtl="0" algn="l">
              <a:lnSpc>
                <a:spcPct val="85000"/>
              </a:lnSpc>
              <a:spcBef>
                <a:spcPts val="4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Random inputs</a:t>
            </a:r>
            <a:endParaRPr/>
          </a:p>
          <a:p>
            <a:pPr indent="-279400" lvl="0" marL="460375" marR="0" rtl="0" algn="l">
              <a:lnSpc>
                <a:spcPct val="85000"/>
              </a:lnSpc>
              <a:spcBef>
                <a:spcPts val="4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Resource leaks</a:t>
            </a:r>
            <a:endParaRPr/>
          </a:p>
        </p:txBody>
      </p:sp>
      <p:sp>
        <p:nvSpPr>
          <p:cNvPr id="589" name="Google Shape;589;p9"/>
          <p:cNvSpPr txBox="1"/>
          <p:nvPr/>
        </p:nvSpPr>
        <p:spPr>
          <a:xfrm>
            <a:off x="4724400" y="4267200"/>
            <a:ext cx="4419600" cy="2209800"/>
          </a:xfrm>
          <a:prstGeom prst="rect">
            <a:avLst/>
          </a:prstGeom>
          <a:noFill/>
          <a:ln>
            <a:noFill/>
          </a:ln>
        </p:spPr>
        <p:txBody>
          <a:bodyPr anchorCtr="0" anchor="t" bIns="45700" lIns="91425" spcFirstLastPara="1" rIns="91425" wrap="square" tIns="45700">
            <a:noAutofit/>
          </a:bodyPr>
          <a:lstStyle/>
          <a:p>
            <a:pPr indent="0" lvl="0" marL="15875" marR="0" rtl="0" algn="l">
              <a:lnSpc>
                <a:spcPct val="90000"/>
              </a:lnSpc>
              <a:spcBef>
                <a:spcPts val="0"/>
              </a:spcBef>
              <a:spcAft>
                <a:spcPts val="0"/>
              </a:spcAft>
              <a:buClr>
                <a:schemeClr val="lt1"/>
              </a:buClr>
              <a:buSzPts val="1760"/>
              <a:buFont typeface="Arial"/>
              <a:buNone/>
            </a:pPr>
            <a:r>
              <a:rPr b="0" lang="en-US" sz="2200">
                <a:solidFill>
                  <a:schemeClr val="lt1"/>
                </a:solidFill>
                <a:latin typeface="Verdana"/>
                <a:ea typeface="Verdana"/>
                <a:cs typeface="Verdana"/>
                <a:sym typeface="Verdana"/>
              </a:rPr>
              <a:t> </a:t>
            </a:r>
            <a:endParaRPr/>
          </a:p>
          <a:p>
            <a:pPr indent="-280988" lvl="0" marL="296863" marR="0" rtl="0" algn="l">
              <a:lnSpc>
                <a:spcPct val="85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Test order dependency</a:t>
            </a:r>
            <a:endParaRPr/>
          </a:p>
          <a:p>
            <a:pPr indent="-280988" lvl="0" marL="296863" marR="0" rtl="0" algn="l">
              <a:lnSpc>
                <a:spcPct val="85000"/>
              </a:lnSpc>
              <a:spcBef>
                <a:spcPts val="4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Collection class assumptions</a:t>
            </a:r>
            <a:endParaRPr/>
          </a:p>
          <a:p>
            <a:pPr indent="-280988" lvl="0" marL="296863" marR="0" rtl="0" algn="l">
              <a:lnSpc>
                <a:spcPct val="85000"/>
              </a:lnSpc>
              <a:spcBef>
                <a:spcPts val="4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Relying on external systems</a:t>
            </a:r>
            <a:endParaRPr/>
          </a:p>
          <a:p>
            <a:pPr indent="-280988" lvl="0" marL="296863" marR="0" rtl="0" algn="l">
              <a:lnSpc>
                <a:spcPct val="85000"/>
              </a:lnSpc>
              <a:spcBef>
                <a:spcPts val="4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Not checking emails</a:t>
            </a:r>
            <a:endParaRPr/>
          </a:p>
        </p:txBody>
      </p:sp>
      <p:sp>
        <p:nvSpPr>
          <p:cNvPr id="590" name="Google Shape;590;p9"/>
          <p:cNvSpPr txBox="1"/>
          <p:nvPr/>
        </p:nvSpPr>
        <p:spPr>
          <a:xfrm>
            <a:off x="304800" y="3494117"/>
            <a:ext cx="8153400" cy="620683"/>
          </a:xfrm>
          <a:prstGeom prst="rect">
            <a:avLst/>
          </a:prstGeom>
          <a:noFill/>
          <a:ln>
            <a:noFill/>
          </a:ln>
        </p:spPr>
        <p:txBody>
          <a:bodyPr anchorCtr="0" anchor="t" bIns="45700" lIns="91425" spcFirstLastPara="1" rIns="91425" wrap="square" tIns="45700">
            <a:noAutofit/>
          </a:bodyPr>
          <a:lstStyle/>
          <a:p>
            <a:pPr indent="0" lvl="0" marL="15875" marR="0" rtl="0" algn="l">
              <a:lnSpc>
                <a:spcPct val="100000"/>
              </a:lnSpc>
              <a:spcBef>
                <a:spcPts val="0"/>
              </a:spcBef>
              <a:spcAft>
                <a:spcPts val="0"/>
              </a:spcAft>
              <a:buClr>
                <a:schemeClr val="lt1"/>
              </a:buClr>
              <a:buSzPts val="1600"/>
              <a:buFont typeface="Arial"/>
              <a:buNone/>
            </a:pPr>
            <a:r>
              <a:rPr b="0" lang="en-US" sz="2000">
                <a:solidFill>
                  <a:schemeClr val="lt1"/>
                </a:solidFill>
                <a:latin typeface="Verdana"/>
                <a:ea typeface="Verdana"/>
                <a:cs typeface="Verdana"/>
                <a:sym typeface="Verdana"/>
              </a:rPr>
              <a:t>Google says 16% of their tests are flaky</a:t>
            </a:r>
            <a:endParaRPr/>
          </a:p>
        </p:txBody>
      </p:sp>
      <p:sp>
        <p:nvSpPr>
          <p:cNvPr id="591" name="Google Shape;591;p9"/>
          <p:cNvSpPr txBox="1"/>
          <p:nvPr/>
        </p:nvSpPr>
        <p:spPr>
          <a:xfrm>
            <a:off x="6661266" y="3659382"/>
            <a:ext cx="2330334" cy="620683"/>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15875" marR="0" rtl="0" algn="ctr">
              <a:lnSpc>
                <a:spcPct val="100000"/>
              </a:lnSpc>
              <a:spcBef>
                <a:spcPts val="0"/>
              </a:spcBef>
              <a:spcAft>
                <a:spcPts val="0"/>
              </a:spcAft>
              <a:buClr>
                <a:schemeClr val="lt1"/>
              </a:buClr>
              <a:buSzPts val="1760"/>
              <a:buFont typeface="Arial"/>
              <a:buNone/>
            </a:pPr>
            <a:r>
              <a:rPr b="0" lang="en-US" sz="2200">
                <a:solidFill>
                  <a:srgbClr val="FFFF00"/>
                </a:solidFill>
                <a:latin typeface="Verdana"/>
                <a:ea typeface="Verdana"/>
                <a:cs typeface="Verdana"/>
                <a:sym typeface="Verdana"/>
              </a:rPr>
              <a:t>Controllability</a:t>
            </a:r>
            <a:endParaRPr b="0" sz="2200">
              <a:solidFill>
                <a:srgbClr val="FFFF00"/>
              </a:solidFill>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
          <p:cNvSpPr txBox="1"/>
          <p:nvPr>
            <p:ph type="title"/>
          </p:nvPr>
        </p:nvSpPr>
        <p:spPr>
          <a:xfrm>
            <a:off x="0" y="7620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Blind Tests</a:t>
            </a:r>
            <a:endParaRPr/>
          </a:p>
        </p:txBody>
      </p:sp>
      <p:sp>
        <p:nvSpPr>
          <p:cNvPr id="598" name="Google Shape;598;p10"/>
          <p:cNvSpPr txBox="1"/>
          <p:nvPr/>
        </p:nvSpPr>
        <p:spPr>
          <a:xfrm>
            <a:off x="5217437" y="4114800"/>
            <a:ext cx="3850363" cy="2209800"/>
          </a:xfrm>
          <a:prstGeom prst="rect">
            <a:avLst/>
          </a:prstGeom>
          <a:noFill/>
          <a:ln>
            <a:noFill/>
          </a:ln>
        </p:spPr>
        <p:txBody>
          <a:bodyPr anchorCtr="0" anchor="t" bIns="45700" lIns="91425" spcFirstLastPara="1" rIns="91425" wrap="square" tIns="45700">
            <a:noAutofit/>
          </a:bodyPr>
          <a:lstStyle/>
          <a:p>
            <a:pPr indent="0" lvl="0" marL="15875" marR="0" rtl="0" algn="l">
              <a:lnSpc>
                <a:spcPct val="100000"/>
              </a:lnSpc>
              <a:spcBef>
                <a:spcPts val="0"/>
              </a:spcBef>
              <a:spcAft>
                <a:spcPts val="0"/>
              </a:spcAft>
              <a:buClr>
                <a:schemeClr val="lt1"/>
              </a:buClr>
              <a:buSzPts val="1600"/>
              <a:buFont typeface="Arial"/>
              <a:buNone/>
            </a:pPr>
            <a:r>
              <a:rPr b="0" lang="en-US" sz="2000">
                <a:solidFill>
                  <a:schemeClr val="lt1"/>
                </a:solidFill>
                <a:latin typeface="Verdana"/>
                <a:ea typeface="Verdana"/>
                <a:cs typeface="Verdana"/>
                <a:sym typeface="Verdana"/>
              </a:rPr>
              <a:t>Potential causes</a:t>
            </a:r>
            <a:endParaRPr/>
          </a:p>
          <a:p>
            <a:pPr indent="-279400" lvl="0" marL="460375" marR="0" rtl="0" algn="l">
              <a:lnSpc>
                <a:spcPct val="10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Unintended ignorance</a:t>
            </a:r>
            <a:endParaRPr/>
          </a:p>
          <a:p>
            <a:pPr indent="-279400" lvl="0" marL="460375" marR="0" rtl="0" algn="l">
              <a:lnSpc>
                <a:spcPct val="100000"/>
              </a:lnSpc>
              <a:spcBef>
                <a:spcPts val="6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Observe the wrong place</a:t>
            </a:r>
            <a:endParaRPr/>
          </a:p>
          <a:p>
            <a:pPr indent="-279400" lvl="0" marL="460375" marR="0" rtl="0" algn="l">
              <a:lnSpc>
                <a:spcPct val="100000"/>
              </a:lnSpc>
              <a:spcBef>
                <a:spcPts val="6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Overlooked information</a:t>
            </a:r>
            <a:endParaRPr/>
          </a:p>
        </p:txBody>
      </p:sp>
      <p:pic>
        <p:nvPicPr>
          <p:cNvPr id="599" name="Google Shape;599;p10"/>
          <p:cNvPicPr preferRelativeResize="0"/>
          <p:nvPr/>
        </p:nvPicPr>
        <p:blipFill rotWithShape="1">
          <a:blip r:embed="rId3">
            <a:alphaModFix/>
          </a:blip>
          <a:srcRect b="0" l="0" r="0" t="0"/>
          <a:stretch/>
        </p:blipFill>
        <p:spPr>
          <a:xfrm>
            <a:off x="152400" y="2971800"/>
            <a:ext cx="4772706" cy="2998850"/>
          </a:xfrm>
          <a:prstGeom prst="rect">
            <a:avLst/>
          </a:prstGeom>
          <a:noFill/>
          <a:ln>
            <a:noFill/>
          </a:ln>
        </p:spPr>
      </p:pic>
      <p:sp>
        <p:nvSpPr>
          <p:cNvPr id="600" name="Google Shape;600;p10"/>
          <p:cNvSpPr txBox="1"/>
          <p:nvPr/>
        </p:nvSpPr>
        <p:spPr>
          <a:xfrm>
            <a:off x="304800" y="990600"/>
            <a:ext cx="7772400" cy="609600"/>
          </a:xfrm>
          <a:prstGeom prst="rect">
            <a:avLst/>
          </a:prstGeom>
          <a:noFill/>
          <a:ln>
            <a:noFill/>
          </a:ln>
        </p:spPr>
        <p:txBody>
          <a:bodyPr anchorCtr="0" anchor="t" bIns="45700" lIns="91425" spcFirstLastPara="1" rIns="91425" wrap="square" tIns="45700">
            <a:noAutofit/>
          </a:bodyPr>
          <a:lstStyle/>
          <a:p>
            <a:pPr indent="0" lvl="0" marL="15875" marR="0" rtl="0" algn="l">
              <a:lnSpc>
                <a:spcPct val="100000"/>
              </a:lnSpc>
              <a:spcBef>
                <a:spcPts val="0"/>
              </a:spcBef>
              <a:spcAft>
                <a:spcPts val="0"/>
              </a:spcAft>
              <a:buClr>
                <a:schemeClr val="lt1"/>
              </a:buClr>
              <a:buSzPts val="1760"/>
              <a:buFont typeface="Arial"/>
              <a:buNone/>
            </a:pPr>
            <a:r>
              <a:rPr b="0" lang="en-US" sz="2200">
                <a:solidFill>
                  <a:schemeClr val="lt1"/>
                </a:solidFill>
                <a:latin typeface="Verdana"/>
                <a:ea typeface="Verdana"/>
                <a:cs typeface="Verdana"/>
                <a:sym typeface="Verdana"/>
              </a:rPr>
              <a:t>Tests that do not notice failures</a:t>
            </a:r>
            <a:endParaRPr b="0" sz="2000">
              <a:solidFill>
                <a:schemeClr val="lt1"/>
              </a:solidFill>
              <a:latin typeface="Verdana"/>
              <a:ea typeface="Verdana"/>
              <a:cs typeface="Verdana"/>
              <a:sym typeface="Verdana"/>
            </a:endParaRPr>
          </a:p>
        </p:txBody>
      </p:sp>
      <p:sp>
        <p:nvSpPr>
          <p:cNvPr id="601" name="Google Shape;601;p10"/>
          <p:cNvSpPr txBox="1"/>
          <p:nvPr/>
        </p:nvSpPr>
        <p:spPr>
          <a:xfrm>
            <a:off x="1143000" y="1676400"/>
            <a:ext cx="7848600" cy="685800"/>
          </a:xfrm>
          <a:prstGeom prst="rect">
            <a:avLst/>
          </a:prstGeom>
          <a:noFill/>
          <a:ln>
            <a:noFill/>
          </a:ln>
        </p:spPr>
        <p:txBody>
          <a:bodyPr anchorCtr="0" anchor="t" bIns="45700" lIns="91425" spcFirstLastPara="1" rIns="91425" wrap="square" tIns="45700">
            <a:noAutofit/>
          </a:bodyPr>
          <a:lstStyle/>
          <a:p>
            <a:pPr indent="0" lvl="0" marL="15875" marR="0" rtl="0" algn="ctr">
              <a:lnSpc>
                <a:spcPct val="95000"/>
              </a:lnSpc>
              <a:spcBef>
                <a:spcPts val="0"/>
              </a:spcBef>
              <a:spcAft>
                <a:spcPts val="0"/>
              </a:spcAft>
              <a:buClr>
                <a:schemeClr val="lt1"/>
              </a:buClr>
              <a:buSzPts val="1760"/>
              <a:buFont typeface="Arial"/>
              <a:buNone/>
            </a:pPr>
            <a:r>
              <a:rPr b="0" i="1" lang="en-US" sz="2200">
                <a:solidFill>
                  <a:schemeClr val="lt1"/>
                </a:solidFill>
                <a:latin typeface="Times New Roman"/>
                <a:ea typeface="Times New Roman"/>
                <a:cs typeface="Times New Roman"/>
                <a:sym typeface="Times New Roman"/>
              </a:rPr>
              <a:t>“Almost half the tests written by professional software engineers had broken test oracles”   – Jeff Offutt</a:t>
            </a:r>
            <a:endParaRPr/>
          </a:p>
        </p:txBody>
      </p:sp>
      <p:sp>
        <p:nvSpPr>
          <p:cNvPr id="602" name="Google Shape;602;p10"/>
          <p:cNvSpPr txBox="1"/>
          <p:nvPr/>
        </p:nvSpPr>
        <p:spPr>
          <a:xfrm>
            <a:off x="91440" y="6324600"/>
            <a:ext cx="8420100" cy="38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960"/>
              <a:buFont typeface="Arial"/>
              <a:buNone/>
            </a:pPr>
            <a:r>
              <a:rPr b="0" lang="en-US" sz="1200">
                <a:solidFill>
                  <a:schemeClr val="lt1"/>
                </a:solidFill>
                <a:latin typeface="Verdana"/>
                <a:ea typeface="Verdana"/>
                <a:cs typeface="Verdana"/>
                <a:sym typeface="Verdana"/>
              </a:rPr>
              <a:t>[Thanks to Professor Jeff Offutt, CS 3250 Guest speaker, Fall 2019]</a:t>
            </a:r>
            <a:endParaRPr/>
          </a:p>
        </p:txBody>
      </p:sp>
      <p:sp>
        <p:nvSpPr>
          <p:cNvPr id="603" name="Google Shape;603;p10"/>
          <p:cNvSpPr txBox="1"/>
          <p:nvPr/>
        </p:nvSpPr>
        <p:spPr>
          <a:xfrm>
            <a:off x="6661266" y="3036917"/>
            <a:ext cx="2330334" cy="620683"/>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15875" marR="0" rtl="0" algn="ctr">
              <a:lnSpc>
                <a:spcPct val="100000"/>
              </a:lnSpc>
              <a:spcBef>
                <a:spcPts val="0"/>
              </a:spcBef>
              <a:spcAft>
                <a:spcPts val="0"/>
              </a:spcAft>
              <a:buClr>
                <a:schemeClr val="lt1"/>
              </a:buClr>
              <a:buSzPts val="1760"/>
              <a:buFont typeface="Arial"/>
              <a:buNone/>
            </a:pPr>
            <a:r>
              <a:rPr b="0" lang="en-US" sz="2200">
                <a:solidFill>
                  <a:srgbClr val="FFFF00"/>
                </a:solidFill>
                <a:latin typeface="Verdana"/>
                <a:ea typeface="Verdana"/>
                <a:cs typeface="Verdana"/>
                <a:sym typeface="Verdana"/>
              </a:rPr>
              <a:t>Observability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1"/>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600"/>
              <a:buFont typeface="Verdana"/>
              <a:buNone/>
            </a:pPr>
            <a:r>
              <a:rPr lang="en-US" sz="3600"/>
              <a:t>What Makes Test Automation Hard</a:t>
            </a:r>
            <a:endParaRPr/>
          </a:p>
        </p:txBody>
      </p:sp>
      <p:sp>
        <p:nvSpPr>
          <p:cNvPr id="610" name="Google Shape;610;p11"/>
          <p:cNvSpPr txBox="1"/>
          <p:nvPr>
            <p:ph idx="1" type="body"/>
          </p:nvPr>
        </p:nvSpPr>
        <p:spPr>
          <a:xfrm>
            <a:off x="228600" y="1042416"/>
            <a:ext cx="8686800" cy="5413248"/>
          </a:xfrm>
          <a:prstGeom prst="rect">
            <a:avLst/>
          </a:prstGeom>
          <a:noFill/>
          <a:ln>
            <a:noFill/>
          </a:ln>
        </p:spPr>
        <p:txBody>
          <a:bodyPr anchorCtr="0" anchor="t" bIns="45700" lIns="91425" spcFirstLastPara="1" rIns="91425" wrap="square" tIns="45700">
            <a:noAutofit/>
          </a:bodyPr>
          <a:lstStyle/>
          <a:p>
            <a:pPr indent="0" lvl="0" marL="131763" rtl="0" algn="l">
              <a:lnSpc>
                <a:spcPct val="90000"/>
              </a:lnSpc>
              <a:spcBef>
                <a:spcPts val="0"/>
              </a:spcBef>
              <a:spcAft>
                <a:spcPts val="0"/>
              </a:spcAft>
              <a:buSzPts val="2000"/>
              <a:buNone/>
            </a:pPr>
            <a:r>
              <a:rPr lang="en-US" sz="2000">
                <a:solidFill>
                  <a:srgbClr val="FFFFFF"/>
                </a:solidFill>
              </a:rPr>
              <a:t>Imagine you are tasked to test a company’s software.  </a:t>
            </a:r>
            <a:endParaRPr/>
          </a:p>
          <a:p>
            <a:pPr indent="0" lvl="0" marL="131763" rtl="0" algn="l">
              <a:lnSpc>
                <a:spcPct val="90000"/>
              </a:lnSpc>
              <a:spcBef>
                <a:spcPts val="1800"/>
              </a:spcBef>
              <a:spcAft>
                <a:spcPts val="0"/>
              </a:spcAft>
              <a:buSzPts val="2000"/>
              <a:buNone/>
            </a:pPr>
            <a:r>
              <a:rPr lang="en-US" sz="2000">
                <a:solidFill>
                  <a:srgbClr val="FFFFFF"/>
                </a:solidFill>
              </a:rPr>
              <a:t>You need to </a:t>
            </a:r>
            <a:r>
              <a:rPr b="1" lang="en-US" sz="2000">
                <a:solidFill>
                  <a:srgbClr val="FFFD78"/>
                </a:solidFill>
              </a:rPr>
              <a:t>set up</a:t>
            </a:r>
            <a:r>
              <a:rPr b="1" lang="en-US" sz="2000">
                <a:solidFill>
                  <a:srgbClr val="FFFFFF"/>
                </a:solidFill>
              </a:rPr>
              <a:t> </a:t>
            </a:r>
            <a:r>
              <a:rPr lang="en-US" sz="2000">
                <a:solidFill>
                  <a:srgbClr val="FFFFFF"/>
                </a:solidFill>
              </a:rPr>
              <a:t>three different web services, create five different files in different folders of the system, and put SQL and NoSQL databases in specific states. </a:t>
            </a:r>
            <a:endParaRPr/>
          </a:p>
          <a:p>
            <a:pPr indent="0" lvl="0" marL="131763" rtl="0" algn="l">
              <a:lnSpc>
                <a:spcPct val="90000"/>
              </a:lnSpc>
              <a:spcBef>
                <a:spcPts val="1800"/>
              </a:spcBef>
              <a:spcAft>
                <a:spcPts val="0"/>
              </a:spcAft>
              <a:buSzPts val="2000"/>
              <a:buNone/>
            </a:pPr>
            <a:r>
              <a:rPr lang="en-US" sz="2000">
                <a:solidFill>
                  <a:srgbClr val="FFFFFF"/>
                </a:solidFill>
              </a:rPr>
              <a:t>After all the setup, you </a:t>
            </a:r>
            <a:r>
              <a:rPr b="1" lang="en-US" sz="2000">
                <a:solidFill>
                  <a:srgbClr val="FFFD78"/>
                </a:solidFill>
              </a:rPr>
              <a:t>execute</a:t>
            </a:r>
            <a:r>
              <a:rPr lang="en-US" sz="2000">
                <a:solidFill>
                  <a:srgbClr val="FFFFFF"/>
                </a:solidFill>
              </a:rPr>
              <a:t> the feature under test. </a:t>
            </a:r>
            <a:endParaRPr/>
          </a:p>
          <a:p>
            <a:pPr indent="0" lvl="0" marL="131763" rtl="0" algn="l">
              <a:lnSpc>
                <a:spcPct val="90000"/>
              </a:lnSpc>
              <a:spcBef>
                <a:spcPts val="1800"/>
              </a:spcBef>
              <a:spcAft>
                <a:spcPts val="0"/>
              </a:spcAft>
              <a:buSzPts val="2000"/>
              <a:buNone/>
            </a:pPr>
            <a:r>
              <a:rPr lang="en-US" sz="2000">
                <a:solidFill>
                  <a:srgbClr val="FFFFFF"/>
                </a:solidFill>
              </a:rPr>
              <a:t>To </a:t>
            </a:r>
            <a:r>
              <a:rPr b="1" lang="en-US" sz="2000">
                <a:solidFill>
                  <a:srgbClr val="FFFD78"/>
                </a:solidFill>
              </a:rPr>
              <a:t>assert</a:t>
            </a:r>
            <a:r>
              <a:rPr lang="en-US" sz="2000">
                <a:solidFill>
                  <a:srgbClr val="FFFFFF"/>
                </a:solidFill>
              </a:rPr>
              <a:t> the behavior of the software under test, you need to check if the three web services were invoked, the five files were manipulated correctly, and the databases were now in proper state. </a:t>
            </a:r>
            <a:endParaRPr/>
          </a:p>
          <a:p>
            <a:pPr indent="0" lvl="0" marL="131763" rtl="0" algn="l">
              <a:lnSpc>
                <a:spcPct val="90000"/>
              </a:lnSpc>
              <a:spcBef>
                <a:spcPts val="1800"/>
              </a:spcBef>
              <a:spcAft>
                <a:spcPts val="0"/>
              </a:spcAft>
              <a:buSzPts val="2000"/>
              <a:buNone/>
            </a:pPr>
            <a:r>
              <a:t/>
            </a:r>
            <a:endParaRPr sz="2000">
              <a:solidFill>
                <a:srgbClr val="FFFFFF"/>
              </a:solidFill>
            </a:endParaRPr>
          </a:p>
          <a:p>
            <a:pPr indent="0" lvl="0" marL="131763" rtl="0" algn="l">
              <a:lnSpc>
                <a:spcPct val="90000"/>
              </a:lnSpc>
              <a:spcBef>
                <a:spcPts val="1800"/>
              </a:spcBef>
              <a:spcAft>
                <a:spcPts val="0"/>
              </a:spcAft>
              <a:buSzPts val="2000"/>
              <a:buNone/>
            </a:pPr>
            <a:r>
              <a:rPr lang="en-US" sz="2000">
                <a:solidFill>
                  <a:srgbClr val="FFFFFF"/>
                </a:solidFill>
              </a:rPr>
              <a:t>Doable? Can this be simpler?  </a:t>
            </a:r>
            <a:endParaRPr sz="20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2"/>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600"/>
              <a:buFont typeface="Verdana"/>
              <a:buNone/>
            </a:pPr>
            <a:r>
              <a:rPr lang="en-US" sz="3600"/>
              <a:t>What Makes Test Automation Hard</a:t>
            </a:r>
            <a:endParaRPr/>
          </a:p>
        </p:txBody>
      </p:sp>
      <p:sp>
        <p:nvSpPr>
          <p:cNvPr id="617" name="Google Shape;617;p12"/>
          <p:cNvSpPr txBox="1"/>
          <p:nvPr/>
        </p:nvSpPr>
        <p:spPr>
          <a:xfrm>
            <a:off x="304800" y="990600"/>
            <a:ext cx="8610600" cy="510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920"/>
              <a:buFont typeface="Arial"/>
              <a:buNone/>
            </a:pPr>
            <a:r>
              <a:rPr b="1" lang="en-US" sz="2400">
                <a:solidFill>
                  <a:srgbClr val="FFFF00"/>
                </a:solidFill>
                <a:latin typeface="Verdana"/>
                <a:ea typeface="Verdana"/>
                <a:cs typeface="Verdana"/>
                <a:sym typeface="Verdana"/>
              </a:rPr>
              <a:t>Testability</a:t>
            </a:r>
            <a:endParaRPr/>
          </a:p>
          <a:p>
            <a:pPr indent="-222250" lvl="0" marL="461963" marR="0" rtl="0" algn="l">
              <a:lnSpc>
                <a:spcPct val="100000"/>
              </a:lnSpc>
              <a:spcBef>
                <a:spcPts val="1700"/>
              </a:spcBef>
              <a:spcAft>
                <a:spcPts val="0"/>
              </a:spcAft>
              <a:buClr>
                <a:schemeClr val="lt1"/>
              </a:buClr>
              <a:buSzPts val="1600"/>
              <a:buFont typeface="Arial"/>
              <a:buChar char="•"/>
            </a:pPr>
            <a:r>
              <a:rPr b="0" i="1" lang="en-US" sz="2000">
                <a:solidFill>
                  <a:schemeClr val="lt1"/>
                </a:solidFill>
                <a:latin typeface="Verdana"/>
                <a:ea typeface="Verdana"/>
                <a:cs typeface="Verdana"/>
                <a:sym typeface="Verdana"/>
              </a:rPr>
              <a:t>“The degree to which a system or component facilitates that establishment of test criteria and the performance of tests to determine whether those criteria have been met”</a:t>
            </a:r>
            <a:endParaRPr/>
          </a:p>
          <a:p>
            <a:pPr indent="-161290" lvl="0" marL="461963" marR="0" rtl="0" algn="l">
              <a:lnSpc>
                <a:spcPct val="100000"/>
              </a:lnSpc>
              <a:spcBef>
                <a:spcPts val="1700"/>
              </a:spcBef>
              <a:spcAft>
                <a:spcPts val="0"/>
              </a:spcAft>
              <a:buClr>
                <a:schemeClr val="lt1"/>
              </a:buClr>
              <a:buSzPts val="960"/>
              <a:buFont typeface="Arial"/>
              <a:buNone/>
            </a:pPr>
            <a:r>
              <a:t/>
            </a:r>
            <a:endParaRPr b="0" sz="1200">
              <a:solidFill>
                <a:schemeClr val="lt1"/>
              </a:solidFill>
              <a:latin typeface="Verdana"/>
              <a:ea typeface="Verdana"/>
              <a:cs typeface="Verdana"/>
              <a:sym typeface="Verdana"/>
            </a:endParaRPr>
          </a:p>
          <a:p>
            <a:pPr indent="-120650" lvl="0" marL="461963" marR="0" rtl="0" algn="l">
              <a:lnSpc>
                <a:spcPct val="100000"/>
              </a:lnSpc>
              <a:spcBef>
                <a:spcPts val="3200"/>
              </a:spcBef>
              <a:spcAft>
                <a:spcPts val="0"/>
              </a:spcAft>
              <a:buClr>
                <a:schemeClr val="lt1"/>
              </a:buClr>
              <a:buSzPts val="1600"/>
              <a:buFont typeface="Arial"/>
              <a:buNone/>
            </a:pPr>
            <a:r>
              <a:t/>
            </a:r>
            <a:endParaRPr b="0" sz="2000">
              <a:solidFill>
                <a:schemeClr val="lt1"/>
              </a:solidFill>
              <a:latin typeface="Verdana"/>
              <a:ea typeface="Verdana"/>
              <a:cs typeface="Verdana"/>
              <a:sym typeface="Verdana"/>
            </a:endParaRPr>
          </a:p>
          <a:p>
            <a:pPr indent="0" lvl="0" marL="68263" marR="0" rtl="0" algn="l">
              <a:lnSpc>
                <a:spcPct val="100000"/>
              </a:lnSpc>
              <a:spcBef>
                <a:spcPts val="3800"/>
              </a:spcBef>
              <a:spcAft>
                <a:spcPts val="0"/>
              </a:spcAft>
              <a:buClr>
                <a:schemeClr val="lt1"/>
              </a:buClr>
              <a:buSzPts val="1760"/>
              <a:buFont typeface="Arial"/>
              <a:buNone/>
            </a:pPr>
            <a:r>
              <a:rPr b="0" lang="en-US" sz="2200">
                <a:solidFill>
                  <a:schemeClr val="lt1"/>
                </a:solidFill>
                <a:latin typeface="Verdana"/>
                <a:ea typeface="Verdana"/>
                <a:cs typeface="Verdana"/>
                <a:sym typeface="Verdana"/>
              </a:rPr>
              <a:t>Two practical problems:</a:t>
            </a:r>
            <a:endParaRPr/>
          </a:p>
          <a:p>
            <a:pPr indent="-209550" lvl="1" marL="460375" marR="0" rtl="0" algn="l">
              <a:lnSpc>
                <a:spcPct val="100000"/>
              </a:lnSpc>
              <a:spcBef>
                <a:spcPts val="900"/>
              </a:spcBef>
              <a:spcAft>
                <a:spcPts val="0"/>
              </a:spcAft>
              <a:buClr>
                <a:schemeClr val="lt1"/>
              </a:buClr>
              <a:buSzPts val="2000"/>
              <a:buFont typeface="Noto Sans Symbols"/>
              <a:buChar char="●"/>
            </a:pPr>
            <a:r>
              <a:rPr b="0" i="0" lang="en-US" sz="2000" u="none" cap="none" strike="noStrike">
                <a:solidFill>
                  <a:srgbClr val="FFFF00"/>
                </a:solidFill>
                <a:latin typeface="Verdana"/>
                <a:ea typeface="Verdana"/>
                <a:cs typeface="Verdana"/>
                <a:sym typeface="Verdana"/>
              </a:rPr>
              <a:t>Controllability</a:t>
            </a:r>
            <a:r>
              <a:rPr b="0" i="0" lang="en-US" sz="2000" u="none" cap="none" strike="noStrike">
                <a:solidFill>
                  <a:schemeClr val="lt1"/>
                </a:solidFill>
                <a:latin typeface="Verdana"/>
                <a:ea typeface="Verdana"/>
                <a:cs typeface="Verdana"/>
                <a:sym typeface="Verdana"/>
              </a:rPr>
              <a:t>: how to </a:t>
            </a:r>
            <a:r>
              <a:rPr b="0" i="0" lang="en-US" sz="2000" u="none" cap="none" strike="noStrike">
                <a:solidFill>
                  <a:srgbClr val="FFFF00"/>
                </a:solidFill>
                <a:latin typeface="Verdana"/>
                <a:ea typeface="Verdana"/>
                <a:cs typeface="Verdana"/>
                <a:sym typeface="Verdana"/>
              </a:rPr>
              <a:t>provide the test values </a:t>
            </a:r>
            <a:r>
              <a:rPr b="0" i="0" lang="en-US" sz="2000" u="none" cap="none" strike="noStrike">
                <a:solidFill>
                  <a:schemeClr val="lt1"/>
                </a:solidFill>
                <a:latin typeface="Verdana"/>
                <a:ea typeface="Verdana"/>
                <a:cs typeface="Verdana"/>
                <a:sym typeface="Verdana"/>
              </a:rPr>
              <a:t>to the software</a:t>
            </a:r>
            <a:endParaRPr/>
          </a:p>
          <a:p>
            <a:pPr indent="-209550" lvl="1" marL="460375" marR="0" rtl="0" algn="l">
              <a:lnSpc>
                <a:spcPct val="100000"/>
              </a:lnSpc>
              <a:spcBef>
                <a:spcPts val="1000"/>
              </a:spcBef>
              <a:spcAft>
                <a:spcPts val="0"/>
              </a:spcAft>
              <a:buClr>
                <a:schemeClr val="lt1"/>
              </a:buClr>
              <a:buSzPts val="2000"/>
              <a:buFont typeface="Noto Sans Symbols"/>
              <a:buChar char="●"/>
            </a:pPr>
            <a:r>
              <a:rPr b="0" i="0" lang="en-US" sz="2000" u="none" cap="none" strike="noStrike">
                <a:solidFill>
                  <a:srgbClr val="FFFF00"/>
                </a:solidFill>
                <a:latin typeface="Verdana"/>
                <a:ea typeface="Verdana"/>
                <a:cs typeface="Verdana"/>
                <a:sym typeface="Verdana"/>
              </a:rPr>
              <a:t>Observability</a:t>
            </a:r>
            <a:r>
              <a:rPr b="0" i="0" lang="en-US" sz="2000" u="none" cap="none" strike="noStrike">
                <a:solidFill>
                  <a:schemeClr val="lt1"/>
                </a:solidFill>
                <a:latin typeface="Verdana"/>
                <a:ea typeface="Verdana"/>
                <a:cs typeface="Verdana"/>
                <a:sym typeface="Verdana"/>
              </a:rPr>
              <a:t>: how to </a:t>
            </a:r>
            <a:r>
              <a:rPr b="0" i="0" lang="en-US" sz="2000" u="none" cap="none" strike="noStrike">
                <a:solidFill>
                  <a:srgbClr val="FFFF00"/>
                </a:solidFill>
                <a:latin typeface="Verdana"/>
                <a:ea typeface="Verdana"/>
                <a:cs typeface="Verdana"/>
                <a:sym typeface="Verdana"/>
              </a:rPr>
              <a:t>observe the results </a:t>
            </a:r>
            <a:r>
              <a:rPr b="0" i="0" lang="en-US" sz="2000" u="none" cap="none" strike="noStrike">
                <a:solidFill>
                  <a:schemeClr val="lt1"/>
                </a:solidFill>
                <a:latin typeface="Verdana"/>
                <a:ea typeface="Verdana"/>
                <a:cs typeface="Verdana"/>
                <a:sym typeface="Verdana"/>
              </a:rPr>
              <a:t>of test execution</a:t>
            </a:r>
            <a:endParaRPr/>
          </a:p>
        </p:txBody>
      </p:sp>
      <p:sp>
        <p:nvSpPr>
          <p:cNvPr id="618" name="Google Shape;618;p12"/>
          <p:cNvSpPr/>
          <p:nvPr/>
        </p:nvSpPr>
        <p:spPr>
          <a:xfrm>
            <a:off x="990600" y="2895600"/>
            <a:ext cx="7150608" cy="53340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2200">
                <a:solidFill>
                  <a:schemeClr val="lt1"/>
                </a:solidFill>
                <a:latin typeface="Verdana"/>
                <a:ea typeface="Verdana"/>
                <a:cs typeface="Verdana"/>
                <a:sym typeface="Verdana"/>
              </a:rPr>
              <a:t>How hard it is to detect faults in the software</a:t>
            </a:r>
            <a:endParaRPr b="1" sz="2200">
              <a:solidFill>
                <a:schemeClr val="lt1"/>
              </a:solidFill>
              <a:latin typeface="Verdana"/>
              <a:ea typeface="Verdana"/>
              <a:cs typeface="Verdana"/>
              <a:sym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3"/>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800"/>
              <a:buFont typeface="Verdana"/>
              <a:buNone/>
            </a:pPr>
            <a:r>
              <a:rPr lang="en-US" sz="3800"/>
              <a:t>Aspects that Impact Testability</a:t>
            </a:r>
            <a:endParaRPr sz="3800"/>
          </a:p>
        </p:txBody>
      </p:sp>
      <p:sp>
        <p:nvSpPr>
          <p:cNvPr id="625" name="Google Shape;625;p13"/>
          <p:cNvSpPr txBox="1"/>
          <p:nvPr/>
        </p:nvSpPr>
        <p:spPr>
          <a:xfrm>
            <a:off x="304800" y="990600"/>
            <a:ext cx="8610600" cy="5257800"/>
          </a:xfrm>
          <a:prstGeom prst="rect">
            <a:avLst/>
          </a:prstGeom>
          <a:noFill/>
          <a:ln>
            <a:noFill/>
          </a:ln>
        </p:spPr>
        <p:txBody>
          <a:bodyPr anchorCtr="0" anchor="t" bIns="45700" lIns="91425" spcFirstLastPara="1" rIns="91425" wrap="square" tIns="45700">
            <a:noAutofit/>
          </a:bodyPr>
          <a:lstStyle/>
          <a:p>
            <a:pPr indent="0" lvl="0" marL="68263" marR="0" rtl="0" algn="l">
              <a:lnSpc>
                <a:spcPct val="100000"/>
              </a:lnSpc>
              <a:spcBef>
                <a:spcPts val="0"/>
              </a:spcBef>
              <a:spcAft>
                <a:spcPts val="0"/>
              </a:spcAft>
              <a:buClr>
                <a:schemeClr val="lt1"/>
              </a:buClr>
              <a:buSzPts val="1920"/>
              <a:buFont typeface="Arial"/>
              <a:buNone/>
            </a:pPr>
            <a:r>
              <a:rPr b="1" lang="en-US" sz="2400">
                <a:solidFill>
                  <a:srgbClr val="FFFF00"/>
                </a:solidFill>
                <a:latin typeface="Verdana"/>
                <a:ea typeface="Verdana"/>
                <a:cs typeface="Verdana"/>
                <a:sym typeface="Verdana"/>
              </a:rPr>
              <a:t>Controllability</a:t>
            </a:r>
            <a:endParaRPr/>
          </a:p>
          <a:p>
            <a:pPr indent="-211138" lvl="0" marL="471488" marR="0" rtl="0" algn="l">
              <a:lnSpc>
                <a:spcPct val="100000"/>
              </a:lnSpc>
              <a:spcBef>
                <a:spcPts val="1700"/>
              </a:spcBef>
              <a:spcAft>
                <a:spcPts val="0"/>
              </a:spcAft>
              <a:buClr>
                <a:schemeClr val="lt1"/>
              </a:buClr>
              <a:buSzPts val="1600"/>
              <a:buFont typeface="Arial"/>
              <a:buChar char="•"/>
            </a:pPr>
            <a:r>
              <a:rPr b="0" i="1" lang="en-US" sz="2000">
                <a:solidFill>
                  <a:schemeClr val="lt1"/>
                </a:solidFill>
                <a:latin typeface="Verdana"/>
                <a:ea typeface="Verdana"/>
                <a:cs typeface="Verdana"/>
                <a:sym typeface="Verdana"/>
              </a:rPr>
              <a:t>“How easy it is to </a:t>
            </a:r>
            <a:r>
              <a:rPr b="0" i="1" lang="en-US" sz="2000">
                <a:solidFill>
                  <a:srgbClr val="FFFF00"/>
                </a:solidFill>
                <a:latin typeface="Verdana"/>
                <a:ea typeface="Verdana"/>
                <a:cs typeface="Verdana"/>
                <a:sym typeface="Verdana"/>
              </a:rPr>
              <a:t>provide a program with the needed inputs</a:t>
            </a:r>
            <a:r>
              <a:rPr b="0" i="1" lang="en-US" sz="2000">
                <a:solidFill>
                  <a:schemeClr val="lt1"/>
                </a:solidFill>
                <a:latin typeface="Verdana"/>
                <a:ea typeface="Verdana"/>
                <a:cs typeface="Verdana"/>
                <a:sym typeface="Verdana"/>
              </a:rPr>
              <a:t>, in terms of values, operations, and behaviors”</a:t>
            </a:r>
            <a:endParaRPr/>
          </a:p>
          <a:p>
            <a:pPr indent="-211138" lvl="0" marL="471488" marR="0" rtl="0" algn="l">
              <a:lnSpc>
                <a:spcPct val="100000"/>
              </a:lnSpc>
              <a:spcBef>
                <a:spcPts val="420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Example of software that often have low controllability:</a:t>
            </a:r>
            <a:endParaRPr/>
          </a:p>
          <a:p>
            <a:pPr indent="-260350" lvl="1" marL="927100" marR="0" rtl="0" algn="l">
              <a:lnSpc>
                <a:spcPct val="100000"/>
              </a:lnSpc>
              <a:spcBef>
                <a:spcPts val="16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Embedded software often gets its inputs from hardware sensors </a:t>
            </a:r>
            <a:endParaRPr/>
          </a:p>
          <a:p>
            <a:pPr indent="-296863" lvl="2" marL="1384300" marR="0" rtl="0" algn="l">
              <a:lnSpc>
                <a:spcPct val="100000"/>
              </a:lnSpc>
              <a:spcBef>
                <a:spcPts val="800"/>
              </a:spcBef>
              <a:spcAft>
                <a:spcPts val="0"/>
              </a:spcAft>
              <a:buClr>
                <a:schemeClr val="lt1"/>
              </a:buClr>
              <a:buSzPts val="1600"/>
              <a:buFont typeface="Noto Sans Symbols"/>
              <a:buChar char="●"/>
            </a:pPr>
            <a:r>
              <a:rPr b="0" i="0" lang="en-US" sz="1600" u="none" cap="none" strike="noStrike">
                <a:solidFill>
                  <a:schemeClr val="lt1"/>
                </a:solidFill>
                <a:latin typeface="Verdana"/>
                <a:ea typeface="Verdana"/>
                <a:cs typeface="Verdana"/>
                <a:sym typeface="Verdana"/>
              </a:rPr>
              <a:t>Difficult to control</a:t>
            </a:r>
            <a:endParaRPr/>
          </a:p>
          <a:p>
            <a:pPr indent="-296863" lvl="2" marL="1384300" marR="0" rtl="0" algn="l">
              <a:lnSpc>
                <a:spcPct val="100000"/>
              </a:lnSpc>
              <a:spcBef>
                <a:spcPts val="300"/>
              </a:spcBef>
              <a:spcAft>
                <a:spcPts val="0"/>
              </a:spcAft>
              <a:buClr>
                <a:schemeClr val="lt1"/>
              </a:buClr>
              <a:buSzPts val="1600"/>
              <a:buFont typeface="Noto Sans Symbols"/>
              <a:buChar char="●"/>
            </a:pPr>
            <a:r>
              <a:rPr b="0" i="0" lang="en-US" sz="1600" u="none" cap="none" strike="noStrike">
                <a:solidFill>
                  <a:schemeClr val="lt1"/>
                </a:solidFill>
                <a:latin typeface="Verdana"/>
                <a:ea typeface="Verdana"/>
                <a:cs typeface="Verdana"/>
                <a:sym typeface="Verdana"/>
              </a:rPr>
              <a:t>Some inputs may be difficult, dangerous, or impossible to supply</a:t>
            </a:r>
            <a:endParaRPr/>
          </a:p>
          <a:p>
            <a:pPr indent="-260350" lvl="1" marL="927100" marR="0" rtl="0" algn="l">
              <a:lnSpc>
                <a:spcPct val="100000"/>
              </a:lnSpc>
              <a:spcBef>
                <a:spcPts val="13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Component-based software</a:t>
            </a:r>
            <a:endParaRPr/>
          </a:p>
          <a:p>
            <a:pPr indent="-260350" lvl="1" marL="927100" marR="0" rtl="0" algn="l">
              <a:lnSpc>
                <a:spcPct val="100000"/>
              </a:lnSpc>
              <a:spcBef>
                <a:spcPts val="10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Distributed software</a:t>
            </a:r>
            <a:endParaRPr/>
          </a:p>
          <a:p>
            <a:pPr indent="-260350" lvl="1" marL="927100" marR="0" rtl="0" algn="l">
              <a:lnSpc>
                <a:spcPct val="100000"/>
              </a:lnSpc>
              <a:spcBef>
                <a:spcPts val="10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Web applications</a:t>
            </a:r>
            <a:endParaRPr/>
          </a:p>
          <a:p>
            <a:pPr indent="-260350" lvl="1" marL="927100" marR="0" rtl="0" algn="l">
              <a:lnSpc>
                <a:spcPct val="100000"/>
              </a:lnSpc>
              <a:spcBef>
                <a:spcPts val="10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Mobile applications</a:t>
            </a:r>
            <a:endParaRPr/>
          </a:p>
          <a:p>
            <a:pPr indent="-110490" lvl="0" marL="290513" marR="0" rtl="0" algn="l">
              <a:lnSpc>
                <a:spcPct val="100000"/>
              </a:lnSpc>
              <a:spcBef>
                <a:spcPts val="1000"/>
              </a:spcBef>
              <a:spcAft>
                <a:spcPts val="0"/>
              </a:spcAft>
              <a:buClr>
                <a:schemeClr val="lt1"/>
              </a:buClr>
              <a:buSzPts val="1760"/>
              <a:buFont typeface="Arial"/>
              <a:buNone/>
            </a:pPr>
            <a:r>
              <a:t/>
            </a:r>
            <a:endParaRPr b="0" sz="2200">
              <a:solidFill>
                <a:schemeClr val="lt1"/>
              </a:solidFill>
              <a:latin typeface="Verdana"/>
              <a:ea typeface="Verdana"/>
              <a:cs typeface="Verdana"/>
              <a:sym typeface="Verdana"/>
            </a:endParaRPr>
          </a:p>
          <a:p>
            <a:pPr indent="-110490" lvl="0" marL="290513" marR="0" rtl="0" algn="l">
              <a:lnSpc>
                <a:spcPct val="100000"/>
              </a:lnSpc>
              <a:spcBef>
                <a:spcPts val="1700"/>
              </a:spcBef>
              <a:spcAft>
                <a:spcPts val="0"/>
              </a:spcAft>
              <a:buClr>
                <a:schemeClr val="lt1"/>
              </a:buClr>
              <a:buSzPts val="1760"/>
              <a:buFont typeface="Arial"/>
              <a:buNone/>
            </a:pPr>
            <a:r>
              <a:t/>
            </a:r>
            <a:endParaRPr b="0" sz="2200">
              <a:solidFill>
                <a:schemeClr val="lt1"/>
              </a:solidFill>
              <a:latin typeface="Verdana"/>
              <a:ea typeface="Verdana"/>
              <a:cs typeface="Verdana"/>
              <a:sym typeface="Verdana"/>
            </a:endParaRPr>
          </a:p>
          <a:p>
            <a:pPr indent="-110490" lvl="0" marL="290513" marR="0" rtl="0" algn="l">
              <a:lnSpc>
                <a:spcPct val="100000"/>
              </a:lnSpc>
              <a:spcBef>
                <a:spcPts val="1700"/>
              </a:spcBef>
              <a:spcAft>
                <a:spcPts val="0"/>
              </a:spcAft>
              <a:buClr>
                <a:schemeClr val="lt1"/>
              </a:buClr>
              <a:buSzPts val="1760"/>
              <a:buFont typeface="Arial"/>
              <a:buNone/>
            </a:pPr>
            <a:r>
              <a:t/>
            </a:r>
            <a:endParaRPr b="0" sz="2200">
              <a:solidFill>
                <a:schemeClr val="lt1"/>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14"/>
          <p:cNvSpPr txBox="1"/>
          <p:nvPr>
            <p:ph type="title"/>
          </p:nvPr>
        </p:nvSpPr>
        <p:spPr>
          <a:xfrm>
            <a:off x="0" y="7620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75000"/>
              </a:lnSpc>
              <a:spcBef>
                <a:spcPts val="0"/>
              </a:spcBef>
              <a:spcAft>
                <a:spcPts val="0"/>
              </a:spcAft>
              <a:buClr>
                <a:srgbClr val="FFFF00"/>
              </a:buClr>
              <a:buSzPts val="3800"/>
              <a:buFont typeface="Verdana"/>
              <a:buNone/>
            </a:pPr>
            <a:r>
              <a:rPr b="0" lang="en-US" sz="3800"/>
              <a:t>(Some) </a:t>
            </a:r>
            <a:r>
              <a:rPr lang="en-US" sz="3800"/>
              <a:t>Controllability Problems</a:t>
            </a:r>
            <a:endParaRPr/>
          </a:p>
        </p:txBody>
      </p:sp>
      <p:sp>
        <p:nvSpPr>
          <p:cNvPr id="632" name="Google Shape;632;p14"/>
          <p:cNvSpPr txBox="1"/>
          <p:nvPr>
            <p:ph idx="1" type="body"/>
          </p:nvPr>
        </p:nvSpPr>
        <p:spPr>
          <a:xfrm>
            <a:off x="228600" y="1042416"/>
            <a:ext cx="8686800" cy="5413248"/>
          </a:xfrm>
          <a:prstGeom prst="rect">
            <a:avLst/>
          </a:prstGeom>
          <a:noFill/>
          <a:ln>
            <a:noFill/>
          </a:ln>
        </p:spPr>
        <p:txBody>
          <a:bodyPr anchorCtr="0" anchor="t" bIns="45700" lIns="91425" spcFirstLastPara="1" rIns="91425" wrap="square" tIns="45700">
            <a:noAutofit/>
          </a:bodyPr>
          <a:lstStyle/>
          <a:p>
            <a:pPr indent="-444500" lvl="0" marL="576263" rtl="0" algn="l">
              <a:lnSpc>
                <a:spcPct val="90000"/>
              </a:lnSpc>
              <a:spcBef>
                <a:spcPts val="0"/>
              </a:spcBef>
              <a:spcAft>
                <a:spcPts val="0"/>
              </a:spcAft>
              <a:buSzPts val="1900"/>
              <a:buFont typeface="Century Schoolbook"/>
              <a:buAutoNum type="arabicPeriod"/>
            </a:pPr>
            <a:r>
              <a:rPr lang="en-US" sz="1900">
                <a:solidFill>
                  <a:srgbClr val="FFFFFF"/>
                </a:solidFill>
              </a:rPr>
              <a:t>State hidden in method</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Difficult setup</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Incomplete shutdown</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State-leaks across tests</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Framework frustration</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Difficult mocking</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Hidden effects</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Hidden inputs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5"/>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800"/>
              <a:buFont typeface="Verdana"/>
              <a:buNone/>
            </a:pPr>
            <a:r>
              <a:rPr lang="en-US" sz="3800"/>
              <a:t>Aspects that Impact Testability</a:t>
            </a:r>
            <a:endParaRPr/>
          </a:p>
        </p:txBody>
      </p:sp>
      <p:sp>
        <p:nvSpPr>
          <p:cNvPr id="639" name="Google Shape;639;p15"/>
          <p:cNvSpPr txBox="1"/>
          <p:nvPr/>
        </p:nvSpPr>
        <p:spPr>
          <a:xfrm>
            <a:off x="304800" y="990600"/>
            <a:ext cx="8610600" cy="4953000"/>
          </a:xfrm>
          <a:prstGeom prst="rect">
            <a:avLst/>
          </a:prstGeom>
          <a:noFill/>
          <a:ln>
            <a:noFill/>
          </a:ln>
        </p:spPr>
        <p:txBody>
          <a:bodyPr anchorCtr="0" anchor="t" bIns="45700" lIns="91425" spcFirstLastPara="1" rIns="91425" wrap="square" tIns="45700">
            <a:noAutofit/>
          </a:bodyPr>
          <a:lstStyle/>
          <a:p>
            <a:pPr indent="0" lvl="0" marL="68263" marR="0" rtl="0" algn="l">
              <a:lnSpc>
                <a:spcPct val="100000"/>
              </a:lnSpc>
              <a:spcBef>
                <a:spcPts val="0"/>
              </a:spcBef>
              <a:spcAft>
                <a:spcPts val="0"/>
              </a:spcAft>
              <a:buClr>
                <a:schemeClr val="lt1"/>
              </a:buClr>
              <a:buSzPts val="1920"/>
              <a:buFont typeface="Arial"/>
              <a:buNone/>
            </a:pPr>
            <a:r>
              <a:rPr b="1" lang="en-US" sz="2400">
                <a:solidFill>
                  <a:srgbClr val="FFFF00"/>
                </a:solidFill>
                <a:latin typeface="Verdana"/>
                <a:ea typeface="Verdana"/>
                <a:cs typeface="Verdana"/>
                <a:sym typeface="Verdana"/>
              </a:rPr>
              <a:t>Observability</a:t>
            </a:r>
            <a:endParaRPr/>
          </a:p>
          <a:p>
            <a:pPr indent="-211138" lvl="0" marL="471488" marR="0" rtl="0" algn="l">
              <a:lnSpc>
                <a:spcPct val="100000"/>
              </a:lnSpc>
              <a:spcBef>
                <a:spcPts val="1700"/>
              </a:spcBef>
              <a:spcAft>
                <a:spcPts val="0"/>
              </a:spcAft>
              <a:buClr>
                <a:schemeClr val="lt1"/>
              </a:buClr>
              <a:buSzPts val="1600"/>
              <a:buFont typeface="Arial"/>
              <a:buChar char="•"/>
            </a:pPr>
            <a:r>
              <a:rPr b="0" i="1" lang="en-US" sz="2000">
                <a:solidFill>
                  <a:schemeClr val="lt1"/>
                </a:solidFill>
                <a:latin typeface="Verdana"/>
                <a:ea typeface="Verdana"/>
                <a:cs typeface="Verdana"/>
                <a:sym typeface="Verdana"/>
              </a:rPr>
              <a:t>“How easy it is to </a:t>
            </a:r>
            <a:r>
              <a:rPr b="0" i="1" lang="en-US" sz="2000">
                <a:solidFill>
                  <a:srgbClr val="FFFF00"/>
                </a:solidFill>
                <a:latin typeface="Verdana"/>
                <a:ea typeface="Verdana"/>
                <a:cs typeface="Verdana"/>
                <a:sym typeface="Verdana"/>
              </a:rPr>
              <a:t>observe the behavior </a:t>
            </a:r>
            <a:r>
              <a:rPr b="0" i="1" lang="en-US" sz="2000">
                <a:solidFill>
                  <a:schemeClr val="lt1"/>
                </a:solidFill>
                <a:latin typeface="Verdana"/>
                <a:ea typeface="Verdana"/>
                <a:cs typeface="Verdana"/>
                <a:sym typeface="Verdana"/>
              </a:rPr>
              <a:t>of a program in terms of its outputs, effects on the environment and other hardware and software components”</a:t>
            </a:r>
            <a:endParaRPr/>
          </a:p>
          <a:p>
            <a:pPr indent="-211138" lvl="0" marL="471488" marR="0" rtl="0" algn="l">
              <a:lnSpc>
                <a:spcPct val="100000"/>
              </a:lnSpc>
              <a:spcBef>
                <a:spcPts val="420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Example of software that often have low observability:</a:t>
            </a:r>
            <a:endParaRPr/>
          </a:p>
          <a:p>
            <a:pPr indent="-260350" lvl="1" marL="927100" marR="0" rtl="0" algn="l">
              <a:lnSpc>
                <a:spcPct val="100000"/>
              </a:lnSpc>
              <a:spcBef>
                <a:spcPts val="16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Embedded software often does not produce output for human consumption</a:t>
            </a:r>
            <a:endParaRPr/>
          </a:p>
          <a:p>
            <a:pPr indent="-260350" lvl="1" marL="927100" marR="0" rtl="0" algn="l">
              <a:lnSpc>
                <a:spcPct val="100000"/>
              </a:lnSpc>
              <a:spcBef>
                <a:spcPts val="10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Component-based software</a:t>
            </a:r>
            <a:endParaRPr/>
          </a:p>
          <a:p>
            <a:pPr indent="-260350" lvl="1" marL="927100" marR="0" rtl="0" algn="l">
              <a:lnSpc>
                <a:spcPct val="100000"/>
              </a:lnSpc>
              <a:spcBef>
                <a:spcPts val="10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Distributed software</a:t>
            </a:r>
            <a:endParaRPr/>
          </a:p>
          <a:p>
            <a:pPr indent="-260350" lvl="1" marL="927100" marR="0" rtl="0" algn="l">
              <a:lnSpc>
                <a:spcPct val="100000"/>
              </a:lnSpc>
              <a:spcBef>
                <a:spcPts val="10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Web applications</a:t>
            </a:r>
            <a:endParaRPr/>
          </a:p>
          <a:p>
            <a:pPr indent="-260350" lvl="1" marL="927100" marR="0" rtl="0" algn="l">
              <a:lnSpc>
                <a:spcPct val="100000"/>
              </a:lnSpc>
              <a:spcBef>
                <a:spcPts val="10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Mobile applications</a:t>
            </a:r>
            <a:endParaRPr/>
          </a:p>
          <a:p>
            <a:pPr indent="-110490" lvl="0" marL="290513" marR="0" rtl="0" algn="l">
              <a:lnSpc>
                <a:spcPct val="100000"/>
              </a:lnSpc>
              <a:spcBef>
                <a:spcPts val="1800"/>
              </a:spcBef>
              <a:spcAft>
                <a:spcPts val="0"/>
              </a:spcAft>
              <a:buClr>
                <a:schemeClr val="lt1"/>
              </a:buClr>
              <a:buSzPts val="1760"/>
              <a:buFont typeface="Arial"/>
              <a:buNone/>
            </a:pPr>
            <a:r>
              <a:t/>
            </a:r>
            <a:endParaRPr b="0" sz="2200">
              <a:solidFill>
                <a:schemeClr val="lt1"/>
              </a:solidFill>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6"/>
          <p:cNvSpPr/>
          <p:nvPr/>
        </p:nvSpPr>
        <p:spPr>
          <a:xfrm>
            <a:off x="182880" y="1752600"/>
            <a:ext cx="8763000" cy="4648200"/>
          </a:xfrm>
          <a:prstGeom prst="rect">
            <a:avLst/>
          </a:prstGeom>
          <a:solidFill>
            <a:srgbClr val="DBEEFF"/>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646" name="Google Shape;646;p16"/>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Let’s Try (1)</a:t>
            </a:r>
            <a:endParaRPr/>
          </a:p>
        </p:txBody>
      </p:sp>
      <p:sp>
        <p:nvSpPr>
          <p:cNvPr id="647" name="Google Shape;647;p16"/>
          <p:cNvSpPr txBox="1"/>
          <p:nvPr>
            <p:ph idx="1" type="body"/>
          </p:nvPr>
        </p:nvSpPr>
        <p:spPr>
          <a:xfrm>
            <a:off x="152400" y="1042416"/>
            <a:ext cx="8915400" cy="737616"/>
          </a:xfrm>
          <a:prstGeom prst="rect">
            <a:avLst/>
          </a:prstGeom>
          <a:noFill/>
          <a:ln>
            <a:noFill/>
          </a:ln>
        </p:spPr>
        <p:txBody>
          <a:bodyPr anchorCtr="0" anchor="t" bIns="45700" lIns="91425" spcFirstLastPara="1" rIns="91425" wrap="square" tIns="45700">
            <a:noAutofit/>
          </a:bodyPr>
          <a:lstStyle/>
          <a:p>
            <a:pPr indent="0" lvl="0" marL="131763" rtl="0" algn="l">
              <a:lnSpc>
                <a:spcPct val="87000"/>
              </a:lnSpc>
              <a:spcBef>
                <a:spcPts val="0"/>
              </a:spcBef>
              <a:spcAft>
                <a:spcPts val="0"/>
              </a:spcAft>
              <a:buSzPts val="2000"/>
              <a:buNone/>
            </a:pPr>
            <a:r>
              <a:rPr lang="en-US" sz="2000">
                <a:solidFill>
                  <a:srgbClr val="FFFF00"/>
                </a:solidFill>
              </a:rPr>
              <a:t>Observability</a:t>
            </a:r>
            <a:r>
              <a:rPr lang="en-US" sz="2000">
                <a:solidFill>
                  <a:srgbClr val="FFFFFF"/>
                </a:solidFill>
              </a:rPr>
              <a:t> and </a:t>
            </a:r>
            <a:r>
              <a:rPr lang="en-US" sz="2000">
                <a:solidFill>
                  <a:srgbClr val="FFFF00"/>
                </a:solidFill>
              </a:rPr>
              <a:t>controllability</a:t>
            </a:r>
            <a:r>
              <a:rPr lang="en-US" sz="2000">
                <a:solidFill>
                  <a:srgbClr val="FFFFFF"/>
                </a:solidFill>
              </a:rPr>
              <a:t> are two important concepts when it come to software testing. </a:t>
            </a:r>
            <a:endParaRPr sz="2000">
              <a:solidFill>
                <a:srgbClr val="000099"/>
              </a:solidFill>
              <a:latin typeface="Comic Sans MS"/>
              <a:ea typeface="Comic Sans MS"/>
              <a:cs typeface="Comic Sans MS"/>
              <a:sym typeface="Comic Sans MS"/>
            </a:endParaRPr>
          </a:p>
        </p:txBody>
      </p:sp>
      <p:sp>
        <p:nvSpPr>
          <p:cNvPr id="648" name="Google Shape;648;p16"/>
          <p:cNvSpPr txBox="1"/>
          <p:nvPr/>
        </p:nvSpPr>
        <p:spPr>
          <a:xfrm>
            <a:off x="121920" y="1856232"/>
            <a:ext cx="8869680" cy="4773168"/>
          </a:xfrm>
          <a:prstGeom prst="rect">
            <a:avLst/>
          </a:prstGeom>
          <a:noFill/>
          <a:ln>
            <a:noFill/>
          </a:ln>
        </p:spPr>
        <p:txBody>
          <a:bodyPr anchorCtr="0" anchor="t" bIns="45700" lIns="91425" spcFirstLastPara="1" rIns="91425" wrap="square" tIns="45700">
            <a:noAutofit/>
          </a:bodyPr>
          <a:lstStyle/>
          <a:p>
            <a:pPr indent="0" lvl="0" marL="131763" marR="0" rtl="0" algn="l">
              <a:lnSpc>
                <a:spcPct val="87000"/>
              </a:lnSpc>
              <a:spcBef>
                <a:spcPts val="0"/>
              </a:spcBef>
              <a:spcAft>
                <a:spcPts val="0"/>
              </a:spcAft>
              <a:buClr>
                <a:schemeClr val="lt1"/>
              </a:buClr>
              <a:buSzPts val="2000"/>
              <a:buFont typeface="Arial"/>
              <a:buNone/>
            </a:pPr>
            <a:r>
              <a:rPr b="1" lang="en-US" sz="2000">
                <a:solidFill>
                  <a:schemeClr val="dk1"/>
                </a:solidFill>
                <a:latin typeface="Verdana"/>
                <a:ea typeface="Verdana"/>
                <a:cs typeface="Verdana"/>
                <a:sym typeface="Verdana"/>
              </a:rPr>
              <a:t>Purpose:</a:t>
            </a:r>
            <a:r>
              <a:rPr b="0" lang="en-US" sz="2000">
                <a:solidFill>
                  <a:schemeClr val="dk1"/>
                </a:solidFill>
                <a:latin typeface="Verdana"/>
                <a:ea typeface="Verdana"/>
                <a:cs typeface="Verdana"/>
                <a:sym typeface="Verdana"/>
              </a:rPr>
              <a:t> recognize observability and controllability problems</a:t>
            </a:r>
            <a:endParaRPr/>
          </a:p>
          <a:p>
            <a:pPr indent="0" lvl="0" marL="131763" marR="0" rtl="0" algn="l">
              <a:lnSpc>
                <a:spcPct val="87000"/>
              </a:lnSpc>
              <a:spcBef>
                <a:spcPts val="3600"/>
              </a:spcBef>
              <a:spcAft>
                <a:spcPts val="0"/>
              </a:spcAft>
              <a:buClr>
                <a:schemeClr val="lt1"/>
              </a:buClr>
              <a:buSzPts val="2000"/>
              <a:buFont typeface="Arial"/>
              <a:buNone/>
            </a:pPr>
            <a:r>
              <a:rPr b="0" lang="en-US" sz="2000">
                <a:solidFill>
                  <a:srgbClr val="000099"/>
                </a:solidFill>
                <a:latin typeface="Verdana"/>
                <a:ea typeface="Verdana"/>
                <a:cs typeface="Verdana"/>
                <a:sym typeface="Verdana"/>
              </a:rPr>
              <a:t>Consider the following problems. Identify whether it relates to </a:t>
            </a:r>
            <a:r>
              <a:rPr b="1" lang="en-US" sz="2000">
                <a:solidFill>
                  <a:srgbClr val="000099"/>
                </a:solidFill>
                <a:latin typeface="Verdana"/>
                <a:ea typeface="Verdana"/>
                <a:cs typeface="Verdana"/>
                <a:sym typeface="Verdana"/>
              </a:rPr>
              <a:t>observability</a:t>
            </a:r>
            <a:r>
              <a:rPr b="0" lang="en-US" sz="2000">
                <a:solidFill>
                  <a:srgbClr val="000099"/>
                </a:solidFill>
                <a:latin typeface="Verdana"/>
                <a:ea typeface="Verdana"/>
                <a:cs typeface="Verdana"/>
                <a:sym typeface="Verdana"/>
              </a:rPr>
              <a:t> or </a:t>
            </a:r>
            <a:r>
              <a:rPr b="1" lang="en-US" sz="2000">
                <a:solidFill>
                  <a:srgbClr val="000099"/>
                </a:solidFill>
                <a:latin typeface="Verdana"/>
                <a:ea typeface="Verdana"/>
                <a:cs typeface="Verdana"/>
                <a:sym typeface="Verdana"/>
              </a:rPr>
              <a:t>controllability</a:t>
            </a:r>
            <a:r>
              <a:rPr b="0" lang="en-US" sz="2000">
                <a:solidFill>
                  <a:srgbClr val="000099"/>
                </a:solidFill>
                <a:latin typeface="Verdana"/>
                <a:ea typeface="Verdana"/>
                <a:cs typeface="Verdana"/>
                <a:sym typeface="Verdana"/>
              </a:rPr>
              <a:t>. What could be the cause(s) of the problems?</a:t>
            </a:r>
            <a:endParaRPr b="0" sz="2000">
              <a:solidFill>
                <a:schemeClr val="dk1"/>
              </a:solidFill>
              <a:latin typeface="Verdana"/>
              <a:ea typeface="Verdana"/>
              <a:cs typeface="Verdana"/>
              <a:sym typeface="Verdana"/>
            </a:endParaRPr>
          </a:p>
          <a:p>
            <a:pPr indent="-1639888" lvl="0" marL="1771650" marR="0" rtl="0" algn="l">
              <a:lnSpc>
                <a:spcPct val="87000"/>
              </a:lnSpc>
              <a:spcBef>
                <a:spcPts val="3000"/>
              </a:spcBef>
              <a:spcAft>
                <a:spcPts val="0"/>
              </a:spcAft>
              <a:buClr>
                <a:schemeClr val="lt1"/>
              </a:buClr>
              <a:buSzPts val="2000"/>
              <a:buFont typeface="Arial"/>
              <a:buNone/>
            </a:pPr>
            <a:r>
              <a:rPr b="0" lang="en-US" sz="2000">
                <a:solidFill>
                  <a:srgbClr val="000099"/>
                </a:solidFill>
                <a:latin typeface="Comic Sans MS"/>
                <a:ea typeface="Comic Sans MS"/>
                <a:cs typeface="Comic Sans MS"/>
                <a:sym typeface="Comic Sans MS"/>
              </a:rPr>
              <a:t>Developer 1: “I can’t really assert whether the method under test worked well”</a:t>
            </a:r>
            <a:endParaRPr/>
          </a:p>
          <a:p>
            <a:pPr indent="-1639888" lvl="0" marL="1771650" marR="0" rtl="0" algn="l">
              <a:lnSpc>
                <a:spcPct val="87000"/>
              </a:lnSpc>
              <a:spcBef>
                <a:spcPts val="2600"/>
              </a:spcBef>
              <a:spcAft>
                <a:spcPts val="0"/>
              </a:spcAft>
              <a:buClr>
                <a:schemeClr val="lt1"/>
              </a:buClr>
              <a:buSzPts val="2000"/>
              <a:buFont typeface="Arial"/>
              <a:buNone/>
            </a:pPr>
            <a:r>
              <a:rPr b="0" lang="en-US" sz="2000">
                <a:solidFill>
                  <a:srgbClr val="000099"/>
                </a:solidFill>
                <a:latin typeface="Comic Sans MS"/>
                <a:ea typeface="Comic Sans MS"/>
                <a:cs typeface="Comic Sans MS"/>
                <a:sym typeface="Comic Sans MS"/>
              </a:rPr>
              <a:t>Developer 2: “I need to make sure this class starts with that Boolean variable sets to false, but I simply can’t do it.” </a:t>
            </a:r>
            <a:endParaRPr/>
          </a:p>
          <a:p>
            <a:pPr indent="-1639888" lvl="0" marL="1771650" marR="0" rtl="0" algn="l">
              <a:lnSpc>
                <a:spcPct val="87000"/>
              </a:lnSpc>
              <a:spcBef>
                <a:spcPts val="2600"/>
              </a:spcBef>
              <a:spcAft>
                <a:spcPts val="0"/>
              </a:spcAft>
              <a:buClr>
                <a:schemeClr val="lt1"/>
              </a:buClr>
              <a:buSzPts val="2000"/>
              <a:buFont typeface="Arial"/>
              <a:buNone/>
            </a:pPr>
            <a:r>
              <a:rPr b="0" lang="en-US" sz="2000">
                <a:solidFill>
                  <a:srgbClr val="000099"/>
                </a:solidFill>
                <a:latin typeface="Comic Sans MS"/>
                <a:ea typeface="Comic Sans MS"/>
                <a:cs typeface="Comic Sans MS"/>
                <a:sym typeface="Comic Sans MS"/>
              </a:rPr>
              <a:t>Developer 3: “I instantiated this object, but there is no way to inject it into the class.”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7"/>
          <p:cNvSpPr/>
          <p:nvPr/>
        </p:nvSpPr>
        <p:spPr>
          <a:xfrm>
            <a:off x="182880" y="990600"/>
            <a:ext cx="8763000" cy="5562600"/>
          </a:xfrm>
          <a:prstGeom prst="rect">
            <a:avLst/>
          </a:prstGeom>
          <a:solidFill>
            <a:srgbClr val="DBEEFF"/>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655" name="Google Shape;655;p17"/>
          <p:cNvSpPr txBox="1"/>
          <p:nvPr/>
        </p:nvSpPr>
        <p:spPr>
          <a:xfrm>
            <a:off x="304800" y="1219200"/>
            <a:ext cx="8458200" cy="4953000"/>
          </a:xfrm>
          <a:prstGeom prst="rect">
            <a:avLst/>
          </a:prstGeom>
          <a:noFill/>
          <a:ln>
            <a:noFill/>
          </a:ln>
        </p:spPr>
        <p:txBody>
          <a:bodyPr anchorCtr="0" anchor="t" bIns="45700" lIns="91425" spcFirstLastPara="1" rIns="91425" wrap="square" tIns="45700">
            <a:noAutofit/>
          </a:bodyPr>
          <a:lstStyle/>
          <a:p>
            <a:pPr indent="0" lvl="0" marL="131763" marR="0" rtl="0" algn="l">
              <a:lnSpc>
                <a:spcPct val="87000"/>
              </a:lnSpc>
              <a:spcBef>
                <a:spcPts val="0"/>
              </a:spcBef>
              <a:spcAft>
                <a:spcPts val="0"/>
              </a:spcAft>
              <a:buClr>
                <a:srgbClr val="000099"/>
              </a:buClr>
              <a:buSzPts val="2000"/>
              <a:buFont typeface="Arial"/>
              <a:buNone/>
            </a:pPr>
            <a:r>
              <a:rPr b="1" lang="en-US" sz="2000">
                <a:solidFill>
                  <a:schemeClr val="dk1"/>
                </a:solidFill>
                <a:latin typeface="Verdana"/>
                <a:ea typeface="Verdana"/>
                <a:cs typeface="Verdana"/>
                <a:sym typeface="Verdana"/>
              </a:rPr>
              <a:t>Purpose:</a:t>
            </a:r>
            <a:r>
              <a:rPr b="0" lang="en-US" sz="2000">
                <a:solidFill>
                  <a:schemeClr val="dk1"/>
                </a:solidFill>
                <a:latin typeface="Verdana"/>
                <a:ea typeface="Verdana"/>
                <a:cs typeface="Verdana"/>
                <a:sym typeface="Verdana"/>
              </a:rPr>
              <a:t> reflect on your program, and recognize observability and controllability problems</a:t>
            </a:r>
            <a:endParaRPr/>
          </a:p>
          <a:p>
            <a:pPr indent="0" lvl="0" marL="131763" marR="0" rtl="0" algn="l">
              <a:lnSpc>
                <a:spcPct val="87000"/>
              </a:lnSpc>
              <a:spcBef>
                <a:spcPts val="800"/>
              </a:spcBef>
              <a:spcAft>
                <a:spcPts val="0"/>
              </a:spcAft>
              <a:buClr>
                <a:srgbClr val="000099"/>
              </a:buClr>
              <a:buSzPts val="2000"/>
              <a:buFont typeface="Arial"/>
              <a:buNone/>
            </a:pPr>
            <a:r>
              <a:t/>
            </a:r>
            <a:endParaRPr b="0" sz="2000">
              <a:solidFill>
                <a:srgbClr val="000099"/>
              </a:solidFill>
              <a:latin typeface="Verdana"/>
              <a:ea typeface="Verdana"/>
              <a:cs typeface="Verdana"/>
              <a:sym typeface="Verdana"/>
            </a:endParaRPr>
          </a:p>
          <a:p>
            <a:pPr indent="0" lvl="0" marL="131763" marR="0" rtl="0" algn="l">
              <a:lnSpc>
                <a:spcPct val="87000"/>
              </a:lnSpc>
              <a:spcBef>
                <a:spcPts val="800"/>
              </a:spcBef>
              <a:spcAft>
                <a:spcPts val="0"/>
              </a:spcAft>
              <a:buClr>
                <a:srgbClr val="000099"/>
              </a:buClr>
              <a:buSzPts val="2000"/>
              <a:buFont typeface="Arial"/>
              <a:buNone/>
            </a:pPr>
            <a:r>
              <a:rPr b="0" lang="en-US" sz="2000">
                <a:solidFill>
                  <a:srgbClr val="000099"/>
                </a:solidFill>
                <a:latin typeface="Verdana"/>
                <a:ea typeface="Verdana"/>
                <a:cs typeface="Verdana"/>
                <a:sym typeface="Verdana"/>
              </a:rPr>
              <a:t>Work with your peers. Think about your current program/project (or the program you recently developed):</a:t>
            </a:r>
            <a:endParaRPr/>
          </a:p>
          <a:p>
            <a:pPr indent="0" lvl="0" marL="131763" marR="0" rtl="0" algn="l">
              <a:lnSpc>
                <a:spcPct val="87000"/>
              </a:lnSpc>
              <a:spcBef>
                <a:spcPts val="0"/>
              </a:spcBef>
              <a:spcAft>
                <a:spcPts val="0"/>
              </a:spcAft>
              <a:buClr>
                <a:srgbClr val="000099"/>
              </a:buClr>
              <a:buSzPts val="2000"/>
              <a:buFont typeface="Arial"/>
              <a:buNone/>
            </a:pPr>
            <a:r>
              <a:t/>
            </a:r>
            <a:endParaRPr b="0" sz="2000">
              <a:solidFill>
                <a:srgbClr val="000099"/>
              </a:solidFill>
              <a:latin typeface="Verdana"/>
              <a:ea typeface="Verdana"/>
              <a:cs typeface="Verdana"/>
              <a:sym typeface="Verdana"/>
            </a:endParaRPr>
          </a:p>
          <a:p>
            <a:pPr indent="0" lvl="0" marL="395287" marR="0" rtl="0" algn="l">
              <a:lnSpc>
                <a:spcPct val="87000"/>
              </a:lnSpc>
              <a:spcBef>
                <a:spcPts val="1200"/>
              </a:spcBef>
              <a:spcAft>
                <a:spcPts val="0"/>
              </a:spcAft>
              <a:buClr>
                <a:srgbClr val="000099"/>
              </a:buClr>
              <a:buSzPts val="2000"/>
              <a:buFont typeface="Arial"/>
              <a:buNone/>
            </a:pPr>
            <a:r>
              <a:rPr b="0" lang="en-US" sz="2000">
                <a:solidFill>
                  <a:srgbClr val="000099"/>
                </a:solidFill>
                <a:latin typeface="Verdana"/>
                <a:ea typeface="Verdana"/>
                <a:cs typeface="Verdana"/>
                <a:sym typeface="Verdana"/>
              </a:rPr>
              <a:t>Are parts of it hard to test? Can you explain why?</a:t>
            </a:r>
            <a:endParaRPr/>
          </a:p>
          <a:p>
            <a:pPr indent="-214313" lvl="0" marL="922338" marR="0" rtl="0" algn="l">
              <a:lnSpc>
                <a:spcPct val="87000"/>
              </a:lnSpc>
              <a:spcBef>
                <a:spcPts val="800"/>
              </a:spcBef>
              <a:spcAft>
                <a:spcPts val="0"/>
              </a:spcAft>
              <a:buClr>
                <a:srgbClr val="000099"/>
              </a:buClr>
              <a:buSzPts val="2000"/>
              <a:buFont typeface="Arial"/>
              <a:buChar char="•"/>
            </a:pPr>
            <a:r>
              <a:rPr b="0" lang="en-US" sz="2000">
                <a:solidFill>
                  <a:srgbClr val="000099"/>
                </a:solidFill>
                <a:latin typeface="Verdana"/>
                <a:ea typeface="Verdana"/>
                <a:cs typeface="Verdana"/>
                <a:sym typeface="Verdana"/>
              </a:rPr>
              <a:t>What is a specific thing that reduces controllability?</a:t>
            </a:r>
            <a:endParaRPr/>
          </a:p>
          <a:p>
            <a:pPr indent="-214313" lvl="0" marL="922338" marR="0" rtl="0" algn="l">
              <a:lnSpc>
                <a:spcPct val="87000"/>
              </a:lnSpc>
              <a:spcBef>
                <a:spcPts val="800"/>
              </a:spcBef>
              <a:spcAft>
                <a:spcPts val="0"/>
              </a:spcAft>
              <a:buClr>
                <a:srgbClr val="000099"/>
              </a:buClr>
              <a:buSzPts val="2000"/>
              <a:buFont typeface="Arial"/>
              <a:buChar char="•"/>
            </a:pPr>
            <a:r>
              <a:rPr b="0" lang="en-US" sz="2000">
                <a:solidFill>
                  <a:srgbClr val="000099"/>
                </a:solidFill>
                <a:latin typeface="Verdana"/>
                <a:ea typeface="Verdana"/>
                <a:cs typeface="Verdana"/>
                <a:sym typeface="Verdana"/>
              </a:rPr>
              <a:t>What is a specific thing that reduces observability?</a:t>
            </a:r>
            <a:endParaRPr/>
          </a:p>
          <a:p>
            <a:pPr indent="-214313" lvl="0" marL="922338" marR="0" rtl="0" algn="l">
              <a:lnSpc>
                <a:spcPct val="87000"/>
              </a:lnSpc>
              <a:spcBef>
                <a:spcPts val="800"/>
              </a:spcBef>
              <a:spcAft>
                <a:spcPts val="0"/>
              </a:spcAft>
              <a:buClr>
                <a:srgbClr val="000099"/>
              </a:buClr>
              <a:buSzPts val="2000"/>
              <a:buFont typeface="Arial"/>
              <a:buChar char="•"/>
            </a:pPr>
            <a:r>
              <a:rPr b="0" lang="en-US" sz="2000">
                <a:solidFill>
                  <a:srgbClr val="000099"/>
                </a:solidFill>
                <a:latin typeface="Verdana"/>
                <a:ea typeface="Verdana"/>
                <a:cs typeface="Verdana"/>
                <a:sym typeface="Verdana"/>
              </a:rPr>
              <a:t>What can you do to make it more testable?</a:t>
            </a:r>
            <a:endParaRPr/>
          </a:p>
          <a:p>
            <a:pPr indent="0" lvl="0" marL="395287" marR="0" rtl="0" algn="l">
              <a:lnSpc>
                <a:spcPct val="87000"/>
              </a:lnSpc>
              <a:spcBef>
                <a:spcPts val="2400"/>
              </a:spcBef>
              <a:spcAft>
                <a:spcPts val="0"/>
              </a:spcAft>
              <a:buClr>
                <a:srgbClr val="000099"/>
              </a:buClr>
              <a:buSzPts val="2000"/>
              <a:buFont typeface="Arial"/>
              <a:buNone/>
            </a:pPr>
            <a:r>
              <a:rPr b="0" lang="en-US" sz="2000">
                <a:solidFill>
                  <a:srgbClr val="000099"/>
                </a:solidFill>
                <a:latin typeface="Verdana"/>
                <a:ea typeface="Verdana"/>
                <a:cs typeface="Verdana"/>
                <a:sym typeface="Verdana"/>
              </a:rPr>
              <a:t>If nothing is hard to test, can you explain why?</a:t>
            </a:r>
            <a:endParaRPr/>
          </a:p>
          <a:p>
            <a:pPr indent="-214313" lvl="0" marL="922338" marR="0" rtl="0" algn="l">
              <a:lnSpc>
                <a:spcPct val="87000"/>
              </a:lnSpc>
              <a:spcBef>
                <a:spcPts val="800"/>
              </a:spcBef>
              <a:spcAft>
                <a:spcPts val="0"/>
              </a:spcAft>
              <a:buClr>
                <a:srgbClr val="000099"/>
              </a:buClr>
              <a:buSzPts val="2000"/>
              <a:buFont typeface="Arial"/>
              <a:buChar char="•"/>
            </a:pPr>
            <a:r>
              <a:rPr b="0" lang="en-US" sz="2000">
                <a:solidFill>
                  <a:srgbClr val="000099"/>
                </a:solidFill>
                <a:latin typeface="Verdana"/>
                <a:ea typeface="Verdana"/>
                <a:cs typeface="Verdana"/>
                <a:sym typeface="Verdana"/>
              </a:rPr>
              <a:t>What is a specific thing that increases controllability?</a:t>
            </a:r>
            <a:endParaRPr/>
          </a:p>
          <a:p>
            <a:pPr indent="-214313" lvl="0" marL="922338" marR="0" rtl="0" algn="l">
              <a:lnSpc>
                <a:spcPct val="87000"/>
              </a:lnSpc>
              <a:spcBef>
                <a:spcPts val="800"/>
              </a:spcBef>
              <a:spcAft>
                <a:spcPts val="0"/>
              </a:spcAft>
              <a:buClr>
                <a:srgbClr val="000099"/>
              </a:buClr>
              <a:buSzPts val="2000"/>
              <a:buFont typeface="Arial"/>
              <a:buChar char="•"/>
            </a:pPr>
            <a:r>
              <a:rPr b="0" lang="en-US" sz="2000">
                <a:solidFill>
                  <a:srgbClr val="000099"/>
                </a:solidFill>
                <a:latin typeface="Verdana"/>
                <a:ea typeface="Verdana"/>
                <a:cs typeface="Verdana"/>
                <a:sym typeface="Verdana"/>
              </a:rPr>
              <a:t>What is a specific thing that increases observability?</a:t>
            </a:r>
            <a:endParaRPr/>
          </a:p>
        </p:txBody>
      </p:sp>
      <p:sp>
        <p:nvSpPr>
          <p:cNvPr id="656" name="Google Shape;656;p17"/>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Let’s Try (2)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8"/>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Rules of Thumb</a:t>
            </a:r>
            <a:endParaRPr/>
          </a:p>
        </p:txBody>
      </p:sp>
      <p:sp>
        <p:nvSpPr>
          <p:cNvPr id="663" name="Google Shape;663;p18"/>
          <p:cNvSpPr txBox="1"/>
          <p:nvPr>
            <p:ph idx="1" type="body"/>
          </p:nvPr>
        </p:nvSpPr>
        <p:spPr>
          <a:xfrm>
            <a:off x="228600" y="1118616"/>
            <a:ext cx="8915400" cy="1167384"/>
          </a:xfrm>
          <a:prstGeom prst="rect">
            <a:avLst/>
          </a:prstGeom>
          <a:noFill/>
          <a:ln>
            <a:noFill/>
          </a:ln>
        </p:spPr>
        <p:txBody>
          <a:bodyPr anchorCtr="0" anchor="t" bIns="45700" lIns="91425" spcFirstLastPara="1" rIns="91425" wrap="square" tIns="45700">
            <a:noAutofit/>
          </a:bodyPr>
          <a:lstStyle/>
          <a:p>
            <a:pPr indent="-444500" lvl="0" marL="576263" rtl="0" algn="l">
              <a:lnSpc>
                <a:spcPct val="87000"/>
              </a:lnSpc>
              <a:spcBef>
                <a:spcPts val="0"/>
              </a:spcBef>
              <a:spcAft>
                <a:spcPts val="0"/>
              </a:spcAft>
              <a:buSzPts val="2000"/>
              <a:buFont typeface="Century Schoolbook"/>
              <a:buAutoNum type="arabicPeriod"/>
            </a:pPr>
            <a:r>
              <a:rPr lang="en-US" sz="2000">
                <a:solidFill>
                  <a:srgbClr val="FFFFFF"/>
                </a:solidFill>
              </a:rPr>
              <a:t>Design and implement your software for testability</a:t>
            </a:r>
            <a:endParaRPr/>
          </a:p>
          <a:p>
            <a:pPr indent="-444500" lvl="0" marL="576263" rtl="0" algn="l">
              <a:lnSpc>
                <a:spcPct val="87000"/>
              </a:lnSpc>
              <a:spcBef>
                <a:spcPts val="1600"/>
              </a:spcBef>
              <a:spcAft>
                <a:spcPts val="0"/>
              </a:spcAft>
              <a:buSzPts val="2000"/>
              <a:buFont typeface="Century Schoolbook"/>
              <a:buAutoNum type="arabicPeriod"/>
            </a:pPr>
            <a:r>
              <a:rPr lang="en-US" sz="2000">
                <a:solidFill>
                  <a:srgbClr val="FFFFFF"/>
                </a:solidFill>
              </a:rPr>
              <a:t>Create good test code</a:t>
            </a:r>
            <a:endParaRPr/>
          </a:p>
        </p:txBody>
      </p:sp>
      <p:sp>
        <p:nvSpPr>
          <p:cNvPr id="664" name="Google Shape;664;p18"/>
          <p:cNvSpPr txBox="1"/>
          <p:nvPr/>
        </p:nvSpPr>
        <p:spPr>
          <a:xfrm>
            <a:off x="228600" y="2819400"/>
            <a:ext cx="8763000" cy="2362200"/>
          </a:xfrm>
          <a:prstGeom prst="rect">
            <a:avLst/>
          </a:prstGeom>
          <a:solidFill>
            <a:srgbClr val="000099"/>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180975" marR="0" rtl="0" algn="l">
              <a:lnSpc>
                <a:spcPct val="87000"/>
              </a:lnSpc>
              <a:spcBef>
                <a:spcPts val="0"/>
              </a:spcBef>
              <a:spcAft>
                <a:spcPts val="0"/>
              </a:spcAft>
              <a:buClr>
                <a:schemeClr val="lt1"/>
              </a:buClr>
              <a:buSzPts val="1900"/>
              <a:buFont typeface="Arial"/>
              <a:buNone/>
            </a:pPr>
            <a:r>
              <a:rPr b="0" lang="en-US" sz="1900">
                <a:solidFill>
                  <a:srgbClr val="FFFFFF"/>
                </a:solidFill>
                <a:latin typeface="Verdana"/>
                <a:ea typeface="Verdana"/>
                <a:cs typeface="Verdana"/>
                <a:sym typeface="Verdana"/>
              </a:rPr>
              <a:t>If it is difficult to test your code, there may be problems with your design and implementation. </a:t>
            </a:r>
            <a:endParaRPr/>
          </a:p>
          <a:p>
            <a:pPr indent="0" lvl="0" marL="180975" marR="0" rtl="0" algn="l">
              <a:lnSpc>
                <a:spcPct val="87000"/>
              </a:lnSpc>
              <a:spcBef>
                <a:spcPts val="1600"/>
              </a:spcBef>
              <a:spcAft>
                <a:spcPts val="0"/>
              </a:spcAft>
              <a:buClr>
                <a:schemeClr val="lt1"/>
              </a:buClr>
              <a:buSzPts val="1900"/>
              <a:buFont typeface="Arial"/>
              <a:buNone/>
            </a:pPr>
            <a:r>
              <a:rPr b="0" lang="en-US" sz="1900">
                <a:solidFill>
                  <a:srgbClr val="FFFFFF"/>
                </a:solidFill>
                <a:latin typeface="Verdana"/>
                <a:ea typeface="Verdana"/>
                <a:cs typeface="Verdana"/>
                <a:sym typeface="Verdana"/>
              </a:rPr>
              <a:t>Writing testable code is harder than writing untestable code.</a:t>
            </a:r>
            <a:endParaRPr/>
          </a:p>
          <a:p>
            <a:pPr indent="0" lvl="0" marL="180975" marR="0" rtl="0" algn="l">
              <a:lnSpc>
                <a:spcPct val="87000"/>
              </a:lnSpc>
              <a:spcBef>
                <a:spcPts val="1600"/>
              </a:spcBef>
              <a:spcAft>
                <a:spcPts val="0"/>
              </a:spcAft>
              <a:buClr>
                <a:schemeClr val="lt1"/>
              </a:buClr>
              <a:buSzPts val="1900"/>
              <a:buFont typeface="Arial"/>
              <a:buNone/>
            </a:pPr>
            <a:r>
              <a:rPr b="0" lang="en-US" sz="1900">
                <a:solidFill>
                  <a:srgbClr val="FFFFFF"/>
                </a:solidFill>
                <a:latin typeface="Verdana"/>
                <a:ea typeface="Verdana"/>
                <a:cs typeface="Verdana"/>
                <a:sym typeface="Verdana"/>
              </a:rPr>
              <a:t>Solving design problems will solve testing problems.</a:t>
            </a:r>
            <a:endParaRPr/>
          </a:p>
          <a:p>
            <a:pPr indent="0" lvl="0" marL="180975" marR="0" rtl="0" algn="l">
              <a:lnSpc>
                <a:spcPct val="87000"/>
              </a:lnSpc>
              <a:spcBef>
                <a:spcPts val="1600"/>
              </a:spcBef>
              <a:spcAft>
                <a:spcPts val="0"/>
              </a:spcAft>
              <a:buClr>
                <a:schemeClr val="lt1"/>
              </a:buClr>
              <a:buSzPts val="1900"/>
              <a:buFont typeface="Arial"/>
              <a:buNone/>
            </a:pPr>
            <a:r>
              <a:rPr b="0" lang="en-US" sz="1900">
                <a:solidFill>
                  <a:srgbClr val="FFFFFF"/>
                </a:solidFill>
                <a:latin typeface="Verdana"/>
                <a:ea typeface="Verdana"/>
                <a:cs typeface="Verdana"/>
                <a:sym typeface="Verdana"/>
              </a:rPr>
              <a:t>Making code testable does not necessarily make the design better.</a:t>
            </a:r>
            <a:endParaRPr/>
          </a:p>
        </p:txBody>
      </p:sp>
      <p:sp>
        <p:nvSpPr>
          <p:cNvPr id="665" name="Google Shape;665;p18"/>
          <p:cNvSpPr/>
          <p:nvPr/>
        </p:nvSpPr>
        <p:spPr>
          <a:xfrm>
            <a:off x="228600" y="5410200"/>
            <a:ext cx="8763000" cy="45720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2000">
                <a:solidFill>
                  <a:schemeClr val="lt1"/>
                </a:solidFill>
                <a:latin typeface="Verdana"/>
                <a:ea typeface="Verdana"/>
                <a:cs typeface="Verdana"/>
                <a:sym typeface="Verdana"/>
              </a:rPr>
              <a:t>Design for testability is fundamental for systematic testing</a:t>
            </a:r>
            <a:endParaRPr b="1" sz="2000">
              <a:solidFill>
                <a:schemeClr val="lt1"/>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9"/>
          <p:cNvSpPr txBox="1"/>
          <p:nvPr>
            <p:ph type="title"/>
          </p:nvPr>
        </p:nvSpPr>
        <p:spPr>
          <a:xfrm>
            <a:off x="0" y="7620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75000"/>
              </a:lnSpc>
              <a:spcBef>
                <a:spcPts val="0"/>
              </a:spcBef>
              <a:spcAft>
                <a:spcPts val="0"/>
              </a:spcAft>
              <a:buClr>
                <a:srgbClr val="FFFF00"/>
              </a:buClr>
              <a:buSzPts val="3600"/>
              <a:buFont typeface="Verdana"/>
              <a:buNone/>
            </a:pPr>
            <a:r>
              <a:rPr b="0" lang="en-US" sz="3600"/>
              <a:t>(Some) </a:t>
            </a:r>
            <a:r>
              <a:rPr lang="en-US" sz="3600"/>
              <a:t>Design Ideas for Testability</a:t>
            </a:r>
            <a:endParaRPr/>
          </a:p>
        </p:txBody>
      </p:sp>
      <p:sp>
        <p:nvSpPr>
          <p:cNvPr id="672" name="Google Shape;672;p19"/>
          <p:cNvSpPr txBox="1"/>
          <p:nvPr>
            <p:ph idx="1" type="body"/>
          </p:nvPr>
        </p:nvSpPr>
        <p:spPr>
          <a:xfrm>
            <a:off x="228600" y="1042416"/>
            <a:ext cx="8686800" cy="5413248"/>
          </a:xfrm>
          <a:prstGeom prst="rect">
            <a:avLst/>
          </a:prstGeom>
          <a:noFill/>
          <a:ln>
            <a:noFill/>
          </a:ln>
        </p:spPr>
        <p:txBody>
          <a:bodyPr anchorCtr="0" anchor="t" bIns="45700" lIns="91425" spcFirstLastPara="1" rIns="91425" wrap="square" tIns="45700">
            <a:noAutofit/>
          </a:bodyPr>
          <a:lstStyle/>
          <a:p>
            <a:pPr indent="-444500" lvl="0" marL="576263" rtl="0" algn="l">
              <a:lnSpc>
                <a:spcPct val="90000"/>
              </a:lnSpc>
              <a:spcBef>
                <a:spcPts val="0"/>
              </a:spcBef>
              <a:spcAft>
                <a:spcPts val="0"/>
              </a:spcAft>
              <a:buSzPts val="1900"/>
              <a:buFont typeface="Century Schoolbook"/>
              <a:buAutoNum type="arabicPeriod"/>
            </a:pPr>
            <a:r>
              <a:rPr lang="en-US" sz="1900">
                <a:solidFill>
                  <a:srgbClr val="FFFFFF"/>
                </a:solidFill>
              </a:rPr>
              <a:t>Separate the infrastructure from the domain code</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If a class depends on another class, make it in a way that the dependency can easily be replaced by a mock, fake, or stub</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Make your classes and methods observable</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Passing values via method parameters to simplify the callers, instead of passing dependency via a constructor</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Focus on a single responsibility</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Try to minimize coupling </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Keep Boolean expressions small and simple</a:t>
            </a:r>
            <a:endParaRPr/>
          </a:p>
          <a:p>
            <a:pPr indent="-444500" lvl="0" marL="576263" rtl="0" algn="l">
              <a:lnSpc>
                <a:spcPct val="90000"/>
              </a:lnSpc>
              <a:spcBef>
                <a:spcPts val="1800"/>
              </a:spcBef>
              <a:spcAft>
                <a:spcPts val="0"/>
              </a:spcAft>
              <a:buSzPts val="1900"/>
              <a:buFont typeface="Century Schoolbook"/>
              <a:buAutoNum type="arabicPeriod"/>
            </a:pPr>
            <a:r>
              <a:rPr lang="en-US" sz="1900">
                <a:solidFill>
                  <a:srgbClr val="FFFFFF"/>
                </a:solidFill>
              </a:rPr>
              <a:t>If you need to test a private method, this private method may not belong in its current place 🡪 refactor your code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20"/>
          <p:cNvSpPr/>
          <p:nvPr/>
        </p:nvSpPr>
        <p:spPr>
          <a:xfrm>
            <a:off x="182880" y="1042416"/>
            <a:ext cx="8763000" cy="5513832"/>
          </a:xfrm>
          <a:prstGeom prst="rect">
            <a:avLst/>
          </a:prstGeom>
          <a:solidFill>
            <a:srgbClr val="DBEEFF"/>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679" name="Google Shape;679;p20"/>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Let’s Try (3)</a:t>
            </a:r>
            <a:endParaRPr/>
          </a:p>
        </p:txBody>
      </p:sp>
      <p:sp>
        <p:nvSpPr>
          <p:cNvPr id="680" name="Google Shape;680;p20"/>
          <p:cNvSpPr txBox="1"/>
          <p:nvPr>
            <p:ph idx="1" type="body"/>
          </p:nvPr>
        </p:nvSpPr>
        <p:spPr>
          <a:xfrm>
            <a:off x="152400" y="1115568"/>
            <a:ext cx="8686800" cy="5513832"/>
          </a:xfrm>
          <a:prstGeom prst="rect">
            <a:avLst/>
          </a:prstGeom>
          <a:noFill/>
          <a:ln>
            <a:noFill/>
          </a:ln>
        </p:spPr>
        <p:txBody>
          <a:bodyPr anchorCtr="0" anchor="t" bIns="45700" lIns="91425" spcFirstLastPara="1" rIns="91425" wrap="square" tIns="45700">
            <a:noAutofit/>
          </a:bodyPr>
          <a:lstStyle/>
          <a:p>
            <a:pPr indent="0" lvl="0" marL="131763" rtl="0" algn="l">
              <a:lnSpc>
                <a:spcPct val="87000"/>
              </a:lnSpc>
              <a:spcBef>
                <a:spcPts val="0"/>
              </a:spcBef>
              <a:spcAft>
                <a:spcPts val="0"/>
              </a:spcAft>
              <a:buSzPts val="2000"/>
              <a:buNone/>
            </a:pPr>
            <a:r>
              <a:rPr b="1" lang="en-US" sz="2000">
                <a:solidFill>
                  <a:schemeClr val="dk1"/>
                </a:solidFill>
              </a:rPr>
              <a:t>Purpose:</a:t>
            </a:r>
            <a:r>
              <a:rPr lang="en-US" sz="2000">
                <a:solidFill>
                  <a:schemeClr val="dk1"/>
                </a:solidFill>
              </a:rPr>
              <a:t> Think about ways to increase the testability</a:t>
            </a:r>
            <a:endParaRPr/>
          </a:p>
          <a:p>
            <a:pPr indent="0" lvl="0" marL="131763" rtl="0" algn="l">
              <a:lnSpc>
                <a:spcPct val="87000"/>
              </a:lnSpc>
              <a:spcBef>
                <a:spcPts val="600"/>
              </a:spcBef>
              <a:spcAft>
                <a:spcPts val="0"/>
              </a:spcAft>
              <a:buSzPts val="2000"/>
              <a:buNone/>
            </a:pPr>
            <a:r>
              <a:t/>
            </a:r>
            <a:endParaRPr sz="2000">
              <a:solidFill>
                <a:srgbClr val="000099"/>
              </a:solidFill>
            </a:endParaRPr>
          </a:p>
          <a:p>
            <a:pPr indent="0" lvl="0" marL="131763" rtl="0" algn="l">
              <a:lnSpc>
                <a:spcPct val="87000"/>
              </a:lnSpc>
              <a:spcBef>
                <a:spcPts val="600"/>
              </a:spcBef>
              <a:spcAft>
                <a:spcPts val="0"/>
              </a:spcAft>
              <a:buSzPts val="1800"/>
              <a:buNone/>
            </a:pPr>
            <a:r>
              <a:rPr lang="en-US" sz="1800">
                <a:solidFill>
                  <a:srgbClr val="000099"/>
                </a:solidFill>
              </a:rPr>
              <a:t>Upsorn has joined a web app team that has been trying to write automated tests for a while. The team wants to write unit tests for part of their code, but “</a:t>
            </a:r>
            <a:r>
              <a:rPr lang="en-US" sz="1800">
                <a:solidFill>
                  <a:srgbClr val="000099"/>
                </a:solidFill>
                <a:latin typeface="Comic Sans MS"/>
                <a:ea typeface="Comic Sans MS"/>
                <a:cs typeface="Comic Sans MS"/>
                <a:sym typeface="Comic Sans MS"/>
              </a:rPr>
              <a:t>it is really hard</a:t>
            </a:r>
            <a:r>
              <a:rPr lang="en-US" sz="1800">
                <a:solidFill>
                  <a:srgbClr val="000099"/>
                </a:solidFill>
              </a:rPr>
              <a:t>” according to the developers. </a:t>
            </a:r>
            <a:endParaRPr/>
          </a:p>
          <a:p>
            <a:pPr indent="0" lvl="0" marL="131763" rtl="0" algn="l">
              <a:lnSpc>
                <a:spcPct val="87000"/>
              </a:lnSpc>
              <a:spcBef>
                <a:spcPts val="2000"/>
              </a:spcBef>
              <a:spcAft>
                <a:spcPts val="0"/>
              </a:spcAft>
              <a:buSzPts val="1800"/>
              <a:buNone/>
            </a:pPr>
            <a:r>
              <a:rPr lang="en-US" sz="1800">
                <a:solidFill>
                  <a:srgbClr val="000099"/>
                </a:solidFill>
              </a:rPr>
              <a:t>After some code review, the developers listed the following problems:</a:t>
            </a:r>
            <a:endParaRPr/>
          </a:p>
          <a:p>
            <a:pPr indent="0" lvl="0" marL="131763" rtl="0" algn="l">
              <a:lnSpc>
                <a:spcPct val="87000"/>
              </a:lnSpc>
              <a:spcBef>
                <a:spcPts val="0"/>
              </a:spcBef>
              <a:spcAft>
                <a:spcPts val="0"/>
              </a:spcAft>
              <a:buSzPts val="1800"/>
              <a:buNone/>
            </a:pPr>
            <a:r>
              <a:t/>
            </a:r>
            <a:endParaRPr sz="1800">
              <a:solidFill>
                <a:srgbClr val="000099"/>
              </a:solidFill>
            </a:endParaRPr>
          </a:p>
          <a:p>
            <a:pPr indent="-349250" lvl="0" marL="752475" rtl="0" algn="l">
              <a:lnSpc>
                <a:spcPct val="87000"/>
              </a:lnSpc>
              <a:spcBef>
                <a:spcPts val="200"/>
              </a:spcBef>
              <a:spcAft>
                <a:spcPts val="0"/>
              </a:spcAft>
              <a:buClr>
                <a:srgbClr val="000099"/>
              </a:buClr>
              <a:buSzPts val="1800"/>
              <a:buAutoNum type="arabicPeriod"/>
            </a:pPr>
            <a:r>
              <a:rPr lang="en-US" sz="1800">
                <a:solidFill>
                  <a:srgbClr val="000099"/>
                </a:solidFill>
                <a:latin typeface="Comic Sans MS"/>
                <a:ea typeface="Comic Sans MS"/>
                <a:cs typeface="Comic Sans MS"/>
                <a:sym typeface="Comic Sans MS"/>
              </a:rPr>
              <a:t>Many classes mix infrastructure and business rules</a:t>
            </a:r>
            <a:endParaRPr/>
          </a:p>
          <a:p>
            <a:pPr indent="-349250" lvl="0" marL="752475" rtl="0" algn="l">
              <a:lnSpc>
                <a:spcPct val="87000"/>
              </a:lnSpc>
              <a:spcBef>
                <a:spcPts val="200"/>
              </a:spcBef>
              <a:spcAft>
                <a:spcPts val="0"/>
              </a:spcAft>
              <a:buClr>
                <a:srgbClr val="000099"/>
              </a:buClr>
              <a:buSzPts val="1800"/>
              <a:buAutoNum type="arabicPeriod"/>
            </a:pPr>
            <a:r>
              <a:rPr lang="en-US" sz="1800">
                <a:solidFill>
                  <a:srgbClr val="000099"/>
                </a:solidFill>
                <a:latin typeface="Comic Sans MS"/>
                <a:ea typeface="Comic Sans MS"/>
                <a:cs typeface="Comic Sans MS"/>
                <a:sym typeface="Comic Sans MS"/>
              </a:rPr>
              <a:t>The database has large tables and no indexes</a:t>
            </a:r>
            <a:endParaRPr/>
          </a:p>
          <a:p>
            <a:pPr indent="-349250" lvl="0" marL="752475" rtl="0" algn="l">
              <a:lnSpc>
                <a:spcPct val="87000"/>
              </a:lnSpc>
              <a:spcBef>
                <a:spcPts val="200"/>
              </a:spcBef>
              <a:spcAft>
                <a:spcPts val="0"/>
              </a:spcAft>
              <a:buClr>
                <a:srgbClr val="000099"/>
              </a:buClr>
              <a:buSzPts val="1800"/>
              <a:buAutoNum type="arabicPeriod"/>
            </a:pPr>
            <a:r>
              <a:rPr lang="en-US" sz="1800">
                <a:solidFill>
                  <a:srgbClr val="000099"/>
                </a:solidFill>
                <a:latin typeface="Comic Sans MS"/>
                <a:ea typeface="Comic Sans MS"/>
                <a:cs typeface="Comic Sans MS"/>
                <a:sym typeface="Comic Sans MS"/>
              </a:rPr>
              <a:t>There are lots of calls to libraries and external APIs</a:t>
            </a:r>
            <a:endParaRPr/>
          </a:p>
          <a:p>
            <a:pPr indent="-349250" lvl="0" marL="752475" rtl="0" algn="l">
              <a:lnSpc>
                <a:spcPct val="87000"/>
              </a:lnSpc>
              <a:spcBef>
                <a:spcPts val="200"/>
              </a:spcBef>
              <a:spcAft>
                <a:spcPts val="0"/>
              </a:spcAft>
              <a:buClr>
                <a:srgbClr val="000099"/>
              </a:buClr>
              <a:buSzPts val="1800"/>
              <a:buAutoNum type="arabicPeriod"/>
            </a:pPr>
            <a:r>
              <a:rPr lang="en-US" sz="1800">
                <a:solidFill>
                  <a:srgbClr val="000099"/>
                </a:solidFill>
                <a:latin typeface="Comic Sans MS"/>
                <a:ea typeface="Comic Sans MS"/>
                <a:cs typeface="Comic Sans MS"/>
                <a:sym typeface="Comic Sans MS"/>
              </a:rPr>
              <a:t>Some classes have too many attributes/fields</a:t>
            </a:r>
            <a:endParaRPr sz="1800">
              <a:solidFill>
                <a:srgbClr val="000099"/>
              </a:solidFill>
              <a:latin typeface="Verdana"/>
              <a:ea typeface="Verdana"/>
              <a:cs typeface="Verdana"/>
              <a:sym typeface="Verdana"/>
            </a:endParaRPr>
          </a:p>
          <a:p>
            <a:pPr indent="-342900" lvl="0" marL="588963" rtl="0" algn="l">
              <a:lnSpc>
                <a:spcPct val="87000"/>
              </a:lnSpc>
              <a:spcBef>
                <a:spcPts val="200"/>
              </a:spcBef>
              <a:spcAft>
                <a:spcPts val="0"/>
              </a:spcAft>
              <a:buSzPts val="1800"/>
              <a:buNone/>
            </a:pPr>
            <a:r>
              <a:t/>
            </a:r>
            <a:endParaRPr sz="1800">
              <a:solidFill>
                <a:srgbClr val="000099"/>
              </a:solidFill>
              <a:latin typeface="Verdana"/>
              <a:ea typeface="Verdana"/>
              <a:cs typeface="Verdana"/>
              <a:sym typeface="Verdana"/>
            </a:endParaRPr>
          </a:p>
          <a:p>
            <a:pPr indent="0" lvl="0" marL="131763" rtl="0" algn="l">
              <a:lnSpc>
                <a:spcPct val="87000"/>
              </a:lnSpc>
              <a:spcBef>
                <a:spcPts val="600"/>
              </a:spcBef>
              <a:spcAft>
                <a:spcPts val="0"/>
              </a:spcAft>
              <a:buSzPts val="1800"/>
              <a:buNone/>
            </a:pPr>
            <a:r>
              <a:rPr lang="en-US" sz="1800">
                <a:solidFill>
                  <a:srgbClr val="000099"/>
                </a:solidFill>
                <a:latin typeface="Verdana"/>
                <a:ea typeface="Verdana"/>
                <a:cs typeface="Verdana"/>
                <a:sym typeface="Verdana"/>
              </a:rPr>
              <a:t>To increase the testability, the team has a budget to work on two out of the four issues above. Which items should Upsorn recommend them to tackle first? </a:t>
            </a:r>
            <a:endParaRPr/>
          </a:p>
          <a:p>
            <a:pPr indent="0" lvl="0" marL="131763" rtl="0" algn="l">
              <a:lnSpc>
                <a:spcPct val="87000"/>
              </a:lnSpc>
              <a:spcBef>
                <a:spcPts val="600"/>
              </a:spcBef>
              <a:spcAft>
                <a:spcPts val="0"/>
              </a:spcAft>
              <a:buSzPts val="1800"/>
              <a:buNone/>
            </a:pPr>
            <a:r>
              <a:t/>
            </a:r>
            <a:endParaRPr sz="1800">
              <a:solidFill>
                <a:srgbClr val="000099"/>
              </a:solidFill>
              <a:latin typeface="Verdana"/>
              <a:ea typeface="Verdana"/>
              <a:cs typeface="Verdana"/>
              <a:sym typeface="Verdana"/>
            </a:endParaRPr>
          </a:p>
          <a:p>
            <a:pPr indent="0" lvl="0" marL="131763" rtl="0" algn="l">
              <a:lnSpc>
                <a:spcPct val="87000"/>
              </a:lnSpc>
              <a:spcBef>
                <a:spcPts val="0"/>
              </a:spcBef>
              <a:spcAft>
                <a:spcPts val="0"/>
              </a:spcAft>
              <a:buSzPts val="1800"/>
              <a:buNone/>
            </a:pPr>
            <a:r>
              <a:rPr lang="en-US" sz="1800">
                <a:solidFill>
                  <a:srgbClr val="000099"/>
                </a:solidFill>
                <a:latin typeface="Verdana"/>
                <a:ea typeface="Verdana"/>
                <a:cs typeface="Verdana"/>
                <a:sym typeface="Verdana"/>
              </a:rPr>
              <a:t>Note: All four issues should be fixed. However, try to prioritize. Which influence the testability the most? Why?</a:t>
            </a:r>
            <a:endParaRPr sz="1800">
              <a:solidFill>
                <a:srgbClr val="000099"/>
              </a:solidFill>
              <a:latin typeface="Comic Sans MS"/>
              <a:ea typeface="Comic Sans MS"/>
              <a:cs typeface="Comic Sans MS"/>
              <a:sym typeface="Comic Sans M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21"/>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Good Test Code</a:t>
            </a:r>
            <a:endParaRPr/>
          </a:p>
        </p:txBody>
      </p:sp>
      <p:sp>
        <p:nvSpPr>
          <p:cNvPr id="687" name="Google Shape;687;p21"/>
          <p:cNvSpPr txBox="1"/>
          <p:nvPr>
            <p:ph idx="1" type="body"/>
          </p:nvPr>
        </p:nvSpPr>
        <p:spPr>
          <a:xfrm>
            <a:off x="228600" y="1042416"/>
            <a:ext cx="8915400" cy="5413248"/>
          </a:xfrm>
          <a:prstGeom prst="rect">
            <a:avLst/>
          </a:prstGeom>
          <a:noFill/>
          <a:ln>
            <a:noFill/>
          </a:ln>
        </p:spPr>
        <p:txBody>
          <a:bodyPr anchorCtr="0" anchor="t" bIns="45700" lIns="91425" spcFirstLastPara="1" rIns="91425" wrap="square" tIns="45700">
            <a:noAutofit/>
          </a:bodyPr>
          <a:lstStyle/>
          <a:p>
            <a:pPr indent="-444500" lvl="0" marL="576263" rtl="0" algn="l">
              <a:lnSpc>
                <a:spcPct val="87000"/>
              </a:lnSpc>
              <a:spcBef>
                <a:spcPts val="0"/>
              </a:spcBef>
              <a:spcAft>
                <a:spcPts val="0"/>
              </a:spcAft>
              <a:buSzPts val="1900"/>
              <a:buFont typeface="Century Schoolbook"/>
              <a:buAutoNum type="arabicPeriod"/>
            </a:pPr>
            <a:r>
              <a:rPr lang="en-US" sz="1900">
                <a:solidFill>
                  <a:srgbClr val="FFFFFF"/>
                </a:solidFill>
              </a:rPr>
              <a:t>Test one thing (purpose, traceable) – one assertion per test</a:t>
            </a:r>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Clear, easy to understand, precise, concise</a:t>
            </a:r>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Keep it small (more small tests are better than few large tests)</a:t>
            </a:r>
            <a:endParaRPr sz="1700">
              <a:solidFill>
                <a:srgbClr val="FFFFFF"/>
              </a:solidFill>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Move repeated code to fixtures or shared methods</a:t>
            </a:r>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Independent (test frameworks don’t guarantee order of execution)</a:t>
            </a:r>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Repeatable</a:t>
            </a:r>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Avoid complicated control flow in tests</a:t>
            </a:r>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Remember to refactor test code</a:t>
            </a:r>
            <a:endParaRPr/>
          </a:p>
          <a:p>
            <a:pPr indent="-444500" lvl="0" marL="576263" rtl="0" algn="l">
              <a:lnSpc>
                <a:spcPct val="90000"/>
              </a:lnSpc>
              <a:spcBef>
                <a:spcPts val="1600"/>
              </a:spcBef>
              <a:spcAft>
                <a:spcPts val="0"/>
              </a:spcAft>
              <a:buSzPts val="1900"/>
              <a:buFont typeface="Century Schoolbook"/>
              <a:buAutoNum type="arabicPeriod"/>
            </a:pPr>
            <a:r>
              <a:rPr lang="en-US" sz="1900">
                <a:solidFill>
                  <a:srgbClr val="FFFFFF"/>
                </a:solidFill>
              </a:rPr>
              <a:t>Test oracles should check the right place (no need to check the entire output state)</a:t>
            </a:r>
            <a:endParaRPr/>
          </a:p>
          <a:p>
            <a:pPr indent="-561975" lvl="0" marL="576263" rtl="0" algn="l">
              <a:lnSpc>
                <a:spcPct val="90000"/>
              </a:lnSpc>
              <a:spcBef>
                <a:spcPts val="1600"/>
              </a:spcBef>
              <a:spcAft>
                <a:spcPts val="0"/>
              </a:spcAft>
              <a:buSzPts val="1900"/>
              <a:buFont typeface="Century Schoolbook"/>
              <a:buAutoNum type="arabicPeriod"/>
            </a:pPr>
            <a:r>
              <a:rPr lang="en-US" sz="1900">
                <a:solidFill>
                  <a:srgbClr val="FFFFFF"/>
                </a:solidFill>
              </a:rPr>
              <a:t>Use the right type of assertion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22"/>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Components of a Test Case</a:t>
            </a:r>
            <a:endParaRPr/>
          </a:p>
        </p:txBody>
      </p:sp>
      <p:sp>
        <p:nvSpPr>
          <p:cNvPr id="694" name="Google Shape;694;p22"/>
          <p:cNvSpPr txBox="1"/>
          <p:nvPr/>
        </p:nvSpPr>
        <p:spPr>
          <a:xfrm>
            <a:off x="2743200" y="1219200"/>
            <a:ext cx="6248400" cy="1626110"/>
          </a:xfrm>
          <a:prstGeom prst="rect">
            <a:avLst/>
          </a:prstGeom>
          <a:noFill/>
          <a:ln>
            <a:noFill/>
          </a:ln>
        </p:spPr>
        <p:txBody>
          <a:bodyPr anchorCtr="0" anchor="t" bIns="45700" lIns="91425" spcFirstLastPara="1" rIns="91425" wrap="square" tIns="45700">
            <a:noAutofit/>
          </a:bodyPr>
          <a:lstStyle/>
          <a:p>
            <a:pPr indent="0" lvl="0" marL="68263" marR="0" rtl="0" algn="l">
              <a:lnSpc>
                <a:spcPct val="8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A multipart artifact with a definite structure</a:t>
            </a:r>
            <a:endParaRPr/>
          </a:p>
          <a:p>
            <a:pPr indent="0" lvl="0" marL="68263" marR="0" rtl="0" algn="l">
              <a:lnSpc>
                <a:spcPct val="85000"/>
              </a:lnSpc>
              <a:spcBef>
                <a:spcPts val="220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Test case values, expected results,</a:t>
            </a:r>
            <a:endParaRPr/>
          </a:p>
          <a:p>
            <a:pPr indent="0" lvl="0" marL="68263" marR="0" rtl="0" algn="l">
              <a:lnSpc>
                <a:spcPct val="85000"/>
              </a:lnSpc>
              <a:spcBef>
                <a:spcPts val="20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prefix and postfix values necessary for a complete execution and evaluation of the software under test</a:t>
            </a:r>
            <a:endParaRPr/>
          </a:p>
        </p:txBody>
      </p:sp>
      <p:sp>
        <p:nvSpPr>
          <p:cNvPr id="695" name="Google Shape;695;p22"/>
          <p:cNvSpPr txBox="1"/>
          <p:nvPr/>
        </p:nvSpPr>
        <p:spPr>
          <a:xfrm>
            <a:off x="228600" y="1181100"/>
            <a:ext cx="2377440" cy="41148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600"/>
              <a:buFont typeface="Arial"/>
              <a:buNone/>
            </a:pPr>
            <a:r>
              <a:rPr b="0" lang="en-US" sz="2000">
                <a:solidFill>
                  <a:srgbClr val="FFFF00"/>
                </a:solidFill>
                <a:latin typeface="Verdana"/>
                <a:ea typeface="Verdana"/>
                <a:cs typeface="Verdana"/>
                <a:sym typeface="Verdana"/>
              </a:rPr>
              <a:t>Test case</a:t>
            </a:r>
            <a:endParaRPr/>
          </a:p>
        </p:txBody>
      </p:sp>
      <p:sp>
        <p:nvSpPr>
          <p:cNvPr id="696" name="Google Shape;696;p22"/>
          <p:cNvSpPr txBox="1"/>
          <p:nvPr/>
        </p:nvSpPr>
        <p:spPr>
          <a:xfrm>
            <a:off x="234351" y="5227320"/>
            <a:ext cx="2377440" cy="41148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600"/>
              <a:buFont typeface="Arial"/>
              <a:buNone/>
            </a:pPr>
            <a:r>
              <a:rPr b="0" lang="en-US" sz="2000">
                <a:solidFill>
                  <a:srgbClr val="FFFF00"/>
                </a:solidFill>
                <a:latin typeface="Verdana"/>
                <a:ea typeface="Verdana"/>
                <a:cs typeface="Verdana"/>
                <a:sym typeface="Verdana"/>
              </a:rPr>
              <a:t>Expected results</a:t>
            </a:r>
            <a:endParaRPr/>
          </a:p>
        </p:txBody>
      </p:sp>
      <p:sp>
        <p:nvSpPr>
          <p:cNvPr id="697" name="Google Shape;697;p22"/>
          <p:cNvSpPr txBox="1"/>
          <p:nvPr/>
        </p:nvSpPr>
        <p:spPr>
          <a:xfrm>
            <a:off x="2743200" y="5181600"/>
            <a:ext cx="4364965" cy="914400"/>
          </a:xfrm>
          <a:prstGeom prst="rect">
            <a:avLst/>
          </a:prstGeom>
          <a:noFill/>
          <a:ln>
            <a:noFill/>
          </a:ln>
        </p:spPr>
        <p:txBody>
          <a:bodyPr anchorCtr="0" anchor="t" bIns="45700" lIns="91425" spcFirstLastPara="1" rIns="91425" wrap="square" tIns="45700">
            <a:noAutofit/>
          </a:bodyPr>
          <a:lstStyle/>
          <a:p>
            <a:pPr indent="0" lvl="0" marL="68263" marR="0" rtl="0" algn="l">
              <a:lnSpc>
                <a:spcPct val="8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The result that will be produced by the test if the software behaves as expected</a:t>
            </a:r>
            <a:endParaRPr/>
          </a:p>
        </p:txBody>
      </p:sp>
      <p:sp>
        <p:nvSpPr>
          <p:cNvPr id="698" name="Google Shape;698;p22"/>
          <p:cNvSpPr txBox="1"/>
          <p:nvPr/>
        </p:nvSpPr>
        <p:spPr>
          <a:xfrm>
            <a:off x="7239000" y="5257800"/>
            <a:ext cx="1752600" cy="6096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440"/>
              <a:buFont typeface="Arial"/>
              <a:buNone/>
            </a:pPr>
            <a:r>
              <a:rPr b="0" lang="en-US" sz="1800">
                <a:solidFill>
                  <a:schemeClr val="dk1"/>
                </a:solidFill>
                <a:latin typeface="Verdana"/>
                <a:ea typeface="Verdana"/>
                <a:cs typeface="Verdana"/>
                <a:sym typeface="Verdana"/>
              </a:rPr>
              <a:t>Test oracle</a:t>
            </a:r>
            <a:endParaRPr/>
          </a:p>
          <a:p>
            <a:pPr indent="0" lvl="0" marL="68263" marR="0" rtl="0" algn="ctr">
              <a:lnSpc>
                <a:spcPct val="85000"/>
              </a:lnSpc>
              <a:spcBef>
                <a:spcPts val="200"/>
              </a:spcBef>
              <a:spcAft>
                <a:spcPts val="0"/>
              </a:spcAft>
              <a:buClr>
                <a:schemeClr val="lt1"/>
              </a:buClr>
              <a:buSzPts val="1440"/>
              <a:buFont typeface="Arial"/>
              <a:buNone/>
            </a:pPr>
            <a:r>
              <a:rPr b="0" lang="en-US" sz="1800">
                <a:solidFill>
                  <a:schemeClr val="dk1"/>
                </a:solidFill>
                <a:latin typeface="Verdana"/>
                <a:ea typeface="Verdana"/>
                <a:cs typeface="Verdana"/>
                <a:sym typeface="Verdana"/>
              </a:rPr>
              <a:t>(pass or fail)</a:t>
            </a:r>
            <a:endParaRPr/>
          </a:p>
        </p:txBody>
      </p:sp>
      <p:cxnSp>
        <p:nvCxnSpPr>
          <p:cNvPr id="699" name="Google Shape;699;p22"/>
          <p:cNvCxnSpPr/>
          <p:nvPr/>
        </p:nvCxnSpPr>
        <p:spPr>
          <a:xfrm>
            <a:off x="152400" y="4953000"/>
            <a:ext cx="8839200" cy="0"/>
          </a:xfrm>
          <a:prstGeom prst="straightConnector1">
            <a:avLst/>
          </a:prstGeom>
          <a:noFill/>
          <a:ln cap="flat" cmpd="sng" w="9525">
            <a:solidFill>
              <a:srgbClr val="A5A5A5"/>
            </a:solidFill>
            <a:prstDash val="dot"/>
            <a:round/>
            <a:headEnd len="sm" w="sm" type="none"/>
            <a:tailEnd len="sm" w="sm" type="none"/>
          </a:ln>
        </p:spPr>
      </p:cxnSp>
      <p:sp>
        <p:nvSpPr>
          <p:cNvPr id="700" name="Google Shape;700;p22"/>
          <p:cNvSpPr txBox="1"/>
          <p:nvPr/>
        </p:nvSpPr>
        <p:spPr>
          <a:xfrm>
            <a:off x="2743200" y="3200400"/>
            <a:ext cx="4364965" cy="1582567"/>
          </a:xfrm>
          <a:prstGeom prst="rect">
            <a:avLst/>
          </a:prstGeom>
          <a:noFill/>
          <a:ln>
            <a:noFill/>
          </a:ln>
        </p:spPr>
        <p:txBody>
          <a:bodyPr anchorCtr="0" anchor="t" bIns="45700" lIns="91425" spcFirstLastPara="1" rIns="91425" wrap="square" tIns="45700">
            <a:noAutofit/>
          </a:bodyPr>
          <a:lstStyle/>
          <a:p>
            <a:pPr indent="0" lvl="0" marL="68263" marR="0" rtl="0" algn="l">
              <a:lnSpc>
                <a:spcPct val="8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Inputs needed to complete an execution of the software under test</a:t>
            </a:r>
            <a:endParaRPr/>
          </a:p>
          <a:p>
            <a:pPr indent="0" lvl="0" marL="68263" marR="0" rtl="0" algn="l">
              <a:lnSpc>
                <a:spcPct val="85000"/>
              </a:lnSpc>
              <a:spcBef>
                <a:spcPts val="220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Inputs can be input values or series of actions</a:t>
            </a:r>
            <a:endParaRPr/>
          </a:p>
        </p:txBody>
      </p:sp>
      <p:sp>
        <p:nvSpPr>
          <p:cNvPr id="701" name="Google Shape;701;p22"/>
          <p:cNvSpPr txBox="1"/>
          <p:nvPr/>
        </p:nvSpPr>
        <p:spPr>
          <a:xfrm>
            <a:off x="228600" y="3200400"/>
            <a:ext cx="2377440" cy="41148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600"/>
              <a:buFont typeface="Arial"/>
              <a:buNone/>
            </a:pPr>
            <a:r>
              <a:rPr b="0" lang="en-US" sz="2000">
                <a:solidFill>
                  <a:srgbClr val="FFFF00"/>
                </a:solidFill>
                <a:latin typeface="Verdana"/>
                <a:ea typeface="Verdana"/>
                <a:cs typeface="Verdana"/>
                <a:sym typeface="Verdana"/>
              </a:rPr>
              <a:t>Test case values</a:t>
            </a:r>
            <a:endParaRPr/>
          </a:p>
        </p:txBody>
      </p:sp>
      <p:sp>
        <p:nvSpPr>
          <p:cNvPr id="702" name="Google Shape;702;p22"/>
          <p:cNvSpPr txBox="1"/>
          <p:nvPr/>
        </p:nvSpPr>
        <p:spPr>
          <a:xfrm>
            <a:off x="7239000" y="3239805"/>
            <a:ext cx="1752600" cy="874995"/>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440"/>
              <a:buFont typeface="Arial"/>
              <a:buNone/>
            </a:pPr>
            <a:r>
              <a:rPr b="0" lang="en-US" sz="1800">
                <a:solidFill>
                  <a:schemeClr val="dk1"/>
                </a:solidFill>
                <a:latin typeface="Verdana"/>
                <a:ea typeface="Verdana"/>
                <a:cs typeface="Verdana"/>
                <a:sym typeface="Verdana"/>
              </a:rPr>
              <a:t>Determine the testing quality</a:t>
            </a:r>
            <a:endParaRPr/>
          </a:p>
        </p:txBody>
      </p:sp>
      <p:cxnSp>
        <p:nvCxnSpPr>
          <p:cNvPr id="703" name="Google Shape;703;p22"/>
          <p:cNvCxnSpPr/>
          <p:nvPr/>
        </p:nvCxnSpPr>
        <p:spPr>
          <a:xfrm>
            <a:off x="152400" y="2980944"/>
            <a:ext cx="8839200" cy="0"/>
          </a:xfrm>
          <a:prstGeom prst="straightConnector1">
            <a:avLst/>
          </a:prstGeom>
          <a:noFill/>
          <a:ln cap="flat" cmpd="sng" w="9525">
            <a:solidFill>
              <a:srgbClr val="A5A5A5"/>
            </a:solidFill>
            <a:prstDash val="dot"/>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23"/>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Components of a Test Case</a:t>
            </a:r>
            <a:endParaRPr/>
          </a:p>
        </p:txBody>
      </p:sp>
      <p:sp>
        <p:nvSpPr>
          <p:cNvPr id="710" name="Google Shape;710;p23"/>
          <p:cNvSpPr txBox="1"/>
          <p:nvPr/>
        </p:nvSpPr>
        <p:spPr>
          <a:xfrm>
            <a:off x="234351" y="1231392"/>
            <a:ext cx="2377440" cy="41148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600"/>
              <a:buFont typeface="Arial"/>
              <a:buNone/>
            </a:pPr>
            <a:r>
              <a:rPr b="0" lang="en-US" sz="2000">
                <a:solidFill>
                  <a:srgbClr val="FFFF00"/>
                </a:solidFill>
                <a:latin typeface="Verdana"/>
                <a:ea typeface="Verdana"/>
                <a:cs typeface="Verdana"/>
                <a:sym typeface="Verdana"/>
              </a:rPr>
              <a:t>Prefix values</a:t>
            </a:r>
            <a:endParaRPr b="0" sz="2000">
              <a:solidFill>
                <a:srgbClr val="FFFF00"/>
              </a:solidFill>
              <a:latin typeface="Verdana"/>
              <a:ea typeface="Verdana"/>
              <a:cs typeface="Verdana"/>
              <a:sym typeface="Verdana"/>
            </a:endParaRPr>
          </a:p>
        </p:txBody>
      </p:sp>
      <p:sp>
        <p:nvSpPr>
          <p:cNvPr id="711" name="Google Shape;711;p23"/>
          <p:cNvSpPr txBox="1"/>
          <p:nvPr/>
        </p:nvSpPr>
        <p:spPr>
          <a:xfrm>
            <a:off x="234351" y="2324535"/>
            <a:ext cx="2377440" cy="411480"/>
          </a:xfrm>
          <a:prstGeom prst="rect">
            <a:avLst/>
          </a:prstGeom>
          <a:solidFill>
            <a:srgbClr val="000099"/>
          </a:solidFill>
          <a:ln cap="flat" cmpd="sng" w="9525">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600"/>
              <a:buFont typeface="Arial"/>
              <a:buNone/>
            </a:pPr>
            <a:r>
              <a:rPr b="0" lang="en-US" sz="2000">
                <a:solidFill>
                  <a:srgbClr val="FFFF00"/>
                </a:solidFill>
                <a:latin typeface="Verdana"/>
                <a:ea typeface="Verdana"/>
                <a:cs typeface="Verdana"/>
                <a:sym typeface="Verdana"/>
              </a:rPr>
              <a:t>Postfix values</a:t>
            </a:r>
            <a:endParaRPr/>
          </a:p>
        </p:txBody>
      </p:sp>
      <p:sp>
        <p:nvSpPr>
          <p:cNvPr id="712" name="Google Shape;712;p23"/>
          <p:cNvSpPr txBox="1"/>
          <p:nvPr/>
        </p:nvSpPr>
        <p:spPr>
          <a:xfrm>
            <a:off x="2743200" y="1142999"/>
            <a:ext cx="4364965" cy="914403"/>
          </a:xfrm>
          <a:prstGeom prst="rect">
            <a:avLst/>
          </a:prstGeom>
          <a:noFill/>
          <a:ln>
            <a:noFill/>
          </a:ln>
        </p:spPr>
        <p:txBody>
          <a:bodyPr anchorCtr="0" anchor="t" bIns="45700" lIns="91425" spcFirstLastPara="1" rIns="91425" wrap="square" tIns="45700">
            <a:noAutofit/>
          </a:bodyPr>
          <a:lstStyle/>
          <a:p>
            <a:pPr indent="0" lvl="0" marL="68263" marR="0" rtl="0" algn="l">
              <a:lnSpc>
                <a:spcPct val="8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Inputs needed to put the software into the appropriate state to receive the test case values</a:t>
            </a:r>
            <a:endParaRPr/>
          </a:p>
          <a:p>
            <a:pPr indent="0" lvl="0" marL="68263" marR="0" rtl="0" algn="l">
              <a:lnSpc>
                <a:spcPct val="85000"/>
              </a:lnSpc>
              <a:spcBef>
                <a:spcPts val="2200"/>
              </a:spcBef>
              <a:spcAft>
                <a:spcPts val="0"/>
              </a:spcAft>
              <a:buClr>
                <a:schemeClr val="lt1"/>
              </a:buClr>
              <a:buSzPts val="1440"/>
              <a:buFont typeface="Arial"/>
              <a:buNone/>
            </a:pPr>
            <a:r>
              <a:t/>
            </a:r>
            <a:endParaRPr b="0" sz="1800">
              <a:solidFill>
                <a:schemeClr val="lt1"/>
              </a:solidFill>
              <a:latin typeface="Verdana"/>
              <a:ea typeface="Verdana"/>
              <a:cs typeface="Verdana"/>
              <a:sym typeface="Verdana"/>
            </a:endParaRPr>
          </a:p>
        </p:txBody>
      </p:sp>
      <p:sp>
        <p:nvSpPr>
          <p:cNvPr id="713" name="Google Shape;713;p23"/>
          <p:cNvSpPr txBox="1"/>
          <p:nvPr/>
        </p:nvSpPr>
        <p:spPr>
          <a:xfrm>
            <a:off x="2743200" y="2193470"/>
            <a:ext cx="4364965" cy="1440593"/>
          </a:xfrm>
          <a:prstGeom prst="rect">
            <a:avLst/>
          </a:prstGeom>
          <a:noFill/>
          <a:ln>
            <a:noFill/>
          </a:ln>
        </p:spPr>
        <p:txBody>
          <a:bodyPr anchorCtr="0" anchor="t" bIns="45700" lIns="91425" spcFirstLastPara="1" rIns="91425" wrap="square" tIns="45700">
            <a:noAutofit/>
          </a:bodyPr>
          <a:lstStyle/>
          <a:p>
            <a:pPr indent="0" lvl="0" marL="68263" marR="0" rtl="0" algn="l">
              <a:lnSpc>
                <a:spcPct val="8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Inputs needed to be sent to the software after the test case values are sent</a:t>
            </a:r>
            <a:endParaRPr/>
          </a:p>
        </p:txBody>
      </p:sp>
      <p:sp>
        <p:nvSpPr>
          <p:cNvPr id="714" name="Google Shape;714;p23"/>
          <p:cNvSpPr txBox="1"/>
          <p:nvPr/>
        </p:nvSpPr>
        <p:spPr>
          <a:xfrm>
            <a:off x="914400" y="3276600"/>
            <a:ext cx="8153400" cy="626289"/>
          </a:xfrm>
          <a:prstGeom prst="rect">
            <a:avLst/>
          </a:prstGeom>
          <a:noFill/>
          <a:ln>
            <a:noFill/>
          </a:ln>
        </p:spPr>
        <p:txBody>
          <a:bodyPr anchorCtr="0" anchor="t" bIns="45700" lIns="91425" spcFirstLastPara="1" rIns="91425" wrap="square" tIns="45700">
            <a:noAutofit/>
          </a:bodyPr>
          <a:lstStyle/>
          <a:p>
            <a:pPr indent="-2287588" lvl="0" marL="2355850" marR="0" rtl="0" algn="l">
              <a:lnSpc>
                <a:spcPct val="85000"/>
              </a:lnSpc>
              <a:spcBef>
                <a:spcPts val="0"/>
              </a:spcBef>
              <a:spcAft>
                <a:spcPts val="0"/>
              </a:spcAft>
              <a:buClr>
                <a:schemeClr val="lt1"/>
              </a:buClr>
              <a:buSzPts val="1440"/>
              <a:buFont typeface="Arial"/>
              <a:buNone/>
            </a:pPr>
            <a:r>
              <a:rPr b="0" lang="en-US" sz="1800">
                <a:solidFill>
                  <a:srgbClr val="FFFF00"/>
                </a:solidFill>
                <a:latin typeface="Verdana"/>
                <a:ea typeface="Verdana"/>
                <a:cs typeface="Verdana"/>
                <a:sym typeface="Verdana"/>
              </a:rPr>
              <a:t>Verification values</a:t>
            </a:r>
            <a:r>
              <a:rPr b="0" lang="en-US" sz="1800">
                <a:solidFill>
                  <a:schemeClr val="lt1"/>
                </a:solidFill>
                <a:latin typeface="Verdana"/>
                <a:ea typeface="Verdana"/>
                <a:cs typeface="Verdana"/>
                <a:sym typeface="Verdana"/>
              </a:rPr>
              <a:t>: values needed to see the results of the test case values</a:t>
            </a:r>
            <a:endParaRPr/>
          </a:p>
        </p:txBody>
      </p:sp>
      <p:sp>
        <p:nvSpPr>
          <p:cNvPr id="715" name="Google Shape;715;p23"/>
          <p:cNvSpPr txBox="1"/>
          <p:nvPr/>
        </p:nvSpPr>
        <p:spPr>
          <a:xfrm>
            <a:off x="914400" y="3993121"/>
            <a:ext cx="8153400" cy="626289"/>
          </a:xfrm>
          <a:prstGeom prst="rect">
            <a:avLst/>
          </a:prstGeom>
          <a:noFill/>
          <a:ln>
            <a:noFill/>
          </a:ln>
        </p:spPr>
        <p:txBody>
          <a:bodyPr anchorCtr="0" anchor="t" bIns="45700" lIns="91425" spcFirstLastPara="1" rIns="91425" wrap="square" tIns="45700">
            <a:noAutofit/>
          </a:bodyPr>
          <a:lstStyle/>
          <a:p>
            <a:pPr indent="-2287588" lvl="0" marL="2355850" marR="0" rtl="0" algn="l">
              <a:lnSpc>
                <a:spcPct val="85000"/>
              </a:lnSpc>
              <a:spcBef>
                <a:spcPts val="0"/>
              </a:spcBef>
              <a:spcAft>
                <a:spcPts val="0"/>
              </a:spcAft>
              <a:buClr>
                <a:schemeClr val="lt1"/>
              </a:buClr>
              <a:buSzPts val="1440"/>
              <a:buFont typeface="Arial"/>
              <a:buNone/>
            </a:pPr>
            <a:r>
              <a:rPr b="0" lang="en-US" sz="1800">
                <a:solidFill>
                  <a:srgbClr val="FFFF00"/>
                </a:solidFill>
                <a:latin typeface="Verdana"/>
                <a:ea typeface="Verdana"/>
                <a:cs typeface="Verdana"/>
                <a:sym typeface="Verdana"/>
              </a:rPr>
              <a:t>Exit values</a:t>
            </a:r>
            <a:r>
              <a:rPr b="0" lang="en-US" sz="1800">
                <a:solidFill>
                  <a:schemeClr val="lt1"/>
                </a:solidFill>
                <a:latin typeface="Verdana"/>
                <a:ea typeface="Verdana"/>
                <a:cs typeface="Verdana"/>
                <a:sym typeface="Verdana"/>
              </a:rPr>
              <a:t>: values or commands needed to terminate the program or otherwise return it to a stable state</a:t>
            </a:r>
            <a:endParaRPr/>
          </a:p>
        </p:txBody>
      </p:sp>
      <p:cxnSp>
        <p:nvCxnSpPr>
          <p:cNvPr id="716" name="Google Shape;716;p23"/>
          <p:cNvCxnSpPr/>
          <p:nvPr/>
        </p:nvCxnSpPr>
        <p:spPr>
          <a:xfrm>
            <a:off x="152400" y="2041071"/>
            <a:ext cx="8839200" cy="0"/>
          </a:xfrm>
          <a:prstGeom prst="straightConnector1">
            <a:avLst/>
          </a:prstGeom>
          <a:noFill/>
          <a:ln cap="flat" cmpd="sng" w="9525">
            <a:solidFill>
              <a:srgbClr val="A5A5A5"/>
            </a:solidFill>
            <a:prstDash val="dot"/>
            <a:round/>
            <a:headEnd len="sm" w="sm" type="none"/>
            <a:tailEnd len="sm" w="sm" type="none"/>
          </a:ln>
        </p:spPr>
      </p:cxnSp>
      <p:sp>
        <p:nvSpPr>
          <p:cNvPr id="717" name="Google Shape;717;p23"/>
          <p:cNvSpPr txBox="1"/>
          <p:nvPr/>
        </p:nvSpPr>
        <p:spPr>
          <a:xfrm>
            <a:off x="7108165" y="1493279"/>
            <a:ext cx="1883435" cy="1157392"/>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68263" marR="0" rtl="0" algn="ctr">
              <a:lnSpc>
                <a:spcPct val="85000"/>
              </a:lnSpc>
              <a:spcBef>
                <a:spcPts val="0"/>
              </a:spcBef>
              <a:spcAft>
                <a:spcPts val="0"/>
              </a:spcAft>
              <a:buClr>
                <a:schemeClr val="lt1"/>
              </a:buClr>
              <a:buSzPts val="1440"/>
              <a:buFont typeface="Arial"/>
              <a:buNone/>
            </a:pPr>
            <a:r>
              <a:rPr b="0" lang="en-US" sz="1800">
                <a:solidFill>
                  <a:schemeClr val="dk1"/>
                </a:solidFill>
                <a:latin typeface="Verdana"/>
                <a:ea typeface="Verdana"/>
                <a:cs typeface="Verdana"/>
                <a:sym typeface="Verdana"/>
              </a:rPr>
              <a:t>Affecting controllability and observability</a:t>
            </a:r>
            <a:endParaRPr/>
          </a:p>
        </p:txBody>
      </p:sp>
      <p:cxnSp>
        <p:nvCxnSpPr>
          <p:cNvPr id="718" name="Google Shape;718;p23"/>
          <p:cNvCxnSpPr/>
          <p:nvPr/>
        </p:nvCxnSpPr>
        <p:spPr>
          <a:xfrm>
            <a:off x="152400" y="4724400"/>
            <a:ext cx="8839200" cy="0"/>
          </a:xfrm>
          <a:prstGeom prst="straightConnector1">
            <a:avLst/>
          </a:prstGeom>
          <a:noFill/>
          <a:ln cap="flat" cmpd="sng" w="9525">
            <a:solidFill>
              <a:srgbClr val="A5A5A5"/>
            </a:solidFill>
            <a:prstDash val="dot"/>
            <a:round/>
            <a:headEnd len="sm" w="sm" type="none"/>
            <a:tailEnd len="sm" w="sm" type="none"/>
          </a:ln>
        </p:spPr>
      </p:cxnSp>
      <p:sp>
        <p:nvSpPr>
          <p:cNvPr id="719" name="Google Shape;719;p23"/>
          <p:cNvSpPr txBox="1"/>
          <p:nvPr/>
        </p:nvSpPr>
        <p:spPr>
          <a:xfrm>
            <a:off x="381000" y="5109253"/>
            <a:ext cx="8001000" cy="339047"/>
          </a:xfrm>
          <a:prstGeom prst="rect">
            <a:avLst/>
          </a:prstGeom>
          <a:noFill/>
          <a:ln>
            <a:noFill/>
          </a:ln>
        </p:spPr>
        <p:txBody>
          <a:bodyPr anchorCtr="0" anchor="t" bIns="45700" lIns="91425" spcFirstLastPara="1" rIns="91425" wrap="square" tIns="45700">
            <a:noAutofit/>
          </a:bodyPr>
          <a:lstStyle/>
          <a:p>
            <a:pPr indent="0" lvl="0" marL="68263" marR="0" rtl="0" algn="l">
              <a:lnSpc>
                <a:spcPct val="8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Inputs can be input values or series of actions</a:t>
            </a:r>
            <a:endParaRPr/>
          </a:p>
        </p:txBody>
      </p:sp>
      <p:sp>
        <p:nvSpPr>
          <p:cNvPr id="720" name="Google Shape;720;p23"/>
          <p:cNvSpPr txBox="1"/>
          <p:nvPr/>
        </p:nvSpPr>
        <p:spPr>
          <a:xfrm>
            <a:off x="381000" y="5604553"/>
            <a:ext cx="8001000" cy="339047"/>
          </a:xfrm>
          <a:prstGeom prst="rect">
            <a:avLst/>
          </a:prstGeom>
          <a:noFill/>
          <a:ln>
            <a:noFill/>
          </a:ln>
        </p:spPr>
        <p:txBody>
          <a:bodyPr anchorCtr="0" anchor="t" bIns="45700" lIns="91425" spcFirstLastPara="1" rIns="91425" wrap="square" tIns="45700">
            <a:noAutofit/>
          </a:bodyPr>
          <a:lstStyle/>
          <a:p>
            <a:pPr indent="0" lvl="0" marL="68263" marR="0" rtl="0" algn="l">
              <a:lnSpc>
                <a:spcPct val="85000"/>
              </a:lnSpc>
              <a:spcBef>
                <a:spcPts val="0"/>
              </a:spcBef>
              <a:spcAft>
                <a:spcPts val="0"/>
              </a:spcAft>
              <a:buClr>
                <a:schemeClr val="lt1"/>
              </a:buClr>
              <a:buSzPts val="1440"/>
              <a:buFont typeface="Arial"/>
              <a:buNone/>
            </a:pPr>
            <a:r>
              <a:rPr b="0" lang="en-US" sz="1800">
                <a:solidFill>
                  <a:schemeClr val="lt1"/>
                </a:solidFill>
                <a:latin typeface="Verdana"/>
                <a:ea typeface="Verdana"/>
                <a:cs typeface="Verdana"/>
                <a:sym typeface="Verdana"/>
              </a:rPr>
              <a:t>Additional components: test case ID, purpose of the test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24"/>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Putting Tests Together</a:t>
            </a:r>
            <a:endParaRPr/>
          </a:p>
        </p:txBody>
      </p:sp>
      <p:sp>
        <p:nvSpPr>
          <p:cNvPr id="727" name="Google Shape;727;p24"/>
          <p:cNvSpPr txBox="1"/>
          <p:nvPr/>
        </p:nvSpPr>
        <p:spPr>
          <a:xfrm>
            <a:off x="304800" y="990600"/>
            <a:ext cx="8610600" cy="4572000"/>
          </a:xfrm>
          <a:prstGeom prst="rect">
            <a:avLst/>
          </a:prstGeom>
          <a:noFill/>
          <a:ln>
            <a:noFill/>
          </a:ln>
        </p:spPr>
        <p:txBody>
          <a:bodyPr anchorCtr="0" anchor="t" bIns="45700" lIns="91425" spcFirstLastPara="1" rIns="91425" wrap="square" tIns="45700">
            <a:noAutofit/>
          </a:bodyPr>
          <a:lstStyle/>
          <a:p>
            <a:pPr indent="-222250" lvl="0" marL="290513" marR="0" rtl="0" algn="l">
              <a:lnSpc>
                <a:spcPct val="100000"/>
              </a:lnSpc>
              <a:spcBef>
                <a:spcPts val="0"/>
              </a:spcBef>
              <a:spcAft>
                <a:spcPts val="0"/>
              </a:spcAft>
              <a:buClr>
                <a:schemeClr val="lt1"/>
              </a:buClr>
              <a:buSzPts val="1760"/>
              <a:buFont typeface="Arial"/>
              <a:buChar char="•"/>
            </a:pPr>
            <a:r>
              <a:rPr b="0" lang="en-US" sz="2200">
                <a:solidFill>
                  <a:srgbClr val="FFFF00"/>
                </a:solidFill>
                <a:latin typeface="Verdana"/>
                <a:ea typeface="Verdana"/>
                <a:cs typeface="Verdana"/>
                <a:sym typeface="Verdana"/>
              </a:rPr>
              <a:t>Test case</a:t>
            </a:r>
            <a:endParaRPr/>
          </a:p>
          <a:p>
            <a:pPr indent="-220663" lvl="1" marL="698500" marR="0" rtl="0" algn="l">
              <a:lnSpc>
                <a:spcPct val="100000"/>
              </a:lnSpc>
              <a:spcBef>
                <a:spcPts val="9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The test case values, prefix values, postfix values, and expected results necessary for a complete execution and evaluation of the software under test</a:t>
            </a:r>
            <a:endParaRPr/>
          </a:p>
          <a:p>
            <a:pPr indent="-222250" lvl="0" marL="290513" marR="0" rtl="0" algn="l">
              <a:lnSpc>
                <a:spcPct val="100000"/>
              </a:lnSpc>
              <a:spcBef>
                <a:spcPts val="3300"/>
              </a:spcBef>
              <a:spcAft>
                <a:spcPts val="0"/>
              </a:spcAft>
              <a:buClr>
                <a:schemeClr val="lt1"/>
              </a:buClr>
              <a:buSzPts val="1760"/>
              <a:buFont typeface="Arial"/>
              <a:buChar char="•"/>
            </a:pPr>
            <a:r>
              <a:rPr b="0" lang="en-US" sz="2200">
                <a:solidFill>
                  <a:srgbClr val="FFFF00"/>
                </a:solidFill>
                <a:latin typeface="Verdana"/>
                <a:ea typeface="Verdana"/>
                <a:cs typeface="Verdana"/>
                <a:sym typeface="Verdana"/>
              </a:rPr>
              <a:t>Test set</a:t>
            </a:r>
            <a:endParaRPr/>
          </a:p>
          <a:p>
            <a:pPr indent="-220663" lvl="1" marL="698500" marR="0" rtl="0" algn="l">
              <a:lnSpc>
                <a:spcPct val="100000"/>
              </a:lnSpc>
              <a:spcBef>
                <a:spcPts val="9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A set of test cases</a:t>
            </a:r>
            <a:endParaRPr/>
          </a:p>
          <a:p>
            <a:pPr indent="-222250" lvl="0" marL="290513" marR="0" rtl="0" algn="l">
              <a:lnSpc>
                <a:spcPct val="100000"/>
              </a:lnSpc>
              <a:spcBef>
                <a:spcPts val="3300"/>
              </a:spcBef>
              <a:spcAft>
                <a:spcPts val="0"/>
              </a:spcAft>
              <a:buClr>
                <a:schemeClr val="lt1"/>
              </a:buClr>
              <a:buSzPts val="1760"/>
              <a:buFont typeface="Arial"/>
              <a:buChar char="•"/>
            </a:pPr>
            <a:r>
              <a:rPr b="0" lang="en-US" sz="2200">
                <a:solidFill>
                  <a:srgbClr val="FFFF00"/>
                </a:solidFill>
                <a:latin typeface="Verdana"/>
                <a:ea typeface="Verdana"/>
                <a:cs typeface="Verdana"/>
                <a:sym typeface="Verdana"/>
              </a:rPr>
              <a:t>Executable test script</a:t>
            </a:r>
            <a:endParaRPr/>
          </a:p>
          <a:p>
            <a:pPr indent="-220663" lvl="1" marL="698500" marR="0" rtl="0" algn="l">
              <a:lnSpc>
                <a:spcPct val="100000"/>
              </a:lnSpc>
              <a:spcBef>
                <a:spcPts val="9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A test case that is prepared in a form to be executed automatically on the test software and produce a report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25"/>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Test Case Execution</a:t>
            </a:r>
            <a:endParaRPr/>
          </a:p>
        </p:txBody>
      </p:sp>
      <p:cxnSp>
        <p:nvCxnSpPr>
          <p:cNvPr id="734" name="Google Shape;734;p25"/>
          <p:cNvCxnSpPr/>
          <p:nvPr/>
        </p:nvCxnSpPr>
        <p:spPr>
          <a:xfrm>
            <a:off x="2048256" y="2879846"/>
            <a:ext cx="822960" cy="0"/>
          </a:xfrm>
          <a:prstGeom prst="straightConnector1">
            <a:avLst/>
          </a:prstGeom>
          <a:noFill/>
          <a:ln cap="flat" cmpd="sng" w="38100">
            <a:solidFill>
              <a:schemeClr val="lt1"/>
            </a:solidFill>
            <a:prstDash val="solid"/>
            <a:round/>
            <a:headEnd len="sm" w="sm" type="none"/>
            <a:tailEnd len="med" w="med" type="stealth"/>
          </a:ln>
        </p:spPr>
      </p:cxnSp>
      <p:cxnSp>
        <p:nvCxnSpPr>
          <p:cNvPr id="735" name="Google Shape;735;p25"/>
          <p:cNvCxnSpPr/>
          <p:nvPr/>
        </p:nvCxnSpPr>
        <p:spPr>
          <a:xfrm>
            <a:off x="4603832" y="2879846"/>
            <a:ext cx="791128" cy="0"/>
          </a:xfrm>
          <a:prstGeom prst="straightConnector1">
            <a:avLst/>
          </a:prstGeom>
          <a:noFill/>
          <a:ln cap="flat" cmpd="sng" w="38100">
            <a:solidFill>
              <a:schemeClr val="lt1"/>
            </a:solidFill>
            <a:prstDash val="solid"/>
            <a:round/>
            <a:headEnd len="sm" w="sm" type="none"/>
            <a:tailEnd len="med" w="med" type="stealth"/>
          </a:ln>
        </p:spPr>
      </p:cxnSp>
      <p:grpSp>
        <p:nvGrpSpPr>
          <p:cNvPr id="736" name="Google Shape;736;p25"/>
          <p:cNvGrpSpPr/>
          <p:nvPr/>
        </p:nvGrpSpPr>
        <p:grpSpPr>
          <a:xfrm>
            <a:off x="2887168" y="2610164"/>
            <a:ext cx="1711927" cy="539364"/>
            <a:chOff x="2965600" y="5669177"/>
            <a:chExt cx="1711927" cy="539364"/>
          </a:xfrm>
        </p:grpSpPr>
        <p:sp>
          <p:nvSpPr>
            <p:cNvPr id="737" name="Google Shape;737;p25"/>
            <p:cNvSpPr/>
            <p:nvPr/>
          </p:nvSpPr>
          <p:spPr>
            <a:xfrm>
              <a:off x="3091667" y="5727397"/>
              <a:ext cx="1459791"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Program</a:t>
              </a:r>
              <a:endParaRPr/>
            </a:p>
          </p:txBody>
        </p:sp>
        <p:sp>
          <p:nvSpPr>
            <p:cNvPr id="738" name="Google Shape;738;p25"/>
            <p:cNvSpPr/>
            <p:nvPr/>
          </p:nvSpPr>
          <p:spPr>
            <a:xfrm>
              <a:off x="2965600" y="5669177"/>
              <a:ext cx="1711927" cy="539364"/>
            </a:xfrm>
            <a:prstGeom prst="rect">
              <a:avLst/>
            </a:prstGeom>
            <a:noFill/>
            <a:ln cap="flat" cmpd="sng" w="381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1800">
                <a:solidFill>
                  <a:schemeClr val="lt1"/>
                </a:solidFill>
                <a:latin typeface="Verdana"/>
                <a:ea typeface="Verdana"/>
                <a:cs typeface="Verdana"/>
                <a:sym typeface="Verdana"/>
              </a:endParaRPr>
            </a:p>
          </p:txBody>
        </p:sp>
      </p:grpSp>
      <p:sp>
        <p:nvSpPr>
          <p:cNvPr id="739" name="Google Shape;739;p25"/>
          <p:cNvSpPr/>
          <p:nvPr/>
        </p:nvSpPr>
        <p:spPr>
          <a:xfrm>
            <a:off x="2743200" y="2167783"/>
            <a:ext cx="1501693" cy="338554"/>
          </a:xfrm>
          <a:prstGeom prst="rect">
            <a:avLst/>
          </a:prstGeom>
          <a:noFill/>
          <a:ln>
            <a:noFill/>
          </a:ln>
        </p:spPr>
        <p:txBody>
          <a:bodyPr anchorCtr="0" anchor="t" bIns="45700" lIns="91425" spcFirstLastPara="1" rIns="91425" wrap="square" tIns="45700">
            <a:spAutoFit/>
          </a:bodyPr>
          <a:lstStyle/>
          <a:p>
            <a:pPr indent="0" lvl="0" marL="15875" marR="0" rtl="0" algn="ctr">
              <a:spcBef>
                <a:spcPts val="0"/>
              </a:spcBef>
              <a:spcAft>
                <a:spcPts val="0"/>
              </a:spcAft>
              <a:buNone/>
            </a:pPr>
            <a:r>
              <a:rPr b="0" lang="en-US" sz="1600">
                <a:solidFill>
                  <a:schemeClr val="lt1"/>
                </a:solidFill>
                <a:latin typeface="Verdana"/>
                <a:ea typeface="Verdana"/>
                <a:cs typeface="Verdana"/>
                <a:sym typeface="Verdana"/>
              </a:rPr>
              <a:t>Execute SUT</a:t>
            </a:r>
            <a:endParaRPr b="0" sz="1600">
              <a:solidFill>
                <a:srgbClr val="D5FC79"/>
              </a:solidFill>
              <a:latin typeface="Verdana"/>
              <a:ea typeface="Verdana"/>
              <a:cs typeface="Verdana"/>
              <a:sym typeface="Verdana"/>
            </a:endParaRPr>
          </a:p>
        </p:txBody>
      </p:sp>
      <p:sp>
        <p:nvSpPr>
          <p:cNvPr id="740" name="Google Shape;740;p25"/>
          <p:cNvSpPr/>
          <p:nvPr/>
        </p:nvSpPr>
        <p:spPr>
          <a:xfrm>
            <a:off x="289561" y="2013932"/>
            <a:ext cx="1737740" cy="2450592"/>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grpSp>
        <p:nvGrpSpPr>
          <p:cNvPr id="741" name="Google Shape;741;p25"/>
          <p:cNvGrpSpPr/>
          <p:nvPr/>
        </p:nvGrpSpPr>
        <p:grpSpPr>
          <a:xfrm>
            <a:off x="5394960" y="2483324"/>
            <a:ext cx="3520440" cy="841669"/>
            <a:chOff x="5394960" y="1676400"/>
            <a:chExt cx="3520440" cy="841669"/>
          </a:xfrm>
        </p:grpSpPr>
        <p:sp>
          <p:nvSpPr>
            <p:cNvPr id="742" name="Google Shape;742;p25"/>
            <p:cNvSpPr/>
            <p:nvPr/>
          </p:nvSpPr>
          <p:spPr>
            <a:xfrm>
              <a:off x="5473973" y="1761368"/>
              <a:ext cx="110492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Actual results</a:t>
              </a:r>
              <a:endParaRPr/>
            </a:p>
          </p:txBody>
        </p:sp>
        <p:sp>
          <p:nvSpPr>
            <p:cNvPr id="743" name="Google Shape;743;p25"/>
            <p:cNvSpPr/>
            <p:nvPr/>
          </p:nvSpPr>
          <p:spPr>
            <a:xfrm>
              <a:off x="7392295" y="1761368"/>
              <a:ext cx="140143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rgbClr val="D5FC79"/>
                  </a:solidFill>
                  <a:latin typeface="Verdana"/>
                  <a:ea typeface="Verdana"/>
                  <a:cs typeface="Verdana"/>
                  <a:sym typeface="Verdana"/>
                </a:rPr>
                <a:t>Expected results</a:t>
              </a:r>
              <a:endParaRPr/>
            </a:p>
          </p:txBody>
        </p:sp>
        <p:sp>
          <p:nvSpPr>
            <p:cNvPr id="744" name="Google Shape;744;p25"/>
            <p:cNvSpPr/>
            <p:nvPr/>
          </p:nvSpPr>
          <p:spPr>
            <a:xfrm>
              <a:off x="6273176" y="1854308"/>
              <a:ext cx="140143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vs</a:t>
              </a:r>
              <a:endParaRPr b="0" sz="1800">
                <a:solidFill>
                  <a:schemeClr val="lt1"/>
                </a:solidFill>
                <a:latin typeface="Verdana"/>
                <a:ea typeface="Verdana"/>
                <a:cs typeface="Verdana"/>
                <a:sym typeface="Verdana"/>
              </a:endParaRPr>
            </a:p>
          </p:txBody>
        </p:sp>
        <p:sp>
          <p:nvSpPr>
            <p:cNvPr id="745" name="Google Shape;745;p25"/>
            <p:cNvSpPr/>
            <p:nvPr/>
          </p:nvSpPr>
          <p:spPr>
            <a:xfrm>
              <a:off x="5394960" y="1676400"/>
              <a:ext cx="3520440" cy="841669"/>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grpSp>
      <p:cxnSp>
        <p:nvCxnSpPr>
          <p:cNvPr id="746" name="Google Shape;746;p25"/>
          <p:cNvCxnSpPr>
            <a:stCxn id="747" idx="2"/>
            <a:endCxn id="748" idx="0"/>
          </p:cNvCxnSpPr>
          <p:nvPr/>
        </p:nvCxnSpPr>
        <p:spPr>
          <a:xfrm>
            <a:off x="1173479" y="2962371"/>
            <a:ext cx="0" cy="518700"/>
          </a:xfrm>
          <a:prstGeom prst="straightConnector1">
            <a:avLst/>
          </a:prstGeom>
          <a:noFill/>
          <a:ln cap="flat" cmpd="sng" w="28575">
            <a:solidFill>
              <a:schemeClr val="lt1"/>
            </a:solidFill>
            <a:prstDash val="solid"/>
            <a:round/>
            <a:headEnd len="sm" w="sm" type="none"/>
            <a:tailEnd len="med" w="med" type="stealth"/>
          </a:ln>
        </p:spPr>
      </p:cxnSp>
      <p:grpSp>
        <p:nvGrpSpPr>
          <p:cNvPr id="749" name="Google Shape;749;p25"/>
          <p:cNvGrpSpPr/>
          <p:nvPr/>
        </p:nvGrpSpPr>
        <p:grpSpPr>
          <a:xfrm>
            <a:off x="289558" y="2087082"/>
            <a:ext cx="1767842" cy="875289"/>
            <a:chOff x="289558" y="1280158"/>
            <a:chExt cx="1767842" cy="875289"/>
          </a:xfrm>
        </p:grpSpPr>
        <p:sp>
          <p:nvSpPr>
            <p:cNvPr id="747" name="Google Shape;747;p25"/>
            <p:cNvSpPr/>
            <p:nvPr/>
          </p:nvSpPr>
          <p:spPr>
            <a:xfrm>
              <a:off x="289558" y="1570672"/>
              <a:ext cx="176784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lt1"/>
                  </a:solidFill>
                  <a:latin typeface="Verdana"/>
                  <a:ea typeface="Verdana"/>
                  <a:cs typeface="Verdana"/>
                  <a:sym typeface="Verdana"/>
                </a:rPr>
                <a:t>Setup</a:t>
              </a:r>
              <a:endParaRPr/>
            </a:p>
            <a:p>
              <a:pPr indent="0" lvl="0" marL="0" marR="0" rtl="0" algn="ctr">
                <a:spcBef>
                  <a:spcPts val="0"/>
                </a:spcBef>
                <a:spcAft>
                  <a:spcPts val="0"/>
                </a:spcAft>
                <a:buNone/>
              </a:pPr>
              <a:r>
                <a:rPr b="0" lang="en-US" sz="1600">
                  <a:solidFill>
                    <a:schemeClr val="lt1"/>
                  </a:solidFill>
                  <a:latin typeface="Verdana"/>
                  <a:ea typeface="Verdana"/>
                  <a:cs typeface="Verdana"/>
                  <a:sym typeface="Verdana"/>
                </a:rPr>
                <a:t>prefix values</a:t>
              </a:r>
              <a:endParaRPr/>
            </a:p>
          </p:txBody>
        </p:sp>
        <p:sp>
          <p:nvSpPr>
            <p:cNvPr id="750" name="Google Shape;750;p25"/>
            <p:cNvSpPr/>
            <p:nvPr/>
          </p:nvSpPr>
          <p:spPr>
            <a:xfrm>
              <a:off x="475488" y="1280158"/>
              <a:ext cx="320040" cy="320042"/>
            </a:xfrm>
            <a:prstGeom prst="ellipse">
              <a:avLst/>
            </a:prstGeom>
            <a:solidFill>
              <a:schemeClr val="lt2"/>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1</a:t>
              </a:r>
              <a:endParaRPr/>
            </a:p>
          </p:txBody>
        </p:sp>
      </p:grpSp>
      <p:grpSp>
        <p:nvGrpSpPr>
          <p:cNvPr id="751" name="Google Shape;751;p25"/>
          <p:cNvGrpSpPr/>
          <p:nvPr/>
        </p:nvGrpSpPr>
        <p:grpSpPr>
          <a:xfrm>
            <a:off x="289558" y="3382482"/>
            <a:ext cx="1767842" cy="892709"/>
            <a:chOff x="289558" y="2575558"/>
            <a:chExt cx="1767842" cy="892709"/>
          </a:xfrm>
        </p:grpSpPr>
        <p:sp>
          <p:nvSpPr>
            <p:cNvPr id="748" name="Google Shape;748;p25"/>
            <p:cNvSpPr/>
            <p:nvPr/>
          </p:nvSpPr>
          <p:spPr>
            <a:xfrm>
              <a:off x="289558" y="2674203"/>
              <a:ext cx="1767842" cy="794064"/>
            </a:xfrm>
            <a:prstGeom prst="rect">
              <a:avLst/>
            </a:prstGeom>
            <a:noFill/>
            <a:ln>
              <a:noFill/>
            </a:ln>
          </p:spPr>
          <p:txBody>
            <a:bodyPr anchorCtr="0" anchor="t" bIns="45700" lIns="91425" spcFirstLastPara="1" rIns="91425" wrap="square" tIns="45700">
              <a:spAutoFit/>
            </a:bodyPr>
            <a:lstStyle/>
            <a:p>
              <a:pPr indent="0" lvl="0" marL="0" marR="0" rtl="0" algn="ctr">
                <a:lnSpc>
                  <a:spcPct val="95000"/>
                </a:lnSpc>
                <a:spcBef>
                  <a:spcPts val="0"/>
                </a:spcBef>
                <a:spcAft>
                  <a:spcPts val="0"/>
                </a:spcAft>
                <a:buNone/>
              </a:pPr>
              <a:r>
                <a:rPr b="0" lang="en-US" sz="1600">
                  <a:solidFill>
                    <a:schemeClr val="lt1"/>
                  </a:solidFill>
                  <a:latin typeface="Verdana"/>
                  <a:ea typeface="Verdana"/>
                  <a:cs typeface="Verdana"/>
                  <a:sym typeface="Verdana"/>
                </a:rPr>
                <a:t>Setup </a:t>
              </a:r>
              <a:endParaRPr/>
            </a:p>
            <a:p>
              <a:pPr indent="0" lvl="0" marL="0" marR="0" rtl="0" algn="ctr">
                <a:lnSpc>
                  <a:spcPct val="95000"/>
                </a:lnSpc>
                <a:spcBef>
                  <a:spcPts val="0"/>
                </a:spcBef>
                <a:spcAft>
                  <a:spcPts val="0"/>
                </a:spcAft>
                <a:buNone/>
              </a:pPr>
              <a:r>
                <a:rPr b="0" lang="en-US" sz="1600">
                  <a:solidFill>
                    <a:schemeClr val="lt1"/>
                  </a:solidFill>
                  <a:latin typeface="Verdana"/>
                  <a:ea typeface="Verdana"/>
                  <a:cs typeface="Verdana"/>
                  <a:sym typeface="Verdana"/>
                </a:rPr>
                <a:t>Test case values</a:t>
              </a:r>
              <a:endParaRPr/>
            </a:p>
          </p:txBody>
        </p:sp>
        <p:sp>
          <p:nvSpPr>
            <p:cNvPr id="752" name="Google Shape;752;p25"/>
            <p:cNvSpPr/>
            <p:nvPr/>
          </p:nvSpPr>
          <p:spPr>
            <a:xfrm>
              <a:off x="457200" y="2575558"/>
              <a:ext cx="320042" cy="320042"/>
            </a:xfrm>
            <a:prstGeom prst="ellipse">
              <a:avLst/>
            </a:prstGeom>
            <a:solidFill>
              <a:schemeClr val="lt2"/>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2</a:t>
              </a:r>
              <a:endParaRPr/>
            </a:p>
          </p:txBody>
        </p:sp>
      </p:grpSp>
      <p:sp>
        <p:nvSpPr>
          <p:cNvPr id="753" name="Google Shape;753;p25"/>
          <p:cNvSpPr/>
          <p:nvPr/>
        </p:nvSpPr>
        <p:spPr>
          <a:xfrm>
            <a:off x="2457236" y="2189859"/>
            <a:ext cx="320042" cy="320042"/>
          </a:xfrm>
          <a:prstGeom prst="ellipse">
            <a:avLst/>
          </a:prstGeom>
          <a:solidFill>
            <a:schemeClr val="lt2"/>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3</a:t>
            </a:r>
            <a:endParaRPr/>
          </a:p>
        </p:txBody>
      </p:sp>
      <p:grpSp>
        <p:nvGrpSpPr>
          <p:cNvPr id="754" name="Google Shape;754;p25"/>
          <p:cNvGrpSpPr/>
          <p:nvPr/>
        </p:nvGrpSpPr>
        <p:grpSpPr>
          <a:xfrm>
            <a:off x="5639236" y="2068570"/>
            <a:ext cx="2585758" cy="338554"/>
            <a:chOff x="5639236" y="1261646"/>
            <a:chExt cx="2585758" cy="338554"/>
          </a:xfrm>
        </p:grpSpPr>
        <p:sp>
          <p:nvSpPr>
            <p:cNvPr id="755" name="Google Shape;755;p25"/>
            <p:cNvSpPr/>
            <p:nvPr/>
          </p:nvSpPr>
          <p:spPr>
            <a:xfrm>
              <a:off x="5943600" y="1261646"/>
              <a:ext cx="228139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600">
                  <a:solidFill>
                    <a:schemeClr val="lt1"/>
                  </a:solidFill>
                  <a:latin typeface="Verdana"/>
                  <a:ea typeface="Verdana"/>
                  <a:cs typeface="Verdana"/>
                  <a:sym typeface="Verdana"/>
                </a:rPr>
                <a:t>Compare the results</a:t>
              </a:r>
              <a:endParaRPr/>
            </a:p>
          </p:txBody>
        </p:sp>
        <p:sp>
          <p:nvSpPr>
            <p:cNvPr id="756" name="Google Shape;756;p25"/>
            <p:cNvSpPr/>
            <p:nvPr/>
          </p:nvSpPr>
          <p:spPr>
            <a:xfrm>
              <a:off x="5639236" y="1265448"/>
              <a:ext cx="320042" cy="320042"/>
            </a:xfrm>
            <a:prstGeom prst="ellipse">
              <a:avLst/>
            </a:prstGeom>
            <a:solidFill>
              <a:schemeClr val="lt2"/>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4</a:t>
              </a:r>
              <a:endParaRPr/>
            </a:p>
          </p:txBody>
        </p:sp>
      </p:grpSp>
      <p:grpSp>
        <p:nvGrpSpPr>
          <p:cNvPr id="757" name="Google Shape;757;p25"/>
          <p:cNvGrpSpPr/>
          <p:nvPr/>
        </p:nvGrpSpPr>
        <p:grpSpPr>
          <a:xfrm>
            <a:off x="6291072" y="4198996"/>
            <a:ext cx="1767842" cy="1084435"/>
            <a:chOff x="6216830" y="3639965"/>
            <a:chExt cx="1767842" cy="1084435"/>
          </a:xfrm>
        </p:grpSpPr>
        <p:sp>
          <p:nvSpPr>
            <p:cNvPr id="758" name="Google Shape;758;p25"/>
            <p:cNvSpPr/>
            <p:nvPr/>
          </p:nvSpPr>
          <p:spPr>
            <a:xfrm>
              <a:off x="6216833" y="3639965"/>
              <a:ext cx="1737740" cy="1084435"/>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759" name="Google Shape;759;p25"/>
            <p:cNvSpPr/>
            <p:nvPr/>
          </p:nvSpPr>
          <p:spPr>
            <a:xfrm>
              <a:off x="6216830" y="4003629"/>
              <a:ext cx="176784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n-US" sz="1600">
                  <a:solidFill>
                    <a:schemeClr val="lt1"/>
                  </a:solidFill>
                  <a:latin typeface="Verdana"/>
                  <a:ea typeface="Verdana"/>
                  <a:cs typeface="Verdana"/>
                  <a:sym typeface="Verdana"/>
                </a:rPr>
                <a:t>Setup</a:t>
              </a:r>
              <a:endParaRPr/>
            </a:p>
            <a:p>
              <a:pPr indent="0" lvl="0" marL="0" marR="0" rtl="0" algn="ctr">
                <a:spcBef>
                  <a:spcPts val="0"/>
                </a:spcBef>
                <a:spcAft>
                  <a:spcPts val="0"/>
                </a:spcAft>
                <a:buNone/>
              </a:pPr>
              <a:r>
                <a:rPr b="0" lang="en-US" sz="1600">
                  <a:solidFill>
                    <a:schemeClr val="lt1"/>
                  </a:solidFill>
                  <a:latin typeface="Verdana"/>
                  <a:ea typeface="Verdana"/>
                  <a:cs typeface="Verdana"/>
                  <a:sym typeface="Verdana"/>
                </a:rPr>
                <a:t>postfix values</a:t>
              </a:r>
              <a:endParaRPr/>
            </a:p>
          </p:txBody>
        </p:sp>
        <p:sp>
          <p:nvSpPr>
            <p:cNvPr id="760" name="Google Shape;760;p25"/>
            <p:cNvSpPr/>
            <p:nvPr/>
          </p:nvSpPr>
          <p:spPr>
            <a:xfrm>
              <a:off x="6384472" y="3713115"/>
              <a:ext cx="320042" cy="320042"/>
            </a:xfrm>
            <a:prstGeom prst="ellipse">
              <a:avLst/>
            </a:prstGeom>
            <a:solidFill>
              <a:schemeClr val="lt2"/>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400">
                  <a:solidFill>
                    <a:schemeClr val="dk1"/>
                  </a:solidFill>
                  <a:latin typeface="Verdana"/>
                  <a:ea typeface="Verdana"/>
                  <a:cs typeface="Verdana"/>
                  <a:sym typeface="Verdana"/>
                </a:rPr>
                <a:t>5</a:t>
              </a:r>
              <a:endParaRPr/>
            </a:p>
          </p:txBody>
        </p:sp>
      </p:grpSp>
      <p:cxnSp>
        <p:nvCxnSpPr>
          <p:cNvPr id="761" name="Google Shape;761;p25"/>
          <p:cNvCxnSpPr>
            <a:stCxn id="745" idx="2"/>
            <a:endCxn id="758" idx="0"/>
          </p:cNvCxnSpPr>
          <p:nvPr/>
        </p:nvCxnSpPr>
        <p:spPr>
          <a:xfrm>
            <a:off x="7155180" y="3324993"/>
            <a:ext cx="4800" cy="873900"/>
          </a:xfrm>
          <a:prstGeom prst="straightConnector1">
            <a:avLst/>
          </a:prstGeom>
          <a:noFill/>
          <a:ln cap="flat" cmpd="sng" w="38100">
            <a:solidFill>
              <a:schemeClr val="lt1"/>
            </a:solidFill>
            <a:prstDash val="solid"/>
            <a:round/>
            <a:headEnd len="sm" w="sm" type="none"/>
            <a:tailEnd len="med" w="med" type="stealth"/>
          </a:ln>
        </p:spPr>
      </p:cxnSp>
      <p:grpSp>
        <p:nvGrpSpPr>
          <p:cNvPr id="762" name="Google Shape;762;p25"/>
          <p:cNvGrpSpPr/>
          <p:nvPr/>
        </p:nvGrpSpPr>
        <p:grpSpPr>
          <a:xfrm>
            <a:off x="5105400" y="1618038"/>
            <a:ext cx="4019162" cy="2025921"/>
            <a:chOff x="5105400" y="1821007"/>
            <a:chExt cx="4019162" cy="2025921"/>
          </a:xfrm>
        </p:grpSpPr>
        <p:sp>
          <p:nvSpPr>
            <p:cNvPr id="763" name="Google Shape;763;p25"/>
            <p:cNvSpPr/>
            <p:nvPr/>
          </p:nvSpPr>
          <p:spPr>
            <a:xfrm>
              <a:off x="5105400" y="1943244"/>
              <a:ext cx="4019162" cy="1903684"/>
            </a:xfrm>
            <a:custGeom>
              <a:rect b="b" l="l" r="r" t="t"/>
              <a:pathLst>
                <a:path extrusionOk="0" h="1667640" w="4019162">
                  <a:moveTo>
                    <a:pt x="268911" y="1479705"/>
                  </a:moveTo>
                  <a:cubicBezTo>
                    <a:pt x="-246478" y="1288512"/>
                    <a:pt x="105427" y="662287"/>
                    <a:pt x="285536" y="415676"/>
                  </a:cubicBezTo>
                  <a:cubicBezTo>
                    <a:pt x="465645" y="169065"/>
                    <a:pt x="753821" y="2810"/>
                    <a:pt x="1349566" y="39"/>
                  </a:cubicBezTo>
                  <a:cubicBezTo>
                    <a:pt x="1945311" y="-2732"/>
                    <a:pt x="3521958" y="138585"/>
                    <a:pt x="3860009" y="399050"/>
                  </a:cubicBezTo>
                  <a:cubicBezTo>
                    <a:pt x="4198060" y="659515"/>
                    <a:pt x="3979158" y="1379952"/>
                    <a:pt x="3377871" y="1562832"/>
                  </a:cubicBezTo>
                  <a:cubicBezTo>
                    <a:pt x="2776584" y="1745712"/>
                    <a:pt x="784300" y="1670898"/>
                    <a:pt x="268911" y="1479705"/>
                  </a:cubicBezTo>
                  <a:close/>
                </a:path>
              </a:pathLst>
            </a:custGeom>
            <a:noFill/>
            <a:ln cap="flat" cmpd="sng" w="13950">
              <a:solidFill>
                <a:srgbClr val="FFFED6"/>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764" name="Google Shape;764;p25"/>
            <p:cNvSpPr/>
            <p:nvPr/>
          </p:nvSpPr>
          <p:spPr>
            <a:xfrm>
              <a:off x="7543800" y="1821007"/>
              <a:ext cx="1219200" cy="365760"/>
            </a:xfrm>
            <a:prstGeom prst="wedgeRoundRectCallout">
              <a:avLst>
                <a:gd fmla="val -8560" name="adj1"/>
                <a:gd fmla="val -39318" name="adj2"/>
                <a:gd fmla="val 16667" name="adj3"/>
              </a:avLst>
            </a:prstGeom>
            <a:solidFill>
              <a:srgbClr val="002060"/>
            </a:solidFill>
            <a:ln cap="flat" cmpd="sng" w="13950">
              <a:solidFill>
                <a:srgbClr val="364A7D"/>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Assert</a:t>
              </a:r>
              <a:endParaRPr/>
            </a:p>
          </p:txBody>
        </p:sp>
      </p:grpSp>
      <p:grpSp>
        <p:nvGrpSpPr>
          <p:cNvPr id="765" name="Google Shape;765;p25"/>
          <p:cNvGrpSpPr/>
          <p:nvPr/>
        </p:nvGrpSpPr>
        <p:grpSpPr>
          <a:xfrm>
            <a:off x="2514600" y="1600200"/>
            <a:ext cx="2320006" cy="1806299"/>
            <a:chOff x="2514600" y="1803169"/>
            <a:chExt cx="2320006" cy="1806299"/>
          </a:xfrm>
        </p:grpSpPr>
        <p:sp>
          <p:nvSpPr>
            <p:cNvPr id="766" name="Google Shape;766;p25"/>
            <p:cNvSpPr/>
            <p:nvPr/>
          </p:nvSpPr>
          <p:spPr>
            <a:xfrm>
              <a:off x="2514600" y="1941928"/>
              <a:ext cx="2320006" cy="1667540"/>
            </a:xfrm>
            <a:custGeom>
              <a:rect b="b" l="l" r="r" t="t"/>
              <a:pathLst>
                <a:path extrusionOk="0" h="1667540" w="2576208">
                  <a:moveTo>
                    <a:pt x="443165" y="105654"/>
                  </a:moveTo>
                  <a:cubicBezTo>
                    <a:pt x="91260" y="313472"/>
                    <a:pt x="-177518" y="1269437"/>
                    <a:pt x="143907" y="1502193"/>
                  </a:cubicBezTo>
                  <a:cubicBezTo>
                    <a:pt x="465332" y="1734949"/>
                    <a:pt x="2019812" y="1710011"/>
                    <a:pt x="2371717" y="1502193"/>
                  </a:cubicBezTo>
                  <a:cubicBezTo>
                    <a:pt x="2723622" y="1294375"/>
                    <a:pt x="2579535" y="488040"/>
                    <a:pt x="2255339" y="255283"/>
                  </a:cubicBezTo>
                  <a:cubicBezTo>
                    <a:pt x="1931143" y="22526"/>
                    <a:pt x="795070" y="-102164"/>
                    <a:pt x="443165" y="105654"/>
                  </a:cubicBezTo>
                  <a:close/>
                </a:path>
              </a:pathLst>
            </a:custGeom>
            <a:noFill/>
            <a:ln cap="flat" cmpd="sng" w="13950">
              <a:solidFill>
                <a:srgbClr val="BED7EC"/>
              </a:solidFill>
              <a:prstDash val="lgDash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767" name="Google Shape;767;p25"/>
            <p:cNvSpPr/>
            <p:nvPr/>
          </p:nvSpPr>
          <p:spPr>
            <a:xfrm>
              <a:off x="3372238" y="1803169"/>
              <a:ext cx="1219200" cy="365760"/>
            </a:xfrm>
            <a:prstGeom prst="wedgeRoundRectCallout">
              <a:avLst>
                <a:gd fmla="val -8560" name="adj1"/>
                <a:gd fmla="val -39318" name="adj2"/>
                <a:gd fmla="val 16667" name="adj3"/>
              </a:avLst>
            </a:prstGeom>
            <a:solidFill>
              <a:srgbClr val="002060"/>
            </a:solidFill>
            <a:ln cap="flat" cmpd="sng" w="13950">
              <a:solidFill>
                <a:srgbClr val="364A7D"/>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Execute</a:t>
              </a:r>
              <a:endParaRPr/>
            </a:p>
          </p:txBody>
        </p:sp>
      </p:grpSp>
      <p:grpSp>
        <p:nvGrpSpPr>
          <p:cNvPr id="768" name="Google Shape;768;p25"/>
          <p:cNvGrpSpPr/>
          <p:nvPr/>
        </p:nvGrpSpPr>
        <p:grpSpPr>
          <a:xfrm>
            <a:off x="19438" y="1815159"/>
            <a:ext cx="8591162" cy="3696872"/>
            <a:chOff x="19438" y="2018128"/>
            <a:chExt cx="8591162" cy="3696872"/>
          </a:xfrm>
        </p:grpSpPr>
        <p:sp>
          <p:nvSpPr>
            <p:cNvPr id="769" name="Google Shape;769;p25"/>
            <p:cNvSpPr/>
            <p:nvPr/>
          </p:nvSpPr>
          <p:spPr>
            <a:xfrm>
              <a:off x="19438" y="2018128"/>
              <a:ext cx="8591162" cy="3657600"/>
            </a:xfrm>
            <a:custGeom>
              <a:rect b="b" l="l" r="r" t="t"/>
              <a:pathLst>
                <a:path extrusionOk="0" h="3853792" w="8871426">
                  <a:moveTo>
                    <a:pt x="1408278" y="3626430"/>
                  </a:moveTo>
                  <a:cubicBezTo>
                    <a:pt x="920597" y="3601492"/>
                    <a:pt x="432917" y="3576554"/>
                    <a:pt x="227870" y="3027914"/>
                  </a:cubicBezTo>
                  <a:cubicBezTo>
                    <a:pt x="22823" y="2479274"/>
                    <a:pt x="-137890" y="789019"/>
                    <a:pt x="177994" y="334590"/>
                  </a:cubicBezTo>
                  <a:cubicBezTo>
                    <a:pt x="493878" y="-119839"/>
                    <a:pt x="1724161" y="-92130"/>
                    <a:pt x="2123172" y="301339"/>
                  </a:cubicBezTo>
                  <a:cubicBezTo>
                    <a:pt x="2522183" y="694808"/>
                    <a:pt x="2103775" y="2335187"/>
                    <a:pt x="2572059" y="2695405"/>
                  </a:cubicBezTo>
                  <a:cubicBezTo>
                    <a:pt x="3040343" y="3055623"/>
                    <a:pt x="4176416" y="2562401"/>
                    <a:pt x="4932874" y="2462648"/>
                  </a:cubicBezTo>
                  <a:cubicBezTo>
                    <a:pt x="5689332" y="2362895"/>
                    <a:pt x="6537231" y="2088575"/>
                    <a:pt x="7110809" y="2096888"/>
                  </a:cubicBezTo>
                  <a:cubicBezTo>
                    <a:pt x="7684387" y="2105201"/>
                    <a:pt x="8180380" y="2232663"/>
                    <a:pt x="8374343" y="2512525"/>
                  </a:cubicBezTo>
                  <a:cubicBezTo>
                    <a:pt x="8568307" y="2792387"/>
                    <a:pt x="9443914" y="3593179"/>
                    <a:pt x="8274590" y="3776059"/>
                  </a:cubicBezTo>
                  <a:cubicBezTo>
                    <a:pt x="7105266" y="3958939"/>
                    <a:pt x="4231833" y="3784372"/>
                    <a:pt x="1358401" y="3609805"/>
                  </a:cubicBezTo>
                </a:path>
              </a:pathLst>
            </a:custGeom>
            <a:noFill/>
            <a:ln cap="flat" cmpd="sng" w="13950">
              <a:solidFill>
                <a:srgbClr val="FFD7D6"/>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770" name="Google Shape;770;p25"/>
            <p:cNvSpPr/>
            <p:nvPr/>
          </p:nvSpPr>
          <p:spPr>
            <a:xfrm>
              <a:off x="3013235" y="5349240"/>
              <a:ext cx="1219200" cy="365760"/>
            </a:xfrm>
            <a:prstGeom prst="wedgeRoundRectCallout">
              <a:avLst>
                <a:gd fmla="val -8560" name="adj1"/>
                <a:gd fmla="val -39318" name="adj2"/>
                <a:gd fmla="val 16667" name="adj3"/>
              </a:avLst>
            </a:prstGeom>
            <a:solidFill>
              <a:srgbClr val="002060"/>
            </a:solidFill>
            <a:ln cap="flat" cmpd="sng" w="13950">
              <a:solidFill>
                <a:srgbClr val="364A7D"/>
              </a:solidFill>
              <a:prstDash val="solid"/>
              <a:round/>
              <a:headEnd len="sm" w="sm" type="none"/>
              <a:tailEnd len="sm" w="sm" type="none"/>
            </a:ln>
          </p:spPr>
          <p:txBody>
            <a:bodyPr anchorCtr="0" anchor="b" bIns="45700" lIns="91425" spcFirstLastPara="1" rIns="91425" wrap="square" tIns="45700">
              <a:noAutofit/>
            </a:bodyPr>
            <a:lstStyle/>
            <a:p>
              <a:pPr indent="0" lvl="0" marL="0" marR="0" rtl="0" algn="ctr">
                <a:spcBef>
                  <a:spcPts val="0"/>
                </a:spcBef>
                <a:spcAft>
                  <a:spcPts val="0"/>
                </a:spcAft>
                <a:buNone/>
              </a:pPr>
              <a:r>
                <a:rPr b="0" lang="en-US" sz="1800">
                  <a:solidFill>
                    <a:schemeClr val="lt1"/>
                  </a:solidFill>
                  <a:latin typeface="Verdana"/>
                  <a:ea typeface="Verdana"/>
                  <a:cs typeface="Verdana"/>
                  <a:sym typeface="Verdana"/>
                </a:rPr>
                <a:t>Set up</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26"/>
          <p:cNvSpPr/>
          <p:nvPr/>
        </p:nvSpPr>
        <p:spPr>
          <a:xfrm>
            <a:off x="106680" y="990600"/>
            <a:ext cx="8961120" cy="5434584"/>
          </a:xfrm>
          <a:prstGeom prst="rect">
            <a:avLst/>
          </a:prstGeom>
          <a:solidFill>
            <a:srgbClr val="DBEEFF"/>
          </a:solidFill>
          <a:ln cap="flat" cmpd="sng" w="13950">
            <a:solidFill>
              <a:srgbClr val="364A7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p:txBody>
      </p:sp>
      <p:sp>
        <p:nvSpPr>
          <p:cNvPr id="777" name="Google Shape;777;p26"/>
          <p:cNvSpPr txBox="1"/>
          <p:nvPr>
            <p:ph idx="1" type="body"/>
          </p:nvPr>
        </p:nvSpPr>
        <p:spPr>
          <a:xfrm>
            <a:off x="304800" y="1143000"/>
            <a:ext cx="8641080" cy="51054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rgbClr val="000099"/>
              </a:buClr>
              <a:buSzPts val="1440"/>
              <a:buNone/>
            </a:pPr>
            <a:r>
              <a:rPr b="1" lang="en-US" sz="1800">
                <a:solidFill>
                  <a:schemeClr val="dk1"/>
                </a:solidFill>
              </a:rPr>
              <a:t>Purpose:</a:t>
            </a:r>
            <a:r>
              <a:rPr lang="en-US" sz="1800">
                <a:solidFill>
                  <a:schemeClr val="dk1"/>
                </a:solidFill>
              </a:rPr>
              <a:t> Understand the 3-steps in test automation: set up, execute, and assert</a:t>
            </a:r>
            <a:endParaRPr/>
          </a:p>
          <a:p>
            <a:pPr indent="0" lvl="0" marL="0" rtl="0" algn="l">
              <a:lnSpc>
                <a:spcPct val="85000"/>
              </a:lnSpc>
              <a:spcBef>
                <a:spcPts val="200"/>
              </a:spcBef>
              <a:spcAft>
                <a:spcPts val="0"/>
              </a:spcAft>
              <a:buClr>
                <a:srgbClr val="000099"/>
              </a:buClr>
              <a:buSzPts val="1440"/>
              <a:buNone/>
            </a:pPr>
            <a:r>
              <a:t/>
            </a:r>
            <a:endParaRPr sz="1800">
              <a:solidFill>
                <a:srgbClr val="000099"/>
              </a:solidFill>
            </a:endParaRPr>
          </a:p>
          <a:p>
            <a:pPr indent="0" lvl="0" marL="0" rtl="0" algn="l">
              <a:lnSpc>
                <a:spcPct val="85000"/>
              </a:lnSpc>
              <a:spcBef>
                <a:spcPts val="4200"/>
              </a:spcBef>
              <a:spcAft>
                <a:spcPts val="0"/>
              </a:spcAft>
              <a:buClr>
                <a:srgbClr val="000099"/>
              </a:buClr>
              <a:buSzPts val="1440"/>
              <a:buNone/>
            </a:pPr>
            <a:r>
              <a:t/>
            </a:r>
            <a:endParaRPr sz="1800">
              <a:solidFill>
                <a:srgbClr val="000099"/>
              </a:solidFill>
            </a:endParaRPr>
          </a:p>
          <a:p>
            <a:pPr indent="0" lvl="0" marL="0" rtl="0" algn="l">
              <a:lnSpc>
                <a:spcPct val="85000"/>
              </a:lnSpc>
              <a:spcBef>
                <a:spcPts val="4200"/>
              </a:spcBef>
              <a:spcAft>
                <a:spcPts val="0"/>
              </a:spcAft>
              <a:buClr>
                <a:srgbClr val="000099"/>
              </a:buClr>
              <a:buSzPts val="1440"/>
              <a:buNone/>
            </a:pPr>
            <a:r>
              <a:rPr lang="en-US" sz="1800">
                <a:solidFill>
                  <a:srgbClr val="000099"/>
                </a:solidFill>
              </a:rPr>
              <a:t>Consider the </a:t>
            </a:r>
            <a:r>
              <a:rPr lang="en-US" sz="1800">
                <a:solidFill>
                  <a:srgbClr val="000099"/>
                </a:solidFill>
                <a:latin typeface="Courier"/>
                <a:ea typeface="Courier"/>
                <a:cs typeface="Courier"/>
                <a:sym typeface="Courier"/>
              </a:rPr>
              <a:t>GenericStack</a:t>
            </a:r>
            <a:r>
              <a:rPr lang="en-US" sz="1800">
                <a:solidFill>
                  <a:srgbClr val="000099"/>
                </a:solidFill>
              </a:rPr>
              <a:t> class with the following method signatures. Assume the usual semantics for the </a:t>
            </a:r>
            <a:r>
              <a:rPr lang="en-US" sz="1800">
                <a:solidFill>
                  <a:srgbClr val="000099"/>
                </a:solidFill>
                <a:latin typeface="Courier"/>
                <a:ea typeface="Courier"/>
                <a:cs typeface="Courier"/>
                <a:sym typeface="Courier"/>
              </a:rPr>
              <a:t>GenericStack</a:t>
            </a:r>
            <a:r>
              <a:rPr lang="en-US" sz="1800">
                <a:solidFill>
                  <a:srgbClr val="000099"/>
                </a:solidFill>
              </a:rPr>
              <a:t>.</a:t>
            </a:r>
            <a:endParaRPr/>
          </a:p>
          <a:p>
            <a:pPr indent="0" lvl="0" marL="460375" rtl="0" algn="l">
              <a:lnSpc>
                <a:spcPct val="85000"/>
              </a:lnSpc>
              <a:spcBef>
                <a:spcPts val="800"/>
              </a:spcBef>
              <a:spcAft>
                <a:spcPts val="0"/>
              </a:spcAft>
              <a:buClr>
                <a:srgbClr val="000099"/>
              </a:buClr>
              <a:buSzPts val="1440"/>
              <a:buNone/>
            </a:pPr>
            <a:r>
              <a:rPr lang="en-US" sz="1800">
                <a:solidFill>
                  <a:srgbClr val="000099"/>
                </a:solidFill>
                <a:latin typeface="Courier"/>
                <a:ea typeface="Courier"/>
                <a:cs typeface="Courier"/>
                <a:sym typeface="Courier"/>
              </a:rPr>
              <a:t>public GenericStack();</a:t>
            </a:r>
            <a:endParaRPr/>
          </a:p>
          <a:p>
            <a:pPr indent="0" lvl="0" marL="460375" rtl="0" algn="l">
              <a:lnSpc>
                <a:spcPct val="85000"/>
              </a:lnSpc>
              <a:spcBef>
                <a:spcPts val="0"/>
              </a:spcBef>
              <a:spcAft>
                <a:spcPts val="0"/>
              </a:spcAft>
              <a:buClr>
                <a:srgbClr val="000099"/>
              </a:buClr>
              <a:buSzPts val="1440"/>
              <a:buNone/>
            </a:pPr>
            <a:r>
              <a:rPr lang="en-US" sz="1800">
                <a:solidFill>
                  <a:srgbClr val="000099"/>
                </a:solidFill>
                <a:latin typeface="Courier"/>
                <a:ea typeface="Courier"/>
                <a:cs typeface="Courier"/>
                <a:sym typeface="Courier"/>
              </a:rPr>
              <a:t>public void push(Object X);</a:t>
            </a:r>
            <a:endParaRPr/>
          </a:p>
          <a:p>
            <a:pPr indent="0" lvl="0" marL="460375" rtl="0" algn="l">
              <a:lnSpc>
                <a:spcPct val="85000"/>
              </a:lnSpc>
              <a:spcBef>
                <a:spcPts val="0"/>
              </a:spcBef>
              <a:spcAft>
                <a:spcPts val="0"/>
              </a:spcAft>
              <a:buClr>
                <a:srgbClr val="000099"/>
              </a:buClr>
              <a:buSzPts val="1440"/>
              <a:buNone/>
            </a:pPr>
            <a:r>
              <a:rPr lang="en-US" sz="1800">
                <a:solidFill>
                  <a:srgbClr val="000099"/>
                </a:solidFill>
                <a:latin typeface="Courier"/>
                <a:ea typeface="Courier"/>
                <a:cs typeface="Courier"/>
                <a:sym typeface="Courier"/>
              </a:rPr>
              <a:t>public Object pop();</a:t>
            </a:r>
            <a:endParaRPr/>
          </a:p>
          <a:p>
            <a:pPr indent="0" lvl="0" marL="460375" rtl="0" algn="l">
              <a:lnSpc>
                <a:spcPct val="85000"/>
              </a:lnSpc>
              <a:spcBef>
                <a:spcPts val="0"/>
              </a:spcBef>
              <a:spcAft>
                <a:spcPts val="0"/>
              </a:spcAft>
              <a:buClr>
                <a:srgbClr val="000099"/>
              </a:buClr>
              <a:buSzPts val="1440"/>
              <a:buNone/>
            </a:pPr>
            <a:r>
              <a:rPr lang="en-US" sz="1800">
                <a:solidFill>
                  <a:srgbClr val="000099"/>
                </a:solidFill>
                <a:latin typeface="Courier"/>
                <a:ea typeface="Courier"/>
                <a:cs typeface="Courier"/>
                <a:sym typeface="Courier"/>
              </a:rPr>
              <a:t>public boolean isEmpty();</a:t>
            </a:r>
            <a:endParaRPr/>
          </a:p>
          <a:p>
            <a:pPr indent="0" lvl="0" marL="0" rtl="0" algn="l">
              <a:lnSpc>
                <a:spcPct val="85000"/>
              </a:lnSpc>
              <a:spcBef>
                <a:spcPts val="2000"/>
              </a:spcBef>
              <a:spcAft>
                <a:spcPts val="0"/>
              </a:spcAft>
              <a:buClr>
                <a:srgbClr val="000099"/>
              </a:buClr>
              <a:buSzPts val="1440"/>
              <a:buNone/>
            </a:pPr>
            <a:r>
              <a:rPr lang="en-US" sz="1800">
                <a:solidFill>
                  <a:srgbClr val="000099"/>
                </a:solidFill>
              </a:rPr>
              <a:t>Design tests for the </a:t>
            </a:r>
            <a:r>
              <a:rPr lang="en-US" sz="1800">
                <a:solidFill>
                  <a:srgbClr val="000099"/>
                </a:solidFill>
                <a:latin typeface="Courier"/>
                <a:ea typeface="Courier"/>
                <a:cs typeface="Courier"/>
                <a:sym typeface="Courier"/>
              </a:rPr>
              <a:t>GenericStack</a:t>
            </a:r>
            <a:r>
              <a:rPr lang="en-US" sz="1800">
                <a:solidFill>
                  <a:srgbClr val="000099"/>
                </a:solidFill>
              </a:rPr>
              <a:t>. For each test, come up with:</a:t>
            </a:r>
            <a:endParaRPr/>
          </a:p>
          <a:p>
            <a:pPr indent="-182880" lvl="1" marL="457200" rtl="0" algn="l">
              <a:lnSpc>
                <a:spcPct val="85000"/>
              </a:lnSpc>
              <a:spcBef>
                <a:spcPts val="800"/>
              </a:spcBef>
              <a:spcAft>
                <a:spcPts val="0"/>
              </a:spcAft>
              <a:buClr>
                <a:srgbClr val="000099"/>
              </a:buClr>
              <a:buSzPts val="1800"/>
              <a:buChar char="●"/>
            </a:pPr>
            <a:r>
              <a:rPr b="1" lang="en-US" sz="1800">
                <a:solidFill>
                  <a:srgbClr val="000099"/>
                </a:solidFill>
              </a:rPr>
              <a:t>Set up</a:t>
            </a:r>
            <a:r>
              <a:rPr lang="en-US" sz="1800">
                <a:solidFill>
                  <a:srgbClr val="000099"/>
                </a:solidFill>
              </a:rPr>
              <a:t>: test inputs, prefix (if applicable), postfix (if applicable)</a:t>
            </a:r>
            <a:endParaRPr/>
          </a:p>
          <a:p>
            <a:pPr indent="-182880" lvl="1" marL="457200" rtl="0" algn="l">
              <a:lnSpc>
                <a:spcPct val="85000"/>
              </a:lnSpc>
              <a:spcBef>
                <a:spcPts val="300"/>
              </a:spcBef>
              <a:spcAft>
                <a:spcPts val="0"/>
              </a:spcAft>
              <a:buClr>
                <a:srgbClr val="000099"/>
              </a:buClr>
              <a:buSzPts val="1800"/>
              <a:buChar char="●"/>
            </a:pPr>
            <a:r>
              <a:rPr b="1" lang="en-US" sz="1800">
                <a:solidFill>
                  <a:srgbClr val="000099"/>
                </a:solidFill>
              </a:rPr>
              <a:t>Execute</a:t>
            </a:r>
            <a:r>
              <a:rPr lang="en-US" sz="1800">
                <a:solidFill>
                  <a:srgbClr val="000099"/>
                </a:solidFill>
              </a:rPr>
              <a:t>: series of executions</a:t>
            </a:r>
            <a:endParaRPr/>
          </a:p>
          <a:p>
            <a:pPr indent="-182880" lvl="1" marL="457200" rtl="0" algn="l">
              <a:lnSpc>
                <a:spcPct val="85000"/>
              </a:lnSpc>
              <a:spcBef>
                <a:spcPts val="300"/>
              </a:spcBef>
              <a:spcAft>
                <a:spcPts val="0"/>
              </a:spcAft>
              <a:buClr>
                <a:srgbClr val="000099"/>
              </a:buClr>
              <a:buSzPts val="1800"/>
              <a:buChar char="●"/>
            </a:pPr>
            <a:r>
              <a:rPr b="1" lang="en-US" sz="1800">
                <a:solidFill>
                  <a:srgbClr val="000099"/>
                </a:solidFill>
              </a:rPr>
              <a:t>Assert</a:t>
            </a:r>
            <a:r>
              <a:rPr lang="en-US" sz="1800">
                <a:solidFill>
                  <a:srgbClr val="000099"/>
                </a:solidFill>
              </a:rPr>
              <a:t>: expected outputs, what to observe</a:t>
            </a:r>
            <a:endParaRPr/>
          </a:p>
        </p:txBody>
      </p:sp>
      <p:sp>
        <p:nvSpPr>
          <p:cNvPr id="778" name="Google Shape;778;p26"/>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Let’s Try (4)</a:t>
            </a:r>
            <a:endParaRPr/>
          </a:p>
        </p:txBody>
      </p:sp>
      <p:sp>
        <p:nvSpPr>
          <p:cNvPr id="779" name="Google Shape;779;p26"/>
          <p:cNvSpPr txBox="1"/>
          <p:nvPr/>
        </p:nvSpPr>
        <p:spPr>
          <a:xfrm>
            <a:off x="304800" y="2033016"/>
            <a:ext cx="7086600" cy="12192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440"/>
              <a:buFont typeface="Arial"/>
              <a:buNone/>
            </a:pPr>
            <a:r>
              <a:rPr b="0" lang="en-US" sz="1800">
                <a:solidFill>
                  <a:srgbClr val="000099"/>
                </a:solidFill>
                <a:latin typeface="Verdana"/>
                <a:ea typeface="Verdana"/>
                <a:cs typeface="Verdana"/>
                <a:sym typeface="Verdana"/>
              </a:rPr>
              <a:t>Use </a:t>
            </a:r>
            <a:r>
              <a:rPr b="0" lang="en-US" sz="1800" u="sng">
                <a:solidFill>
                  <a:srgbClr val="000099"/>
                </a:solidFill>
                <a:latin typeface="Verdana"/>
                <a:ea typeface="Verdana"/>
                <a:cs typeface="Verdana"/>
                <a:sym typeface="Verdana"/>
                <a:hlinkClick r:id="rId3">
                  <a:extLst>
                    <a:ext uri="{A12FA001-AC4F-418D-AE19-62706E023703}">
                      <ahyp:hlinkClr val="tx"/>
                    </a:ext>
                  </a:extLst>
                </a:hlinkClick>
              </a:rPr>
              <a:t>https://www.tldraw.com/f/HzI5N9BSrRuBYWLxeWsQK?d=v0.0.1147.721.ZuKxMmA5lKK99lQzd_ZUg</a:t>
            </a:r>
            <a:r>
              <a:rPr b="0" lang="en-US" sz="1800">
                <a:solidFill>
                  <a:srgbClr val="000099"/>
                </a:solidFill>
                <a:latin typeface="Verdana"/>
                <a:ea typeface="Verdana"/>
                <a:cs typeface="Verdana"/>
                <a:sym typeface="Verdana"/>
              </a:rPr>
              <a:t> to share ideas</a:t>
            </a:r>
            <a:endParaRPr/>
          </a:p>
        </p:txBody>
      </p:sp>
      <p:sp>
        <p:nvSpPr>
          <p:cNvPr id="780" name="Google Shape;780;p26"/>
          <p:cNvSpPr/>
          <p:nvPr/>
        </p:nvSpPr>
        <p:spPr>
          <a:xfrm>
            <a:off x="7467600" y="1981200"/>
            <a:ext cx="1097280" cy="1097280"/>
          </a:xfrm>
          <a:prstGeom prst="rect">
            <a:avLst/>
          </a:prstGeom>
          <a:noFill/>
          <a:ln>
            <a:noFill/>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27"/>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4000"/>
              <a:buFont typeface="Verdana"/>
              <a:buNone/>
            </a:pPr>
            <a:r>
              <a:rPr lang="en-US"/>
              <a:t>Test Automation Framework</a:t>
            </a:r>
            <a:endParaRPr/>
          </a:p>
        </p:txBody>
      </p:sp>
      <p:sp>
        <p:nvSpPr>
          <p:cNvPr id="787" name="Google Shape;787;p27"/>
          <p:cNvSpPr txBox="1"/>
          <p:nvPr/>
        </p:nvSpPr>
        <p:spPr>
          <a:xfrm>
            <a:off x="304800" y="990600"/>
            <a:ext cx="8610600" cy="5638800"/>
          </a:xfrm>
          <a:prstGeom prst="rect">
            <a:avLst/>
          </a:prstGeom>
          <a:noFill/>
          <a:ln>
            <a:noFill/>
          </a:ln>
        </p:spPr>
        <p:txBody>
          <a:bodyPr anchorCtr="0" anchor="t" bIns="45700" lIns="91425" spcFirstLastPara="1" rIns="91425" wrap="square" tIns="45700">
            <a:noAutofit/>
          </a:bodyPr>
          <a:lstStyle/>
          <a:p>
            <a:pPr indent="-222250" lvl="0" marL="290513" marR="0" rtl="0" algn="l">
              <a:lnSpc>
                <a:spcPct val="100000"/>
              </a:lnSpc>
              <a:spcBef>
                <a:spcPts val="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A set of assumptions, concepts, and tools that support test automation</a:t>
            </a:r>
            <a:endParaRPr/>
          </a:p>
          <a:p>
            <a:pPr indent="-222250" lvl="0" marL="290513" marR="0" rtl="0" algn="l">
              <a:lnSpc>
                <a:spcPct val="100000"/>
              </a:lnSpc>
              <a:spcBef>
                <a:spcPts val="320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Provides a standard design for test scripts and support for the test driver</a:t>
            </a:r>
            <a:endParaRPr/>
          </a:p>
          <a:p>
            <a:pPr indent="-222250" lvl="0" marL="290513" marR="0" rtl="0" algn="l">
              <a:lnSpc>
                <a:spcPct val="100000"/>
              </a:lnSpc>
              <a:spcBef>
                <a:spcPts val="3200"/>
              </a:spcBef>
              <a:spcAft>
                <a:spcPts val="0"/>
              </a:spcAft>
              <a:buClr>
                <a:schemeClr val="lt1"/>
              </a:buClr>
              <a:buSzPts val="1600"/>
              <a:buFont typeface="Arial"/>
              <a:buChar char="•"/>
            </a:pPr>
            <a:r>
              <a:rPr b="0" lang="en-US" sz="2000">
                <a:solidFill>
                  <a:srgbClr val="FFFF00"/>
                </a:solidFill>
                <a:latin typeface="Verdana"/>
                <a:ea typeface="Verdana"/>
                <a:cs typeface="Verdana"/>
                <a:sym typeface="Verdana"/>
              </a:rPr>
              <a:t>Test driver</a:t>
            </a:r>
            <a:endParaRPr/>
          </a:p>
          <a:p>
            <a:pPr indent="-257175" lvl="0" marL="685800" marR="0" rtl="0" algn="l">
              <a:lnSpc>
                <a:spcPct val="100000"/>
              </a:lnSpc>
              <a:spcBef>
                <a:spcPts val="17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Runs a test set by executing the software repeatedly on each test</a:t>
            </a:r>
            <a:endParaRPr/>
          </a:p>
          <a:p>
            <a:pPr indent="-257175" lvl="0" marL="685800" marR="0" rtl="0" algn="l">
              <a:lnSpc>
                <a:spcPct val="100000"/>
              </a:lnSpc>
              <a:spcBef>
                <a:spcPts val="17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Supplies the “</a:t>
            </a:r>
            <a:r>
              <a:rPr b="0" lang="en-US" sz="1800">
                <a:solidFill>
                  <a:srgbClr val="FFFF00"/>
                </a:solidFill>
                <a:latin typeface="Verdana"/>
                <a:ea typeface="Verdana"/>
                <a:cs typeface="Verdana"/>
                <a:sym typeface="Verdana"/>
              </a:rPr>
              <a:t>main</a:t>
            </a:r>
            <a:r>
              <a:rPr b="0" lang="en-US" sz="1800">
                <a:solidFill>
                  <a:schemeClr val="lt1"/>
                </a:solidFill>
                <a:latin typeface="Verdana"/>
                <a:ea typeface="Verdana"/>
                <a:cs typeface="Verdana"/>
                <a:sym typeface="Verdana"/>
              </a:rPr>
              <a:t>” method to run the software if it is </a:t>
            </a:r>
            <a:r>
              <a:rPr b="0" lang="en-US" sz="1800">
                <a:solidFill>
                  <a:srgbClr val="FFFF00"/>
                </a:solidFill>
                <a:latin typeface="Verdana"/>
                <a:ea typeface="Verdana"/>
                <a:cs typeface="Verdana"/>
                <a:sym typeface="Verdana"/>
              </a:rPr>
              <a:t>not standalone </a:t>
            </a:r>
            <a:r>
              <a:rPr b="0" lang="en-US" sz="1800">
                <a:solidFill>
                  <a:schemeClr val="lt1"/>
                </a:solidFill>
                <a:latin typeface="Verdana"/>
                <a:ea typeface="Verdana"/>
                <a:cs typeface="Verdana"/>
                <a:sym typeface="Verdana"/>
              </a:rPr>
              <a:t>(i.e., a method, class, or other component)</a:t>
            </a:r>
            <a:endParaRPr/>
          </a:p>
          <a:p>
            <a:pPr indent="-257175" lvl="0" marL="685800" marR="0" rtl="0" algn="l">
              <a:lnSpc>
                <a:spcPct val="100000"/>
              </a:lnSpc>
              <a:spcBef>
                <a:spcPts val="17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Compares the results of execution with the expected results</a:t>
            </a:r>
            <a:endParaRPr/>
          </a:p>
          <a:p>
            <a:pPr indent="-257175" lvl="0" marL="685800" marR="0" rtl="0" algn="l">
              <a:lnSpc>
                <a:spcPct val="100000"/>
              </a:lnSpc>
              <a:spcBef>
                <a:spcPts val="17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Reports the results to the tester</a:t>
            </a:r>
            <a:endParaRPr/>
          </a:p>
          <a:p>
            <a:pPr indent="-120650" lvl="0" marL="290513" marR="0" rtl="0" algn="l">
              <a:lnSpc>
                <a:spcPct val="100000"/>
              </a:lnSpc>
              <a:spcBef>
                <a:spcPts val="2200"/>
              </a:spcBef>
              <a:spcAft>
                <a:spcPts val="0"/>
              </a:spcAft>
              <a:buClr>
                <a:schemeClr val="lt1"/>
              </a:buClr>
              <a:buSzPts val="1600"/>
              <a:buFont typeface="Arial"/>
              <a:buNone/>
            </a:pPr>
            <a:r>
              <a:t/>
            </a:r>
            <a:endParaRPr b="0" sz="2000">
              <a:solidFill>
                <a:schemeClr val="lt1"/>
              </a:solidFill>
              <a:latin typeface="Verdana"/>
              <a:ea typeface="Verdana"/>
              <a:cs typeface="Verdana"/>
              <a:sym typeface="Verdan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28"/>
          <p:cNvSpPr txBox="1"/>
          <p:nvPr>
            <p:ph type="title"/>
          </p:nvPr>
        </p:nvSpPr>
        <p:spPr>
          <a:xfrm>
            <a:off x="0" y="73152"/>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800"/>
              <a:buFont typeface="Verdana"/>
              <a:buNone/>
            </a:pPr>
            <a:r>
              <a:rPr lang="en-US" sz="3800"/>
              <a:t>Test Automation Frameworks (2)</a:t>
            </a:r>
            <a:endParaRPr/>
          </a:p>
        </p:txBody>
      </p:sp>
      <p:sp>
        <p:nvSpPr>
          <p:cNvPr id="794" name="Google Shape;794;p28"/>
          <p:cNvSpPr txBox="1"/>
          <p:nvPr/>
        </p:nvSpPr>
        <p:spPr>
          <a:xfrm>
            <a:off x="304800" y="990600"/>
            <a:ext cx="8382000" cy="5638800"/>
          </a:xfrm>
          <a:prstGeom prst="rect">
            <a:avLst/>
          </a:prstGeom>
          <a:noFill/>
          <a:ln>
            <a:noFill/>
          </a:ln>
        </p:spPr>
        <p:txBody>
          <a:bodyPr anchorCtr="0" anchor="t" bIns="45700" lIns="91425" spcFirstLastPara="1" rIns="91425" wrap="square" tIns="45700">
            <a:noAutofit/>
          </a:bodyPr>
          <a:lstStyle/>
          <a:p>
            <a:pPr indent="-222250" lvl="0" marL="290513" marR="0" rtl="0" algn="l">
              <a:lnSpc>
                <a:spcPct val="100000"/>
              </a:lnSpc>
              <a:spcBef>
                <a:spcPts val="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Most test automation frameworks support</a:t>
            </a:r>
            <a:endParaRPr/>
          </a:p>
          <a:p>
            <a:pPr indent="-274638" lvl="1" marL="754063" marR="0" rtl="0" algn="l">
              <a:lnSpc>
                <a:spcPct val="100000"/>
              </a:lnSpc>
              <a:spcBef>
                <a:spcPts val="12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Assertions to evaluate expected results</a:t>
            </a:r>
            <a:endParaRPr/>
          </a:p>
          <a:p>
            <a:pPr indent="-274638" lvl="1" marL="754063" marR="0" rtl="0" algn="l">
              <a:lnSpc>
                <a:spcPct val="100000"/>
              </a:lnSpc>
              <a:spcBef>
                <a:spcPts val="7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The ability to share common test data among tests</a:t>
            </a:r>
            <a:endParaRPr/>
          </a:p>
          <a:p>
            <a:pPr indent="-274638" lvl="1" marL="754063" marR="0" rtl="0" algn="l">
              <a:lnSpc>
                <a:spcPct val="100000"/>
              </a:lnSpc>
              <a:spcBef>
                <a:spcPts val="7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Test sets to easily organize and run tests</a:t>
            </a:r>
            <a:endParaRPr/>
          </a:p>
          <a:p>
            <a:pPr indent="-274638" lvl="1" marL="754063" marR="0" rtl="0" algn="l">
              <a:lnSpc>
                <a:spcPct val="100000"/>
              </a:lnSpc>
              <a:spcBef>
                <a:spcPts val="700"/>
              </a:spcBef>
              <a:spcAft>
                <a:spcPts val="0"/>
              </a:spcAft>
              <a:buClr>
                <a:schemeClr val="lt1"/>
              </a:buClr>
              <a:buSzPts val="1800"/>
              <a:buFont typeface="Noto Sans Symbols"/>
              <a:buChar char="●"/>
            </a:pPr>
            <a:r>
              <a:rPr b="0" i="0" lang="en-US" sz="1800" u="none" cap="none" strike="noStrike">
                <a:solidFill>
                  <a:schemeClr val="lt1"/>
                </a:solidFill>
                <a:latin typeface="Verdana"/>
                <a:ea typeface="Verdana"/>
                <a:cs typeface="Verdana"/>
                <a:sym typeface="Verdana"/>
              </a:rPr>
              <a:t>The ability to run tests from either a command line or a GUI</a:t>
            </a:r>
            <a:endParaRPr/>
          </a:p>
          <a:p>
            <a:pPr indent="-222250" lvl="0" marL="290513" marR="0" rtl="0" algn="l">
              <a:lnSpc>
                <a:spcPct val="100000"/>
              </a:lnSpc>
              <a:spcBef>
                <a:spcPts val="330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Most test automation frameworks are designed for unit and integration testing; some specifically support system testing; some are built to support testing over the web</a:t>
            </a:r>
            <a:endParaRPr/>
          </a:p>
          <a:p>
            <a:pPr indent="-222250" lvl="0" marL="290513" marR="0" rtl="0" algn="l">
              <a:lnSpc>
                <a:spcPct val="100000"/>
              </a:lnSpc>
              <a:spcBef>
                <a:spcPts val="3200"/>
              </a:spcBef>
              <a:spcAft>
                <a:spcPts val="0"/>
              </a:spcAft>
              <a:buClr>
                <a:schemeClr val="lt1"/>
              </a:buClr>
              <a:buSzPts val="1600"/>
              <a:buFont typeface="Arial"/>
              <a:buChar char="•"/>
            </a:pPr>
            <a:r>
              <a:rPr b="0" lang="en-US" sz="2000">
                <a:solidFill>
                  <a:schemeClr val="lt1"/>
                </a:solidFill>
                <a:latin typeface="Verdana"/>
                <a:ea typeface="Verdana"/>
                <a:cs typeface="Verdana"/>
                <a:sym typeface="Verdana"/>
              </a:rPr>
              <a:t>Example test automation frameworks</a:t>
            </a:r>
            <a:endParaRPr/>
          </a:p>
          <a:p>
            <a:pPr indent="-292100" lvl="0" marL="754063" marR="0" rtl="0" algn="l">
              <a:lnSpc>
                <a:spcPct val="110000"/>
              </a:lnSpc>
              <a:spcBef>
                <a:spcPts val="1200"/>
              </a:spcBef>
              <a:spcAft>
                <a:spcPts val="0"/>
              </a:spcAft>
              <a:buClr>
                <a:schemeClr val="lt1"/>
              </a:buClr>
              <a:buSzPts val="1440"/>
              <a:buFont typeface="Arial"/>
              <a:buChar char="•"/>
            </a:pPr>
            <a:r>
              <a:rPr b="0" lang="en-US" sz="1800">
                <a:solidFill>
                  <a:schemeClr val="lt1"/>
                </a:solidFill>
                <a:latin typeface="Verdana"/>
                <a:ea typeface="Verdana"/>
                <a:cs typeface="Verdana"/>
                <a:sym typeface="Verdana"/>
              </a:rPr>
              <a:t>JUnit, HttpUnit, HtmlUnit, JWebUnit, Selenium, unittest, Jasmine, Jest, Cucumber, PHPUnit, Robotium</a:t>
            </a:r>
            <a:endParaRPr b="0" sz="1800">
              <a:solidFill>
                <a:schemeClr val="lt1"/>
              </a:solidFill>
              <a:latin typeface="Verdana"/>
              <a:ea typeface="Verdana"/>
              <a:cs typeface="Verdana"/>
              <a:sym typeface="Verdan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29"/>
          <p:cNvSpPr txBox="1"/>
          <p:nvPr>
            <p:ph type="title"/>
          </p:nvPr>
        </p:nvSpPr>
        <p:spPr>
          <a:xfrm>
            <a:off x="0" y="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00"/>
              </a:buClr>
              <a:buSzPts val="3800"/>
              <a:buFont typeface="Verdana"/>
              <a:buNone/>
            </a:pPr>
            <a:r>
              <a:rPr lang="en-US" sz="3800"/>
              <a:t>Wrap-up</a:t>
            </a:r>
            <a:endParaRPr/>
          </a:p>
        </p:txBody>
      </p:sp>
      <p:sp>
        <p:nvSpPr>
          <p:cNvPr id="800" name="Google Shape;800;p29"/>
          <p:cNvSpPr txBox="1"/>
          <p:nvPr>
            <p:ph idx="1" type="body"/>
          </p:nvPr>
        </p:nvSpPr>
        <p:spPr>
          <a:xfrm>
            <a:off x="304800" y="982662"/>
            <a:ext cx="8686800" cy="5570538"/>
          </a:xfrm>
          <a:prstGeom prst="rect">
            <a:avLst/>
          </a:prstGeom>
          <a:noFill/>
          <a:ln>
            <a:noFill/>
          </a:ln>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Clr>
                <a:schemeClr val="lt1"/>
              </a:buClr>
              <a:buSzPts val="1760"/>
              <a:buChar char="•"/>
            </a:pPr>
            <a:r>
              <a:rPr lang="en-US" sz="2200"/>
              <a:t>Test automation</a:t>
            </a:r>
            <a:endParaRPr/>
          </a:p>
          <a:p>
            <a:pPr indent="-182880" lvl="0" marL="182880" rtl="0" algn="l">
              <a:lnSpc>
                <a:spcPct val="100000"/>
              </a:lnSpc>
              <a:spcBef>
                <a:spcPts val="1600"/>
              </a:spcBef>
              <a:spcAft>
                <a:spcPts val="0"/>
              </a:spcAft>
              <a:buClr>
                <a:schemeClr val="lt1"/>
              </a:buClr>
              <a:buSzPts val="1760"/>
              <a:buChar char="•"/>
            </a:pPr>
            <a:r>
              <a:rPr lang="en-US" sz="2200"/>
              <a:t>Testability, Observability, Controllability</a:t>
            </a:r>
            <a:endParaRPr/>
          </a:p>
          <a:p>
            <a:pPr indent="-182880" lvl="0" marL="182880" rtl="0" algn="l">
              <a:lnSpc>
                <a:spcPct val="100000"/>
              </a:lnSpc>
              <a:spcBef>
                <a:spcPts val="1600"/>
              </a:spcBef>
              <a:spcAft>
                <a:spcPts val="0"/>
              </a:spcAft>
              <a:buClr>
                <a:schemeClr val="lt1"/>
              </a:buClr>
              <a:buSzPts val="1760"/>
              <a:buChar char="•"/>
            </a:pPr>
            <a:r>
              <a:rPr lang="en-US" sz="2200"/>
              <a:t>Design software for testability</a:t>
            </a:r>
            <a:endParaRPr/>
          </a:p>
          <a:p>
            <a:pPr indent="-182880" lvl="0" marL="182880" rtl="0" algn="l">
              <a:lnSpc>
                <a:spcPct val="100000"/>
              </a:lnSpc>
              <a:spcBef>
                <a:spcPts val="1600"/>
              </a:spcBef>
              <a:spcAft>
                <a:spcPts val="0"/>
              </a:spcAft>
              <a:buClr>
                <a:schemeClr val="lt1"/>
              </a:buClr>
              <a:buSzPts val="1760"/>
              <a:buChar char="•"/>
            </a:pPr>
            <a:r>
              <a:rPr lang="en-US" sz="2200"/>
              <a:t>Write good test code</a:t>
            </a:r>
            <a:endParaRPr/>
          </a:p>
          <a:p>
            <a:pPr indent="-182880" lvl="0" marL="182880" rtl="0" algn="l">
              <a:lnSpc>
                <a:spcPct val="100000"/>
              </a:lnSpc>
              <a:spcBef>
                <a:spcPts val="1600"/>
              </a:spcBef>
              <a:spcAft>
                <a:spcPts val="0"/>
              </a:spcAft>
              <a:buClr>
                <a:schemeClr val="lt1"/>
              </a:buClr>
              <a:buSzPts val="1760"/>
              <a:buChar char="•"/>
            </a:pPr>
            <a:r>
              <a:rPr lang="en-US" sz="2200"/>
              <a:t>Components of a test case</a:t>
            </a:r>
            <a:endParaRPr/>
          </a:p>
          <a:p>
            <a:pPr indent="0" lvl="0" marL="0" rtl="0" algn="l">
              <a:lnSpc>
                <a:spcPct val="100000"/>
              </a:lnSpc>
              <a:spcBef>
                <a:spcPts val="4200"/>
              </a:spcBef>
              <a:spcAft>
                <a:spcPts val="0"/>
              </a:spcAft>
              <a:buSzPts val="1760"/>
              <a:buNone/>
            </a:pPr>
            <a:r>
              <a:rPr b="1" lang="en-US" sz="2200">
                <a:solidFill>
                  <a:srgbClr val="FFFF00"/>
                </a:solidFill>
              </a:rPr>
              <a:t>What’s Next? </a:t>
            </a:r>
            <a:endParaRPr/>
          </a:p>
          <a:p>
            <a:pPr indent="-228600" lvl="0" marL="471488" rtl="0" algn="l">
              <a:lnSpc>
                <a:spcPct val="100000"/>
              </a:lnSpc>
              <a:spcBef>
                <a:spcPts val="1400"/>
              </a:spcBef>
              <a:spcAft>
                <a:spcPts val="0"/>
              </a:spcAft>
              <a:buSzPts val="1600"/>
              <a:buChar char="•"/>
            </a:pPr>
            <a:r>
              <a:rPr lang="en-US" sz="2000"/>
              <a:t>Test automation framework – JUnit</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iew">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View">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2017-07-01T01:04:54Z</dcterms:created>
  <dc:creator>Microsoft Office User</dc:creator>
</cp:coreProperties>
</file>