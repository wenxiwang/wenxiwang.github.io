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  <p:sldMasterId id="2147483685" r:id="rId2"/>
    <p:sldMasterId id="2147483673" r:id="rId3"/>
    <p:sldMasterId id="2147483661" r:id="rId4"/>
    <p:sldMasterId id="2147483741" r:id="rId5"/>
  </p:sldMasterIdLst>
  <p:notesMasterIdLst>
    <p:notesMasterId r:id="rId24"/>
  </p:notesMasterIdLst>
  <p:handoutMasterIdLst>
    <p:handoutMasterId r:id="rId25"/>
  </p:handoutMasterIdLst>
  <p:sldIdLst>
    <p:sldId id="262" r:id="rId6"/>
    <p:sldId id="653" r:id="rId7"/>
    <p:sldId id="617" r:id="rId8"/>
    <p:sldId id="651" r:id="rId9"/>
    <p:sldId id="652" r:id="rId10"/>
    <p:sldId id="643" r:id="rId11"/>
    <p:sldId id="650" r:id="rId12"/>
    <p:sldId id="631" r:id="rId13"/>
    <p:sldId id="633" r:id="rId14"/>
    <p:sldId id="634" r:id="rId15"/>
    <p:sldId id="635" r:id="rId16"/>
    <p:sldId id="636" r:id="rId17"/>
    <p:sldId id="637" r:id="rId18"/>
    <p:sldId id="645" r:id="rId19"/>
    <p:sldId id="649" r:id="rId20"/>
    <p:sldId id="641" r:id="rId21"/>
    <p:sldId id="642" r:id="rId22"/>
    <p:sldId id="646" r:id="rId23"/>
  </p:sldIdLst>
  <p:sldSz cx="9144000" cy="6858000" type="screen4x3"/>
  <p:notesSz cx="9236075" cy="7010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208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 userDrawn="1">
          <p15:clr>
            <a:srgbClr val="A4A3A4"/>
          </p15:clr>
        </p15:guide>
        <p15:guide id="2" pos="29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bw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78"/>
    <a:srgbClr val="FFD6A9"/>
    <a:srgbClr val="000099"/>
    <a:srgbClr val="FFFED6"/>
    <a:srgbClr val="D5FDA9"/>
    <a:srgbClr val="FFFFFF"/>
    <a:srgbClr val="FF4C00"/>
    <a:srgbClr val="73FA00"/>
    <a:srgbClr val="00FF00"/>
    <a:srgbClr val="D5FC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20" autoAdjust="0"/>
    <p:restoredTop sz="87912" autoAdjust="0"/>
  </p:normalViewPr>
  <p:slideViewPr>
    <p:cSldViewPr>
      <p:cViewPr varScale="1">
        <p:scale>
          <a:sx n="91" d="100"/>
          <a:sy n="91" d="100"/>
        </p:scale>
        <p:origin x="976" y="192"/>
      </p:cViewPr>
      <p:guideLst>
        <p:guide pos="2208"/>
        <p:guide orient="horz" pos="2160"/>
      </p:guideLst>
    </p:cSldViewPr>
  </p:slideViewPr>
  <p:outlineViewPr>
    <p:cViewPr>
      <p:scale>
        <a:sx n="33" d="100"/>
        <a:sy n="33" d="100"/>
      </p:scale>
      <p:origin x="0" y="-228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16064"/>
    </p:cViewPr>
  </p:sorterViewPr>
  <p:notesViewPr>
    <p:cSldViewPr snapToGrid="0" snapToObjects="1">
      <p:cViewPr varScale="1">
        <p:scale>
          <a:sx n="115" d="100"/>
          <a:sy n="115" d="100"/>
        </p:scale>
        <p:origin x="736" y="200"/>
      </p:cViewPr>
      <p:guideLst>
        <p:guide orient="horz" pos="2208"/>
        <p:guide pos="29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003136" cy="350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24" tIns="46412" rIns="92824" bIns="46412" numCol="1" anchor="t" anchorCtr="0" compatLnSpc="1">
            <a:prstTxWarp prst="textNoShape">
              <a:avLst/>
            </a:prstTxWarp>
          </a:bodyPr>
          <a:lstStyle>
            <a:lvl1pPr defTabSz="928407">
              <a:defRPr sz="1200" b="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32941" y="1"/>
            <a:ext cx="4003136" cy="350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24" tIns="46412" rIns="92824" bIns="46412" numCol="1" anchor="t" anchorCtr="0" compatLnSpc="1">
            <a:prstTxWarp prst="textNoShape">
              <a:avLst/>
            </a:prstTxWarp>
          </a:bodyPr>
          <a:lstStyle>
            <a:lvl1pPr algn="r" defTabSz="928407">
              <a:defRPr sz="1200" b="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659760"/>
            <a:ext cx="4003136" cy="35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24" tIns="46412" rIns="92824" bIns="46412" numCol="1" anchor="b" anchorCtr="0" compatLnSpc="1">
            <a:prstTxWarp prst="textNoShape">
              <a:avLst/>
            </a:prstTxWarp>
          </a:bodyPr>
          <a:lstStyle>
            <a:lvl1pPr defTabSz="928407">
              <a:defRPr sz="1200" b="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32941" y="6659760"/>
            <a:ext cx="4003136" cy="35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24" tIns="46412" rIns="92824" bIns="46412" numCol="1" anchor="b" anchorCtr="0" compatLnSpc="1">
            <a:prstTxWarp prst="textNoShape">
              <a:avLst/>
            </a:prstTxWarp>
          </a:bodyPr>
          <a:lstStyle>
            <a:lvl1pPr algn="r" defTabSz="928407">
              <a:defRPr sz="1200" b="0">
                <a:effectLst/>
              </a:defRPr>
            </a:lvl1pPr>
          </a:lstStyle>
          <a:p>
            <a:pPr>
              <a:defRPr/>
            </a:pPr>
            <a:fld id="{9ED969BC-D0E7-4BE4-8D59-EDF1FF51A9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192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003136" cy="350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24" tIns="46412" rIns="92824" bIns="46412" numCol="1" anchor="t" anchorCtr="0" compatLnSpc="1">
            <a:prstTxWarp prst="textNoShape">
              <a:avLst/>
            </a:prstTxWarp>
          </a:bodyPr>
          <a:lstStyle>
            <a:lvl1pPr defTabSz="928407">
              <a:defRPr sz="1200" b="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5232941" y="1"/>
            <a:ext cx="4003136" cy="350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24" tIns="46412" rIns="92824" bIns="46412" numCol="1" anchor="t" anchorCtr="0" compatLnSpc="1">
            <a:prstTxWarp prst="textNoShape">
              <a:avLst/>
            </a:prstTxWarp>
          </a:bodyPr>
          <a:lstStyle>
            <a:lvl1pPr algn="r" defTabSz="928407">
              <a:defRPr sz="1200" b="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67025" y="527050"/>
            <a:ext cx="3502025" cy="26273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29804" y="3330482"/>
            <a:ext cx="6776468" cy="3153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24" tIns="46412" rIns="92824" bIns="464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43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659760"/>
            <a:ext cx="4003136" cy="35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24" tIns="46412" rIns="92824" bIns="46412" numCol="1" anchor="b" anchorCtr="0" compatLnSpc="1">
            <a:prstTxWarp prst="textNoShape">
              <a:avLst/>
            </a:prstTxWarp>
          </a:bodyPr>
          <a:lstStyle>
            <a:lvl1pPr defTabSz="928407">
              <a:defRPr sz="1200" b="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32941" y="6659760"/>
            <a:ext cx="4003136" cy="35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24" tIns="46412" rIns="92824" bIns="46412" numCol="1" anchor="b" anchorCtr="0" compatLnSpc="1">
            <a:prstTxWarp prst="textNoShape">
              <a:avLst/>
            </a:prstTxWarp>
          </a:bodyPr>
          <a:lstStyle>
            <a:lvl1pPr algn="r" defTabSz="928407">
              <a:defRPr sz="1200" b="0">
                <a:effectLst/>
              </a:defRPr>
            </a:lvl1pPr>
          </a:lstStyle>
          <a:p>
            <a:pPr>
              <a:defRPr/>
            </a:pPr>
            <a:fld id="{E7DD9321-EF23-4D4F-8E26-34363D8AFB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943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97632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9711F8-65C3-5D4A-A7A6-2EE05AE255A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420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68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336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08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32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47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9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69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010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fontAlgn="auto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23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023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016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72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DD9321-EF23-4D4F-8E26-34363D8AFBE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04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09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3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35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90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743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87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89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79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7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88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9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488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159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18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44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901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361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444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912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748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852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468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60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7044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10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4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0517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4685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12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517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98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373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86A18-3CA3-3644-949E-A3B3F7CF4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779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134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587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1966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309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7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742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94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381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174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0152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4651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4495800"/>
            <a:ext cx="7063740" cy="1691640"/>
          </a:xfrm>
        </p:spPr>
        <p:txBody>
          <a:bodyPr>
            <a:normAutofit/>
          </a:bodyPr>
          <a:lstStyle>
            <a:lvl1pPr marL="0" indent="0" algn="ctr">
              <a:buNone/>
              <a:defRPr sz="2800" baseline="0">
                <a:solidFill>
                  <a:schemeClr val="tx1">
                    <a:lumMod val="85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609600" y="3200400"/>
            <a:ext cx="7924800" cy="0"/>
          </a:xfrm>
          <a:prstGeom prst="line">
            <a:avLst/>
          </a:prstGeom>
          <a:ln w="38100">
            <a:solidFill>
              <a:srgbClr val="FF4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Footer Placeholder 8"/>
          <p:cNvSpPr txBox="1">
            <a:spLocks/>
          </p:cNvSpPr>
          <p:nvPr userDrawn="1"/>
        </p:nvSpPr>
        <p:spPr>
          <a:xfrm>
            <a:off x="76200" y="6584156"/>
            <a:ext cx="2286000" cy="30432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de-DE" sz="1000" dirty="0">
                <a:latin typeface="Arial" charset="0"/>
                <a:ea typeface="Arial" charset="0"/>
                <a:cs typeface="Arial" charset="0"/>
              </a:rPr>
              <a:t>Fall 2026 – University of Virginia</a:t>
            </a:r>
            <a:endParaRPr lang="en-US" sz="1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3" name="Slide Number Placeholder 9"/>
          <p:cNvSpPr txBox="1">
            <a:spLocks/>
          </p:cNvSpPr>
          <p:nvPr userDrawn="1"/>
        </p:nvSpPr>
        <p:spPr>
          <a:xfrm>
            <a:off x="8686800" y="6553200"/>
            <a:ext cx="457200" cy="3048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accent5">
                    <a:lumMod val="40000"/>
                    <a:lumOff val="60000"/>
                  </a:schemeClr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13F0136-1ADC-465D-9B90-C4B23ACD248C}" type="slidenum">
              <a:rPr lang="en-US" sz="1000" b="0" smtClean="0">
                <a:latin typeface="Arial" charset="0"/>
                <a:ea typeface="Arial" charset="0"/>
                <a:cs typeface="Arial" charset="0"/>
              </a:rPr>
              <a:pPr algn="ctr">
                <a:defRPr/>
              </a:pPr>
              <a:t>‹#›</a:t>
            </a:fld>
            <a:endParaRPr lang="en-US" sz="10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" name="Footer Placeholder 8"/>
          <p:cNvSpPr txBox="1">
            <a:spLocks/>
          </p:cNvSpPr>
          <p:nvPr userDrawn="1"/>
        </p:nvSpPr>
        <p:spPr>
          <a:xfrm>
            <a:off x="3352800" y="6584156"/>
            <a:ext cx="2438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de-DE" sz="1000" dirty="0">
                <a:latin typeface="Arial" charset="0"/>
                <a:ea typeface="Arial" charset="0"/>
                <a:cs typeface="Arial" charset="0"/>
              </a:rPr>
              <a:t>© </a:t>
            </a:r>
            <a:r>
              <a:rPr lang="de-DE" sz="1000" dirty="0" err="1">
                <a:latin typeface="Arial" charset="0"/>
                <a:ea typeface="Arial" charset="0"/>
                <a:cs typeface="Arial" charset="0"/>
              </a:rPr>
              <a:t>Praphamontripong</a:t>
            </a:r>
            <a:endParaRPr lang="en-US" sz="10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623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 anchor="ctr">
            <a:noAutofit/>
          </a:bodyPr>
          <a:lstStyle>
            <a:lvl1pPr algn="ctr">
              <a:defRPr sz="4000" b="1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7955280" cy="5113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chemeClr val="bg1"/>
              </a:buClr>
              <a:defRPr sz="28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>
              <a:lnSpc>
                <a:spcPct val="100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>
              <a:lnSpc>
                <a:spcPct val="100000"/>
              </a:lnSpc>
              <a:buClr>
                <a:schemeClr val="bg1"/>
              </a:buClr>
              <a:defRPr sz="20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>
              <a:lnSpc>
                <a:spcPct val="100000"/>
              </a:lnSpc>
              <a:buClr>
                <a:schemeClr val="bg1"/>
              </a:buClr>
              <a:defRPr sz="20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>
              <a:lnSpc>
                <a:spcPct val="100000"/>
              </a:lnSpc>
              <a:buClr>
                <a:schemeClr val="bg1"/>
              </a:buClr>
              <a:defRPr sz="20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88727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6206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4539" y="365760"/>
            <a:ext cx="7269480" cy="13255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4539" y="1828801"/>
            <a:ext cx="3360420" cy="4351337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2995" y="1828801"/>
            <a:ext cx="3360420" cy="4351337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124200" y="6455811"/>
            <a:ext cx="3581400" cy="273844"/>
          </a:xfrm>
          <a:prstGeom prst="rect">
            <a:avLst/>
          </a:prstGeom>
        </p:spPr>
        <p:txBody>
          <a:bodyPr/>
          <a:lstStyle>
            <a:lvl1pPr algn="ctr">
              <a:defRPr sz="1200" b="0">
                <a:solidFill>
                  <a:schemeClr val="accent5">
                    <a:lumMod val="40000"/>
                    <a:lumOff val="60000"/>
                  </a:schemeClr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077200" y="6248400"/>
            <a:ext cx="685800" cy="593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accent5">
                    <a:lumMod val="40000"/>
                    <a:lumOff val="60000"/>
                  </a:schemeClr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</a:lstStyle>
          <a:p>
            <a:pPr>
              <a:defRPr/>
            </a:pPr>
            <a:fld id="{313F0136-1ADC-465D-9B90-C4B23ACD248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43123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7647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8585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403982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6296474-364D-4E26-AA0C-354464955E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832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B52EE84-6360-4B12-B1B1-48D5AB00A8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7961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164CEE9-8946-4111-8F4D-0E794C699F2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3768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7F248C6-A948-49B1-AFED-B83994B9E5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6077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2EA9B-6CFD-CF4C-8C73-B2298A1EE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00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55289-29A1-244C-9116-919D2C4D7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97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86A18-3CA3-3644-949E-A3B3F7CF497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30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1C39A-DE03-D149-978E-9107EFE84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24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57150">
            <a:solidFill>
              <a:srgbClr val="FF4C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8"/>
          <p:cNvSpPr txBox="1">
            <a:spLocks/>
          </p:cNvSpPr>
          <p:nvPr userDrawn="1"/>
        </p:nvSpPr>
        <p:spPr>
          <a:xfrm>
            <a:off x="76200" y="6584156"/>
            <a:ext cx="2286000" cy="30432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de-DE" sz="1000" dirty="0">
                <a:latin typeface="Arial" charset="0"/>
                <a:ea typeface="Arial" charset="0"/>
                <a:cs typeface="Arial" charset="0"/>
              </a:rPr>
              <a:t>Fall 2026 – University of Virginia</a:t>
            </a:r>
            <a:endParaRPr lang="en-US" sz="1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5" name="Slide Number Placeholder 9"/>
          <p:cNvSpPr txBox="1">
            <a:spLocks/>
          </p:cNvSpPr>
          <p:nvPr userDrawn="1"/>
        </p:nvSpPr>
        <p:spPr>
          <a:xfrm>
            <a:off x="8686800" y="6553200"/>
            <a:ext cx="457200" cy="3048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accent5">
                    <a:lumMod val="40000"/>
                    <a:lumOff val="60000"/>
                  </a:schemeClr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313F0136-1ADC-465D-9B90-C4B23ACD248C}" type="slidenum">
              <a:rPr lang="en-US" sz="1000" b="0" smtClean="0">
                <a:latin typeface="Arial" charset="0"/>
                <a:ea typeface="Arial" charset="0"/>
                <a:cs typeface="Arial" charset="0"/>
              </a:rPr>
              <a:pPr algn="ctr">
                <a:defRPr/>
              </a:pPr>
              <a:t>‹#›</a:t>
            </a:fld>
            <a:endParaRPr lang="en-US" sz="10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6" name="Footer Placeholder 8"/>
          <p:cNvSpPr txBox="1">
            <a:spLocks/>
          </p:cNvSpPr>
          <p:nvPr userDrawn="1"/>
        </p:nvSpPr>
        <p:spPr>
          <a:xfrm>
            <a:off x="3352800" y="6584156"/>
            <a:ext cx="2438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pple Braille" charset="0"/>
                <a:ea typeface="Apple Braille" charset="0"/>
                <a:cs typeface="Apple Braille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de-DE" sz="1000" dirty="0">
                <a:latin typeface="Arial" charset="0"/>
                <a:ea typeface="Arial" charset="0"/>
                <a:cs typeface="Arial" charset="0"/>
              </a:rPr>
              <a:t>© </a:t>
            </a:r>
            <a:r>
              <a:rPr lang="de-DE" sz="1000" dirty="0" err="1">
                <a:latin typeface="Arial" charset="0"/>
                <a:ea typeface="Arial" charset="0"/>
                <a:cs typeface="Arial" charset="0"/>
              </a:rPr>
              <a:t>Praphamontripong</a:t>
            </a:r>
            <a:endParaRPr lang="en-US" sz="1000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829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Relationship Id="rId4" Type="http://schemas.openxmlformats.org/officeDocument/2006/relationships/hyperlink" Target="https://en.wikipedia.org/wiki/Software_system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685800"/>
            <a:ext cx="8305800" cy="4648200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5000" b="1" dirty="0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rPr>
              <a:t>Faults, Errors, Failures</a:t>
            </a:r>
            <a:br>
              <a:rPr lang="en-US" sz="5000" b="1" dirty="0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rPr>
            </a:br>
            <a:r>
              <a:rPr lang="en-US" sz="5000" b="1" dirty="0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rPr>
              <a:t>RIPR Model</a:t>
            </a:r>
            <a:br>
              <a:rPr lang="en-US" sz="2000" b="1" dirty="0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rPr>
            </a:br>
            <a:br>
              <a:rPr lang="en-US" sz="3000" b="1" dirty="0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rPr>
            </a:br>
            <a:r>
              <a:rPr lang="en-US" sz="4000" b="1" dirty="0">
                <a:solidFill>
                  <a:srgbClr val="FFFFFF"/>
                </a:solidFill>
                <a:latin typeface="Verdana" charset="0"/>
                <a:ea typeface="Verdana" charset="0"/>
                <a:cs typeface="Verdana" charset="0"/>
              </a:rPr>
              <a:t>CS 3250</a:t>
            </a:r>
            <a:br>
              <a:rPr lang="en-US" sz="4000" b="1" dirty="0">
                <a:solidFill>
                  <a:srgbClr val="FFFFFF"/>
                </a:solidFill>
                <a:latin typeface="Verdana" charset="0"/>
                <a:ea typeface="Verdana" charset="0"/>
                <a:cs typeface="Verdana" charset="0"/>
              </a:rPr>
            </a:br>
            <a:r>
              <a:rPr lang="en-US" sz="4000" b="1" dirty="0">
                <a:solidFill>
                  <a:srgbClr val="FFFFFF"/>
                </a:solidFill>
                <a:latin typeface="Verdana" charset="0"/>
                <a:ea typeface="Verdana" charset="0"/>
                <a:cs typeface="Verdana" charset="0"/>
              </a:rPr>
              <a:t>Software Testing </a:t>
            </a:r>
          </a:p>
        </p:txBody>
      </p:sp>
      <p:sp>
        <p:nvSpPr>
          <p:cNvPr id="4" name="Rectangle 3"/>
          <p:cNvSpPr/>
          <p:nvPr/>
        </p:nvSpPr>
        <p:spPr>
          <a:xfrm>
            <a:off x="2208738" y="6277740"/>
            <a:ext cx="6859062" cy="275460"/>
          </a:xfrm>
          <a:prstGeom prst="rect">
            <a:avLst/>
          </a:prstGeom>
          <a:noFill/>
          <a:ln w="38100" cmpd="sng">
            <a:noFill/>
          </a:ln>
        </p:spPr>
        <p:txBody>
          <a:bodyPr wrap="square">
            <a:spAutoFit/>
          </a:bodyPr>
          <a:lstStyle/>
          <a:p>
            <a:pPr algn="r">
              <a:lnSpc>
                <a:spcPct val="85000"/>
              </a:lnSpc>
              <a:spcBef>
                <a:spcPts val="300"/>
              </a:spcBef>
            </a:pPr>
            <a:r>
              <a:rPr lang="en-US" sz="1400" b="0" dirty="0">
                <a:latin typeface="Verdana" charset="0"/>
                <a:ea typeface="Verdana" charset="0"/>
                <a:cs typeface="Verdana" charset="0"/>
              </a:rPr>
              <a:t>[</a:t>
            </a:r>
            <a:r>
              <a:rPr lang="en-US" sz="1400" b="0" dirty="0" err="1">
                <a:latin typeface="Verdana" charset="0"/>
                <a:ea typeface="Verdana" charset="0"/>
                <a:cs typeface="Verdana" charset="0"/>
              </a:rPr>
              <a:t>Ammann</a:t>
            </a:r>
            <a:r>
              <a:rPr lang="en-US" sz="1400" b="0" dirty="0">
                <a:latin typeface="Verdana" charset="0"/>
                <a:ea typeface="Verdana" charset="0"/>
                <a:cs typeface="Verdana" charset="0"/>
              </a:rPr>
              <a:t> and Offutt, “Introduction to Software Testing,” Ch.1, Ch. 2.1]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960"/>
    </mc:Choice>
    <mc:Fallback xmlns="">
      <p:transition spd="slow" advTm="1796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Software Testing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4139545"/>
            <a:ext cx="3657600" cy="111825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lvl="1" indent="-91440">
              <a:spcBef>
                <a:spcPts val="1500"/>
              </a:spcBef>
            </a:pPr>
            <a:r>
              <a:rPr lang="en-US" sz="20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Test case consists of </a:t>
            </a:r>
          </a:p>
          <a:p>
            <a:pPr marL="461963" lvl="1" indent="-2222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test input value(s)</a:t>
            </a:r>
          </a:p>
          <a:p>
            <a:pPr marL="461963" lvl="1" indent="-2222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expected result(s)</a:t>
            </a:r>
          </a:p>
        </p:txBody>
      </p:sp>
      <p:sp>
        <p:nvSpPr>
          <p:cNvPr id="20" name="Oval 19"/>
          <p:cNvSpPr/>
          <p:nvPr/>
        </p:nvSpPr>
        <p:spPr>
          <a:xfrm>
            <a:off x="5065776" y="1303068"/>
            <a:ext cx="3684027" cy="950976"/>
          </a:xfrm>
          <a:prstGeom prst="ellipse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2013521" y="1749012"/>
            <a:ext cx="822960" cy="0"/>
          </a:xfrm>
          <a:prstGeom prst="straightConnector1">
            <a:avLst/>
          </a:prstGeom>
          <a:ln w="38100" cmpd="sng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542872" y="1749012"/>
            <a:ext cx="822960" cy="0"/>
          </a:xfrm>
          <a:prstGeom prst="straightConnector1">
            <a:avLst/>
          </a:prstGeom>
          <a:ln w="38100" cmpd="sng"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53528" y="1421969"/>
            <a:ext cx="170085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0" dirty="0">
                <a:solidFill>
                  <a:srgbClr val="D5FC79"/>
                </a:solidFill>
                <a:latin typeface="Verdana" charset="0"/>
                <a:ea typeface="Verdana" charset="0"/>
                <a:cs typeface="Verdana" charset="0"/>
              </a:rPr>
              <a:t>Test values </a:t>
            </a:r>
          </a:p>
          <a:p>
            <a:pPr algn="ctr"/>
            <a:r>
              <a:rPr lang="en-US" sz="2000" b="0" dirty="0">
                <a:solidFill>
                  <a:srgbClr val="D5FC79"/>
                </a:solidFill>
                <a:latin typeface="Verdana" charset="0"/>
                <a:ea typeface="Verdana" charset="0"/>
                <a:cs typeface="Verdana" charset="0"/>
              </a:rPr>
              <a:t>(inputs)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45373" y="1437458"/>
            <a:ext cx="110492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Actual results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2826208" y="1479330"/>
            <a:ext cx="1711927" cy="539364"/>
            <a:chOff x="2965600" y="5669177"/>
            <a:chExt cx="1711927" cy="539364"/>
          </a:xfrm>
        </p:grpSpPr>
        <p:sp>
          <p:nvSpPr>
            <p:cNvPr id="27" name="Rectangle 26"/>
            <p:cNvSpPr/>
            <p:nvPr/>
          </p:nvSpPr>
          <p:spPr>
            <a:xfrm>
              <a:off x="3091667" y="5727397"/>
              <a:ext cx="1459791" cy="400110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0" dirty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rPr>
                <a:t>Program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965600" y="5669177"/>
              <a:ext cx="1711927" cy="539364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</p:grpSp>
      <p:sp>
        <p:nvSpPr>
          <p:cNvPr id="29" name="Rectangle 28"/>
          <p:cNvSpPr/>
          <p:nvPr/>
        </p:nvSpPr>
        <p:spPr>
          <a:xfrm>
            <a:off x="7163695" y="1437458"/>
            <a:ext cx="14014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0" dirty="0">
                <a:solidFill>
                  <a:srgbClr val="D5FC79"/>
                </a:solidFill>
                <a:latin typeface="Verdana" charset="0"/>
                <a:ea typeface="Verdana" charset="0"/>
                <a:cs typeface="Verdana" charset="0"/>
              </a:rPr>
              <a:t>Expected results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44576" y="1530398"/>
            <a:ext cx="1401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0" dirty="0" err="1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vs</a:t>
            </a:r>
            <a:endParaRPr lang="en-US" sz="2000" b="0" dirty="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425368" y="1295400"/>
            <a:ext cx="1708232" cy="915136"/>
          </a:xfrm>
          <a:prstGeom prst="ellipse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49808" y="2514600"/>
            <a:ext cx="7677504" cy="987552"/>
          </a:xfrm>
          <a:prstGeom prst="rect">
            <a:avLst/>
          </a:prstGeom>
          <a:solidFill>
            <a:srgbClr val="000099"/>
          </a:solidFill>
          <a:ln>
            <a:solidFill>
              <a:schemeClr val="bg2"/>
            </a:solidFill>
          </a:ln>
        </p:spPr>
        <p:txBody>
          <a:bodyPr wrap="square" anchor="ctr">
            <a:noAutofit/>
          </a:bodyPr>
          <a:lstStyle/>
          <a:p>
            <a:pPr marL="0" lvl="1" indent="-91440" algn="ctr">
              <a:spcBef>
                <a:spcPts val="0"/>
              </a:spcBef>
            </a:pPr>
            <a:r>
              <a:rPr lang="en-US" sz="2200" b="0" dirty="0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rPr>
              <a:t>Testing can only reveal the presence of faults; </a:t>
            </a:r>
          </a:p>
          <a:p>
            <a:pPr marL="0" lvl="1" indent="-91440" algn="ctr">
              <a:spcBef>
                <a:spcPts val="0"/>
              </a:spcBef>
            </a:pPr>
            <a:r>
              <a:rPr lang="en-US" sz="2200" b="0" dirty="0">
                <a:solidFill>
                  <a:srgbClr val="FFFF00"/>
                </a:solidFill>
                <a:latin typeface="Verdana" charset="0"/>
                <a:ea typeface="Verdana" charset="0"/>
                <a:cs typeface="Verdana" charset="0"/>
              </a:rPr>
              <a:t>Not showing the absence of faults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1259E4-4906-E74F-AC27-AB4D931A3B75}"/>
              </a:ext>
            </a:extLst>
          </p:cNvPr>
          <p:cNvGrpSpPr/>
          <p:nvPr/>
        </p:nvGrpSpPr>
        <p:grpSpPr>
          <a:xfrm>
            <a:off x="3810000" y="3886200"/>
            <a:ext cx="3810000" cy="1828800"/>
            <a:chOff x="-654311" y="3684196"/>
            <a:chExt cx="4726617" cy="2021089"/>
          </a:xfrm>
        </p:grpSpPr>
        <p:sp>
          <p:nvSpPr>
            <p:cNvPr id="34" name="Cloud Callout 33">
              <a:extLst>
                <a:ext uri="{FF2B5EF4-FFF2-40B4-BE49-F238E27FC236}">
                  <a16:creationId xmlns:a16="http://schemas.microsoft.com/office/drawing/2014/main" id="{48FBB611-FED9-8B4F-BF70-17BB90744491}"/>
                </a:ext>
              </a:extLst>
            </p:cNvPr>
            <p:cNvSpPr/>
            <p:nvPr/>
          </p:nvSpPr>
          <p:spPr>
            <a:xfrm>
              <a:off x="-654311" y="3684196"/>
              <a:ext cx="4726617" cy="2021089"/>
            </a:xfrm>
            <a:prstGeom prst="cloudCallout">
              <a:avLst>
                <a:gd name="adj1" fmla="val 57515"/>
                <a:gd name="adj2" fmla="val 31461"/>
              </a:avLst>
            </a:prstGeom>
            <a:solidFill>
              <a:srgbClr val="DFFDC8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1600" b="0" dirty="0">
                <a:solidFill>
                  <a:schemeClr val="tx2"/>
                </a:solidFill>
                <a:latin typeface="Comic Sans MS" charset="0"/>
                <a:ea typeface="Comic Sans MS" charset="0"/>
                <a:cs typeface="Comic Sans MS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D244961-BDC4-774B-941A-AA6154A3EA2C}"/>
                </a:ext>
              </a:extLst>
            </p:cNvPr>
            <p:cNvSpPr txBox="1"/>
            <p:nvPr/>
          </p:nvSpPr>
          <p:spPr>
            <a:xfrm>
              <a:off x="-276182" y="4202587"/>
              <a:ext cx="4064892" cy="1081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463" indent="-3175" algn="ctr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</a:pPr>
              <a:r>
                <a:rPr lang="en-US" sz="1600" b="0" dirty="0">
                  <a:latin typeface="Comic Sans MS" charset="0"/>
                  <a:ea typeface="Comic Sans MS" charset="0"/>
                  <a:cs typeface="Comic Sans MS" charset="0"/>
                </a:rPr>
                <a:t>Will all inputs trigger a problem in software? Will an input that triggers a problem always lead to a software failure?</a:t>
              </a:r>
              <a:endParaRPr lang="en-US" sz="1600" b="0" dirty="0">
                <a:solidFill>
                  <a:srgbClr val="FFFD78"/>
                </a:solidFill>
                <a:latin typeface="Comic Sans MS" charset="0"/>
                <a:ea typeface="Comic Sans MS" charset="0"/>
                <a:cs typeface="Comic Sans MS" charset="0"/>
              </a:endParaRPr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5AC92308-579C-A149-968C-BA5137E851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5296357"/>
            <a:ext cx="1104443" cy="110444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98E1D2E-4A32-2748-B5C0-4F3907A0A769}"/>
              </a:ext>
            </a:extLst>
          </p:cNvPr>
          <p:cNvSpPr txBox="1"/>
          <p:nvPr/>
        </p:nvSpPr>
        <p:spPr>
          <a:xfrm>
            <a:off x="6912299" y="6413956"/>
            <a:ext cx="22317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0" dirty="0">
                <a:solidFill>
                  <a:schemeClr val="bg1">
                    <a:lumMod val="75000"/>
                  </a:schemeClr>
                </a:solidFill>
                <a:latin typeface="Verdana" charset="0"/>
                <a:ea typeface="Verdana" charset="0"/>
                <a:cs typeface="Verdana" charset="0"/>
              </a:rPr>
              <a:t>[Ref: emoji by </a:t>
            </a:r>
            <a:r>
              <a:rPr lang="en-US" sz="800" b="0" dirty="0" err="1">
                <a:solidFill>
                  <a:schemeClr val="bg1">
                    <a:lumMod val="75000"/>
                  </a:schemeClr>
                </a:solidFill>
                <a:latin typeface="Verdana" charset="0"/>
                <a:ea typeface="Verdana" charset="0"/>
                <a:cs typeface="Verdana" charset="0"/>
              </a:rPr>
              <a:t>Ekarin</a:t>
            </a:r>
            <a:r>
              <a:rPr lang="en-US" sz="800" b="0" dirty="0">
                <a:solidFill>
                  <a:schemeClr val="bg1">
                    <a:lumMod val="75000"/>
                  </a:schemeClr>
                </a:solidFill>
                <a:latin typeface="Verdana" charset="0"/>
                <a:ea typeface="Verdana" charset="0"/>
                <a:cs typeface="Verdana" charset="0"/>
              </a:rPr>
              <a:t> </a:t>
            </a:r>
            <a:r>
              <a:rPr lang="en-US" sz="800" b="0" dirty="0" err="1">
                <a:solidFill>
                  <a:schemeClr val="bg1">
                    <a:lumMod val="75000"/>
                  </a:schemeClr>
                </a:solidFill>
                <a:latin typeface="Verdana" charset="0"/>
                <a:ea typeface="Verdana" charset="0"/>
                <a:cs typeface="Verdana" charset="0"/>
              </a:rPr>
              <a:t>Apirakthanakorn</a:t>
            </a:r>
            <a:r>
              <a:rPr lang="en-US" sz="800" b="0" dirty="0">
                <a:solidFill>
                  <a:schemeClr val="bg1">
                    <a:lumMod val="75000"/>
                  </a:schemeClr>
                </a:solidFill>
                <a:latin typeface="Verdana" charset="0"/>
                <a:ea typeface="Verdana" charset="0"/>
                <a:cs typeface="Verdana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310929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Objectives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1066801"/>
            <a:ext cx="8686800" cy="5486399"/>
          </a:xfrm>
        </p:spPr>
        <p:txBody>
          <a:bodyPr>
            <a:noAutofit/>
          </a:bodyPr>
          <a:lstStyle/>
          <a:p>
            <a:pPr marL="234950" indent="-234950">
              <a:spcBef>
                <a:spcPts val="2000"/>
              </a:spcBef>
            </a:pPr>
            <a:r>
              <a:rPr lang="en-US" sz="2000" dirty="0"/>
              <a:t>Understand the differences between faults, errors, and failures</a:t>
            </a:r>
          </a:p>
          <a:p>
            <a:pPr marL="234950" indent="-234950">
              <a:spcBef>
                <a:spcPts val="3000"/>
              </a:spcBef>
            </a:pPr>
            <a:r>
              <a:rPr lang="en-US" sz="2000" dirty="0"/>
              <a:t>Understand how faults, errors, and failures affect the program</a:t>
            </a:r>
          </a:p>
          <a:p>
            <a:pPr marL="234950" indent="-234950">
              <a:spcBef>
                <a:spcPts val="3000"/>
              </a:spcBef>
            </a:pPr>
            <a:r>
              <a:rPr lang="en-US" sz="2000" dirty="0"/>
              <a:t>Understand the four conditions that must be satisfied when designing tests</a:t>
            </a:r>
          </a:p>
          <a:p>
            <a:pPr marL="641350" lvl="1" indent="-187325">
              <a:spcBef>
                <a:spcPts val="1600"/>
              </a:spcBef>
            </a:pPr>
            <a:r>
              <a:rPr lang="en-US" sz="2000" dirty="0"/>
              <a:t>Reachability</a:t>
            </a:r>
          </a:p>
          <a:p>
            <a:pPr marL="641350" lvl="1" indent="-187325">
              <a:spcBef>
                <a:spcPts val="0"/>
              </a:spcBef>
            </a:pPr>
            <a:r>
              <a:rPr lang="en-US" sz="2000" dirty="0"/>
              <a:t>Infection</a:t>
            </a:r>
          </a:p>
          <a:p>
            <a:pPr marL="641350" lvl="1" indent="-187325">
              <a:spcBef>
                <a:spcPts val="0"/>
              </a:spcBef>
            </a:pPr>
            <a:r>
              <a:rPr lang="en-US" sz="2000" dirty="0"/>
              <a:t>Propagation</a:t>
            </a:r>
          </a:p>
          <a:p>
            <a:pPr marL="641350" lvl="1" indent="-187325">
              <a:spcBef>
                <a:spcPts val="0"/>
              </a:spcBef>
            </a:pPr>
            <a:r>
              <a:rPr lang="en-US" sz="2000" dirty="0" err="1"/>
              <a:t>Revealability</a:t>
            </a:r>
            <a:r>
              <a:rPr lang="en-US" sz="2000" dirty="0"/>
              <a:t>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57200" y="3276600"/>
            <a:ext cx="5274893" cy="1600200"/>
            <a:chOff x="457200" y="3276600"/>
            <a:chExt cx="5274893" cy="1600200"/>
          </a:xfrm>
        </p:grpSpPr>
        <p:sp>
          <p:nvSpPr>
            <p:cNvPr id="3" name="Rectangle 2"/>
            <p:cNvSpPr/>
            <p:nvPr/>
          </p:nvSpPr>
          <p:spPr>
            <a:xfrm>
              <a:off x="3505200" y="3810000"/>
              <a:ext cx="2226893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5875" lvl="1" algn="ctr">
                <a:spcBef>
                  <a:spcPts val="1200"/>
                </a:spcBef>
              </a:pPr>
              <a:r>
                <a:rPr lang="en-US" sz="2200" b="0" dirty="0">
                  <a:solidFill>
                    <a:srgbClr val="FFFFFF"/>
                  </a:solidFill>
                  <a:latin typeface="Verdana" charset="0"/>
                  <a:ea typeface="Verdana" charset="0"/>
                  <a:cs typeface="Verdana" charset="0"/>
                </a:rPr>
                <a:t>“</a:t>
              </a:r>
              <a:r>
                <a:rPr lang="en-US" sz="2200" dirty="0">
                  <a:solidFill>
                    <a:srgbClr val="FFFF00"/>
                  </a:solidFill>
                  <a:latin typeface="Verdana" charset="0"/>
                  <a:ea typeface="Verdana" charset="0"/>
                  <a:cs typeface="Verdana" charset="0"/>
                </a:rPr>
                <a:t>RIPR</a:t>
              </a:r>
              <a:r>
                <a:rPr lang="en-US" sz="2200" dirty="0">
                  <a:solidFill>
                    <a:srgbClr val="FFFFFF"/>
                  </a:solidFill>
                  <a:latin typeface="Verdana" charset="0"/>
                  <a:ea typeface="Verdana" charset="0"/>
                  <a:cs typeface="Verdana" charset="0"/>
                </a:rPr>
                <a:t> </a:t>
              </a:r>
              <a:r>
                <a:rPr lang="en-US" sz="2200" b="0" dirty="0">
                  <a:solidFill>
                    <a:srgbClr val="FFFFFF"/>
                  </a:solidFill>
                  <a:latin typeface="Verdana" charset="0"/>
                  <a:ea typeface="Verdana" charset="0"/>
                  <a:cs typeface="Verdana" charset="0"/>
                </a:rPr>
                <a:t>model”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57200" y="3276600"/>
              <a:ext cx="2971800" cy="1600200"/>
            </a:xfrm>
            <a:prstGeom prst="round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0498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Bug?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042416"/>
            <a:ext cx="2923962" cy="1975104"/>
          </a:xfrm>
        </p:spPr>
      </p:pic>
      <p:sp>
        <p:nvSpPr>
          <p:cNvPr id="5" name="Content Placeholder 4"/>
          <p:cNvSpPr txBox="1">
            <a:spLocks/>
          </p:cNvSpPr>
          <p:nvPr/>
        </p:nvSpPr>
        <p:spPr>
          <a:xfrm>
            <a:off x="419100" y="4572000"/>
            <a:ext cx="8305800" cy="1942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dirty="0">
                <a:solidFill>
                  <a:srgbClr val="FFFF00"/>
                </a:solidFill>
              </a:rPr>
              <a:t>“Bug”</a:t>
            </a:r>
            <a:r>
              <a:rPr lang="en-US" sz="2000" b="0" dirty="0"/>
              <a:t> is used informally.</a:t>
            </a:r>
          </a:p>
          <a:p>
            <a:r>
              <a:rPr lang="en-US" sz="2000" b="0" dirty="0"/>
              <a:t>Fault? Error? Or failure?</a:t>
            </a:r>
          </a:p>
          <a:p>
            <a:r>
              <a:rPr lang="en-US" sz="2000" b="0" dirty="0"/>
              <a:t>This course will try to use words that have </a:t>
            </a:r>
            <a:r>
              <a:rPr lang="en-US" sz="2000" b="0" dirty="0">
                <a:solidFill>
                  <a:srgbClr val="FFFF00"/>
                </a:solidFill>
              </a:rPr>
              <a:t>precise</a:t>
            </a:r>
            <a:r>
              <a:rPr lang="en-US" sz="2000" b="0" dirty="0"/>
              <a:t>, </a:t>
            </a:r>
            <a:r>
              <a:rPr lang="en-US" sz="2000" b="0" dirty="0">
                <a:solidFill>
                  <a:srgbClr val="FFFF00"/>
                </a:solidFill>
              </a:rPr>
              <a:t>defined</a:t>
            </a:r>
            <a:r>
              <a:rPr lang="en-US" sz="2000" b="0" dirty="0"/>
              <a:t>, and </a:t>
            </a:r>
            <a:r>
              <a:rPr lang="en-US" sz="2000" b="0" dirty="0">
                <a:solidFill>
                  <a:srgbClr val="FFFF00"/>
                </a:solidFill>
              </a:rPr>
              <a:t>unambiguous</a:t>
            </a:r>
            <a:r>
              <a:rPr lang="en-US" sz="2000" b="0" dirty="0"/>
              <a:t> meaning – and avoid using the term “bug”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74320" y="1066800"/>
            <a:ext cx="5288280" cy="1981200"/>
            <a:chOff x="274320" y="1066800"/>
            <a:chExt cx="5288280" cy="1981200"/>
          </a:xfrm>
        </p:grpSpPr>
        <p:sp>
          <p:nvSpPr>
            <p:cNvPr id="6" name="Content Placeholder 4"/>
            <p:cNvSpPr txBox="1">
              <a:spLocks/>
            </p:cNvSpPr>
            <p:nvPr/>
          </p:nvSpPr>
          <p:spPr>
            <a:xfrm>
              <a:off x="274320" y="1066800"/>
              <a:ext cx="5288280" cy="198120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182880" indent="-182880" algn="l" defTabSz="914400" rtl="0" eaLnBrk="1" latinLnBrk="0" hangingPunct="1">
                <a:lnSpc>
                  <a:spcPct val="100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defRPr sz="2800" kern="1200" spc="10" baseline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1pPr>
              <a:lvl2pPr marL="45720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4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2pPr>
              <a:lvl3pPr marL="73152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3pPr>
              <a:lvl4pPr marL="100584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4pPr>
              <a:lvl5pPr marL="128016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90000"/>
                </a:lnSpc>
                <a:buNone/>
              </a:pPr>
              <a:r>
                <a:rPr lang="en-US" sz="1600" b="0" dirty="0"/>
                <a:t>“ ‘Bug’ – </a:t>
              </a:r>
              <a:r>
                <a:rPr lang="en-US" sz="1600" b="0" i="1" dirty="0"/>
                <a:t>as such little faults and difficulties are called – show themselves, and months of anxious watching, study, and labor are requisite before commercial success – or failure – is certainly reached.” [Thomas Edison, 1878]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2234184"/>
              <a:ext cx="5257800" cy="6117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b="0" dirty="0">
                  <a:solidFill>
                    <a:srgbClr val="A7FEFF"/>
                  </a:solidFill>
                  <a:latin typeface="Verdana" charset="0"/>
                  <a:ea typeface="Verdana" charset="0"/>
                  <a:cs typeface="Verdana" charset="0"/>
                </a:rPr>
                <a:t>[Ref: Did You Know? Edison Coined the Term “Bug”, http://theinstitute.ieee.org/tech-history/technology-history/did-you-know-edison-coined-the-term-bug, IEEE 2013]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163056" y="4642104"/>
            <a:ext cx="989373" cy="752559"/>
            <a:chOff x="6004290" y="2871291"/>
            <a:chExt cx="989373" cy="752559"/>
          </a:xfrm>
        </p:grpSpPr>
        <p:sp>
          <p:nvSpPr>
            <p:cNvPr id="19" name="Oval 18"/>
            <p:cNvSpPr/>
            <p:nvPr/>
          </p:nvSpPr>
          <p:spPr bwMode="auto">
            <a:xfrm>
              <a:off x="6086282" y="2871291"/>
              <a:ext cx="825388" cy="752559"/>
            </a:xfrm>
            <a:prstGeom prst="ellipse">
              <a:avLst/>
            </a:prstGeom>
            <a:noFill/>
            <a:ln w="762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glow rad="101600">
                <a:schemeClr val="accent1">
                  <a:satMod val="175000"/>
                  <a:alpha val="40000"/>
                </a:schemeClr>
              </a:glow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FF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04290" y="2985961"/>
              <a:ext cx="98937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man Old Style" pitchFamily="18" charset="0"/>
                </a:rPr>
                <a:t>BUG</a:t>
              </a:r>
            </a:p>
          </p:txBody>
        </p:sp>
        <p:cxnSp>
          <p:nvCxnSpPr>
            <p:cNvPr id="21" name="Straight Connector 20"/>
            <p:cNvCxnSpPr/>
            <p:nvPr/>
          </p:nvCxnSpPr>
          <p:spPr bwMode="auto">
            <a:xfrm>
              <a:off x="6207157" y="2981501"/>
              <a:ext cx="583638" cy="532139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0" name="Group 9"/>
          <p:cNvGrpSpPr/>
          <p:nvPr/>
        </p:nvGrpSpPr>
        <p:grpSpPr>
          <a:xfrm>
            <a:off x="304800" y="3336895"/>
            <a:ext cx="8763000" cy="777905"/>
            <a:chOff x="304800" y="3336895"/>
            <a:chExt cx="8763000" cy="777905"/>
          </a:xfrm>
        </p:grpSpPr>
        <p:sp>
          <p:nvSpPr>
            <p:cNvPr id="3" name="Rectangle 2"/>
            <p:cNvSpPr/>
            <p:nvPr/>
          </p:nvSpPr>
          <p:spPr>
            <a:xfrm>
              <a:off x="4735286" y="3821527"/>
              <a:ext cx="4332514" cy="2846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50" b="0" dirty="0">
                  <a:solidFill>
                    <a:srgbClr val="A7FEFF"/>
                  </a:solidFill>
                  <a:latin typeface="Verdana" charset="0"/>
                  <a:ea typeface="Verdana" charset="0"/>
                  <a:cs typeface="Verdana" charset="0"/>
                </a:rPr>
                <a:t>[Ref: https://</a:t>
              </a:r>
              <a:r>
                <a:rPr lang="en-US" sz="1250" b="0" dirty="0" err="1">
                  <a:solidFill>
                    <a:srgbClr val="A7FEFF"/>
                  </a:solidFill>
                  <a:latin typeface="Verdana" charset="0"/>
                  <a:ea typeface="Verdana" charset="0"/>
                  <a:cs typeface="Verdana" charset="0"/>
                </a:rPr>
                <a:t>en.wikipedia.org</a:t>
              </a:r>
              <a:r>
                <a:rPr lang="en-US" sz="1250" b="0" dirty="0">
                  <a:solidFill>
                    <a:srgbClr val="A7FEFF"/>
                  </a:solidFill>
                  <a:latin typeface="Verdana" charset="0"/>
                  <a:ea typeface="Verdana" charset="0"/>
                  <a:cs typeface="Verdana" charset="0"/>
                </a:rPr>
                <a:t>/wiki/</a:t>
              </a:r>
              <a:r>
                <a:rPr lang="en-US" sz="1250" b="0" dirty="0" err="1">
                  <a:solidFill>
                    <a:srgbClr val="A7FEFF"/>
                  </a:solidFill>
                  <a:latin typeface="Verdana" charset="0"/>
                  <a:ea typeface="Verdana" charset="0"/>
                  <a:cs typeface="Verdana" charset="0"/>
                </a:rPr>
                <a:t>Software_bug</a:t>
              </a:r>
              <a:r>
                <a:rPr lang="en-US" sz="1250" b="0" dirty="0">
                  <a:solidFill>
                    <a:srgbClr val="A7FEFF"/>
                  </a:solidFill>
                  <a:latin typeface="Verdana" charset="0"/>
                  <a:ea typeface="Verdana" charset="0"/>
                  <a:cs typeface="Verdana" charset="0"/>
                </a:rPr>
                <a:t>]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800" y="3336895"/>
              <a:ext cx="8229600" cy="7779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b="0" i="1" dirty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rPr>
                <a:t>“A software bug is an error, flaw, failure or fault in a computer program or</a:t>
              </a:r>
              <a:r>
                <a:rPr lang="en-US" sz="1600" b="0" i="1" dirty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  <a:hlinkClick r:id="rId4"/>
                </a:rPr>
                <a:t> </a:t>
              </a:r>
              <a:r>
                <a:rPr lang="en-US" sz="1600" b="0" i="1" dirty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rPr>
                <a:t>system that causes it to produce an incorrect or unexpected result, or to behave in unintended ways.”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0363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00" dirty="0"/>
              <a:t>Fault, Error, and Failure in Action</a:t>
            </a: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342900" y="1066800"/>
            <a:ext cx="8648700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600"/>
              </a:spcBef>
              <a:buNone/>
            </a:pPr>
            <a:r>
              <a:rPr lang="en-US" sz="2000" b="0" dirty="0"/>
              <a:t>Consider the following pseudo. Trace through &amp; execute 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3380B1E-0D5F-C941-8642-19C4B6437F56}"/>
              </a:ext>
            </a:extLst>
          </p:cNvPr>
          <p:cNvGrpSpPr/>
          <p:nvPr/>
        </p:nvGrpSpPr>
        <p:grpSpPr>
          <a:xfrm>
            <a:off x="400747" y="2590800"/>
            <a:ext cx="4171253" cy="1463040"/>
            <a:chOff x="324547" y="2118048"/>
            <a:chExt cx="4171253" cy="1463040"/>
          </a:xfrm>
        </p:grpSpPr>
        <p:sp>
          <p:nvSpPr>
            <p:cNvPr id="6" name="TextBox 5"/>
            <p:cNvSpPr txBox="1">
              <a:spLocks noChangeArrowheads="1"/>
            </p:cNvSpPr>
            <p:nvPr/>
          </p:nvSpPr>
          <p:spPr bwMode="auto">
            <a:xfrm>
              <a:off x="324547" y="2118048"/>
              <a:ext cx="4171253" cy="1463040"/>
            </a:xfrm>
            <a:prstGeom prst="rect">
              <a:avLst/>
            </a:prstGeom>
            <a:solidFill>
              <a:schemeClr val="bg1"/>
            </a:solidFill>
            <a:ln w="38100">
              <a:noFill/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doSomething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(int x, int y) </a:t>
              </a:r>
              <a:r>
                <a:rPr lang="en-US" sz="1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endPara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if (x &gt;= y)</a:t>
              </a:r>
            </a:p>
            <a:p>
              <a:pPr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   clap 3 times</a:t>
              </a:r>
            </a:p>
            <a:p>
              <a:pPr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else</a:t>
              </a:r>
            </a:p>
            <a:p>
              <a:pPr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   stomp 5 times</a:t>
              </a:r>
            </a:p>
          </p:txBody>
        </p:sp>
        <p:sp>
          <p:nvSpPr>
            <p:cNvPr id="4" name="Rounded Rectangular Callout 3">
              <a:extLst>
                <a:ext uri="{FF2B5EF4-FFF2-40B4-BE49-F238E27FC236}">
                  <a16:creationId xmlns:a16="http://schemas.microsoft.com/office/drawing/2014/main" id="{152F4DC4-1310-0A42-B90E-D7FD248A9AF4}"/>
                </a:ext>
              </a:extLst>
            </p:cNvPr>
            <p:cNvSpPr/>
            <p:nvPr/>
          </p:nvSpPr>
          <p:spPr>
            <a:xfrm>
              <a:off x="3368040" y="2919673"/>
              <a:ext cx="1066800" cy="609600"/>
            </a:xfrm>
            <a:prstGeom prst="wedgeRoundRectCallout">
              <a:avLst>
                <a:gd name="adj1" fmla="val -17624"/>
                <a:gd name="adj2" fmla="val 7955"/>
                <a:gd name="adj3" fmla="val 16667"/>
              </a:avLst>
            </a:prstGeom>
            <a:solidFill>
              <a:srgbClr val="000099"/>
            </a:solidFill>
            <a:ln w="1397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500" b="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Correct code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DAD6379-EC74-AB4E-A7DE-C76B14E65F98}"/>
              </a:ext>
            </a:extLst>
          </p:cNvPr>
          <p:cNvGrpSpPr/>
          <p:nvPr/>
        </p:nvGrpSpPr>
        <p:grpSpPr>
          <a:xfrm>
            <a:off x="381000" y="4267200"/>
            <a:ext cx="4171253" cy="1463040"/>
            <a:chOff x="324547" y="4325841"/>
            <a:chExt cx="4171253" cy="146304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103018B-7298-A243-8C0D-5E6FBE5A12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547" y="4325841"/>
              <a:ext cx="4171253" cy="1463040"/>
            </a:xfrm>
            <a:prstGeom prst="rect">
              <a:avLst/>
            </a:prstGeom>
            <a:solidFill>
              <a:schemeClr val="bg1"/>
            </a:solidFill>
            <a:ln w="38100">
              <a:noFill/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doSomething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(int x, int y)</a:t>
              </a:r>
              <a:r>
                <a:rPr lang="en-US" sz="1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endPara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if (x &gt; y)</a:t>
              </a:r>
            </a:p>
            <a:p>
              <a:pPr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   clap 3 times</a:t>
              </a:r>
            </a:p>
            <a:p>
              <a:pPr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else</a:t>
              </a:r>
            </a:p>
            <a:p>
              <a:pPr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   stomp 5 times</a:t>
              </a:r>
            </a:p>
          </p:txBody>
        </p:sp>
        <p:sp>
          <p:nvSpPr>
            <p:cNvPr id="8" name="Rounded Rectangular Callout 7">
              <a:extLst>
                <a:ext uri="{FF2B5EF4-FFF2-40B4-BE49-F238E27FC236}">
                  <a16:creationId xmlns:a16="http://schemas.microsoft.com/office/drawing/2014/main" id="{E9C4BE4E-0E19-5B45-863F-3F0818C6D611}"/>
                </a:ext>
              </a:extLst>
            </p:cNvPr>
            <p:cNvSpPr/>
            <p:nvPr/>
          </p:nvSpPr>
          <p:spPr>
            <a:xfrm>
              <a:off x="3368040" y="5130514"/>
              <a:ext cx="1066800" cy="609600"/>
            </a:xfrm>
            <a:prstGeom prst="wedgeRoundRectCallout">
              <a:avLst>
                <a:gd name="adj1" fmla="val -17624"/>
                <a:gd name="adj2" fmla="val 7955"/>
                <a:gd name="adj3" fmla="val 16667"/>
              </a:avLst>
            </a:prstGeom>
            <a:solidFill>
              <a:srgbClr val="000099"/>
            </a:solidFill>
            <a:ln w="1397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1500" b="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Faulty code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36589AD-7BEE-4746-AC5A-0CBB6F497C69}"/>
              </a:ext>
            </a:extLst>
          </p:cNvPr>
          <p:cNvGrpSpPr/>
          <p:nvPr/>
        </p:nvGrpSpPr>
        <p:grpSpPr>
          <a:xfrm>
            <a:off x="702119" y="1676400"/>
            <a:ext cx="3474720" cy="443345"/>
            <a:chOff x="5522976" y="1783392"/>
            <a:chExt cx="3419856" cy="18897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BA66B8B-C614-8449-90D5-1D707837257A}"/>
                </a:ext>
              </a:extLst>
            </p:cNvPr>
            <p:cNvSpPr/>
            <p:nvPr/>
          </p:nvSpPr>
          <p:spPr>
            <a:xfrm>
              <a:off x="5522976" y="1783392"/>
              <a:ext cx="3419856" cy="1828800"/>
            </a:xfrm>
            <a:prstGeom prst="rect">
              <a:avLst/>
            </a:prstGeom>
            <a:noFill/>
            <a:ln>
              <a:solidFill>
                <a:srgbClr val="FFD6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ontent Placeholder 4">
              <a:extLst>
                <a:ext uri="{FF2B5EF4-FFF2-40B4-BE49-F238E27FC236}">
                  <a16:creationId xmlns:a16="http://schemas.microsoft.com/office/drawing/2014/main" id="{F1B835AF-419C-3C4C-9427-8ACC8E4DA9F4}"/>
                </a:ext>
              </a:extLst>
            </p:cNvPr>
            <p:cNvSpPr txBox="1">
              <a:spLocks/>
            </p:cNvSpPr>
            <p:nvPr/>
          </p:nvSpPr>
          <p:spPr>
            <a:xfrm>
              <a:off x="5638800" y="1905000"/>
              <a:ext cx="3200400" cy="176815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182880" indent="-182880" algn="l" defTabSz="914400" rtl="0" eaLnBrk="1" latinLnBrk="0" hangingPunct="1">
                <a:lnSpc>
                  <a:spcPct val="100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defRPr sz="2800" kern="1200" spc="10" baseline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1pPr>
              <a:lvl2pPr marL="45720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4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2pPr>
              <a:lvl3pPr marL="73152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3pPr>
              <a:lvl4pPr marL="100584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4pPr>
              <a:lvl5pPr marL="128016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 b="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Test 1: </a:t>
              </a:r>
              <a:r>
                <a:rPr lang="en-US" sz="1800" b="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doSomething</a:t>
              </a:r>
              <a:r>
                <a:rPr lang="en-US" sz="1800" b="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(5,3)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69EB1A8-1601-EE4F-83CD-63A4A4F614EC}"/>
              </a:ext>
            </a:extLst>
          </p:cNvPr>
          <p:cNvGrpSpPr/>
          <p:nvPr/>
        </p:nvGrpSpPr>
        <p:grpSpPr>
          <a:xfrm>
            <a:off x="4983480" y="1680141"/>
            <a:ext cx="3474720" cy="443345"/>
            <a:chOff x="5522976" y="1783392"/>
            <a:chExt cx="3419856" cy="188976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95F4BAE-FCE7-8541-B259-4129AF6C0956}"/>
                </a:ext>
              </a:extLst>
            </p:cNvPr>
            <p:cNvSpPr/>
            <p:nvPr/>
          </p:nvSpPr>
          <p:spPr>
            <a:xfrm>
              <a:off x="5522976" y="1783392"/>
              <a:ext cx="3419856" cy="1828800"/>
            </a:xfrm>
            <a:prstGeom prst="rect">
              <a:avLst/>
            </a:prstGeom>
            <a:noFill/>
            <a:ln>
              <a:solidFill>
                <a:srgbClr val="FFD6A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ontent Placeholder 4">
              <a:extLst>
                <a:ext uri="{FF2B5EF4-FFF2-40B4-BE49-F238E27FC236}">
                  <a16:creationId xmlns:a16="http://schemas.microsoft.com/office/drawing/2014/main" id="{0EECE7FA-872D-EC47-8D3A-D1C96B88543D}"/>
                </a:ext>
              </a:extLst>
            </p:cNvPr>
            <p:cNvSpPr txBox="1">
              <a:spLocks/>
            </p:cNvSpPr>
            <p:nvPr/>
          </p:nvSpPr>
          <p:spPr>
            <a:xfrm>
              <a:off x="5638800" y="1905000"/>
              <a:ext cx="3200400" cy="176815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182880" indent="-182880" algn="l" defTabSz="914400" rtl="0" eaLnBrk="1" latinLnBrk="0" hangingPunct="1">
                <a:lnSpc>
                  <a:spcPct val="100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defRPr sz="2800" kern="1200" spc="10" baseline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1pPr>
              <a:lvl2pPr marL="45720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4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2pPr>
              <a:lvl3pPr marL="73152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3pPr>
              <a:lvl4pPr marL="100584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4pPr>
              <a:lvl5pPr marL="128016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 b="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Test 2: </a:t>
              </a:r>
              <a:r>
                <a:rPr lang="en-US" sz="1800" b="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doSomething</a:t>
              </a:r>
              <a:r>
                <a:rPr lang="en-US" sz="1800" b="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(5,5)</a:t>
              </a:r>
            </a:p>
          </p:txBody>
        </p:sp>
      </p:grp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9E9B88D5-2239-CE43-B848-FD156F800FF5}"/>
              </a:ext>
            </a:extLst>
          </p:cNvPr>
          <p:cNvSpPr/>
          <p:nvPr/>
        </p:nvSpPr>
        <p:spPr>
          <a:xfrm>
            <a:off x="4812302" y="2971801"/>
            <a:ext cx="4026898" cy="609600"/>
          </a:xfrm>
          <a:prstGeom prst="wedgeRoundRectCallout">
            <a:avLst>
              <a:gd name="adj1" fmla="val -17624"/>
              <a:gd name="adj2" fmla="val 7955"/>
              <a:gd name="adj3" fmla="val 16667"/>
            </a:avLst>
          </a:prstGeom>
          <a:solidFill>
            <a:schemeClr val="bg2">
              <a:lumMod val="10000"/>
            </a:schemeClr>
          </a:solidFill>
          <a:ln w="1397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8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</a:t>
            </a:r>
            <a:r>
              <a:rPr lang="en-US" sz="1800" dirty="0">
                <a:solidFill>
                  <a:srgbClr val="FFFD7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expected</a:t>
            </a:r>
            <a:r>
              <a:rPr lang="en-US" sz="18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output?</a:t>
            </a:r>
          </a:p>
        </p:txBody>
      </p:sp>
      <p:sp>
        <p:nvSpPr>
          <p:cNvPr id="25" name="Rounded Rectangular Callout 24">
            <a:extLst>
              <a:ext uri="{FF2B5EF4-FFF2-40B4-BE49-F238E27FC236}">
                <a16:creationId xmlns:a16="http://schemas.microsoft.com/office/drawing/2014/main" id="{5F9AE48C-E658-B146-978B-CC695D21B981}"/>
              </a:ext>
            </a:extLst>
          </p:cNvPr>
          <p:cNvSpPr/>
          <p:nvPr/>
        </p:nvSpPr>
        <p:spPr>
          <a:xfrm>
            <a:off x="4812302" y="4656512"/>
            <a:ext cx="4026898" cy="609600"/>
          </a:xfrm>
          <a:prstGeom prst="wedgeRoundRectCallout">
            <a:avLst>
              <a:gd name="adj1" fmla="val -17624"/>
              <a:gd name="adj2" fmla="val 7955"/>
              <a:gd name="adj3" fmla="val 16667"/>
            </a:avLst>
          </a:prstGeom>
          <a:solidFill>
            <a:schemeClr val="bg2">
              <a:lumMod val="10000"/>
            </a:schemeClr>
          </a:solidFill>
          <a:ln w="1397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8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</a:t>
            </a:r>
            <a:r>
              <a:rPr lang="en-US" sz="1800" dirty="0">
                <a:solidFill>
                  <a:srgbClr val="FFFD7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actual</a:t>
            </a:r>
            <a:r>
              <a:rPr lang="en-US" sz="18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output?</a:t>
            </a:r>
          </a:p>
        </p:txBody>
      </p:sp>
    </p:spTree>
    <p:extLst>
      <p:ext uri="{BB962C8B-B14F-4D97-AF65-F5344CB8AC3E}">
        <p14:creationId xmlns:p14="http://schemas.microsoft.com/office/powerpoint/2010/main" val="259673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5" grpId="0" animBg="1"/>
      <p:bldP spid="2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Fault, Error, and Failure</a:t>
            </a: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342900" y="990600"/>
            <a:ext cx="8115300" cy="5105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0"/>
              </a:spcBef>
            </a:pPr>
            <a:r>
              <a:rPr lang="en-US" sz="2200" b="0" dirty="0">
                <a:solidFill>
                  <a:srgbClr val="FFFF00"/>
                </a:solidFill>
              </a:rPr>
              <a:t>Fault</a:t>
            </a:r>
            <a:r>
              <a:rPr lang="en-US" sz="2200" b="0" dirty="0"/>
              <a:t>: a </a:t>
            </a:r>
            <a:r>
              <a:rPr lang="en-US" sz="2200" b="0" dirty="0">
                <a:solidFill>
                  <a:srgbClr val="FFFF00"/>
                </a:solidFill>
              </a:rPr>
              <a:t>static defect </a:t>
            </a:r>
            <a:r>
              <a:rPr lang="en-US" sz="2200" b="0" dirty="0"/>
              <a:t>in the software’s source code </a:t>
            </a:r>
          </a:p>
          <a:p>
            <a:pPr marL="642938" lvl="1" indent="-184150">
              <a:spcBef>
                <a:spcPts val="1000"/>
              </a:spcBef>
            </a:pPr>
            <a:r>
              <a:rPr lang="en-US" sz="2000" b="0" dirty="0"/>
              <a:t>Cause of a problem </a:t>
            </a:r>
            <a:r>
              <a:rPr lang="mr-IN" sz="2000" b="0" dirty="0"/>
              <a:t>–</a:t>
            </a:r>
            <a:r>
              <a:rPr lang="en-US" sz="2000" b="0" dirty="0"/>
              <a:t> “fault location”</a:t>
            </a:r>
          </a:p>
          <a:p>
            <a:pPr>
              <a:spcBef>
                <a:spcPts val="3600"/>
              </a:spcBef>
            </a:pPr>
            <a:r>
              <a:rPr lang="en-US" sz="2200" b="0" dirty="0">
                <a:solidFill>
                  <a:srgbClr val="FFFF00"/>
                </a:solidFill>
              </a:rPr>
              <a:t>Error</a:t>
            </a:r>
            <a:r>
              <a:rPr lang="en-US" sz="2200" b="0" dirty="0"/>
              <a:t>: An </a:t>
            </a:r>
            <a:r>
              <a:rPr lang="en-US" sz="2200" b="0" dirty="0">
                <a:solidFill>
                  <a:srgbClr val="FFFF00"/>
                </a:solidFill>
              </a:rPr>
              <a:t>incorrect internal state</a:t>
            </a:r>
            <a:r>
              <a:rPr lang="en-US" sz="2200" b="0" dirty="0"/>
              <a:t> that is the manifestation of some fault</a:t>
            </a:r>
          </a:p>
          <a:p>
            <a:pPr marL="642938" lvl="1" indent="-184150">
              <a:spcBef>
                <a:spcPts val="1000"/>
              </a:spcBef>
            </a:pPr>
            <a:r>
              <a:rPr lang="en-US" sz="2000" b="0" dirty="0"/>
              <a:t>Erroneous/infected program state caused by execution of the defect</a:t>
            </a:r>
          </a:p>
          <a:p>
            <a:pPr>
              <a:spcBef>
                <a:spcPts val="3600"/>
              </a:spcBef>
            </a:pPr>
            <a:r>
              <a:rPr lang="en-US" sz="2200" b="0" dirty="0">
                <a:solidFill>
                  <a:srgbClr val="FFFF00"/>
                </a:solidFill>
              </a:rPr>
              <a:t>Failure</a:t>
            </a:r>
            <a:r>
              <a:rPr lang="en-US" sz="2200" b="0" dirty="0"/>
              <a:t>: </a:t>
            </a:r>
            <a:r>
              <a:rPr lang="en-US" sz="2200" b="0" dirty="0">
                <a:solidFill>
                  <a:srgbClr val="FFFF00"/>
                </a:solidFill>
              </a:rPr>
              <a:t>External</a:t>
            </a:r>
            <a:r>
              <a:rPr lang="en-US" sz="2200" b="0" dirty="0"/>
              <a:t>, </a:t>
            </a:r>
            <a:r>
              <a:rPr lang="en-US" sz="2200" b="0" dirty="0">
                <a:solidFill>
                  <a:srgbClr val="FFFF00"/>
                </a:solidFill>
              </a:rPr>
              <a:t>incorrect behavior </a:t>
            </a:r>
            <a:r>
              <a:rPr lang="en-US" sz="2200" b="0" dirty="0"/>
              <a:t>with respect to the requirements or other descriptions of the expected behavior</a:t>
            </a:r>
          </a:p>
          <a:p>
            <a:pPr marL="642938" lvl="1" indent="-184150">
              <a:spcBef>
                <a:spcPts val="1000"/>
              </a:spcBef>
            </a:pPr>
            <a:r>
              <a:rPr lang="en-US" sz="2000" b="0" dirty="0"/>
              <a:t>Propagation of erroneous state to the program outputs</a:t>
            </a:r>
          </a:p>
        </p:txBody>
      </p:sp>
      <p:sp>
        <p:nvSpPr>
          <p:cNvPr id="6" name="Down Arrow 5"/>
          <p:cNvSpPr/>
          <p:nvPr/>
        </p:nvSpPr>
        <p:spPr>
          <a:xfrm>
            <a:off x="8458200" y="1371600"/>
            <a:ext cx="381000" cy="3810000"/>
          </a:xfrm>
          <a:prstGeom prst="downArrow">
            <a:avLst/>
          </a:prstGeom>
          <a:gradFill flip="none" rotWithShape="1">
            <a:gsLst>
              <a:gs pos="0">
                <a:srgbClr val="FF0000"/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4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029200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FFFED6"/>
                </a:solidFill>
              </a:rPr>
              <a:t>Let’s pause and think!!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b="1" dirty="0">
              <a:solidFill>
                <a:srgbClr val="FFFED6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FFFED6"/>
                </a:solidFill>
              </a:rPr>
              <a:t>Why do we care about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FFFED6"/>
                </a:solidFill>
              </a:rPr>
              <a:t>“fault, error, and failure”?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b="1" dirty="0">
              <a:solidFill>
                <a:srgbClr val="FFFED6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FFFED6"/>
                </a:solidFill>
              </a:rPr>
              <a:t>How can we benefit from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FFFED6"/>
                </a:solidFill>
              </a:rPr>
              <a:t>analyzing them?</a:t>
            </a:r>
          </a:p>
        </p:txBody>
      </p:sp>
    </p:spTree>
    <p:extLst>
      <p:ext uri="{BB962C8B-B14F-4D97-AF65-F5344CB8AC3E}">
        <p14:creationId xmlns:p14="http://schemas.microsoft.com/office/powerpoint/2010/main" val="1409694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24547" y="990600"/>
            <a:ext cx="8514383" cy="2336024"/>
          </a:xfrm>
          <a:prstGeom prst="rect">
            <a:avLst/>
          </a:prstGeom>
          <a:solidFill>
            <a:schemeClr val="bg1"/>
          </a:solidFill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public static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numZero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[]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arr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{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// If </a:t>
            </a:r>
            <a:r>
              <a:rPr lang="en-US" sz="1800" b="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arr</a:t>
            </a:r>
            <a:r>
              <a: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is null throw </a:t>
            </a:r>
            <a:r>
              <a:rPr lang="en-US" sz="1800" b="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NullPointerException</a:t>
            </a:r>
            <a:endParaRPr lang="en-US" sz="1800" b="0" i="1" dirty="0">
              <a:solidFill>
                <a:schemeClr val="tx1">
                  <a:lumMod val="85000"/>
                  <a:lumOff val="15000"/>
                </a:schemeClr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>
              <a:lnSpc>
                <a:spcPct val="90000"/>
              </a:lnSpc>
            </a:pPr>
            <a:r>
              <a: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// else return the number of occurrences of 0 in </a:t>
            </a:r>
            <a:r>
              <a:rPr lang="en-US" sz="1800" b="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arr</a:t>
            </a:r>
            <a:endParaRPr lang="en-US" sz="1800" b="0" i="1" dirty="0">
              <a:solidFill>
                <a:schemeClr val="tx1">
                  <a:lumMod val="85000"/>
                  <a:lumOff val="15000"/>
                </a:schemeClr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count = 0;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for (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= 1;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&lt;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arr.length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;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++)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  if (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arr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[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] == 0)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     count++;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return count;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342900" y="3429000"/>
            <a:ext cx="8496300" cy="274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600"/>
              </a:spcBef>
            </a:pPr>
            <a:r>
              <a:rPr lang="en-US" sz="2000" b="0" dirty="0"/>
              <a:t>There is a simple fault in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numZero</a:t>
            </a:r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ts val="1600"/>
              </a:spcBef>
            </a:pPr>
            <a:r>
              <a:rPr lang="en-US" sz="2000" b="0" dirty="0"/>
              <a:t>Where is the fault </a:t>
            </a:r>
            <a:r>
              <a:rPr lang="en-US" sz="2000" b="0" dirty="0">
                <a:solidFill>
                  <a:srgbClr val="FFFF00"/>
                </a:solidFill>
              </a:rPr>
              <a:t>location</a:t>
            </a:r>
            <a:r>
              <a:rPr lang="en-US" sz="2000" b="0" dirty="0"/>
              <a:t> in the source code? </a:t>
            </a:r>
          </a:p>
          <a:p>
            <a:pPr>
              <a:spcBef>
                <a:spcPts val="1600"/>
              </a:spcBef>
            </a:pPr>
            <a:r>
              <a:rPr lang="en-US" sz="2000" b="0" dirty="0"/>
              <a:t>How would you fix it?</a:t>
            </a:r>
          </a:p>
          <a:p>
            <a:pPr>
              <a:spcBef>
                <a:spcPts val="1600"/>
              </a:spcBef>
            </a:pPr>
            <a:r>
              <a:rPr lang="en-US" sz="2000" b="0" dirty="0"/>
              <a:t>Can the fault location be </a:t>
            </a:r>
            <a:r>
              <a:rPr lang="en-US" sz="2000" b="0" dirty="0">
                <a:solidFill>
                  <a:srgbClr val="FFFF00"/>
                </a:solidFill>
              </a:rPr>
              <a:t>reached</a:t>
            </a:r>
            <a:r>
              <a:rPr lang="en-US" sz="2000" b="0" dirty="0"/>
              <a:t>? How does it corrupt program </a:t>
            </a:r>
            <a:r>
              <a:rPr lang="en-US" sz="2000" b="0" dirty="0">
                <a:solidFill>
                  <a:srgbClr val="FFFF00"/>
                </a:solidFill>
              </a:rPr>
              <a:t>state</a:t>
            </a:r>
            <a:r>
              <a:rPr lang="en-US" sz="2000" b="0" dirty="0"/>
              <a:t>? Does it always corrupt the program state?</a:t>
            </a:r>
          </a:p>
          <a:p>
            <a:pPr>
              <a:spcBef>
                <a:spcPts val="1600"/>
              </a:spcBef>
            </a:pPr>
            <a:r>
              <a:rPr lang="en-US" sz="2000" b="0" dirty="0"/>
              <a:t>If the program state is corrupted, does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numZero</a:t>
            </a:r>
            <a:r>
              <a:rPr lang="en-US" sz="2000" b="0" dirty="0"/>
              <a:t> </a:t>
            </a:r>
            <a:r>
              <a:rPr lang="en-US" sz="2000" b="0" dirty="0">
                <a:solidFill>
                  <a:srgbClr val="FFFF00"/>
                </a:solidFill>
              </a:rPr>
              <a:t>fail</a:t>
            </a:r>
            <a:r>
              <a:rPr lang="en-US" sz="2000" b="0" dirty="0"/>
              <a:t>? How?</a:t>
            </a:r>
          </a:p>
          <a:p>
            <a:pPr>
              <a:spcBef>
                <a:spcPts val="1600"/>
              </a:spcBef>
            </a:pPr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1066075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Let’s Analyze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24547" y="990600"/>
            <a:ext cx="8514383" cy="2336024"/>
          </a:xfrm>
          <a:prstGeom prst="rect">
            <a:avLst/>
          </a:prstGeom>
          <a:solidFill>
            <a:schemeClr val="bg1"/>
          </a:solidFill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public static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numZero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[]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arr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{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// If </a:t>
            </a:r>
            <a:r>
              <a:rPr lang="en-US" sz="1800" b="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arr</a:t>
            </a:r>
            <a:r>
              <a: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is null throw </a:t>
            </a:r>
            <a:r>
              <a:rPr lang="en-US" sz="1800" b="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NullPointerException</a:t>
            </a:r>
            <a:endParaRPr lang="en-US" sz="1800" b="0" i="1" dirty="0">
              <a:solidFill>
                <a:schemeClr val="tx1">
                  <a:lumMod val="85000"/>
                  <a:lumOff val="15000"/>
                </a:schemeClr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>
              <a:lnSpc>
                <a:spcPct val="90000"/>
              </a:lnSpc>
            </a:pPr>
            <a:r>
              <a: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// else return the number of occurrences of 0 in </a:t>
            </a:r>
            <a:r>
              <a:rPr lang="en-US" sz="1800" b="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arr</a:t>
            </a:r>
            <a:endParaRPr lang="en-US" sz="1800" b="0" i="1" dirty="0">
              <a:solidFill>
                <a:schemeClr val="tx1">
                  <a:lumMod val="85000"/>
                  <a:lumOff val="15000"/>
                </a:schemeClr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count = 0;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for (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= 1;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&lt;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arr.length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;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++)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  if (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arr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[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] == 0)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     count++;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return count;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152400" y="3429000"/>
            <a:ext cx="8877300" cy="274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2000" b="0" dirty="0">
                <a:solidFill>
                  <a:srgbClr val="FFFF00"/>
                </a:solidFill>
              </a:rPr>
              <a:t>Fault</a:t>
            </a:r>
            <a:r>
              <a:rPr lang="en-US" sz="2000" b="0" dirty="0"/>
              <a:t>: a defect in source code</a:t>
            </a:r>
          </a:p>
          <a:p>
            <a:pPr>
              <a:spcBef>
                <a:spcPts val="1000"/>
              </a:spcBef>
            </a:pPr>
            <a:endParaRPr lang="en-US" sz="2000" b="0" dirty="0"/>
          </a:p>
          <a:p>
            <a:pPr>
              <a:spcBef>
                <a:spcPts val="1600"/>
              </a:spcBef>
            </a:pPr>
            <a:r>
              <a:rPr lang="en-US" sz="2000" b="0" dirty="0">
                <a:solidFill>
                  <a:srgbClr val="FFFF00"/>
                </a:solidFill>
              </a:rPr>
              <a:t>Error</a:t>
            </a:r>
            <a:r>
              <a:rPr lang="en-US" sz="2000" b="0" dirty="0"/>
              <a:t>: erroneous program state caused by execution of the defect</a:t>
            </a:r>
          </a:p>
          <a:p>
            <a:pPr>
              <a:spcBef>
                <a:spcPts val="1000"/>
              </a:spcBef>
            </a:pPr>
            <a:endParaRPr lang="en-US" sz="2000" b="0" dirty="0"/>
          </a:p>
          <a:p>
            <a:pPr>
              <a:spcBef>
                <a:spcPts val="1600"/>
              </a:spcBef>
            </a:pPr>
            <a:r>
              <a:rPr lang="en-US" sz="2000" b="0" dirty="0">
                <a:solidFill>
                  <a:srgbClr val="FFFF00"/>
                </a:solidFill>
              </a:rPr>
              <a:t>Failure</a:t>
            </a:r>
            <a:r>
              <a:rPr lang="en-US" sz="2000" b="0" dirty="0"/>
              <a:t>: propagation of erroneous state to the program outputs</a:t>
            </a: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762000" y="3810000"/>
            <a:ext cx="8076930" cy="45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auto">
              <a:spcBef>
                <a:spcPts val="700"/>
              </a:spcBef>
              <a:spcAft>
                <a:spcPts val="0"/>
              </a:spcAft>
              <a:buClrTx/>
              <a:buSzTx/>
              <a:buNone/>
            </a:pPr>
            <a:r>
              <a:rPr lang="en-US" sz="2000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2000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 = 1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b="0" dirty="0">
                <a:solidFill>
                  <a:srgbClr val="FFFF00"/>
                </a:solidFill>
              </a:rPr>
              <a:t>[should start searching at 0, not 1]</a:t>
            </a:r>
          </a:p>
        </p:txBody>
      </p:sp>
      <p:sp>
        <p:nvSpPr>
          <p:cNvPr id="7" name="Content Placeholder 4"/>
          <p:cNvSpPr txBox="1">
            <a:spLocks/>
          </p:cNvSpPr>
          <p:nvPr/>
        </p:nvSpPr>
        <p:spPr>
          <a:xfrm>
            <a:off x="762000" y="4800600"/>
            <a:ext cx="8076930" cy="45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auto">
              <a:spcBef>
                <a:spcPts val="700"/>
              </a:spcBef>
              <a:spcAft>
                <a:spcPts val="0"/>
              </a:spcAft>
              <a:buClrTx/>
              <a:buSzTx/>
              <a:buNone/>
            </a:pPr>
            <a:r>
              <a:rPr lang="en-US" sz="2000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b="0" dirty="0">
                <a:solidFill>
                  <a:srgbClr val="FFFF00"/>
                </a:solidFill>
              </a:rPr>
              <a:t>becomes 1 [array entry 0 is not ever read]</a:t>
            </a:r>
          </a:p>
        </p:txBody>
      </p:sp>
      <p:sp>
        <p:nvSpPr>
          <p:cNvPr id="8" name="Content Placeholder 4"/>
          <p:cNvSpPr txBox="1">
            <a:spLocks/>
          </p:cNvSpPr>
          <p:nvPr/>
        </p:nvSpPr>
        <p:spPr>
          <a:xfrm>
            <a:off x="762000" y="5791200"/>
            <a:ext cx="8076930" cy="45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auto">
              <a:spcBef>
                <a:spcPts val="700"/>
              </a:spcBef>
              <a:spcAft>
                <a:spcPts val="0"/>
              </a:spcAft>
              <a:buClrTx/>
              <a:buSzTx/>
              <a:buNone/>
            </a:pPr>
            <a:r>
              <a:rPr lang="en-US" sz="2000" b="0" dirty="0">
                <a:solidFill>
                  <a:srgbClr val="FFFF00"/>
                </a:solidFill>
              </a:rPr>
              <a:t>Happens as long as </a:t>
            </a:r>
            <a:r>
              <a:rPr lang="en-US" sz="2000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arr.length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&gt;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0</a:t>
            </a:r>
            <a:r>
              <a:rPr lang="en-US" sz="2000" b="0" dirty="0">
                <a:solidFill>
                  <a:srgbClr val="FFFF00"/>
                </a:solidFill>
              </a:rPr>
              <a:t> and </a:t>
            </a:r>
            <a:r>
              <a:rPr lang="en-US" sz="2000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arr</a:t>
            </a:r>
            <a:r>
              <a:rPr lang="en-US" sz="2000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[0]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=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0</a:t>
            </a:r>
          </a:p>
        </p:txBody>
      </p:sp>
      <p:sp>
        <p:nvSpPr>
          <p:cNvPr id="9" name="Oval 8"/>
          <p:cNvSpPr/>
          <p:nvPr/>
        </p:nvSpPr>
        <p:spPr>
          <a:xfrm>
            <a:off x="1905000" y="1981200"/>
            <a:ext cx="990600" cy="381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63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Test Cases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24547" y="990600"/>
            <a:ext cx="8514383" cy="2336024"/>
          </a:xfrm>
          <a:prstGeom prst="rect">
            <a:avLst/>
          </a:prstGeom>
          <a:solidFill>
            <a:schemeClr val="bg1"/>
          </a:solidFill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public static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numZero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[]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arr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{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// If </a:t>
            </a:r>
            <a:r>
              <a:rPr lang="en-US" sz="1800" b="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arr</a:t>
            </a:r>
            <a:r>
              <a: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is null throw </a:t>
            </a:r>
            <a:r>
              <a:rPr lang="en-US" sz="1800" b="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NullPointerException</a:t>
            </a:r>
            <a:endParaRPr lang="en-US" sz="1800" b="0" i="1" dirty="0">
              <a:solidFill>
                <a:schemeClr val="tx1">
                  <a:lumMod val="85000"/>
                  <a:lumOff val="15000"/>
                </a:schemeClr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>
              <a:lnSpc>
                <a:spcPct val="90000"/>
              </a:lnSpc>
            </a:pPr>
            <a:r>
              <a: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   // else return the number of occurrences of 0 in </a:t>
            </a:r>
            <a:r>
              <a:rPr lang="en-US" sz="1800" b="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rPr>
              <a:t>arr</a:t>
            </a:r>
            <a:endParaRPr lang="en-US" sz="1800" b="0" i="1" dirty="0">
              <a:solidFill>
                <a:schemeClr val="tx1">
                  <a:lumMod val="85000"/>
                  <a:lumOff val="15000"/>
                </a:schemeClr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count = 0;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for (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= 1;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&lt;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arr.length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;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++)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  if (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arr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[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] == 0)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      count++;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   return count;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152400" y="3429000"/>
            <a:ext cx="8877300" cy="274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2000" b="0" dirty="0"/>
              <a:t>Test 1: [4, 6, 0], expected 1</a:t>
            </a:r>
          </a:p>
          <a:p>
            <a:pPr>
              <a:spcBef>
                <a:spcPts val="1000"/>
              </a:spcBef>
            </a:pPr>
            <a:endParaRPr lang="en-US" sz="2000" b="0" dirty="0"/>
          </a:p>
          <a:p>
            <a:pPr>
              <a:spcBef>
                <a:spcPts val="1000"/>
              </a:spcBef>
            </a:pPr>
            <a:endParaRPr lang="en-US" sz="2000" b="0" dirty="0"/>
          </a:p>
          <a:p>
            <a:pPr>
              <a:spcBef>
                <a:spcPts val="1600"/>
              </a:spcBef>
            </a:pPr>
            <a:r>
              <a:rPr lang="en-US" sz="2000" b="0" dirty="0"/>
              <a:t>Test 2: [0, 4, 6], expected 1</a:t>
            </a:r>
          </a:p>
          <a:p>
            <a:pPr>
              <a:spcBef>
                <a:spcPts val="1000"/>
              </a:spcBef>
            </a:pPr>
            <a:endParaRPr lang="en-US" sz="2000" b="0" dirty="0"/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762000" y="3858768"/>
            <a:ext cx="807693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auto">
              <a:spcBef>
                <a:spcPts val="200"/>
              </a:spcBef>
              <a:spcAft>
                <a:spcPts val="0"/>
              </a:spcAft>
              <a:buClrTx/>
              <a:buSzTx/>
              <a:buNone/>
            </a:pPr>
            <a:r>
              <a:rPr lang="en-US" sz="2000" b="0" dirty="0">
                <a:solidFill>
                  <a:srgbClr val="FFFF00"/>
                </a:solidFill>
              </a:rPr>
              <a:t>Error</a:t>
            </a:r>
            <a:r>
              <a:rPr lang="en-US" sz="2000" b="0" dirty="0"/>
              <a:t>: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2000" b="0" dirty="0"/>
              <a:t> is 1, not 0, on the first iteration</a:t>
            </a:r>
          </a:p>
          <a:p>
            <a:pPr marL="0" lvl="0" indent="0" fontAlgn="auto">
              <a:spcBef>
                <a:spcPts val="200"/>
              </a:spcBef>
              <a:spcAft>
                <a:spcPts val="0"/>
              </a:spcAft>
              <a:buClrTx/>
              <a:buSzTx/>
              <a:buNone/>
            </a:pPr>
            <a:r>
              <a:rPr lang="en-US" sz="2000" b="0" dirty="0">
                <a:solidFill>
                  <a:srgbClr val="FFFF00"/>
                </a:solidFill>
              </a:rPr>
              <a:t>Failure</a:t>
            </a:r>
            <a:r>
              <a:rPr lang="en-US" sz="2000" b="0" dirty="0"/>
              <a:t>: none</a:t>
            </a:r>
          </a:p>
          <a:p>
            <a:pPr marL="0" lvl="0" indent="0" fontAlgn="auto">
              <a:spcBef>
                <a:spcPts val="200"/>
              </a:spcBef>
              <a:spcAft>
                <a:spcPts val="0"/>
              </a:spcAft>
              <a:buClrTx/>
              <a:buSzTx/>
              <a:buNone/>
            </a:pPr>
            <a:endParaRPr lang="en-US" sz="2000" b="0" dirty="0"/>
          </a:p>
        </p:txBody>
      </p:sp>
      <p:sp>
        <p:nvSpPr>
          <p:cNvPr id="9" name="Content Placeholder 4"/>
          <p:cNvSpPr txBox="1">
            <a:spLocks/>
          </p:cNvSpPr>
          <p:nvPr/>
        </p:nvSpPr>
        <p:spPr>
          <a:xfrm>
            <a:off x="762000" y="5303520"/>
            <a:ext cx="807693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auto">
              <a:spcBef>
                <a:spcPts val="200"/>
              </a:spcBef>
              <a:spcAft>
                <a:spcPts val="0"/>
              </a:spcAft>
              <a:buClrTx/>
              <a:buSzTx/>
              <a:buNone/>
            </a:pPr>
            <a:r>
              <a:rPr lang="en-US" sz="2000" b="0" dirty="0">
                <a:solidFill>
                  <a:srgbClr val="FFFF00"/>
                </a:solidFill>
              </a:rPr>
              <a:t>Error</a:t>
            </a:r>
            <a:r>
              <a:rPr lang="en-US" sz="2000" b="0" dirty="0"/>
              <a:t>: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2000" b="0" dirty="0"/>
              <a:t> is 1, not 0, error propagates to the variable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count</a:t>
            </a:r>
          </a:p>
          <a:p>
            <a:pPr marL="0" lvl="0" indent="0" fontAlgn="auto">
              <a:spcBef>
                <a:spcPts val="200"/>
              </a:spcBef>
              <a:spcAft>
                <a:spcPts val="0"/>
              </a:spcAft>
              <a:buClrTx/>
              <a:buSzTx/>
              <a:buNone/>
            </a:pPr>
            <a:r>
              <a:rPr lang="en-US" sz="2000" b="0" dirty="0">
                <a:solidFill>
                  <a:srgbClr val="FFFF00"/>
                </a:solidFill>
              </a:rPr>
              <a:t>Failure</a:t>
            </a:r>
            <a:r>
              <a:rPr lang="en-US" sz="2000" b="0" dirty="0"/>
              <a:t>: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count</a:t>
            </a:r>
            <a:r>
              <a:rPr lang="en-US" sz="2000" dirty="0"/>
              <a:t> </a:t>
            </a:r>
            <a:r>
              <a:rPr lang="en-US" sz="2000" b="0" dirty="0"/>
              <a:t>is 0 at the return statement</a:t>
            </a:r>
          </a:p>
          <a:p>
            <a:pPr marL="0" lvl="0" indent="0" fontAlgn="auto">
              <a:spcBef>
                <a:spcPts val="200"/>
              </a:spcBef>
              <a:spcAft>
                <a:spcPts val="0"/>
              </a:spcAft>
              <a:buClrTx/>
              <a:buSzTx/>
              <a:buNone/>
            </a:pPr>
            <a:endParaRPr lang="en-US" sz="2000" b="0" dirty="0"/>
          </a:p>
        </p:txBody>
      </p:sp>
      <p:grpSp>
        <p:nvGrpSpPr>
          <p:cNvPr id="19" name="Group 18"/>
          <p:cNvGrpSpPr/>
          <p:nvPr/>
        </p:nvGrpSpPr>
        <p:grpSpPr>
          <a:xfrm>
            <a:off x="1905000" y="1958340"/>
            <a:ext cx="6758353" cy="1264146"/>
            <a:chOff x="1905000" y="2057400"/>
            <a:chExt cx="6758353" cy="1264146"/>
          </a:xfrm>
        </p:grpSpPr>
        <p:sp>
          <p:nvSpPr>
            <p:cNvPr id="3" name="Oval 2"/>
            <p:cNvSpPr/>
            <p:nvPr/>
          </p:nvSpPr>
          <p:spPr>
            <a:xfrm>
              <a:off x="1905000" y="2057400"/>
              <a:ext cx="990600" cy="381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0" y="2613660"/>
              <a:ext cx="4091353" cy="707886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lvl="0"/>
              <a:r>
                <a:rPr lang="en-US" sz="2000" b="0" dirty="0">
                  <a:solidFill>
                    <a:srgbClr val="FFFF00"/>
                  </a:solidFill>
                  <a:latin typeface="Verdana" charset="0"/>
                  <a:ea typeface="Verdana" charset="0"/>
                  <a:cs typeface="Verdana" charset="0"/>
                </a:rPr>
                <a:t>Fault</a:t>
              </a:r>
              <a:r>
                <a:rPr lang="en-US" sz="2000" b="0" dirty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Courier New" charset="0"/>
                  <a:ea typeface="Courier New" charset="0"/>
                  <a:cs typeface="Courier New" charset="0"/>
                </a:rPr>
                <a:t>i</a:t>
              </a:r>
              <a:r>
                <a:rPr lang="en-US" sz="2000" dirty="0">
                  <a:solidFill>
                    <a:schemeClr val="bg1"/>
                  </a:solidFill>
                  <a:latin typeface="Courier New" charset="0"/>
                  <a:ea typeface="Courier New" charset="0"/>
                  <a:cs typeface="Courier New" charset="0"/>
                </a:rPr>
                <a:t> = 1</a:t>
              </a:r>
              <a:r>
                <a:rPr lang="en-US" sz="2000" b="0" dirty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rPr>
                <a:t> [should start searching at 0, not 1]</a:t>
              </a:r>
            </a:p>
          </p:txBody>
        </p:sp>
        <p:cxnSp>
          <p:nvCxnSpPr>
            <p:cNvPr id="13" name="Straight Connector 12"/>
            <p:cNvCxnSpPr>
              <a:stCxn id="3" idx="6"/>
              <a:endCxn id="4" idx="1"/>
            </p:cNvCxnSpPr>
            <p:nvPr/>
          </p:nvCxnSpPr>
          <p:spPr>
            <a:xfrm>
              <a:off x="2895600" y="2247900"/>
              <a:ext cx="1676400" cy="71970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2429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Example – State Representation</a:t>
            </a: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152400" y="3401568"/>
            <a:ext cx="8877300" cy="2819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2000" b="0" dirty="0"/>
              <a:t>Assume that we want to represent program states using the notation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&lt;var</a:t>
            </a:r>
            <a:r>
              <a:rPr lang="en-US" sz="2000" baseline="-25000" dirty="0">
                <a:latin typeface="Courier New" charset="0"/>
                <a:ea typeface="Courier New" charset="0"/>
                <a:cs typeface="Courier New" charset="0"/>
              </a:rPr>
              <a:t>1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= v</a:t>
            </a:r>
            <a:r>
              <a:rPr lang="en-US" sz="2000" baseline="-25000" dirty="0">
                <a:latin typeface="Courier New" charset="0"/>
                <a:ea typeface="Courier New" charset="0"/>
                <a:cs typeface="Courier New" charset="0"/>
              </a:rPr>
              <a:t>1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, </a:t>
            </a:r>
            <a:r>
              <a:rPr lang="is-IS" sz="2000" dirty="0">
                <a:latin typeface="Courier New" charset="0"/>
                <a:ea typeface="Courier New" charset="0"/>
                <a:cs typeface="Courier New" charset="0"/>
              </a:rPr>
              <a:t>…, var</a:t>
            </a:r>
            <a:r>
              <a:rPr lang="is-IS" sz="2000" baseline="-25000" dirty="0">
                <a:latin typeface="Courier New" charset="0"/>
                <a:ea typeface="Courier New" charset="0"/>
                <a:cs typeface="Courier New" charset="0"/>
              </a:rPr>
              <a:t>n</a:t>
            </a:r>
            <a:r>
              <a:rPr lang="is-IS" sz="2000" dirty="0">
                <a:latin typeface="Courier New" charset="0"/>
                <a:ea typeface="Courier New" charset="0"/>
                <a:cs typeface="Courier New" charset="0"/>
              </a:rPr>
              <a:t> = v</a:t>
            </a:r>
            <a:r>
              <a:rPr lang="is-IS" sz="2000" baseline="-25000" dirty="0">
                <a:latin typeface="Courier New" charset="0"/>
                <a:ea typeface="Courier New" charset="0"/>
                <a:cs typeface="Courier New" charset="0"/>
              </a:rPr>
              <a:t>n</a:t>
            </a:r>
            <a:r>
              <a:rPr lang="is-IS" sz="2000" dirty="0">
                <a:latin typeface="Courier New" charset="0"/>
                <a:ea typeface="Courier New" charset="0"/>
                <a:cs typeface="Courier New" charset="0"/>
              </a:rPr>
              <a:t>, PC = program counter&gt;</a:t>
            </a:r>
            <a:r>
              <a:rPr lang="en-US" sz="2000" b="0" dirty="0"/>
              <a:t> </a:t>
            </a:r>
          </a:p>
          <a:p>
            <a:pPr>
              <a:spcBef>
                <a:spcPts val="2400"/>
              </a:spcBef>
            </a:pPr>
            <a:r>
              <a:rPr lang="en-US" sz="2000" b="0" dirty="0"/>
              <a:t>Sequence of states in the execution of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numZero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({0,</a:t>
            </a:r>
            <a:r>
              <a:rPr lang="en-US" sz="2000" b="0" dirty="0"/>
              <a:t>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4,</a:t>
            </a:r>
            <a:r>
              <a:rPr lang="en-US" sz="2000" b="0" dirty="0"/>
              <a:t>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6})</a:t>
            </a:r>
          </a:p>
          <a:p>
            <a:pPr marL="696913" lvl="1" indent="0">
              <a:spcAft>
                <a:spcPts val="0"/>
              </a:spcAft>
              <a:buNone/>
            </a:pPr>
            <a:r>
              <a:rPr lang="en-US" sz="1600" b="0" dirty="0">
                <a:solidFill>
                  <a:srgbClr val="FFFF00"/>
                </a:solidFill>
              </a:rPr>
              <a:t>1: &lt; </a:t>
            </a:r>
            <a:r>
              <a:rPr lang="en-US" sz="1600" b="0" dirty="0" err="1">
                <a:solidFill>
                  <a:srgbClr val="FFFF00"/>
                </a:solidFill>
              </a:rPr>
              <a:t>arr</a:t>
            </a:r>
            <a:r>
              <a:rPr lang="en-US" sz="1600" b="0" dirty="0">
                <a:solidFill>
                  <a:srgbClr val="FFFF00"/>
                </a:solidFill>
              </a:rPr>
              <a:t>={0, 4, 6}, PC=[</a:t>
            </a:r>
            <a:r>
              <a:rPr lang="en-US" sz="1600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600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 count=0</a:t>
            </a:r>
            <a:r>
              <a:rPr lang="en-US" sz="1600" b="0" dirty="0">
                <a:solidFill>
                  <a:srgbClr val="FFFF00"/>
                </a:solidFill>
              </a:rPr>
              <a:t> (L1)] &gt;</a:t>
            </a:r>
          </a:p>
          <a:p>
            <a:pPr marL="696913" lvl="1" indent="0">
              <a:spcAft>
                <a:spcPts val="0"/>
              </a:spcAft>
              <a:buNone/>
            </a:pPr>
            <a:r>
              <a:rPr lang="en-US" sz="1600" b="0" dirty="0">
                <a:solidFill>
                  <a:srgbClr val="FFFF00"/>
                </a:solidFill>
              </a:rPr>
              <a:t>2: &lt; </a:t>
            </a:r>
            <a:r>
              <a:rPr lang="en-US" sz="1600" b="0" dirty="0" err="1">
                <a:solidFill>
                  <a:srgbClr val="FFFF00"/>
                </a:solidFill>
              </a:rPr>
              <a:t>arr</a:t>
            </a:r>
            <a:r>
              <a:rPr lang="en-US" sz="1600" b="0" dirty="0">
                <a:solidFill>
                  <a:srgbClr val="FFFF00"/>
                </a:solidFill>
              </a:rPr>
              <a:t>={0, 4, 6}, </a:t>
            </a:r>
            <a:r>
              <a:rPr lang="en-US" sz="1600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count=0</a:t>
            </a:r>
            <a:r>
              <a:rPr lang="en-US" sz="1600" b="0" dirty="0">
                <a:solidFill>
                  <a:srgbClr val="FFFF00"/>
                </a:solidFill>
              </a:rPr>
              <a:t>, PC=[</a:t>
            </a:r>
            <a:r>
              <a:rPr lang="en-US" sz="1600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600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=1</a:t>
            </a:r>
            <a:r>
              <a:rPr lang="en-US" sz="1600" b="0" dirty="0">
                <a:solidFill>
                  <a:srgbClr val="FFFF00"/>
                </a:solidFill>
              </a:rPr>
              <a:t> (L2)] &gt;</a:t>
            </a:r>
          </a:p>
          <a:p>
            <a:pPr marL="696913" lvl="1" indent="0">
              <a:spcAft>
                <a:spcPts val="0"/>
              </a:spcAft>
              <a:buNone/>
            </a:pPr>
            <a:r>
              <a:rPr lang="en-US" sz="1600" b="0" dirty="0">
                <a:solidFill>
                  <a:srgbClr val="FFFF00"/>
                </a:solidFill>
              </a:rPr>
              <a:t>3: &lt; </a:t>
            </a:r>
            <a:r>
              <a:rPr lang="en-US" sz="1600" b="0" dirty="0" err="1">
                <a:solidFill>
                  <a:srgbClr val="FFFF00"/>
                </a:solidFill>
              </a:rPr>
              <a:t>arr</a:t>
            </a:r>
            <a:r>
              <a:rPr lang="en-US" sz="1600" b="0" dirty="0">
                <a:solidFill>
                  <a:srgbClr val="FFFF00"/>
                </a:solidFill>
              </a:rPr>
              <a:t>={0, 4, 6}, </a:t>
            </a:r>
            <a:r>
              <a:rPr lang="en-US" sz="1600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count=0</a:t>
            </a:r>
            <a:r>
              <a:rPr lang="en-US" sz="1600" b="0" dirty="0">
                <a:solidFill>
                  <a:srgbClr val="FFFF00"/>
                </a:solidFill>
              </a:rPr>
              <a:t>, </a:t>
            </a:r>
            <a:r>
              <a:rPr lang="en-US" sz="1600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600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=1</a:t>
            </a:r>
            <a:r>
              <a:rPr lang="en-US" sz="1600" b="0" dirty="0">
                <a:solidFill>
                  <a:srgbClr val="FFFF00"/>
                </a:solidFill>
              </a:rPr>
              <a:t>, PC=[</a:t>
            </a:r>
            <a:r>
              <a:rPr lang="en-US" sz="1600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600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&lt;</a:t>
            </a:r>
            <a:r>
              <a:rPr lang="en-US" sz="1600" dirty="0" err="1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arr.length</a:t>
            </a:r>
            <a:r>
              <a:rPr lang="en-US" sz="1600" b="0" dirty="0">
                <a:solidFill>
                  <a:srgbClr val="FFFF00"/>
                </a:solidFill>
              </a:rPr>
              <a:t> (L2)] &gt;</a:t>
            </a:r>
          </a:p>
          <a:p>
            <a:pPr marL="696913" lvl="1" indent="0">
              <a:spcAft>
                <a:spcPts val="0"/>
              </a:spcAft>
              <a:buNone/>
            </a:pPr>
            <a:r>
              <a:rPr lang="is-IS" sz="1600" b="0" dirty="0">
                <a:solidFill>
                  <a:srgbClr val="FFFF00"/>
                </a:solidFill>
              </a:rPr>
              <a:t>…</a:t>
            </a:r>
          </a:p>
          <a:p>
            <a:pPr marL="696913" lvl="1" indent="0">
              <a:spcAft>
                <a:spcPts val="0"/>
              </a:spcAft>
              <a:buNone/>
            </a:pPr>
            <a:r>
              <a:rPr lang="en-US" sz="1600" b="0" dirty="0">
                <a:solidFill>
                  <a:srgbClr val="FFFF00"/>
                </a:solidFill>
              </a:rPr>
              <a:t>    &lt; </a:t>
            </a:r>
            <a:r>
              <a:rPr lang="en-US" sz="1600" b="0" dirty="0" err="1">
                <a:solidFill>
                  <a:srgbClr val="FFFF00"/>
                </a:solidFill>
              </a:rPr>
              <a:t>arr</a:t>
            </a:r>
            <a:r>
              <a:rPr lang="en-US" sz="1600" b="0" dirty="0">
                <a:solidFill>
                  <a:srgbClr val="FFFF00"/>
                </a:solidFill>
              </a:rPr>
              <a:t>={0, 4, 6}, </a:t>
            </a:r>
            <a:r>
              <a:rPr lang="en-US" sz="1600" dirty="0">
                <a:solidFill>
                  <a:srgbClr val="FFFF00"/>
                </a:solidFill>
                <a:latin typeface="Courier New" charset="0"/>
                <a:ea typeface="Courier New" charset="0"/>
                <a:cs typeface="Courier New" charset="0"/>
              </a:rPr>
              <a:t>count=0</a:t>
            </a:r>
            <a:r>
              <a:rPr lang="en-US" sz="16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sz="1600" dirty="0">
                <a:solidFill>
                  <a:srgbClr val="FFFF00"/>
                </a:solidFill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</a:t>
            </a:r>
            <a:r>
              <a:rPr lang="en-US" sz="16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=3, </a:t>
            </a:r>
            <a:r>
              <a:rPr lang="en-US" sz="1600" b="0" dirty="0">
                <a:solidFill>
                  <a:srgbClr val="FFFF00"/>
                </a:solidFill>
              </a:rPr>
              <a:t>PC=</a:t>
            </a:r>
            <a:r>
              <a:rPr lang="en-US" sz="16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[return count</a:t>
            </a:r>
            <a:r>
              <a:rPr lang="en-US" sz="1600" b="0" dirty="0">
                <a:solidFill>
                  <a:srgbClr val="FFFF00"/>
                </a:solidFill>
              </a:rPr>
              <a:t> (L5)] &gt;</a:t>
            </a:r>
          </a:p>
          <a:p>
            <a:pPr marL="696913" lvl="1" indent="-249238">
              <a:spcAft>
                <a:spcPts val="0"/>
              </a:spcAft>
            </a:pPr>
            <a:endParaRPr lang="en-US" sz="1600" b="0" dirty="0"/>
          </a:p>
          <a:p>
            <a:pPr marL="696913" lvl="1" indent="-249238">
              <a:spcAft>
                <a:spcPts val="0"/>
              </a:spcAft>
            </a:pPr>
            <a:endParaRPr lang="en-US" sz="1600" b="0" dirty="0"/>
          </a:p>
        </p:txBody>
      </p:sp>
      <p:grpSp>
        <p:nvGrpSpPr>
          <p:cNvPr id="14" name="Group 13"/>
          <p:cNvGrpSpPr/>
          <p:nvPr/>
        </p:nvGrpSpPr>
        <p:grpSpPr>
          <a:xfrm>
            <a:off x="228600" y="990600"/>
            <a:ext cx="8686800" cy="2336024"/>
            <a:chOff x="228600" y="990600"/>
            <a:chExt cx="8686800" cy="2336024"/>
          </a:xfrm>
        </p:grpSpPr>
        <p:sp>
          <p:nvSpPr>
            <p:cNvPr id="5" name="TextBox 4"/>
            <p:cNvSpPr txBox="1">
              <a:spLocks noChangeArrowheads="1"/>
            </p:cNvSpPr>
            <p:nvPr/>
          </p:nvSpPr>
          <p:spPr bwMode="auto">
            <a:xfrm>
              <a:off x="228600" y="990600"/>
              <a:ext cx="8686800" cy="2336024"/>
            </a:xfrm>
            <a:prstGeom prst="rect">
              <a:avLst/>
            </a:prstGeom>
            <a:solidFill>
              <a:schemeClr val="bg1"/>
            </a:solidFill>
            <a:ln w="381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public static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int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numZero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(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int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[]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arr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)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{ </a:t>
              </a:r>
              <a:r>
                <a:rPr lang="en-US" sz="1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sz="1800" b="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// If </a:t>
              </a:r>
              <a:r>
                <a:rPr lang="en-US" sz="1800" b="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arr</a:t>
              </a:r>
              <a:r>
                <a:rPr lang="en-US" sz="1800" b="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 is null throw </a:t>
              </a:r>
              <a:r>
                <a:rPr lang="en-US" sz="1800" b="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NullPointerException</a:t>
              </a:r>
              <a:endPara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endParaRPr>
            </a:p>
            <a:p>
              <a:pPr marL="355600">
                <a:lnSpc>
                  <a:spcPct val="90000"/>
                </a:lnSpc>
              </a:pPr>
              <a:r>
                <a:rPr lang="en-US" sz="1800" b="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   // else return the number of occurrences of 0 in </a:t>
              </a:r>
              <a:r>
                <a:rPr lang="en-US" sz="1800" b="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arr</a:t>
              </a:r>
              <a:endPara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endParaRP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int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count = 0;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for (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int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= 1;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&lt;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arr.length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;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++)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   if (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arr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[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] == 0)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      count++;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return count;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}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28600" y="1703457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L1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28600" y="1975104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L2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28600" y="2231136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L3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28600" y="2468880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L4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28600" y="2706624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L5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</p:grpSp>
      <p:cxnSp>
        <p:nvCxnSpPr>
          <p:cNvPr id="4" name="Straight Arrow Connector 3"/>
          <p:cNvCxnSpPr/>
          <p:nvPr/>
        </p:nvCxnSpPr>
        <p:spPr>
          <a:xfrm>
            <a:off x="1024128" y="1703457"/>
            <a:ext cx="0" cy="26250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700784" y="1947297"/>
            <a:ext cx="0" cy="26250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200400" y="1947297"/>
            <a:ext cx="0" cy="26250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346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Example – Error State</a:t>
            </a: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152400" y="993648"/>
            <a:ext cx="8763000" cy="53309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 indent="-231775">
              <a:spcBef>
                <a:spcPts val="1000"/>
              </a:spcBef>
            </a:pPr>
            <a:r>
              <a:rPr lang="en-US" sz="2000" b="0" dirty="0">
                <a:solidFill>
                  <a:srgbClr val="FFFF00"/>
                </a:solidFill>
              </a:rPr>
              <a:t>Error state</a:t>
            </a:r>
          </a:p>
          <a:p>
            <a:pPr marL="635000" lvl="1" indent="-233363">
              <a:spcBef>
                <a:spcPts val="500"/>
              </a:spcBef>
            </a:pPr>
            <a:r>
              <a:rPr lang="en-US" sz="1800" b="0" dirty="0"/>
              <a:t>The </a:t>
            </a:r>
            <a:r>
              <a:rPr lang="en-US" sz="1800" b="0" dirty="0">
                <a:solidFill>
                  <a:srgbClr val="FFFF00"/>
                </a:solidFill>
              </a:rPr>
              <a:t>first</a:t>
            </a:r>
            <a:r>
              <a:rPr lang="en-US" sz="1800" b="0" dirty="0"/>
              <a:t> </a:t>
            </a:r>
            <a:r>
              <a:rPr lang="en-US" sz="1800" b="0" dirty="0">
                <a:solidFill>
                  <a:srgbClr val="FFFF00"/>
                </a:solidFill>
              </a:rPr>
              <a:t>different</a:t>
            </a:r>
            <a:r>
              <a:rPr lang="en-US" sz="1800" b="0" dirty="0"/>
              <a:t> state in execution in comparison to an execution to the state sequence of what would be the correct program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200" b="0" dirty="0"/>
          </a:p>
          <a:p>
            <a:pPr marL="293688" indent="-293688">
              <a:spcBef>
                <a:spcPts val="1000"/>
              </a:spcBef>
            </a:pPr>
            <a:r>
              <a:rPr lang="en-US" sz="2000" b="0" dirty="0"/>
              <a:t>If the code had </a:t>
            </a:r>
            <a:r>
              <a:rPr lang="en-US" sz="2000" b="0" dirty="0" err="1"/>
              <a:t>i</a:t>
            </a:r>
            <a:r>
              <a:rPr lang="en-US" sz="2000" b="0" dirty="0"/>
              <a:t>=0 (correct program), the execution of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numZero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({0,</a:t>
            </a:r>
            <a:r>
              <a:rPr lang="en-US" sz="2000" b="0" dirty="0"/>
              <a:t>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4,</a:t>
            </a:r>
            <a:r>
              <a:rPr lang="en-US" sz="2000" b="0" dirty="0"/>
              <a:t> 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6})</a:t>
            </a:r>
            <a:r>
              <a:rPr lang="en-US" sz="2000" b="0" dirty="0"/>
              <a:t> would be</a:t>
            </a:r>
          </a:p>
          <a:p>
            <a:pPr marL="696913" lvl="1" indent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600" b="0" dirty="0"/>
              <a:t>1: &lt; </a:t>
            </a:r>
            <a:r>
              <a:rPr lang="en-US" sz="1600" b="0" dirty="0" err="1"/>
              <a:t>arr</a:t>
            </a:r>
            <a:r>
              <a:rPr lang="en-US" sz="1600" b="0" dirty="0"/>
              <a:t>={0, 4, 6}, PC=[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count=0</a:t>
            </a:r>
            <a:r>
              <a:rPr lang="en-US" sz="1600" b="0" dirty="0"/>
              <a:t> (L1)] &gt;</a:t>
            </a:r>
          </a:p>
          <a:p>
            <a:pPr marL="696913" lvl="1" indent="0">
              <a:spcAft>
                <a:spcPts val="0"/>
              </a:spcAft>
              <a:buNone/>
            </a:pPr>
            <a:r>
              <a:rPr lang="en-US" sz="1600" b="0" dirty="0"/>
              <a:t>2: &lt; </a:t>
            </a:r>
            <a:r>
              <a:rPr lang="en-US" sz="1600" b="0" dirty="0" err="1"/>
              <a:t>arr</a:t>
            </a:r>
            <a:r>
              <a:rPr lang="en-US" sz="1600" b="0" dirty="0"/>
              <a:t>={0, 4, 6}, 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count=0</a:t>
            </a:r>
            <a:r>
              <a:rPr lang="en-US" sz="1600" b="0" dirty="0"/>
              <a:t>, PC=[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=0</a:t>
            </a:r>
            <a:r>
              <a:rPr lang="en-US" sz="1600" b="0" dirty="0"/>
              <a:t> (L2)] &gt;</a:t>
            </a:r>
          </a:p>
          <a:p>
            <a:pPr marL="696913" lvl="1" indent="0">
              <a:spcAft>
                <a:spcPts val="0"/>
              </a:spcAft>
              <a:buNone/>
            </a:pPr>
            <a:r>
              <a:rPr lang="en-US" sz="1600" b="0" dirty="0"/>
              <a:t>3: &lt; </a:t>
            </a:r>
            <a:r>
              <a:rPr lang="en-US" sz="1600" b="0" dirty="0" err="1"/>
              <a:t>arr</a:t>
            </a:r>
            <a:r>
              <a:rPr lang="en-US" sz="1600" b="0" dirty="0"/>
              <a:t>={0, 4, 6}, 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count=0</a:t>
            </a:r>
            <a:r>
              <a:rPr lang="en-US" sz="1600" b="0" dirty="0"/>
              <a:t>, 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=0</a:t>
            </a:r>
            <a:r>
              <a:rPr lang="en-US" sz="1600" b="0" dirty="0"/>
              <a:t>, PC=[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&lt;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arr.length</a:t>
            </a:r>
            <a:r>
              <a:rPr lang="en-US" sz="1600" b="0" dirty="0"/>
              <a:t> (L2)] &gt;</a:t>
            </a:r>
          </a:p>
          <a:p>
            <a:pPr marL="696913" lvl="1" indent="0">
              <a:spcAft>
                <a:spcPts val="0"/>
              </a:spcAft>
              <a:buNone/>
            </a:pPr>
            <a:r>
              <a:rPr lang="is-IS" sz="1600" b="0" dirty="0"/>
              <a:t>…</a:t>
            </a:r>
          </a:p>
          <a:p>
            <a:pPr marL="293688" indent="-279400">
              <a:spcAft>
                <a:spcPts val="0"/>
              </a:spcAft>
            </a:pPr>
            <a:r>
              <a:rPr lang="en-US" sz="2000" b="0" dirty="0"/>
              <a:t>Instead, we have</a:t>
            </a:r>
          </a:p>
          <a:p>
            <a:pPr marL="696913" lvl="1" indent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600" b="0" dirty="0"/>
              <a:t>1: &lt; </a:t>
            </a:r>
            <a:r>
              <a:rPr lang="en-US" sz="1600" b="0" dirty="0" err="1"/>
              <a:t>arr</a:t>
            </a:r>
            <a:r>
              <a:rPr lang="en-US" sz="1600" b="0" dirty="0"/>
              <a:t>={0, 4, 6}, PC=[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count=0</a:t>
            </a:r>
            <a:r>
              <a:rPr lang="en-US" sz="1600" b="0" dirty="0"/>
              <a:t> (L1)] &gt;</a:t>
            </a:r>
          </a:p>
          <a:p>
            <a:pPr marL="696913" lvl="1" indent="0">
              <a:spcAft>
                <a:spcPts val="0"/>
              </a:spcAft>
              <a:buNone/>
            </a:pPr>
            <a:r>
              <a:rPr lang="en-US" sz="1600" b="0" dirty="0"/>
              <a:t>2: &lt; </a:t>
            </a:r>
            <a:r>
              <a:rPr lang="en-US" sz="1600" b="0" dirty="0" err="1"/>
              <a:t>arr</a:t>
            </a:r>
            <a:r>
              <a:rPr lang="en-US" sz="1600" b="0" dirty="0"/>
              <a:t>={0, 4, 6}, 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count=0</a:t>
            </a:r>
            <a:r>
              <a:rPr lang="en-US" sz="1600" b="0" dirty="0"/>
              <a:t>, PC=[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=1</a:t>
            </a:r>
            <a:r>
              <a:rPr lang="en-US" sz="1600" b="0" dirty="0"/>
              <a:t> (L2)] &gt;</a:t>
            </a:r>
          </a:p>
          <a:p>
            <a:pPr marL="696913" lvl="1" indent="0">
              <a:spcAft>
                <a:spcPts val="0"/>
              </a:spcAft>
              <a:buNone/>
            </a:pPr>
            <a:r>
              <a:rPr lang="en-US" sz="1600" b="0" dirty="0"/>
              <a:t>3: &lt; </a:t>
            </a:r>
            <a:r>
              <a:rPr lang="en-US" sz="1600" b="0" dirty="0" err="1"/>
              <a:t>arr</a:t>
            </a:r>
            <a:r>
              <a:rPr lang="en-US" sz="1600" b="0" dirty="0"/>
              <a:t>={0, 4, 6}, 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count=0</a:t>
            </a:r>
            <a:r>
              <a:rPr lang="en-US" sz="1600" b="0" dirty="0"/>
              <a:t>, 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=1</a:t>
            </a:r>
            <a:r>
              <a:rPr lang="en-US" sz="1600" b="0" dirty="0"/>
              <a:t>, PC=[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i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&lt;</a:t>
            </a:r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arr.length</a:t>
            </a:r>
            <a:r>
              <a:rPr lang="en-US" sz="1600" b="0" dirty="0"/>
              <a:t> (L2)] &gt;</a:t>
            </a:r>
          </a:p>
          <a:p>
            <a:pPr marL="696913" lvl="1" indent="0">
              <a:spcAft>
                <a:spcPts val="0"/>
              </a:spcAft>
              <a:buNone/>
            </a:pPr>
            <a:r>
              <a:rPr lang="is-IS" sz="1600" b="0" dirty="0"/>
              <a:t>…</a:t>
            </a:r>
          </a:p>
          <a:p>
            <a:pPr marL="357188" indent="-342900">
              <a:spcAft>
                <a:spcPts val="0"/>
              </a:spcAft>
            </a:pPr>
            <a:endParaRPr lang="en-US" sz="2000" b="0" dirty="0"/>
          </a:p>
          <a:p>
            <a:pPr marL="696913" lvl="1" indent="-249238">
              <a:spcAft>
                <a:spcPts val="0"/>
              </a:spcAft>
            </a:pPr>
            <a:endParaRPr lang="en-US" sz="1600" b="0" dirty="0"/>
          </a:p>
        </p:txBody>
      </p:sp>
      <p:sp>
        <p:nvSpPr>
          <p:cNvPr id="3" name="Rectangle 2"/>
          <p:cNvSpPr/>
          <p:nvPr/>
        </p:nvSpPr>
        <p:spPr>
          <a:xfrm>
            <a:off x="609600" y="3581400"/>
            <a:ext cx="5334000" cy="3017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09600" y="5254752"/>
            <a:ext cx="5334000" cy="3017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5715000" y="3883152"/>
            <a:ext cx="3264653" cy="1371600"/>
            <a:chOff x="5715000" y="3546348"/>
            <a:chExt cx="3264653" cy="1371600"/>
          </a:xfrm>
        </p:grpSpPr>
        <p:sp>
          <p:nvSpPr>
            <p:cNvPr id="15" name="Rectangle 14"/>
            <p:cNvSpPr/>
            <p:nvPr/>
          </p:nvSpPr>
          <p:spPr>
            <a:xfrm>
              <a:off x="6400800" y="3701796"/>
              <a:ext cx="2578853" cy="108952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lvl="0">
                <a:lnSpc>
                  <a:spcPct val="90000"/>
                </a:lnSpc>
              </a:pPr>
              <a:r>
                <a:rPr lang="en-US" sz="1800" b="0" dirty="0">
                  <a:solidFill>
                    <a:srgbClr val="FFFF00"/>
                  </a:solidFill>
                  <a:latin typeface="Verdana" charset="0"/>
                  <a:ea typeface="Verdana" charset="0"/>
                  <a:cs typeface="Verdana" charset="0"/>
                </a:rPr>
                <a:t>The first error state is immediately after executing </a:t>
              </a:r>
              <a:r>
                <a:rPr lang="en-US" sz="1800" dirty="0" err="1">
                  <a:solidFill>
                    <a:srgbClr val="FFFF00"/>
                  </a:solidFill>
                  <a:latin typeface="Courier New" charset="0"/>
                  <a:ea typeface="Courier New" charset="0"/>
                  <a:cs typeface="Courier New" charset="0"/>
                </a:rPr>
                <a:t>i</a:t>
              </a:r>
              <a:r>
                <a:rPr lang="en-US" sz="1800" dirty="0">
                  <a:solidFill>
                    <a:srgbClr val="FFFF00"/>
                  </a:solidFill>
                  <a:latin typeface="Courier New" charset="0"/>
                  <a:ea typeface="Courier New" charset="0"/>
                  <a:cs typeface="Courier New" charset="0"/>
                </a:rPr>
                <a:t>=1</a:t>
              </a:r>
              <a:r>
                <a:rPr lang="en-US" sz="1800" b="0" dirty="0">
                  <a:solidFill>
                    <a:srgbClr val="FFFF00"/>
                  </a:solidFill>
                  <a:latin typeface="Verdana" charset="0"/>
                  <a:ea typeface="Verdana" charset="0"/>
                  <a:cs typeface="Verdana" charset="0"/>
                </a:rPr>
                <a:t> </a:t>
              </a:r>
            </a:p>
            <a:p>
              <a:pPr lvl="0">
                <a:lnSpc>
                  <a:spcPct val="90000"/>
                </a:lnSpc>
              </a:pPr>
              <a:r>
                <a:rPr lang="en-US" sz="1800" b="0" dirty="0">
                  <a:solidFill>
                    <a:srgbClr val="FFFF00"/>
                  </a:solidFill>
                  <a:latin typeface="Verdana" charset="0"/>
                  <a:ea typeface="Verdana" charset="0"/>
                  <a:cs typeface="Verdana" charset="0"/>
                </a:rPr>
                <a:t>(line L2)</a:t>
              </a:r>
              <a:endParaRPr lang="en-US" sz="1800" b="0" dirty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 flipH="1" flipV="1">
              <a:off x="5715000" y="3546348"/>
              <a:ext cx="685800" cy="460248"/>
            </a:xfrm>
            <a:prstGeom prst="line">
              <a:avLst/>
            </a:prstGeom>
            <a:ln w="38100">
              <a:solidFill>
                <a:srgbClr val="FF4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5" idx="1"/>
            </p:cNvCxnSpPr>
            <p:nvPr/>
          </p:nvCxnSpPr>
          <p:spPr>
            <a:xfrm flipH="1">
              <a:off x="5715000" y="4246561"/>
              <a:ext cx="685800" cy="671387"/>
            </a:xfrm>
            <a:prstGeom prst="line">
              <a:avLst/>
            </a:prstGeom>
            <a:ln w="38100">
              <a:solidFill>
                <a:srgbClr val="FF4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3840480" y="3508248"/>
            <a:ext cx="704306" cy="2119666"/>
            <a:chOff x="3840480" y="3508248"/>
            <a:chExt cx="704306" cy="2119666"/>
          </a:xfrm>
        </p:grpSpPr>
        <p:sp>
          <p:nvSpPr>
            <p:cNvPr id="4" name="Oval 3"/>
            <p:cNvSpPr/>
            <p:nvPr/>
          </p:nvSpPr>
          <p:spPr>
            <a:xfrm>
              <a:off x="3840480" y="3508248"/>
              <a:ext cx="685800" cy="454152"/>
            </a:xfrm>
            <a:prstGeom prst="ellipse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858986" y="5173762"/>
              <a:ext cx="685800" cy="454152"/>
            </a:xfrm>
            <a:prstGeom prst="ellipse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5334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RIPR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113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Four conditions necessary for a failure to be observed</a:t>
            </a:r>
          </a:p>
          <a:p>
            <a:pPr>
              <a:spcBef>
                <a:spcPts val="2000"/>
              </a:spcBef>
            </a:pPr>
            <a:r>
              <a:rPr lang="en-US" sz="2200" b="1" dirty="0">
                <a:solidFill>
                  <a:srgbClr val="FFFF00"/>
                </a:solidFill>
              </a:rPr>
              <a:t>R</a:t>
            </a:r>
            <a:r>
              <a:rPr lang="en-US" sz="2200" dirty="0"/>
              <a:t>eachability</a:t>
            </a:r>
          </a:p>
          <a:p>
            <a:pPr marL="700088" lvl="1" indent="-261938"/>
            <a:r>
              <a:rPr lang="en-US" sz="1800" dirty="0"/>
              <a:t>The fault is reached</a:t>
            </a:r>
          </a:p>
          <a:p>
            <a:pPr>
              <a:spcBef>
                <a:spcPts val="2000"/>
              </a:spcBef>
            </a:pPr>
            <a:r>
              <a:rPr lang="en-US" sz="2200" b="1" dirty="0">
                <a:solidFill>
                  <a:srgbClr val="FFFF00"/>
                </a:solidFill>
              </a:rPr>
              <a:t>I</a:t>
            </a:r>
            <a:r>
              <a:rPr lang="en-US" sz="2200" dirty="0"/>
              <a:t>nfection</a:t>
            </a:r>
          </a:p>
          <a:p>
            <a:pPr marL="700088" lvl="1" indent="-244475"/>
            <a:r>
              <a:rPr lang="en-US" sz="1800" dirty="0"/>
              <a:t>Execution of the fault leads to an incorrect program state (error)</a:t>
            </a:r>
          </a:p>
          <a:p>
            <a:pPr>
              <a:spcBef>
                <a:spcPts val="2000"/>
              </a:spcBef>
            </a:pPr>
            <a:r>
              <a:rPr lang="en-US" sz="2200" b="1" dirty="0">
                <a:solidFill>
                  <a:srgbClr val="FFFF00"/>
                </a:solidFill>
              </a:rPr>
              <a:t>P</a:t>
            </a:r>
            <a:r>
              <a:rPr lang="en-US" sz="2200" dirty="0"/>
              <a:t>ropagation</a:t>
            </a:r>
          </a:p>
          <a:p>
            <a:pPr marL="700088" lvl="1" indent="-261938"/>
            <a:r>
              <a:rPr lang="en-US" sz="1800" dirty="0"/>
              <a:t>The infected state must cause the program output or final state to be incorrect (failure)</a:t>
            </a:r>
          </a:p>
          <a:p>
            <a:pPr>
              <a:spcBef>
                <a:spcPts val="2000"/>
              </a:spcBef>
            </a:pPr>
            <a:r>
              <a:rPr lang="en-US" sz="2200" b="1" dirty="0" err="1">
                <a:solidFill>
                  <a:srgbClr val="FFFF00"/>
                </a:solidFill>
              </a:rPr>
              <a:t>R</a:t>
            </a:r>
            <a:r>
              <a:rPr lang="en-US" sz="2200" dirty="0" err="1"/>
              <a:t>evealability</a:t>
            </a:r>
            <a:endParaRPr lang="en-US" sz="2200" dirty="0"/>
          </a:p>
          <a:p>
            <a:pPr marL="700088" lvl="1" indent="-261938"/>
            <a:r>
              <a:rPr lang="en-US" sz="1800" dirty="0"/>
              <a:t>The tester must observe part of the incorrect portion of the program state</a:t>
            </a:r>
          </a:p>
        </p:txBody>
      </p:sp>
    </p:spTree>
    <p:extLst>
      <p:ext uri="{BB962C8B-B14F-4D97-AF65-F5344CB8AC3E}">
        <p14:creationId xmlns:p14="http://schemas.microsoft.com/office/powerpoint/2010/main" val="1713760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RIPR Model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00" y="6248400"/>
            <a:ext cx="1181100" cy="304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1400" b="0" dirty="0"/>
              <a:t>[AO, p.21]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559270" y="1377783"/>
            <a:ext cx="1295400" cy="533400"/>
            <a:chOff x="3505200" y="1752600"/>
            <a:chExt cx="1295400" cy="533400"/>
          </a:xfrm>
        </p:grpSpPr>
        <p:sp>
          <p:nvSpPr>
            <p:cNvPr id="5" name="Content Placeholder 2"/>
            <p:cNvSpPr txBox="1">
              <a:spLocks/>
            </p:cNvSpPr>
            <p:nvPr/>
          </p:nvSpPr>
          <p:spPr>
            <a:xfrm>
              <a:off x="3505200" y="1828800"/>
              <a:ext cx="1295400" cy="4572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82880" indent="-182880" algn="l" defTabSz="914400" rtl="0" eaLnBrk="1" latinLnBrk="0" hangingPunct="1">
                <a:lnSpc>
                  <a:spcPct val="100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defRPr sz="2800" kern="1200" spc="10" baseline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1pPr>
              <a:lvl2pPr marL="45720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4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2pPr>
              <a:lvl3pPr marL="73152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3pPr>
              <a:lvl4pPr marL="100584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4pPr>
              <a:lvl5pPr marL="128016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buNone/>
              </a:pPr>
              <a:r>
                <a:rPr lang="en-US" sz="1600" b="0" dirty="0"/>
                <a:t>Test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3621024" y="1752600"/>
              <a:ext cx="1097280" cy="533400"/>
            </a:xfrm>
            <a:prstGeom prst="ellipse">
              <a:avLst/>
            </a:prstGeom>
            <a:noFill/>
            <a:ln w="381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574510" y="2520783"/>
            <a:ext cx="1295400" cy="795401"/>
            <a:chOff x="3505200" y="2862198"/>
            <a:chExt cx="1295400" cy="795401"/>
          </a:xfrm>
        </p:grpSpPr>
        <p:sp>
          <p:nvSpPr>
            <p:cNvPr id="9" name="Content Placeholder 2"/>
            <p:cNvSpPr txBox="1">
              <a:spLocks/>
            </p:cNvSpPr>
            <p:nvPr/>
          </p:nvSpPr>
          <p:spPr>
            <a:xfrm>
              <a:off x="3505200" y="2935069"/>
              <a:ext cx="1295400" cy="64633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182880" indent="-182880" algn="l" defTabSz="914400" rtl="0" eaLnBrk="1" latinLnBrk="0" hangingPunct="1">
                <a:lnSpc>
                  <a:spcPct val="100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defRPr sz="2800" kern="1200" spc="10" baseline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1pPr>
              <a:lvl2pPr marL="45720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4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2pPr>
              <a:lvl3pPr marL="73152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3pPr>
              <a:lvl4pPr marL="100584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4pPr>
              <a:lvl5pPr marL="128016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lnSpc>
                  <a:spcPct val="90000"/>
                </a:lnSpc>
                <a:spcBef>
                  <a:spcPts val="0"/>
                </a:spcBef>
                <a:buNone/>
              </a:pPr>
              <a:r>
                <a:rPr lang="en-US" sz="1600" b="0" dirty="0"/>
                <a:t>Fault location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3505200" y="2862198"/>
              <a:ext cx="1295400" cy="795401"/>
            </a:xfrm>
            <a:prstGeom prst="ellipse">
              <a:avLst/>
            </a:prstGeom>
            <a:noFill/>
            <a:ln w="381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60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391630" y="3892383"/>
            <a:ext cx="1676400" cy="1062102"/>
            <a:chOff x="3505200" y="4576698"/>
            <a:chExt cx="1295400" cy="795401"/>
          </a:xfrm>
        </p:grpSpPr>
        <p:sp>
          <p:nvSpPr>
            <p:cNvPr id="11" name="Content Placeholder 2"/>
            <p:cNvSpPr txBox="1">
              <a:spLocks/>
            </p:cNvSpPr>
            <p:nvPr/>
          </p:nvSpPr>
          <p:spPr>
            <a:xfrm>
              <a:off x="3505200" y="4649569"/>
              <a:ext cx="1295400" cy="64633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182880" indent="-182880" algn="l" defTabSz="914400" rtl="0" eaLnBrk="1" latinLnBrk="0" hangingPunct="1">
                <a:lnSpc>
                  <a:spcPct val="100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defRPr sz="2800" kern="1200" spc="10" baseline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1pPr>
              <a:lvl2pPr marL="45720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4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2pPr>
              <a:lvl3pPr marL="73152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3pPr>
              <a:lvl4pPr marL="100584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4pPr>
              <a:lvl5pPr marL="128016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lnSpc>
                  <a:spcPct val="90000"/>
                </a:lnSpc>
                <a:spcBef>
                  <a:spcPts val="0"/>
                </a:spcBef>
                <a:buNone/>
              </a:pPr>
              <a:r>
                <a:rPr lang="en-US" sz="1600" b="0" dirty="0"/>
                <a:t>Incorrect program states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505200" y="4576698"/>
              <a:ext cx="1295400" cy="795401"/>
            </a:xfrm>
            <a:prstGeom prst="ellipse">
              <a:avLst/>
            </a:prstGeom>
            <a:noFill/>
            <a:ln w="381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60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319016" y="2627219"/>
            <a:ext cx="1883663" cy="1165274"/>
            <a:chOff x="3631903" y="4576698"/>
            <a:chExt cx="1168696" cy="746884"/>
          </a:xfrm>
        </p:grpSpPr>
        <p:sp>
          <p:nvSpPr>
            <p:cNvPr id="18" name="Oval 17"/>
            <p:cNvSpPr/>
            <p:nvPr/>
          </p:nvSpPr>
          <p:spPr>
            <a:xfrm>
              <a:off x="3631903" y="4576698"/>
              <a:ext cx="1168696" cy="746884"/>
            </a:xfrm>
            <a:prstGeom prst="ellipse">
              <a:avLst/>
            </a:prstGeom>
            <a:solidFill>
              <a:srgbClr val="C00000"/>
            </a:solidFill>
            <a:ln w="381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600"/>
            </a:p>
          </p:txBody>
        </p:sp>
        <p:sp>
          <p:nvSpPr>
            <p:cNvPr id="17" name="Content Placeholder 2"/>
            <p:cNvSpPr txBox="1">
              <a:spLocks/>
            </p:cNvSpPr>
            <p:nvPr/>
          </p:nvSpPr>
          <p:spPr>
            <a:xfrm>
              <a:off x="3631904" y="4654998"/>
              <a:ext cx="1036320" cy="64633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182880" indent="-182880" algn="l" defTabSz="914400" rtl="0" eaLnBrk="1" latinLnBrk="0" hangingPunct="1">
                <a:lnSpc>
                  <a:spcPct val="100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defRPr sz="2800" kern="1200" spc="10" baseline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1pPr>
              <a:lvl2pPr marL="45720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4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2pPr>
              <a:lvl3pPr marL="73152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3pPr>
              <a:lvl4pPr marL="100584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4pPr>
              <a:lvl5pPr marL="128016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lnSpc>
                  <a:spcPct val="90000"/>
                </a:lnSpc>
                <a:spcBef>
                  <a:spcPts val="0"/>
                </a:spcBef>
                <a:buNone/>
              </a:pPr>
              <a:r>
                <a:rPr lang="en-US" sz="1600" b="0" dirty="0"/>
                <a:t>Incorrect portion of the final state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570875" y="2063584"/>
            <a:ext cx="2125326" cy="1240970"/>
            <a:chOff x="3505201" y="4576698"/>
            <a:chExt cx="1204352" cy="795401"/>
          </a:xfrm>
        </p:grpSpPr>
        <p:sp>
          <p:nvSpPr>
            <p:cNvPr id="21" name="Oval 20"/>
            <p:cNvSpPr/>
            <p:nvPr/>
          </p:nvSpPr>
          <p:spPr>
            <a:xfrm>
              <a:off x="3505201" y="4576698"/>
              <a:ext cx="1204352" cy="795401"/>
            </a:xfrm>
            <a:prstGeom prst="ellipse">
              <a:avLst/>
            </a:prstGeom>
            <a:solidFill>
              <a:srgbClr val="000099">
                <a:alpha val="57000"/>
              </a:srgbClr>
            </a:solidFill>
            <a:ln w="381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600"/>
            </a:p>
          </p:txBody>
        </p:sp>
        <p:sp>
          <p:nvSpPr>
            <p:cNvPr id="20" name="Content Placeholder 2"/>
            <p:cNvSpPr txBox="1">
              <a:spLocks/>
            </p:cNvSpPr>
            <p:nvPr/>
          </p:nvSpPr>
          <p:spPr>
            <a:xfrm>
              <a:off x="3720361" y="4625538"/>
              <a:ext cx="885560" cy="64633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182880" indent="-182880" algn="l" defTabSz="914400" rtl="0" eaLnBrk="1" latinLnBrk="0" hangingPunct="1">
                <a:lnSpc>
                  <a:spcPct val="100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defRPr sz="2800" kern="1200" spc="10" baseline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1pPr>
              <a:lvl2pPr marL="45720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4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2pPr>
              <a:lvl3pPr marL="73152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3pPr>
              <a:lvl4pPr marL="100584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4pPr>
              <a:lvl5pPr marL="128016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lnSpc>
                  <a:spcPct val="90000"/>
                </a:lnSpc>
                <a:spcBef>
                  <a:spcPts val="0"/>
                </a:spcBef>
                <a:buNone/>
              </a:pPr>
              <a:r>
                <a:rPr lang="en-US" sz="1600" b="0" dirty="0"/>
                <a:t>Observed portion of the program state</a:t>
              </a:r>
            </a:p>
          </p:txBody>
        </p:sp>
      </p:grpSp>
      <p:pic>
        <p:nvPicPr>
          <p:cNvPr id="22" name="Picture 21" descr="mage result for human cartoon imag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425784"/>
            <a:ext cx="2430116" cy="136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/>
          <p:cNvGrpSpPr/>
          <p:nvPr/>
        </p:nvGrpSpPr>
        <p:grpSpPr>
          <a:xfrm>
            <a:off x="3923648" y="1197486"/>
            <a:ext cx="4145266" cy="2999693"/>
            <a:chOff x="3240773" y="4417667"/>
            <a:chExt cx="1528912" cy="938280"/>
          </a:xfrm>
        </p:grpSpPr>
        <p:sp>
          <p:nvSpPr>
            <p:cNvPr id="24" name="Content Placeholder 2"/>
            <p:cNvSpPr txBox="1">
              <a:spLocks/>
            </p:cNvSpPr>
            <p:nvPr/>
          </p:nvSpPr>
          <p:spPr>
            <a:xfrm>
              <a:off x="3240773" y="4417667"/>
              <a:ext cx="890183" cy="20953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182880" indent="-182880" algn="l" defTabSz="914400" rtl="0" eaLnBrk="1" latinLnBrk="0" hangingPunct="1">
                <a:lnSpc>
                  <a:spcPct val="100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defRPr sz="2800" kern="1200" spc="10" baseline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1pPr>
              <a:lvl2pPr marL="45720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4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2pPr>
              <a:lvl3pPr marL="73152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3pPr>
              <a:lvl4pPr marL="100584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4pPr>
              <a:lvl5pPr marL="128016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lnSpc>
                  <a:spcPct val="90000"/>
                </a:lnSpc>
                <a:spcBef>
                  <a:spcPts val="0"/>
                </a:spcBef>
                <a:buNone/>
              </a:pPr>
              <a:r>
                <a:rPr lang="en-US" sz="1600" b="0" dirty="0"/>
                <a:t>Final program state and outputs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3255066" y="4599064"/>
              <a:ext cx="1514619" cy="756883"/>
            </a:xfrm>
            <a:prstGeom prst="ellipse">
              <a:avLst/>
            </a:prstGeom>
            <a:noFill/>
            <a:ln w="381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600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990600" y="1911183"/>
            <a:ext cx="1219406" cy="609600"/>
            <a:chOff x="1066800" y="1752599"/>
            <a:chExt cx="1219406" cy="609600"/>
          </a:xfrm>
        </p:grpSpPr>
        <p:cxnSp>
          <p:nvCxnSpPr>
            <p:cNvPr id="27" name="Straight Arrow Connector 26"/>
            <p:cNvCxnSpPr/>
            <p:nvPr/>
          </p:nvCxnSpPr>
          <p:spPr>
            <a:xfrm flipH="1">
              <a:off x="2284682" y="1752599"/>
              <a:ext cx="1524" cy="609600"/>
            </a:xfrm>
            <a:prstGeom prst="straightConnector1">
              <a:avLst/>
            </a:prstGeom>
            <a:ln w="38100">
              <a:solidFill>
                <a:srgbClr val="FFFF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Content Placeholder 2"/>
            <p:cNvSpPr txBox="1">
              <a:spLocks/>
            </p:cNvSpPr>
            <p:nvPr/>
          </p:nvSpPr>
          <p:spPr>
            <a:xfrm>
              <a:off x="1066800" y="1801911"/>
              <a:ext cx="1163030" cy="4078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182880" indent="-182880" algn="l" defTabSz="914400" rtl="0" eaLnBrk="1" latinLnBrk="0" hangingPunct="1">
                <a:lnSpc>
                  <a:spcPct val="100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defRPr sz="2800" kern="1200" spc="10" baseline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1pPr>
              <a:lvl2pPr marL="45720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4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2pPr>
              <a:lvl3pPr marL="73152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3pPr>
              <a:lvl4pPr marL="100584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4pPr>
              <a:lvl5pPr marL="128016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fontAlgn="auto">
                <a:lnSpc>
                  <a:spcPct val="90000"/>
                </a:lnSpc>
                <a:spcBef>
                  <a:spcPts val="0"/>
                </a:spcBef>
                <a:buNone/>
              </a:pPr>
              <a:r>
                <a:rPr lang="en-US" sz="1600" b="0" dirty="0">
                  <a:solidFill>
                    <a:srgbClr val="FFFF00"/>
                  </a:solidFill>
                </a:rPr>
                <a:t>Reaches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990600" y="3316184"/>
            <a:ext cx="1225502" cy="576199"/>
            <a:chOff x="1066800" y="3157600"/>
            <a:chExt cx="1225502" cy="576199"/>
          </a:xfrm>
        </p:grpSpPr>
        <p:cxnSp>
          <p:nvCxnSpPr>
            <p:cNvPr id="32" name="Straight Arrow Connector 31"/>
            <p:cNvCxnSpPr/>
            <p:nvPr/>
          </p:nvCxnSpPr>
          <p:spPr>
            <a:xfrm>
              <a:off x="2284682" y="3157600"/>
              <a:ext cx="7620" cy="576199"/>
            </a:xfrm>
            <a:prstGeom prst="straightConnector1">
              <a:avLst/>
            </a:prstGeom>
            <a:ln w="38100">
              <a:solidFill>
                <a:srgbClr val="FFFF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ontent Placeholder 2"/>
            <p:cNvSpPr txBox="1">
              <a:spLocks/>
            </p:cNvSpPr>
            <p:nvPr/>
          </p:nvSpPr>
          <p:spPr>
            <a:xfrm>
              <a:off x="1066800" y="3222497"/>
              <a:ext cx="1163030" cy="4078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182880" indent="-182880" algn="l" defTabSz="914400" rtl="0" eaLnBrk="1" latinLnBrk="0" hangingPunct="1">
                <a:lnSpc>
                  <a:spcPct val="100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defRPr sz="2800" kern="1200" spc="10" baseline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1pPr>
              <a:lvl2pPr marL="45720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4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2pPr>
              <a:lvl3pPr marL="73152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3pPr>
              <a:lvl4pPr marL="100584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4pPr>
              <a:lvl5pPr marL="128016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fontAlgn="auto">
                <a:lnSpc>
                  <a:spcPct val="90000"/>
                </a:lnSpc>
                <a:spcBef>
                  <a:spcPts val="0"/>
                </a:spcBef>
                <a:buNone/>
              </a:pPr>
              <a:r>
                <a:rPr lang="en-US" sz="1600" b="0" dirty="0">
                  <a:solidFill>
                    <a:srgbClr val="FFFF00"/>
                  </a:solidFill>
                </a:rPr>
                <a:t>Infects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3054302" y="3621843"/>
            <a:ext cx="1548473" cy="799369"/>
            <a:chOff x="3130502" y="3463259"/>
            <a:chExt cx="1548473" cy="799369"/>
          </a:xfrm>
        </p:grpSpPr>
        <p:cxnSp>
          <p:nvCxnSpPr>
            <p:cNvPr id="36" name="Straight Arrow Connector 35"/>
            <p:cNvCxnSpPr/>
            <p:nvPr/>
          </p:nvCxnSpPr>
          <p:spPr>
            <a:xfrm flipV="1">
              <a:off x="3130502" y="3463259"/>
              <a:ext cx="1526842" cy="799369"/>
            </a:xfrm>
            <a:prstGeom prst="straightConnector1">
              <a:avLst/>
            </a:prstGeom>
            <a:ln w="38100">
              <a:solidFill>
                <a:srgbClr val="FFFF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Content Placeholder 2"/>
            <p:cNvSpPr txBox="1">
              <a:spLocks/>
            </p:cNvSpPr>
            <p:nvPr/>
          </p:nvSpPr>
          <p:spPr>
            <a:xfrm rot="19952759">
              <a:off x="3208544" y="3837771"/>
              <a:ext cx="1470431" cy="4078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182880" indent="-182880" algn="l" defTabSz="914400" rtl="0" eaLnBrk="1" latinLnBrk="0" hangingPunct="1">
                <a:lnSpc>
                  <a:spcPct val="100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defRPr sz="2800" kern="1200" spc="10" baseline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1pPr>
              <a:lvl2pPr marL="45720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4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2pPr>
              <a:lvl3pPr marL="73152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3pPr>
              <a:lvl4pPr marL="100584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4pPr>
              <a:lvl5pPr marL="128016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fontAlgn="auto">
                <a:lnSpc>
                  <a:spcPct val="90000"/>
                </a:lnSpc>
                <a:spcBef>
                  <a:spcPts val="0"/>
                </a:spcBef>
                <a:buNone/>
              </a:pPr>
              <a:r>
                <a:rPr lang="en-US" sz="1600" b="0">
                  <a:solidFill>
                    <a:srgbClr val="FFFF00"/>
                  </a:solidFill>
                </a:rPr>
                <a:t>Propagates</a:t>
              </a:r>
              <a:endParaRPr lang="en-US" sz="1600" b="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181600" y="2987297"/>
            <a:ext cx="1269709" cy="1743287"/>
            <a:chOff x="5257800" y="2828713"/>
            <a:chExt cx="1269709" cy="1743287"/>
          </a:xfrm>
        </p:grpSpPr>
        <p:cxnSp>
          <p:nvCxnSpPr>
            <p:cNvPr id="44" name="Straight Arrow Connector 43"/>
            <p:cNvCxnSpPr/>
            <p:nvPr/>
          </p:nvCxnSpPr>
          <p:spPr>
            <a:xfrm flipH="1" flipV="1">
              <a:off x="6091857" y="2828713"/>
              <a:ext cx="435652" cy="1722882"/>
            </a:xfrm>
            <a:prstGeom prst="straightConnector1">
              <a:avLst/>
            </a:prstGeom>
            <a:ln w="38100">
              <a:solidFill>
                <a:srgbClr val="FFFF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Content Placeholder 2"/>
            <p:cNvSpPr txBox="1">
              <a:spLocks/>
            </p:cNvSpPr>
            <p:nvPr/>
          </p:nvSpPr>
          <p:spPr>
            <a:xfrm>
              <a:off x="5257800" y="4164112"/>
              <a:ext cx="1163030" cy="4078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182880" indent="-182880" algn="l" defTabSz="914400" rtl="0" eaLnBrk="1" latinLnBrk="0" hangingPunct="1">
                <a:lnSpc>
                  <a:spcPct val="100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defRPr sz="2800" kern="1200" spc="10" baseline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1pPr>
              <a:lvl2pPr marL="45720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4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2pPr>
              <a:lvl3pPr marL="73152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3pPr>
              <a:lvl4pPr marL="100584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4pPr>
              <a:lvl5pPr marL="128016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fontAlgn="auto">
                <a:lnSpc>
                  <a:spcPct val="90000"/>
                </a:lnSpc>
                <a:spcBef>
                  <a:spcPts val="0"/>
                </a:spcBef>
                <a:buNone/>
              </a:pPr>
              <a:r>
                <a:rPr lang="en-US" sz="1600" b="0" dirty="0">
                  <a:solidFill>
                    <a:srgbClr val="FFFF00"/>
                  </a:solidFill>
                </a:rPr>
                <a:t>Reveals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6387303" y="2618755"/>
            <a:ext cx="1884299" cy="2133595"/>
            <a:chOff x="6463503" y="2460171"/>
            <a:chExt cx="1884299" cy="2133595"/>
          </a:xfrm>
        </p:grpSpPr>
        <p:grpSp>
          <p:nvGrpSpPr>
            <p:cNvPr id="55" name="Group 54"/>
            <p:cNvGrpSpPr/>
            <p:nvPr/>
          </p:nvGrpSpPr>
          <p:grpSpPr>
            <a:xfrm>
              <a:off x="6463503" y="2460171"/>
              <a:ext cx="1561674" cy="1003088"/>
              <a:chOff x="3505201" y="4576698"/>
              <a:chExt cx="1204352" cy="795401"/>
            </a:xfrm>
          </p:grpSpPr>
          <p:sp>
            <p:nvSpPr>
              <p:cNvPr id="56" name="Oval 55"/>
              <p:cNvSpPr/>
              <p:nvPr/>
            </p:nvSpPr>
            <p:spPr>
              <a:xfrm>
                <a:off x="3505201" y="4576698"/>
                <a:ext cx="1204352" cy="795401"/>
              </a:xfrm>
              <a:prstGeom prst="ellipse">
                <a:avLst/>
              </a:prstGeom>
              <a:solidFill>
                <a:srgbClr val="000099">
                  <a:alpha val="57000"/>
                </a:srgbClr>
              </a:solidFill>
              <a:ln w="381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sz="1600"/>
              </a:p>
            </p:txBody>
          </p:sp>
          <p:sp>
            <p:nvSpPr>
              <p:cNvPr id="57" name="Content Placeholder 2"/>
              <p:cNvSpPr txBox="1">
                <a:spLocks/>
              </p:cNvSpPr>
              <p:nvPr/>
            </p:nvSpPr>
            <p:spPr>
              <a:xfrm>
                <a:off x="3529714" y="4680281"/>
                <a:ext cx="1161194" cy="64633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100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bg1"/>
                  </a:buClr>
                  <a:buSzPct val="80000"/>
                  <a:buFont typeface="Arial" pitchFamily="34" charset="0"/>
                  <a:buChar char="•"/>
                  <a:defRPr sz="2800" kern="1200" spc="10" baseline="0">
                    <a:solidFill>
                      <a:schemeClr val="bg1"/>
                    </a:solidFill>
                    <a:latin typeface="Verdana" charset="0"/>
                    <a:ea typeface="Verdana" charset="0"/>
                    <a:cs typeface="Verdana" charset="0"/>
                  </a:defRPr>
                </a:lvl1pPr>
                <a:lvl2pPr marL="457200" indent="-18288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bg1"/>
                  </a:buClr>
                  <a:buFont typeface="Wingdings 2" pitchFamily="18" charset="2"/>
                  <a:buChar char=""/>
                  <a:defRPr sz="2400" kern="1200">
                    <a:solidFill>
                      <a:schemeClr val="bg1"/>
                    </a:solidFill>
                    <a:latin typeface="Verdana" charset="0"/>
                    <a:ea typeface="Verdana" charset="0"/>
                    <a:cs typeface="Verdana" charset="0"/>
                  </a:defRPr>
                </a:lvl2pPr>
                <a:lvl3pPr marL="731520" indent="-18288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bg1"/>
                  </a:buClr>
                  <a:buFont typeface="Wingdings 2" pitchFamily="18" charset="2"/>
                  <a:buChar char=""/>
                  <a:defRPr sz="2000" kern="1200">
                    <a:solidFill>
                      <a:schemeClr val="bg1"/>
                    </a:solidFill>
                    <a:latin typeface="Verdana" charset="0"/>
                    <a:ea typeface="Verdana" charset="0"/>
                    <a:cs typeface="Verdana" charset="0"/>
                  </a:defRPr>
                </a:lvl3pPr>
                <a:lvl4pPr marL="1005840" indent="-18288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bg1"/>
                  </a:buClr>
                  <a:buFont typeface="Wingdings 2" pitchFamily="18" charset="2"/>
                  <a:buChar char=""/>
                  <a:defRPr sz="2000" kern="1200">
                    <a:solidFill>
                      <a:schemeClr val="bg1"/>
                    </a:solidFill>
                    <a:latin typeface="Verdana" charset="0"/>
                    <a:ea typeface="Verdana" charset="0"/>
                    <a:cs typeface="Verdana" charset="0"/>
                  </a:defRPr>
                </a:lvl4pPr>
                <a:lvl5pPr marL="1280160" indent="-18288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bg1"/>
                  </a:buClr>
                  <a:buFont typeface="Wingdings 2" pitchFamily="18" charset="2"/>
                  <a:buChar char=""/>
                  <a:defRPr sz="2000" kern="1200">
                    <a:solidFill>
                      <a:schemeClr val="bg1"/>
                    </a:solidFill>
                    <a:latin typeface="Verdana" charset="0"/>
                    <a:ea typeface="Verdana" charset="0"/>
                    <a:cs typeface="Verdana" charset="0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fontAlgn="auto">
                  <a:lnSpc>
                    <a:spcPct val="90000"/>
                  </a:lnSpc>
                  <a:spcBef>
                    <a:spcPts val="0"/>
                  </a:spcBef>
                  <a:buNone/>
                </a:pPr>
                <a:r>
                  <a:rPr lang="en-US" sz="1600" b="0" dirty="0"/>
                  <a:t>Observed portion of the program state</a:t>
                </a: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7184772" y="3463259"/>
              <a:ext cx="1163030" cy="1130507"/>
              <a:chOff x="5198140" y="2747208"/>
              <a:chExt cx="1163030" cy="1130507"/>
            </a:xfrm>
          </p:grpSpPr>
          <p:cxnSp>
            <p:nvCxnSpPr>
              <p:cNvPr id="59" name="Straight Arrow Connector 58"/>
              <p:cNvCxnSpPr>
                <a:stCxn id="56" idx="4"/>
              </p:cNvCxnSpPr>
              <p:nvPr/>
            </p:nvCxnSpPr>
            <p:spPr>
              <a:xfrm flipH="1">
                <a:off x="5198140" y="2747208"/>
                <a:ext cx="59568" cy="1130507"/>
              </a:xfrm>
              <a:prstGeom prst="straightConnector1">
                <a:avLst/>
              </a:prstGeom>
              <a:ln w="38100">
                <a:solidFill>
                  <a:srgbClr val="FFFF0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Content Placeholder 2"/>
              <p:cNvSpPr txBox="1">
                <a:spLocks/>
              </p:cNvSpPr>
              <p:nvPr/>
            </p:nvSpPr>
            <p:spPr>
              <a:xfrm>
                <a:off x="5198140" y="3434081"/>
                <a:ext cx="1163030" cy="40788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100000"/>
                  </a:lnSpc>
                  <a:spcBef>
                    <a:spcPts val="1400"/>
                  </a:spcBef>
                  <a:spcAft>
                    <a:spcPts val="200"/>
                  </a:spcAft>
                  <a:buClr>
                    <a:schemeClr val="bg1"/>
                  </a:buClr>
                  <a:buSzPct val="80000"/>
                  <a:buFont typeface="Arial" pitchFamily="34" charset="0"/>
                  <a:buChar char="•"/>
                  <a:defRPr sz="2800" kern="1200" spc="10" baseline="0">
                    <a:solidFill>
                      <a:schemeClr val="bg1"/>
                    </a:solidFill>
                    <a:latin typeface="Verdana" charset="0"/>
                    <a:ea typeface="Verdana" charset="0"/>
                    <a:cs typeface="Verdana" charset="0"/>
                  </a:defRPr>
                </a:lvl1pPr>
                <a:lvl2pPr marL="457200" indent="-18288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bg1"/>
                  </a:buClr>
                  <a:buFont typeface="Wingdings 2" pitchFamily="18" charset="2"/>
                  <a:buChar char=""/>
                  <a:defRPr sz="2400" kern="1200">
                    <a:solidFill>
                      <a:schemeClr val="bg1"/>
                    </a:solidFill>
                    <a:latin typeface="Verdana" charset="0"/>
                    <a:ea typeface="Verdana" charset="0"/>
                    <a:cs typeface="Verdana" charset="0"/>
                  </a:defRPr>
                </a:lvl2pPr>
                <a:lvl3pPr marL="731520" indent="-18288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bg1"/>
                  </a:buClr>
                  <a:buFont typeface="Wingdings 2" pitchFamily="18" charset="2"/>
                  <a:buChar char=""/>
                  <a:defRPr sz="2000" kern="1200">
                    <a:solidFill>
                      <a:schemeClr val="bg1"/>
                    </a:solidFill>
                    <a:latin typeface="Verdana" charset="0"/>
                    <a:ea typeface="Verdana" charset="0"/>
                    <a:cs typeface="Verdana" charset="0"/>
                  </a:defRPr>
                </a:lvl3pPr>
                <a:lvl4pPr marL="1005840" indent="-18288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bg1"/>
                  </a:buClr>
                  <a:buFont typeface="Wingdings 2" pitchFamily="18" charset="2"/>
                  <a:buChar char=""/>
                  <a:defRPr sz="2000" kern="1200">
                    <a:solidFill>
                      <a:schemeClr val="bg1"/>
                    </a:solidFill>
                    <a:latin typeface="Verdana" charset="0"/>
                    <a:ea typeface="Verdana" charset="0"/>
                    <a:cs typeface="Verdana" charset="0"/>
                  </a:defRPr>
                </a:lvl4pPr>
                <a:lvl5pPr marL="1280160" indent="-18288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bg1"/>
                  </a:buClr>
                  <a:buFont typeface="Wingdings 2" pitchFamily="18" charset="2"/>
                  <a:buChar char=""/>
                  <a:defRPr sz="2000" kern="1200">
                    <a:solidFill>
                      <a:schemeClr val="bg1"/>
                    </a:solidFill>
                    <a:latin typeface="Verdana" charset="0"/>
                    <a:ea typeface="Verdana" charset="0"/>
                    <a:cs typeface="Verdana" charset="0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Wingdings 2" pitchFamily="18" charset="2"/>
                  <a:buChar char=""/>
                  <a:defRPr sz="14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r" fontAlgn="auto">
                  <a:lnSpc>
                    <a:spcPct val="90000"/>
                  </a:lnSpc>
                  <a:spcBef>
                    <a:spcPts val="0"/>
                  </a:spcBef>
                  <a:buNone/>
                </a:pPr>
                <a:r>
                  <a:rPr lang="en-US" sz="1600" b="0" dirty="0">
                    <a:solidFill>
                      <a:srgbClr val="FFFF00"/>
                    </a:solidFill>
                  </a:rPr>
                  <a:t>Observes</a:t>
                </a:r>
              </a:p>
            </p:txBody>
          </p:sp>
        </p:grpSp>
      </p:grpSp>
      <p:grpSp>
        <p:nvGrpSpPr>
          <p:cNvPr id="66" name="Group 65"/>
          <p:cNvGrpSpPr/>
          <p:nvPr/>
        </p:nvGrpSpPr>
        <p:grpSpPr>
          <a:xfrm>
            <a:off x="6376416" y="3304554"/>
            <a:ext cx="1339814" cy="1219196"/>
            <a:chOff x="4939513" y="2658519"/>
            <a:chExt cx="1339814" cy="1219196"/>
          </a:xfrm>
        </p:grpSpPr>
        <p:cxnSp>
          <p:nvCxnSpPr>
            <p:cNvPr id="67" name="Straight Arrow Connector 66"/>
            <p:cNvCxnSpPr/>
            <p:nvPr/>
          </p:nvCxnSpPr>
          <p:spPr>
            <a:xfrm>
              <a:off x="4939513" y="2658519"/>
              <a:ext cx="258627" cy="1219196"/>
            </a:xfrm>
            <a:prstGeom prst="straightConnector1">
              <a:avLst/>
            </a:prstGeom>
            <a:ln w="38100">
              <a:solidFill>
                <a:srgbClr val="FFFF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Content Placeholder 2"/>
            <p:cNvSpPr txBox="1">
              <a:spLocks/>
            </p:cNvSpPr>
            <p:nvPr/>
          </p:nvSpPr>
          <p:spPr>
            <a:xfrm>
              <a:off x="5116297" y="3434081"/>
              <a:ext cx="1163030" cy="40788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182880" indent="-182880" algn="l" defTabSz="914400" rtl="0" eaLnBrk="1" latinLnBrk="0" hangingPunct="1">
                <a:lnSpc>
                  <a:spcPct val="100000"/>
                </a:lnSpc>
                <a:spcBef>
                  <a:spcPts val="1400"/>
                </a:spcBef>
                <a:spcAft>
                  <a:spcPts val="200"/>
                </a:spcAft>
                <a:buClr>
                  <a:schemeClr val="bg1"/>
                </a:buClr>
                <a:buSzPct val="80000"/>
                <a:buFont typeface="Arial" pitchFamily="34" charset="0"/>
                <a:buChar char="•"/>
                <a:defRPr sz="2800" kern="1200" spc="10" baseline="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1pPr>
              <a:lvl2pPr marL="45720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4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2pPr>
              <a:lvl3pPr marL="73152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3pPr>
              <a:lvl4pPr marL="100584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4pPr>
              <a:lvl5pPr marL="1280160" indent="-18288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Font typeface="Wingdings 2" pitchFamily="18" charset="2"/>
                <a:buChar char=""/>
                <a:defRPr sz="2000" kern="1200">
                  <a:solidFill>
                    <a:schemeClr val="bg1"/>
                  </a:solidFill>
                  <a:latin typeface="Verdana" charset="0"/>
                  <a:ea typeface="Verdana" charset="0"/>
                  <a:cs typeface="Verdana" charset="0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accent1"/>
                </a:buClr>
                <a:buFont typeface="Wingdings 2" pitchFamily="18" charset="2"/>
                <a:buChar char=""/>
                <a:defRPr sz="14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fontAlgn="auto">
                <a:lnSpc>
                  <a:spcPct val="90000"/>
                </a:lnSpc>
                <a:spcBef>
                  <a:spcPts val="0"/>
                </a:spcBef>
                <a:buNone/>
              </a:pPr>
              <a:r>
                <a:rPr lang="en-US" sz="1600" b="0" dirty="0">
                  <a:solidFill>
                    <a:srgbClr val="FFFF00"/>
                  </a:solidFill>
                </a:rPr>
                <a:t>Observes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4418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"/>
            <a:ext cx="9144000" cy="914400"/>
          </a:xfrm>
        </p:spPr>
        <p:txBody>
          <a:bodyPr/>
          <a:lstStyle/>
          <a:p>
            <a:pPr>
              <a:lnSpc>
                <a:spcPct val="72000"/>
              </a:lnSpc>
            </a:pPr>
            <a:r>
              <a:rPr lang="en-US" sz="3800" dirty="0"/>
              <a:t>Example – Applying RIPR</a:t>
            </a:r>
          </a:p>
        </p:txBody>
      </p:sp>
      <p:sp>
        <p:nvSpPr>
          <p:cNvPr id="12" name="Content Placeholder 4"/>
          <p:cNvSpPr txBox="1">
            <a:spLocks/>
          </p:cNvSpPr>
          <p:nvPr/>
        </p:nvSpPr>
        <p:spPr>
          <a:xfrm>
            <a:off x="228600" y="3429000"/>
            <a:ext cx="8763000" cy="274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700"/>
              </a:spcBef>
              <a:buNone/>
            </a:pPr>
            <a:r>
              <a:rPr lang="en-US" sz="2000" b="0" dirty="0"/>
              <a:t>Revisit the example, what characteristics (or constraints) the inputs should have (or satisfy)?</a:t>
            </a:r>
          </a:p>
          <a:p>
            <a:pPr marL="471488" indent="-228600"/>
            <a:r>
              <a:rPr lang="en-US" sz="2000" b="0" dirty="0">
                <a:solidFill>
                  <a:srgbClr val="FFFF00"/>
                </a:solidFill>
              </a:rPr>
              <a:t>Reach</a:t>
            </a:r>
            <a:r>
              <a:rPr lang="en-US" sz="2000" b="0" dirty="0"/>
              <a:t> a fault (i.e., execute the fault)</a:t>
            </a:r>
          </a:p>
          <a:p>
            <a:pPr marL="471488" indent="-228600">
              <a:spcBef>
                <a:spcPts val="1000"/>
              </a:spcBef>
            </a:pPr>
            <a:r>
              <a:rPr lang="en-US" sz="2000" b="0" dirty="0"/>
              <a:t>Cause the program </a:t>
            </a:r>
            <a:r>
              <a:rPr lang="en-US" sz="2000" b="0" dirty="0">
                <a:solidFill>
                  <a:srgbClr val="FFFF00"/>
                </a:solidFill>
              </a:rPr>
              <a:t>state to be incorrect </a:t>
            </a:r>
            <a:r>
              <a:rPr lang="en-US" sz="2000" b="0" dirty="0"/>
              <a:t>(i.e., </a:t>
            </a:r>
            <a:r>
              <a:rPr lang="en-US" sz="2000" b="0" dirty="0">
                <a:solidFill>
                  <a:srgbClr val="FFFFFF"/>
                </a:solidFill>
              </a:rPr>
              <a:t>error</a:t>
            </a:r>
            <a:r>
              <a:rPr lang="en-US" sz="2000" b="0" dirty="0"/>
              <a:t>)</a:t>
            </a:r>
          </a:p>
          <a:p>
            <a:pPr marL="471488" indent="-228600">
              <a:spcBef>
                <a:spcPts val="1000"/>
              </a:spcBef>
            </a:pPr>
            <a:r>
              <a:rPr lang="en-US" sz="2000" b="0" dirty="0"/>
              <a:t>Cause the infected state to be </a:t>
            </a:r>
            <a:r>
              <a:rPr lang="en-US" sz="2000" b="0" dirty="0">
                <a:solidFill>
                  <a:srgbClr val="FFFF00"/>
                </a:solidFill>
              </a:rPr>
              <a:t>propagated</a:t>
            </a:r>
            <a:r>
              <a:rPr lang="en-US" sz="2000" b="0" dirty="0"/>
              <a:t> (i.e., failure)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228600" y="990600"/>
            <a:ext cx="8686800" cy="2336024"/>
            <a:chOff x="228600" y="990600"/>
            <a:chExt cx="8686800" cy="2336024"/>
          </a:xfrm>
        </p:grpSpPr>
        <p:sp>
          <p:nvSpPr>
            <p:cNvPr id="24" name="TextBox 23"/>
            <p:cNvSpPr txBox="1">
              <a:spLocks noChangeArrowheads="1"/>
            </p:cNvSpPr>
            <p:nvPr/>
          </p:nvSpPr>
          <p:spPr bwMode="auto">
            <a:xfrm>
              <a:off x="228600" y="990600"/>
              <a:ext cx="8686800" cy="2336024"/>
            </a:xfrm>
            <a:prstGeom prst="rect">
              <a:avLst/>
            </a:prstGeom>
            <a:solidFill>
              <a:schemeClr val="bg1"/>
            </a:solidFill>
            <a:ln w="381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public static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int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numZero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(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int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[]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arr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)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{ </a:t>
              </a:r>
              <a:r>
                <a:rPr lang="en-US" sz="1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sz="1800" b="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// If </a:t>
              </a:r>
              <a:r>
                <a:rPr lang="en-US" sz="1800" b="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arr</a:t>
              </a:r>
              <a:r>
                <a:rPr lang="en-US" sz="1800" b="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 is null throw </a:t>
              </a:r>
              <a:r>
                <a:rPr lang="en-US" sz="1800" b="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NullPointerException</a:t>
              </a:r>
              <a:endPara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endParaRPr>
            </a:p>
            <a:p>
              <a:pPr marL="355600">
                <a:lnSpc>
                  <a:spcPct val="90000"/>
                </a:lnSpc>
              </a:pPr>
              <a:r>
                <a:rPr lang="en-US" sz="1800" b="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   // else return the number of occurrences of 0 in </a:t>
              </a:r>
              <a:r>
                <a:rPr lang="en-US" sz="1800" b="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arr</a:t>
              </a:r>
              <a:endPara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endParaRP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int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count = 0;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for (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int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= 1;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&lt;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arr.length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;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++)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   if (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arr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[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] == 0)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      count++;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return count;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}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28600" y="1703457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L1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28600" y="1975104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L2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28600" y="2231136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L3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28600" y="2468880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L4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28600" y="2706624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L5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533400" y="5791200"/>
            <a:ext cx="8077200" cy="457200"/>
          </a:xfrm>
          <a:prstGeom prst="rect">
            <a:avLst/>
          </a:prstGeom>
          <a:solidFill>
            <a:srgbClr val="000099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noAutofit/>
          </a:bodyPr>
          <a:lstStyle/>
          <a:p>
            <a:pPr marL="15875" lvl="1" algn="ctr">
              <a:spcBef>
                <a:spcPts val="1200"/>
              </a:spcBef>
            </a:pPr>
            <a:r>
              <a:rPr lang="en-US" sz="2000" b="0" dirty="0">
                <a:solidFill>
                  <a:srgbClr val="FFFFFF"/>
                </a:solidFill>
                <a:latin typeface="Verdana" charset="0"/>
                <a:ea typeface="Verdana" charset="0"/>
                <a:cs typeface="Verdana" charset="0"/>
              </a:rPr>
              <a:t>Did you consider “happy paths” or “non happy paths” ?</a:t>
            </a:r>
          </a:p>
        </p:txBody>
      </p:sp>
      <p:sp>
        <p:nvSpPr>
          <p:cNvPr id="13" name="Oval 12"/>
          <p:cNvSpPr/>
          <p:nvPr/>
        </p:nvSpPr>
        <p:spPr>
          <a:xfrm>
            <a:off x="4191000" y="990600"/>
            <a:ext cx="1752600" cy="381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42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"/>
            <a:ext cx="9144000" cy="914400"/>
          </a:xfrm>
        </p:spPr>
        <p:txBody>
          <a:bodyPr/>
          <a:lstStyle/>
          <a:p>
            <a:pPr>
              <a:lnSpc>
                <a:spcPct val="72000"/>
              </a:lnSpc>
            </a:pPr>
            <a:r>
              <a:rPr lang="en-US" sz="3600" dirty="0"/>
              <a:t>Example </a:t>
            </a:r>
            <a:r>
              <a:rPr lang="en-US" sz="3600"/>
              <a:t>– RIPR (Error</a:t>
            </a:r>
            <a:r>
              <a:rPr lang="en-US" sz="3600" dirty="0"/>
              <a:t>, No Failure)</a:t>
            </a:r>
          </a:p>
        </p:txBody>
      </p:sp>
      <p:sp>
        <p:nvSpPr>
          <p:cNvPr id="12" name="Content Placeholder 4"/>
          <p:cNvSpPr txBox="1">
            <a:spLocks/>
          </p:cNvSpPr>
          <p:nvPr/>
        </p:nvSpPr>
        <p:spPr>
          <a:xfrm>
            <a:off x="228600" y="3429000"/>
            <a:ext cx="8763000" cy="2438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700"/>
              </a:spcBef>
              <a:buNone/>
            </a:pPr>
            <a:r>
              <a:rPr lang="en-US" sz="2000" b="0" dirty="0"/>
              <a:t>Revisit the example, apply RIPR to design tests that</a:t>
            </a:r>
          </a:p>
          <a:p>
            <a:pPr marL="471488" indent="-228600"/>
            <a:r>
              <a:rPr lang="en-US" sz="2000" b="0" dirty="0">
                <a:solidFill>
                  <a:srgbClr val="FFFF00"/>
                </a:solidFill>
              </a:rPr>
              <a:t>Reach</a:t>
            </a:r>
            <a:r>
              <a:rPr lang="en-US" sz="2000" b="0" dirty="0"/>
              <a:t> a fault (i.e., execute the fault)</a:t>
            </a:r>
          </a:p>
          <a:p>
            <a:pPr marL="471488" indent="-228600"/>
            <a:r>
              <a:rPr lang="en-US" sz="2000" b="0" dirty="0"/>
              <a:t>Cause the program </a:t>
            </a:r>
            <a:r>
              <a:rPr lang="en-US" sz="2000" b="0" dirty="0">
                <a:solidFill>
                  <a:srgbClr val="FFFF00"/>
                </a:solidFill>
              </a:rPr>
              <a:t>state to be incorrect </a:t>
            </a:r>
            <a:r>
              <a:rPr lang="en-US" sz="2000" b="0" dirty="0"/>
              <a:t>(i.e., </a:t>
            </a:r>
            <a:r>
              <a:rPr lang="en-US" sz="2000" b="0" dirty="0">
                <a:solidFill>
                  <a:srgbClr val="FFFFFF"/>
                </a:solidFill>
              </a:rPr>
              <a:t>error</a:t>
            </a:r>
            <a:r>
              <a:rPr lang="en-US" sz="2000" b="0" dirty="0"/>
              <a:t>)</a:t>
            </a:r>
          </a:p>
          <a:p>
            <a:pPr marL="471488" indent="-228600"/>
            <a:r>
              <a:rPr lang="en-US" sz="2000" b="0" dirty="0"/>
              <a:t>Does </a:t>
            </a:r>
            <a:r>
              <a:rPr lang="en-US" sz="2000" b="0" dirty="0">
                <a:solidFill>
                  <a:srgbClr val="FFFF00"/>
                </a:solidFill>
              </a:rPr>
              <a:t>not propagate </a:t>
            </a:r>
            <a:r>
              <a:rPr lang="en-US" sz="2000" b="0" dirty="0"/>
              <a:t>(i.e., no failure)</a:t>
            </a:r>
          </a:p>
          <a:p>
            <a:pPr marL="862013" lvl="1" indent="-211138">
              <a:spcBef>
                <a:spcPts val="700"/>
              </a:spcBef>
            </a:pPr>
            <a:r>
              <a:rPr lang="en-US" sz="1800" b="0" dirty="0"/>
              <a:t>One possible test is [4, 6, 0] – now, design some more</a:t>
            </a:r>
          </a:p>
          <a:p>
            <a:pPr marL="471488" indent="-228600"/>
            <a:r>
              <a:rPr lang="en-US" sz="2000" b="0" dirty="0"/>
              <a:t>How does RIPR model help designing tests?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228600" y="990600"/>
            <a:ext cx="8686800" cy="2336024"/>
            <a:chOff x="228600" y="990600"/>
            <a:chExt cx="8686800" cy="2336024"/>
          </a:xfrm>
        </p:grpSpPr>
        <p:sp>
          <p:nvSpPr>
            <p:cNvPr id="24" name="TextBox 23"/>
            <p:cNvSpPr txBox="1">
              <a:spLocks noChangeArrowheads="1"/>
            </p:cNvSpPr>
            <p:nvPr/>
          </p:nvSpPr>
          <p:spPr bwMode="auto">
            <a:xfrm>
              <a:off x="228600" y="990600"/>
              <a:ext cx="8686800" cy="2336024"/>
            </a:xfrm>
            <a:prstGeom prst="rect">
              <a:avLst/>
            </a:prstGeom>
            <a:solidFill>
              <a:schemeClr val="bg1"/>
            </a:solidFill>
            <a:ln w="381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public static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int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numZero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(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int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[]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arr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)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{ </a:t>
              </a:r>
              <a:r>
                <a:rPr lang="en-US" sz="1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sz="1800" b="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// If </a:t>
              </a:r>
              <a:r>
                <a:rPr lang="en-US" sz="1800" b="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arr</a:t>
              </a:r>
              <a:r>
                <a:rPr lang="en-US" sz="1800" b="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 is null throw </a:t>
              </a:r>
              <a:r>
                <a:rPr lang="en-US" sz="1800" b="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NullPointerException</a:t>
              </a:r>
              <a:endPara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endParaRPr>
            </a:p>
            <a:p>
              <a:pPr marL="355600">
                <a:lnSpc>
                  <a:spcPct val="90000"/>
                </a:lnSpc>
              </a:pPr>
              <a:r>
                <a:rPr lang="en-US" sz="1800" b="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   // else return the number of occurrences of 0 in </a:t>
              </a:r>
              <a:r>
                <a:rPr lang="en-US" sz="1800" b="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arr</a:t>
              </a:r>
              <a:endPara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endParaRP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int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count = 0;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for (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int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= 1;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&lt;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arr.length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;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++)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   if (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arr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[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] == 0)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      count++;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return count;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}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28600" y="1703457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L1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28600" y="1975104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L2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28600" y="2231136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L3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28600" y="2468880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L4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28600" y="2706624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L5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9145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76"/>
            <a:ext cx="9144000" cy="914400"/>
          </a:xfrm>
        </p:spPr>
        <p:txBody>
          <a:bodyPr/>
          <a:lstStyle/>
          <a:p>
            <a:pPr>
              <a:lnSpc>
                <a:spcPct val="72000"/>
              </a:lnSpc>
            </a:pPr>
            <a:r>
              <a:rPr lang="en-US" sz="3800" dirty="0"/>
              <a:t>Example – RIPR (Error, Failure)</a:t>
            </a:r>
          </a:p>
        </p:txBody>
      </p:sp>
      <p:sp>
        <p:nvSpPr>
          <p:cNvPr id="12" name="Content Placeholder 4"/>
          <p:cNvSpPr txBox="1">
            <a:spLocks/>
          </p:cNvSpPr>
          <p:nvPr/>
        </p:nvSpPr>
        <p:spPr>
          <a:xfrm>
            <a:off x="228600" y="3429000"/>
            <a:ext cx="8763000" cy="2438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ts val="200"/>
              </a:spcAft>
              <a:buClr>
                <a:schemeClr val="bg1"/>
              </a:buClr>
              <a:buSzPct val="80000"/>
              <a:buFont typeface="Arial" pitchFamily="34" charset="0"/>
              <a:buChar char="•"/>
              <a:defRPr sz="2800" kern="1200" spc="10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4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Wingdings 2" pitchFamily="18" charset="2"/>
              <a:buChar char=""/>
              <a:defRPr sz="2000" kern="120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700"/>
              </a:spcBef>
              <a:buNone/>
            </a:pPr>
            <a:r>
              <a:rPr lang="en-US" sz="2000" b="0" dirty="0"/>
              <a:t>Revisit the example, apply RIPR to design tests that</a:t>
            </a:r>
          </a:p>
          <a:p>
            <a:pPr marL="471488" indent="-228600"/>
            <a:r>
              <a:rPr lang="en-US" sz="2000" b="0" dirty="0">
                <a:solidFill>
                  <a:srgbClr val="FFFF00"/>
                </a:solidFill>
              </a:rPr>
              <a:t>Reach</a:t>
            </a:r>
            <a:r>
              <a:rPr lang="en-US" sz="2000" b="0" dirty="0"/>
              <a:t> a fault (i.e., execute the fault)</a:t>
            </a:r>
          </a:p>
          <a:p>
            <a:pPr marL="471488" indent="-228600"/>
            <a:r>
              <a:rPr lang="en-US" sz="2000" b="0" dirty="0"/>
              <a:t>Cause the program </a:t>
            </a:r>
            <a:r>
              <a:rPr lang="en-US" sz="2000" b="0" dirty="0">
                <a:solidFill>
                  <a:srgbClr val="FFFF00"/>
                </a:solidFill>
              </a:rPr>
              <a:t>state to be incorrect </a:t>
            </a:r>
            <a:r>
              <a:rPr lang="en-US" sz="2000" b="0" dirty="0"/>
              <a:t>(i.e., error)</a:t>
            </a:r>
          </a:p>
          <a:p>
            <a:pPr marL="471488" indent="-228600"/>
            <a:r>
              <a:rPr lang="en-US" sz="2000" b="0" dirty="0">
                <a:solidFill>
                  <a:srgbClr val="FFFF00"/>
                </a:solidFill>
              </a:rPr>
              <a:t>Propagate</a:t>
            </a:r>
            <a:r>
              <a:rPr lang="en-US" sz="2000" b="0" dirty="0"/>
              <a:t> (i.e., failure)</a:t>
            </a:r>
          </a:p>
          <a:p>
            <a:pPr marL="862013" lvl="1" indent="-211138">
              <a:spcBef>
                <a:spcPts val="700"/>
              </a:spcBef>
            </a:pPr>
            <a:r>
              <a:rPr lang="en-US" sz="1800" b="0" dirty="0"/>
              <a:t>One possible test is [0, 4, 6] – now, design some more</a:t>
            </a:r>
          </a:p>
          <a:p>
            <a:pPr marL="471488" indent="-228600"/>
            <a:r>
              <a:rPr lang="en-US" sz="2000" b="0" dirty="0"/>
              <a:t>How does RIPR model help designing tests?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228600" y="990600"/>
            <a:ext cx="8686800" cy="2336024"/>
            <a:chOff x="228600" y="990600"/>
            <a:chExt cx="8686800" cy="2336024"/>
          </a:xfrm>
        </p:grpSpPr>
        <p:sp>
          <p:nvSpPr>
            <p:cNvPr id="24" name="TextBox 23"/>
            <p:cNvSpPr txBox="1">
              <a:spLocks noChangeArrowheads="1"/>
            </p:cNvSpPr>
            <p:nvPr/>
          </p:nvSpPr>
          <p:spPr bwMode="auto">
            <a:xfrm>
              <a:off x="228600" y="990600"/>
              <a:ext cx="8686800" cy="2336024"/>
            </a:xfrm>
            <a:prstGeom prst="rect">
              <a:avLst/>
            </a:prstGeom>
            <a:solidFill>
              <a:schemeClr val="bg1"/>
            </a:solidFill>
            <a:ln w="381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public static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int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numZero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(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int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[]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arr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)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{ </a:t>
              </a:r>
              <a:r>
                <a:rPr lang="en-US" sz="1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sz="1800" b="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// If </a:t>
              </a:r>
              <a:r>
                <a:rPr lang="en-US" sz="1800" b="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arr</a:t>
              </a:r>
              <a:r>
                <a:rPr lang="en-US" sz="1800" b="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 is null throw </a:t>
              </a:r>
              <a:r>
                <a:rPr lang="en-US" sz="1800" b="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NullPointerException</a:t>
              </a:r>
              <a:endPara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endParaRPr>
            </a:p>
            <a:p>
              <a:pPr marL="355600">
                <a:lnSpc>
                  <a:spcPct val="90000"/>
                </a:lnSpc>
              </a:pPr>
              <a:r>
                <a:rPr lang="en-US" sz="1800" b="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   // else return the number of occurrences of 0 in </a:t>
              </a:r>
              <a:r>
                <a:rPr lang="en-US" sz="1800" b="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ourier New" charset="0"/>
                  <a:ea typeface="Courier New" charset="0"/>
                  <a:cs typeface="Courier New" charset="0"/>
                </a:rPr>
                <a:t>arr</a:t>
              </a:r>
              <a:endParaRPr lang="en-US" sz="1800" b="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charset="0"/>
                <a:ea typeface="Courier New" charset="0"/>
                <a:cs typeface="Courier New" charset="0"/>
              </a:endParaRP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int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count = 0;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for (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int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= 1;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&lt;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arr.length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; 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++)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   if (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arr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[</a:t>
              </a:r>
              <a:r>
                <a:rPr lang="en-US" sz="1800" dirty="0" err="1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i</a:t>
              </a: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] == 0)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      count++;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   return count;</a:t>
              </a:r>
            </a:p>
            <a:p>
              <a:pPr marL="355600">
                <a:lnSpc>
                  <a:spcPct val="90000"/>
                </a:lnSpc>
              </a:pPr>
              <a:r>
                <a:rPr lang="en-US" sz="1800" dirty="0">
                  <a:solidFill>
                    <a:schemeClr val="tx1"/>
                  </a:solidFill>
                  <a:latin typeface="Courier New" charset="0"/>
                  <a:ea typeface="Courier New" charset="0"/>
                  <a:cs typeface="Courier New" charset="0"/>
                </a:rPr>
                <a:t>}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28600" y="1703457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L1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28600" y="1975104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L2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28600" y="2231136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L3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28600" y="2468880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L4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28600" y="2706624"/>
              <a:ext cx="444352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7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Verdana" charset="0"/>
                  <a:ea typeface="Verdana" charset="0"/>
                  <a:cs typeface="Verdana" charset="0"/>
                </a:rPr>
                <a:t>L5</a:t>
              </a:r>
              <a:endPara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charset="0"/>
                <a:ea typeface="Verdana" charset="0"/>
                <a:cs typeface="Verdana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0982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562600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</a:pPr>
            <a:r>
              <a:rPr lang="en-US" sz="2200" dirty="0"/>
              <a:t>Faults, errors, failures</a:t>
            </a:r>
          </a:p>
          <a:p>
            <a:pPr>
              <a:spcBef>
                <a:spcPts val="1200"/>
              </a:spcBef>
            </a:pPr>
            <a:r>
              <a:rPr lang="en-US" sz="2200" dirty="0"/>
              <a:t>Fault location</a:t>
            </a:r>
          </a:p>
          <a:p>
            <a:pPr>
              <a:spcBef>
                <a:spcPts val="1200"/>
              </a:spcBef>
            </a:pPr>
            <a:r>
              <a:rPr lang="en-US" sz="2200" dirty="0"/>
              <a:t>Infected state</a:t>
            </a:r>
          </a:p>
          <a:p>
            <a:pPr>
              <a:spcBef>
                <a:spcPts val="1200"/>
              </a:spcBef>
            </a:pPr>
            <a:r>
              <a:rPr lang="en-US" sz="2200" dirty="0"/>
              <a:t>RIPR model</a:t>
            </a:r>
          </a:p>
          <a:p>
            <a:pPr>
              <a:spcBef>
                <a:spcPts val="1200"/>
              </a:spcBef>
            </a:pPr>
            <a:r>
              <a:rPr lang="en-US" sz="2200" dirty="0"/>
              <a:t>Observability and </a:t>
            </a:r>
            <a:r>
              <a:rPr lang="en-US" sz="2200" dirty="0" err="1"/>
              <a:t>revealibility</a:t>
            </a:r>
            <a:endParaRPr lang="en-US" sz="2200" dirty="0"/>
          </a:p>
          <a:p>
            <a:pPr>
              <a:spcBef>
                <a:spcPts val="1200"/>
              </a:spcBef>
            </a:pPr>
            <a:endParaRPr lang="en-US" sz="2200" dirty="0"/>
          </a:p>
          <a:p>
            <a:pPr marL="0" indent="0">
              <a:spcBef>
                <a:spcPts val="1200"/>
              </a:spcBef>
              <a:buNone/>
            </a:pPr>
            <a:r>
              <a:rPr lang="en-US" sz="2200" b="1" dirty="0">
                <a:solidFill>
                  <a:srgbClr val="FFFF00"/>
                </a:solidFill>
              </a:rPr>
              <a:t>What’s Next? </a:t>
            </a:r>
          </a:p>
          <a:p>
            <a:pPr marL="471488" indent="-228600">
              <a:spcBef>
                <a:spcPts val="1200"/>
              </a:spcBef>
            </a:pPr>
            <a:r>
              <a:rPr lang="en-US" sz="2000" dirty="0"/>
              <a:t>Model-Driven Test Design (MDTD)</a:t>
            </a:r>
          </a:p>
        </p:txBody>
      </p:sp>
    </p:spTree>
    <p:extLst>
      <p:ext uri="{BB962C8B-B14F-4D97-AF65-F5344CB8AC3E}">
        <p14:creationId xmlns:p14="http://schemas.microsoft.com/office/powerpoint/2010/main" val="1287643614"/>
      </p:ext>
    </p:extLst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urseOverview.pptx" id="{9D25B8C4-ABAA-E743-A409-02AE843250EE}" vid="{C7ABAC5F-4A0E-2945-8E91-432D26F03F04}"/>
    </a:ext>
  </a:extLst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urseOverview.pptx" id="{9D25B8C4-ABAA-E743-A409-02AE843250EE}" vid="{B387DAE7-F204-0A40-B45D-254ADC6404E4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urseOverview.pptx" id="{9D25B8C4-ABAA-E743-A409-02AE843250EE}" vid="{9A2F069E-738A-A64D-AEE1-F63CFCD9A603}"/>
    </a:ext>
  </a:extLst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urseOverview.pptx" id="{9D25B8C4-ABAA-E743-A409-02AE843250EE}" vid="{B885DFEA-43E3-0B48-8D74-E587D3CD9401}"/>
    </a:ext>
  </a:extLst>
</a:theme>
</file>

<file path=ppt/theme/theme5.xml><?xml version="1.0" encoding="utf-8"?>
<a:theme xmlns:a="http://schemas.openxmlformats.org/drawingml/2006/main" name="View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Overview.pptx" id="{9D25B8C4-ABAA-E743-A409-02AE843250EE}" vid="{151CCBC9-1AC2-E444-A635-887FFDF05CC4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swtest-template</Template>
  <TotalTime>18552</TotalTime>
  <Words>1988</Words>
  <Application>Microsoft Macintosh PowerPoint</Application>
  <PresentationFormat>On-screen Show (4:3)</PresentationFormat>
  <Paragraphs>266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18</vt:i4>
      </vt:variant>
    </vt:vector>
  </HeadingPairs>
  <TitlesOfParts>
    <vt:vector size="34" baseType="lpstr">
      <vt:lpstr>Apple Braille</vt:lpstr>
      <vt:lpstr>Arial</vt:lpstr>
      <vt:lpstr>Bookman Old Style</vt:lpstr>
      <vt:lpstr>Calibri</vt:lpstr>
      <vt:lpstr>Century Schoolbook</vt:lpstr>
      <vt:lpstr>Comic Sans MS</vt:lpstr>
      <vt:lpstr>Courier</vt:lpstr>
      <vt:lpstr>Courier New</vt:lpstr>
      <vt:lpstr>Times New Roman</vt:lpstr>
      <vt:lpstr>Verdana</vt:lpstr>
      <vt:lpstr>Wingdings 2</vt:lpstr>
      <vt:lpstr>3_Custom Design</vt:lpstr>
      <vt:lpstr>2_Custom Design</vt:lpstr>
      <vt:lpstr>1_Custom Design</vt:lpstr>
      <vt:lpstr>Custom Design</vt:lpstr>
      <vt:lpstr>View</vt:lpstr>
      <vt:lpstr>Faults, Errors, Failures RIPR Model  CS 3250 Software Testing </vt:lpstr>
      <vt:lpstr>Software Testing</vt:lpstr>
      <vt:lpstr>Today’s Objectives</vt:lpstr>
      <vt:lpstr>Bug?</vt:lpstr>
      <vt:lpstr>Fault, Error, and Failure in Action</vt:lpstr>
      <vt:lpstr>Fault, Error, and Failure</vt:lpstr>
      <vt:lpstr>PowerPoint Presentation</vt:lpstr>
      <vt:lpstr>Example</vt:lpstr>
      <vt:lpstr>Example – Let’s Analyze</vt:lpstr>
      <vt:lpstr>Example – Test Cases</vt:lpstr>
      <vt:lpstr>Example – State Representation</vt:lpstr>
      <vt:lpstr>Example – Error State</vt:lpstr>
      <vt:lpstr>RIPR Model</vt:lpstr>
      <vt:lpstr>RIPR Model</vt:lpstr>
      <vt:lpstr>Example – Applying RIPR</vt:lpstr>
      <vt:lpstr>Example – RIPR (Error, No Failure)</vt:lpstr>
      <vt:lpstr>Example – RIPR (Error, Failure)</vt:lpstr>
      <vt:lpstr>Wrap-up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CS 4501 / 6501  Software Testing</dc:title>
  <dc:subject/>
  <dc:creator>Microsoft Office User</dc:creator>
  <cp:keywords/>
  <dc:description/>
  <cp:lastModifiedBy>Praphamontripong, Upsorn (up3f)</cp:lastModifiedBy>
  <cp:revision>793</cp:revision>
  <cp:lastPrinted>2026-01-21T15:05:21Z</cp:lastPrinted>
  <dcterms:created xsi:type="dcterms:W3CDTF">2017-07-01T01:04:54Z</dcterms:created>
  <dcterms:modified xsi:type="dcterms:W3CDTF">2026-09-14T16:00:57Z</dcterms:modified>
  <cp:category/>
</cp:coreProperties>
</file>