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_rels/notesSlide1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2.xml.rels" ContentType="application/vnd.openxmlformats-package.relationships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_rels/presentation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6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media/image1.png" ContentType="image/png"/>
  <Override PartName="/ppt/media/image2.jpeg" ContentType="image/jpeg"/>
  <Override PartName="/ppt/media/image3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19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9144000" cy="6858000"/>
  <p:notesSz cx="9236075" cy="7010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2400" spc="-1" strike="noStrike">
                <a:solidFill>
                  <a:srgbClr val="ffffff"/>
                </a:solidFill>
                <a:latin typeface="Times New Roman"/>
              </a:rPr>
              <a:t>Click to move the slide</a:t>
            </a:r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3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3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7C21050D-8BBA-42AE-9972-59FFF7AD05F7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2867040" y="527040"/>
            <a:ext cx="3501720" cy="262692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1229760" y="3330360"/>
            <a:ext cx="6776280" cy="31528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sldNum" idx="4"/>
          </p:nvPr>
        </p:nvSpPr>
        <p:spPr>
          <a:xfrm>
            <a:off x="5232960" y="6659640"/>
            <a:ext cx="4002840" cy="350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19DAB88-25AC-4BBB-89B7-ADBC7EACCF20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16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2867040" y="527040"/>
            <a:ext cx="3501720" cy="262692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1229760" y="3330360"/>
            <a:ext cx="6776280" cy="31528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5"/>
          </p:nvPr>
        </p:nvSpPr>
        <p:spPr>
          <a:xfrm>
            <a:off x="5232960" y="6659640"/>
            <a:ext cx="4002840" cy="350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02DAA14-5997-4051-B8C0-32E988BED5FF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16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sldImg"/>
          </p:nvPr>
        </p:nvSpPr>
        <p:spPr>
          <a:xfrm>
            <a:off x="2867040" y="527040"/>
            <a:ext cx="3501720" cy="2626920"/>
          </a:xfrm>
          <a:prstGeom prst="rect">
            <a:avLst/>
          </a:prstGeom>
          <a:ln w="0">
            <a:noFill/>
          </a:ln>
        </p:spPr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1229760" y="3330360"/>
            <a:ext cx="6776280" cy="31528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sldNum" idx="6"/>
          </p:nvPr>
        </p:nvSpPr>
        <p:spPr>
          <a:xfrm>
            <a:off x="5232960" y="6659640"/>
            <a:ext cx="4002840" cy="350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E830CB9-E1B9-431D-9087-2B4A2CF7A20F}" type="slidenum">
              <a:rPr b="0" lang="en-US" sz="1200" spc="-1" strike="noStrike">
                <a:latin typeface="Times New Roman"/>
              </a:rPr>
              <a:t>16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sldImg"/>
          </p:nvPr>
        </p:nvSpPr>
        <p:spPr>
          <a:xfrm>
            <a:off x="2867040" y="527040"/>
            <a:ext cx="3501720" cy="2626920"/>
          </a:xfrm>
          <a:prstGeom prst="rect">
            <a:avLst/>
          </a:prstGeom>
          <a:ln w="0">
            <a:noFill/>
          </a:ln>
        </p:spPr>
      </p:sp>
      <p:sp>
        <p:nvSpPr>
          <p:cNvPr id="336" name="PlaceHolder 2"/>
          <p:cNvSpPr>
            <a:spLocks noGrp="1"/>
          </p:cNvSpPr>
          <p:nvPr>
            <p:ph type="body"/>
          </p:nvPr>
        </p:nvSpPr>
        <p:spPr>
          <a:xfrm>
            <a:off x="1229760" y="3330360"/>
            <a:ext cx="6776280" cy="31528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sldNum" idx="7"/>
          </p:nvPr>
        </p:nvSpPr>
        <p:spPr>
          <a:xfrm>
            <a:off x="5232960" y="6659640"/>
            <a:ext cx="4002840" cy="350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C9227B0-BACA-4FCD-AE02-63297A304BE2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16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ldImg"/>
          </p:nvPr>
        </p:nvSpPr>
        <p:spPr>
          <a:xfrm>
            <a:off x="2867040" y="527040"/>
            <a:ext cx="3501720" cy="2626920"/>
          </a:xfrm>
          <a:prstGeom prst="rect">
            <a:avLst/>
          </a:prstGeom>
          <a:ln w="0">
            <a:noFill/>
          </a:ln>
        </p:spPr>
      </p:sp>
      <p:sp>
        <p:nvSpPr>
          <p:cNvPr id="339" name="PlaceHolder 2"/>
          <p:cNvSpPr>
            <a:spLocks noGrp="1"/>
          </p:cNvSpPr>
          <p:nvPr>
            <p:ph type="body"/>
          </p:nvPr>
        </p:nvSpPr>
        <p:spPr>
          <a:xfrm>
            <a:off x="1229760" y="3330360"/>
            <a:ext cx="6776280" cy="31528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 type="sldNum" idx="8"/>
          </p:nvPr>
        </p:nvSpPr>
        <p:spPr>
          <a:xfrm>
            <a:off x="5232960" y="6659640"/>
            <a:ext cx="4002840" cy="350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C0F6DFD-0AFD-47CE-B9D6-B5F260A24F4A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16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ldImg"/>
          </p:nvPr>
        </p:nvSpPr>
        <p:spPr>
          <a:xfrm>
            <a:off x="2867040" y="527040"/>
            <a:ext cx="3501720" cy="2626920"/>
          </a:xfrm>
          <a:prstGeom prst="rect">
            <a:avLst/>
          </a:prstGeom>
          <a:ln w="0">
            <a:noFill/>
          </a:ln>
        </p:spPr>
      </p:sp>
      <p:sp>
        <p:nvSpPr>
          <p:cNvPr id="342" name="PlaceHolder 2"/>
          <p:cNvSpPr>
            <a:spLocks noGrp="1"/>
          </p:cNvSpPr>
          <p:nvPr>
            <p:ph type="body"/>
          </p:nvPr>
        </p:nvSpPr>
        <p:spPr>
          <a:xfrm>
            <a:off x="1229760" y="3330360"/>
            <a:ext cx="6776280" cy="31528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 type="sldNum" idx="9"/>
          </p:nvPr>
        </p:nvSpPr>
        <p:spPr>
          <a:xfrm>
            <a:off x="5232960" y="6659640"/>
            <a:ext cx="4002840" cy="350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98C97C1-C6E8-4B30-972A-FA404D9F0C74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16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sldImg"/>
          </p:nvPr>
        </p:nvSpPr>
        <p:spPr>
          <a:xfrm>
            <a:off x="2867040" y="527040"/>
            <a:ext cx="3501720" cy="2626920"/>
          </a:xfrm>
          <a:prstGeom prst="rect">
            <a:avLst/>
          </a:prstGeom>
          <a:ln w="0">
            <a:noFill/>
          </a:ln>
        </p:spPr>
      </p:sp>
      <p:sp>
        <p:nvSpPr>
          <p:cNvPr id="345" name="PlaceHolder 2"/>
          <p:cNvSpPr>
            <a:spLocks noGrp="1"/>
          </p:cNvSpPr>
          <p:nvPr>
            <p:ph type="body"/>
          </p:nvPr>
        </p:nvSpPr>
        <p:spPr>
          <a:xfrm>
            <a:off x="1229760" y="3330360"/>
            <a:ext cx="6776280" cy="31528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346" name="PlaceHolder 3"/>
          <p:cNvSpPr>
            <a:spLocks noGrp="1"/>
          </p:cNvSpPr>
          <p:nvPr>
            <p:ph type="sldNum" idx="10"/>
          </p:nvPr>
        </p:nvSpPr>
        <p:spPr>
          <a:xfrm>
            <a:off x="5232960" y="6659640"/>
            <a:ext cx="4002840" cy="350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381C066-8AC2-406E-84F7-FFF920640D32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sldImg"/>
          </p:nvPr>
        </p:nvSpPr>
        <p:spPr>
          <a:xfrm>
            <a:off x="2867040" y="527040"/>
            <a:ext cx="3501720" cy="2626920"/>
          </a:xfrm>
          <a:prstGeom prst="rect">
            <a:avLst/>
          </a:prstGeom>
          <a:ln w="0">
            <a:noFill/>
          </a:ln>
        </p:spPr>
      </p:sp>
      <p:sp>
        <p:nvSpPr>
          <p:cNvPr id="348" name="PlaceHolder 2"/>
          <p:cNvSpPr>
            <a:spLocks noGrp="1"/>
          </p:cNvSpPr>
          <p:nvPr>
            <p:ph type="body"/>
          </p:nvPr>
        </p:nvSpPr>
        <p:spPr>
          <a:xfrm>
            <a:off x="1229760" y="3330360"/>
            <a:ext cx="6776280" cy="31528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 type="sldNum" idx="11"/>
          </p:nvPr>
        </p:nvSpPr>
        <p:spPr>
          <a:xfrm>
            <a:off x="5232960" y="6659640"/>
            <a:ext cx="4002840" cy="350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E7F02F3-129D-4677-A25A-86D751E40096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sldImg"/>
          </p:nvPr>
        </p:nvSpPr>
        <p:spPr>
          <a:xfrm>
            <a:off x="2867040" y="527040"/>
            <a:ext cx="3501720" cy="2626920"/>
          </a:xfrm>
          <a:prstGeom prst="rect">
            <a:avLst/>
          </a:prstGeom>
          <a:ln w="0">
            <a:noFill/>
          </a:ln>
        </p:spPr>
      </p:sp>
      <p:sp>
        <p:nvSpPr>
          <p:cNvPr id="351" name="PlaceHolder 2"/>
          <p:cNvSpPr>
            <a:spLocks noGrp="1"/>
          </p:cNvSpPr>
          <p:nvPr>
            <p:ph type="body"/>
          </p:nvPr>
        </p:nvSpPr>
        <p:spPr>
          <a:xfrm>
            <a:off x="1229760" y="3330360"/>
            <a:ext cx="6776280" cy="31528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 type="sldNum" idx="12"/>
          </p:nvPr>
        </p:nvSpPr>
        <p:spPr>
          <a:xfrm>
            <a:off x="5232960" y="6659640"/>
            <a:ext cx="4002840" cy="350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7508557-D9D2-4BCB-903F-0F9A7405B5F6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sldImg"/>
          </p:nvPr>
        </p:nvSpPr>
        <p:spPr>
          <a:xfrm>
            <a:off x="2867040" y="527040"/>
            <a:ext cx="3501720" cy="2626920"/>
          </a:xfrm>
          <a:prstGeom prst="rect">
            <a:avLst/>
          </a:prstGeom>
          <a:ln w="0">
            <a:noFill/>
          </a:ln>
        </p:spPr>
      </p:sp>
      <p:sp>
        <p:nvSpPr>
          <p:cNvPr id="354" name="PlaceHolder 2"/>
          <p:cNvSpPr>
            <a:spLocks noGrp="1"/>
          </p:cNvSpPr>
          <p:nvPr>
            <p:ph type="body"/>
          </p:nvPr>
        </p:nvSpPr>
        <p:spPr>
          <a:xfrm>
            <a:off x="1229760" y="3330360"/>
            <a:ext cx="6776280" cy="31528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 type="sldNum" idx="13"/>
          </p:nvPr>
        </p:nvSpPr>
        <p:spPr>
          <a:xfrm>
            <a:off x="5232960" y="6659640"/>
            <a:ext cx="4002840" cy="350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D4A6383-E2B0-4202-AF89-C9CFCCB6D909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sldImg"/>
          </p:nvPr>
        </p:nvSpPr>
        <p:spPr>
          <a:xfrm>
            <a:off x="2867040" y="527040"/>
            <a:ext cx="3501720" cy="2626920"/>
          </a:xfrm>
          <a:prstGeom prst="rect">
            <a:avLst/>
          </a:prstGeom>
          <a:ln w="0">
            <a:noFill/>
          </a:ln>
        </p:spPr>
      </p:sp>
      <p:sp>
        <p:nvSpPr>
          <p:cNvPr id="357" name="PlaceHolder 2"/>
          <p:cNvSpPr>
            <a:spLocks noGrp="1"/>
          </p:cNvSpPr>
          <p:nvPr>
            <p:ph type="body"/>
          </p:nvPr>
        </p:nvSpPr>
        <p:spPr>
          <a:xfrm>
            <a:off x="1229760" y="3330360"/>
            <a:ext cx="6776280" cy="31528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358" name="PlaceHolder 3"/>
          <p:cNvSpPr>
            <a:spLocks noGrp="1"/>
          </p:cNvSpPr>
          <p:nvPr>
            <p:ph type="sldNum" idx="14"/>
          </p:nvPr>
        </p:nvSpPr>
        <p:spPr>
          <a:xfrm>
            <a:off x="5232960" y="6659640"/>
            <a:ext cx="4002840" cy="350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B88C447-D84F-440A-90BB-63006BA1FF82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sldImg"/>
          </p:nvPr>
        </p:nvSpPr>
        <p:spPr>
          <a:xfrm>
            <a:off x="2867040" y="527040"/>
            <a:ext cx="3501720" cy="2626920"/>
          </a:xfrm>
          <a:prstGeom prst="rect">
            <a:avLst/>
          </a:prstGeom>
          <a:ln w="0">
            <a:noFill/>
          </a:ln>
        </p:spPr>
      </p:sp>
      <p:sp>
        <p:nvSpPr>
          <p:cNvPr id="360" name="PlaceHolder 2"/>
          <p:cNvSpPr>
            <a:spLocks noGrp="1"/>
          </p:cNvSpPr>
          <p:nvPr>
            <p:ph type="body"/>
          </p:nvPr>
        </p:nvSpPr>
        <p:spPr>
          <a:xfrm>
            <a:off x="1229760" y="3330360"/>
            <a:ext cx="6776280" cy="31528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 type="sldNum" idx="15"/>
          </p:nvPr>
        </p:nvSpPr>
        <p:spPr>
          <a:xfrm>
            <a:off x="5232960" y="6659640"/>
            <a:ext cx="4002840" cy="350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5A6D46C-7FC8-4399-93D9-2C1561EA19ED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sldImg"/>
          </p:nvPr>
        </p:nvSpPr>
        <p:spPr>
          <a:xfrm>
            <a:off x="2867040" y="527040"/>
            <a:ext cx="3501720" cy="2626920"/>
          </a:xfrm>
          <a:prstGeom prst="rect">
            <a:avLst/>
          </a:prstGeom>
          <a:ln w="0">
            <a:noFill/>
          </a:ln>
        </p:spPr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1229760" y="3330360"/>
            <a:ext cx="6776280" cy="31528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sldNum" idx="16"/>
          </p:nvPr>
        </p:nvSpPr>
        <p:spPr>
          <a:xfrm>
            <a:off x="5232960" y="6659640"/>
            <a:ext cx="4002840" cy="350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B9202B2-66BD-4E51-8FCB-1E564A861916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sldImg"/>
          </p:nvPr>
        </p:nvSpPr>
        <p:spPr>
          <a:xfrm>
            <a:off x="2867040" y="527040"/>
            <a:ext cx="3501720" cy="2626920"/>
          </a:xfrm>
          <a:prstGeom prst="rect">
            <a:avLst/>
          </a:prstGeom>
          <a:ln w="0">
            <a:noFill/>
          </a:ln>
        </p:spPr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1229760" y="3330360"/>
            <a:ext cx="6776280" cy="31528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sldNum" idx="17"/>
          </p:nvPr>
        </p:nvSpPr>
        <p:spPr>
          <a:xfrm>
            <a:off x="5232960" y="6659640"/>
            <a:ext cx="4002840" cy="350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2FCF1BE-A373-4E1D-B2BA-94BCA22431B1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sldImg"/>
          </p:nvPr>
        </p:nvSpPr>
        <p:spPr>
          <a:xfrm>
            <a:off x="2867040" y="527040"/>
            <a:ext cx="3501720" cy="2626920"/>
          </a:xfrm>
          <a:prstGeom prst="rect">
            <a:avLst/>
          </a:prstGeom>
          <a:ln w="0">
            <a:noFill/>
          </a:ln>
        </p:spPr>
      </p:sp>
      <p:sp>
        <p:nvSpPr>
          <p:cNvPr id="369" name="PlaceHolder 2"/>
          <p:cNvSpPr>
            <a:spLocks noGrp="1"/>
          </p:cNvSpPr>
          <p:nvPr>
            <p:ph type="body"/>
          </p:nvPr>
        </p:nvSpPr>
        <p:spPr>
          <a:xfrm>
            <a:off x="1229760" y="3330360"/>
            <a:ext cx="6776280" cy="31528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370" name="PlaceHolder 3"/>
          <p:cNvSpPr>
            <a:spLocks noGrp="1"/>
          </p:cNvSpPr>
          <p:nvPr>
            <p:ph type="sldNum" idx="18"/>
          </p:nvPr>
        </p:nvSpPr>
        <p:spPr>
          <a:xfrm>
            <a:off x="5232960" y="6659640"/>
            <a:ext cx="4002840" cy="350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21AF4FE-D18F-48D8-83E2-63A1014F41E9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sldImg"/>
          </p:nvPr>
        </p:nvSpPr>
        <p:spPr>
          <a:xfrm>
            <a:off x="2867040" y="527040"/>
            <a:ext cx="3501720" cy="2626920"/>
          </a:xfrm>
          <a:prstGeom prst="rect">
            <a:avLst/>
          </a:prstGeom>
          <a:ln w="0">
            <a:noFill/>
          </a:ln>
        </p:spPr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1229760" y="3330360"/>
            <a:ext cx="6776280" cy="31528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373" name="PlaceHolder 3"/>
          <p:cNvSpPr>
            <a:spLocks noGrp="1"/>
          </p:cNvSpPr>
          <p:nvPr>
            <p:ph type="sldNum" idx="19"/>
          </p:nvPr>
        </p:nvSpPr>
        <p:spPr>
          <a:xfrm>
            <a:off x="5232960" y="6659640"/>
            <a:ext cx="4002840" cy="350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880" rIns="92880" tIns="46440" bIns="4644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E22BE8A-5D41-4E98-961E-1D28CA329C8F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457200" y="1066680"/>
            <a:ext cx="7954920" cy="5113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066680"/>
            <a:ext cx="7954920" cy="5113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066680"/>
            <a:ext cx="3881880" cy="5113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533480" y="1066680"/>
            <a:ext cx="3881880" cy="5113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subTitle"/>
          </p:nvPr>
        </p:nvSpPr>
        <p:spPr>
          <a:xfrm>
            <a:off x="0" y="0"/>
            <a:ext cx="9143640" cy="423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457200" y="106668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4533480" y="1066680"/>
            <a:ext cx="3881880" cy="5113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457200" y="373752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457200" y="1066680"/>
            <a:ext cx="3881880" cy="5113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4533480" y="106668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/>
          </p:nvPr>
        </p:nvSpPr>
        <p:spPr>
          <a:xfrm>
            <a:off x="4533480" y="373752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06668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533480" y="106668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737520"/>
            <a:ext cx="795492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457200" y="1066680"/>
            <a:ext cx="795492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457200" y="3737520"/>
            <a:ext cx="795492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457200" y="106668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4533480" y="106668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457200" y="373752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4533480" y="373752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457200" y="1066680"/>
            <a:ext cx="256140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/>
          </p:nvPr>
        </p:nvSpPr>
        <p:spPr>
          <a:xfrm>
            <a:off x="3147120" y="1066680"/>
            <a:ext cx="256140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/>
          </p:nvPr>
        </p:nvSpPr>
        <p:spPr>
          <a:xfrm>
            <a:off x="5837040" y="1066680"/>
            <a:ext cx="256140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/>
          </p:nvPr>
        </p:nvSpPr>
        <p:spPr>
          <a:xfrm>
            <a:off x="457200" y="3737520"/>
            <a:ext cx="256140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/>
          </p:nvPr>
        </p:nvSpPr>
        <p:spPr>
          <a:xfrm>
            <a:off x="3147120" y="3737520"/>
            <a:ext cx="256140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47" name="PlaceHolder 7"/>
          <p:cNvSpPr>
            <a:spLocks noGrp="1"/>
          </p:cNvSpPr>
          <p:nvPr>
            <p:ph/>
          </p:nvPr>
        </p:nvSpPr>
        <p:spPr>
          <a:xfrm>
            <a:off x="5837040" y="3737520"/>
            <a:ext cx="256140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subTitle"/>
          </p:nvPr>
        </p:nvSpPr>
        <p:spPr>
          <a:xfrm>
            <a:off x="457200" y="1066680"/>
            <a:ext cx="7954920" cy="5113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457200" y="1066680"/>
            <a:ext cx="7954920" cy="5113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066680"/>
            <a:ext cx="3881880" cy="5113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533480" y="1066680"/>
            <a:ext cx="3881880" cy="5113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subTitle"/>
          </p:nvPr>
        </p:nvSpPr>
        <p:spPr>
          <a:xfrm>
            <a:off x="0" y="0"/>
            <a:ext cx="9143640" cy="423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457200" y="106668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4533480" y="1066680"/>
            <a:ext cx="3881880" cy="5113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/>
          </p:nvPr>
        </p:nvSpPr>
        <p:spPr>
          <a:xfrm>
            <a:off x="457200" y="373752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457200" y="1066680"/>
            <a:ext cx="3881880" cy="5113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4533480" y="106668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/>
          </p:nvPr>
        </p:nvSpPr>
        <p:spPr>
          <a:xfrm>
            <a:off x="4533480" y="373752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457200" y="106668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4533480" y="106668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457200" y="3737520"/>
            <a:ext cx="795492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457200" y="1066680"/>
            <a:ext cx="795492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/>
          </p:nvPr>
        </p:nvSpPr>
        <p:spPr>
          <a:xfrm>
            <a:off x="457200" y="3737520"/>
            <a:ext cx="795492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457200" y="106668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/>
          </p:nvPr>
        </p:nvSpPr>
        <p:spPr>
          <a:xfrm>
            <a:off x="4533480" y="106668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/>
          </p:nvPr>
        </p:nvSpPr>
        <p:spPr>
          <a:xfrm>
            <a:off x="457200" y="373752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/>
          </p:nvPr>
        </p:nvSpPr>
        <p:spPr>
          <a:xfrm>
            <a:off x="4533480" y="373752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457200" y="1066680"/>
            <a:ext cx="256140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/>
          </p:nvPr>
        </p:nvSpPr>
        <p:spPr>
          <a:xfrm>
            <a:off x="3147120" y="1066680"/>
            <a:ext cx="256140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87" name="PlaceHolder 4"/>
          <p:cNvSpPr>
            <a:spLocks noGrp="1"/>
          </p:cNvSpPr>
          <p:nvPr>
            <p:ph/>
          </p:nvPr>
        </p:nvSpPr>
        <p:spPr>
          <a:xfrm>
            <a:off x="5837040" y="1066680"/>
            <a:ext cx="256140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88" name="PlaceHolder 5"/>
          <p:cNvSpPr>
            <a:spLocks noGrp="1"/>
          </p:cNvSpPr>
          <p:nvPr>
            <p:ph/>
          </p:nvPr>
        </p:nvSpPr>
        <p:spPr>
          <a:xfrm>
            <a:off x="457200" y="3737520"/>
            <a:ext cx="256140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89" name="PlaceHolder 6"/>
          <p:cNvSpPr>
            <a:spLocks noGrp="1"/>
          </p:cNvSpPr>
          <p:nvPr>
            <p:ph/>
          </p:nvPr>
        </p:nvSpPr>
        <p:spPr>
          <a:xfrm>
            <a:off x="3147120" y="3737520"/>
            <a:ext cx="256140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90" name="PlaceHolder 7"/>
          <p:cNvSpPr>
            <a:spLocks noGrp="1"/>
          </p:cNvSpPr>
          <p:nvPr>
            <p:ph/>
          </p:nvPr>
        </p:nvSpPr>
        <p:spPr>
          <a:xfrm>
            <a:off x="5837040" y="3737520"/>
            <a:ext cx="256140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subTitle"/>
          </p:nvPr>
        </p:nvSpPr>
        <p:spPr>
          <a:xfrm>
            <a:off x="457200" y="1066680"/>
            <a:ext cx="7954920" cy="5113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066680"/>
            <a:ext cx="7954920" cy="5113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457200" y="1066680"/>
            <a:ext cx="3881880" cy="5113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/>
          </p:nvPr>
        </p:nvSpPr>
        <p:spPr>
          <a:xfrm>
            <a:off x="4533480" y="1066680"/>
            <a:ext cx="3881880" cy="5113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subTitle"/>
          </p:nvPr>
        </p:nvSpPr>
        <p:spPr>
          <a:xfrm>
            <a:off x="0" y="0"/>
            <a:ext cx="9143640" cy="423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457200" y="106668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4533480" y="1066680"/>
            <a:ext cx="3881880" cy="5113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/>
          </p:nvPr>
        </p:nvSpPr>
        <p:spPr>
          <a:xfrm>
            <a:off x="457200" y="373752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066680"/>
            <a:ext cx="3881880" cy="5113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533480" y="106668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33480" y="373752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457200" y="106668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4533480" y="106668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/>
          </p:nvPr>
        </p:nvSpPr>
        <p:spPr>
          <a:xfrm>
            <a:off x="457200" y="3737520"/>
            <a:ext cx="795492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457200" y="1066680"/>
            <a:ext cx="795492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/>
          </p:nvPr>
        </p:nvSpPr>
        <p:spPr>
          <a:xfrm>
            <a:off x="457200" y="3737520"/>
            <a:ext cx="795492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457200" y="106668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/>
          </p:nvPr>
        </p:nvSpPr>
        <p:spPr>
          <a:xfrm>
            <a:off x="4533480" y="106668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/>
          </p:nvPr>
        </p:nvSpPr>
        <p:spPr>
          <a:xfrm>
            <a:off x="457200" y="373752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26" name="PlaceHolder 5"/>
          <p:cNvSpPr>
            <a:spLocks noGrp="1"/>
          </p:cNvSpPr>
          <p:nvPr>
            <p:ph/>
          </p:nvPr>
        </p:nvSpPr>
        <p:spPr>
          <a:xfrm>
            <a:off x="4533480" y="3737520"/>
            <a:ext cx="388188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066680"/>
            <a:ext cx="256140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/>
          </p:nvPr>
        </p:nvSpPr>
        <p:spPr>
          <a:xfrm>
            <a:off x="3147120" y="1066680"/>
            <a:ext cx="256140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30" name="PlaceHolder 4"/>
          <p:cNvSpPr>
            <a:spLocks noGrp="1"/>
          </p:cNvSpPr>
          <p:nvPr>
            <p:ph/>
          </p:nvPr>
        </p:nvSpPr>
        <p:spPr>
          <a:xfrm>
            <a:off x="5837040" y="1066680"/>
            <a:ext cx="256140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31" name="PlaceHolder 5"/>
          <p:cNvSpPr>
            <a:spLocks noGrp="1"/>
          </p:cNvSpPr>
          <p:nvPr>
            <p:ph/>
          </p:nvPr>
        </p:nvSpPr>
        <p:spPr>
          <a:xfrm>
            <a:off x="457200" y="3737520"/>
            <a:ext cx="256140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32" name="PlaceHolder 6"/>
          <p:cNvSpPr>
            <a:spLocks noGrp="1"/>
          </p:cNvSpPr>
          <p:nvPr>
            <p:ph/>
          </p:nvPr>
        </p:nvSpPr>
        <p:spPr>
          <a:xfrm>
            <a:off x="3147120" y="3737520"/>
            <a:ext cx="256140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33" name="PlaceHolder 7"/>
          <p:cNvSpPr>
            <a:spLocks noGrp="1"/>
          </p:cNvSpPr>
          <p:nvPr>
            <p:ph/>
          </p:nvPr>
        </p:nvSpPr>
        <p:spPr>
          <a:xfrm>
            <a:off x="5837040" y="3737520"/>
            <a:ext cx="2561400" cy="24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angle 16" hidden="1"/>
          <p:cNvSpPr/>
          <p:nvPr/>
        </p:nvSpPr>
        <p:spPr>
          <a:xfrm>
            <a:off x="0" y="6583680"/>
            <a:ext cx="9143640" cy="27396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" name="Line 10"/>
          <p:cNvSpPr/>
          <p:nvPr/>
        </p:nvSpPr>
        <p:spPr>
          <a:xfrm>
            <a:off x="0" y="914400"/>
            <a:ext cx="9144000" cy="360"/>
          </a:xfrm>
          <a:prstGeom prst="line">
            <a:avLst/>
          </a:prstGeom>
          <a:ln w="57150">
            <a:solidFill>
              <a:srgbClr val="ff4c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" name="Footer Placeholder 8" hidden="1"/>
          <p:cNvSpPr/>
          <p:nvPr/>
        </p:nvSpPr>
        <p:spPr>
          <a:xfrm>
            <a:off x="76320" y="6584040"/>
            <a:ext cx="22856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de-DE" sz="1000" spc="-1" strike="noStrike">
                <a:solidFill>
                  <a:srgbClr val="bddadf"/>
                </a:solidFill>
                <a:latin typeface="Arial"/>
                <a:ea typeface="Arial"/>
              </a:rPr>
              <a:t>Fall 2026 – University of Virginia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" name="Slide Number Placeholder 9" hidden="1"/>
          <p:cNvSpPr/>
          <p:nvPr/>
        </p:nvSpPr>
        <p:spPr>
          <a:xfrm>
            <a:off x="8686800" y="6553080"/>
            <a:ext cx="4568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rmAutofit/>
          </a:bodyPr>
          <a:p>
            <a:pPr algn="ctr">
              <a:lnSpc>
                <a:spcPct val="100000"/>
              </a:lnSpc>
              <a:buNone/>
            </a:pPr>
            <a:fld id="{F141BA6D-7071-4811-B364-8F2A01CA4CEB}" type="slidenum">
              <a:rPr b="0" lang="en-US" sz="1000" spc="-1" strike="noStrike">
                <a:solidFill>
                  <a:srgbClr val="bddadf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latin typeface="Arial"/>
            </a:endParaRPr>
          </a:p>
        </p:txBody>
      </p:sp>
      <p:sp>
        <p:nvSpPr>
          <p:cNvPr id="4" name="Footer Placeholder 8" hidden="1"/>
          <p:cNvSpPr/>
          <p:nvPr/>
        </p:nvSpPr>
        <p:spPr>
          <a:xfrm>
            <a:off x="3352680" y="6584040"/>
            <a:ext cx="243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de-DE" sz="1000" spc="-1" strike="noStrike">
                <a:solidFill>
                  <a:srgbClr val="bddadf"/>
                </a:solidFill>
                <a:latin typeface="Arial"/>
                <a:ea typeface="Arial"/>
              </a:rPr>
              <a:t>© Praphamontripong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" name="Straight Connector 4"/>
          <p:cNvSpPr/>
          <p:nvPr/>
        </p:nvSpPr>
        <p:spPr>
          <a:xfrm>
            <a:off x="609480" y="3200400"/>
            <a:ext cx="7924680" cy="360"/>
          </a:xfrm>
          <a:prstGeom prst="line">
            <a:avLst/>
          </a:prstGeom>
          <a:ln w="38100">
            <a:solidFill>
              <a:srgbClr val="ff4c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946440" y="365760"/>
            <a:ext cx="7269120" cy="13251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4000" spc="-52" strike="noStrike">
                <a:solidFill>
                  <a:srgbClr val="ffffff"/>
                </a:solidFill>
                <a:latin typeface="Century Schoolbook"/>
              </a:rPr>
              <a:t>Click to edit Master title style</a:t>
            </a:r>
            <a:endParaRPr b="0" lang="en-US" sz="40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" name="Rectangle 10"/>
          <p:cNvSpPr/>
          <p:nvPr/>
        </p:nvSpPr>
        <p:spPr>
          <a:xfrm>
            <a:off x="0" y="6583680"/>
            <a:ext cx="9143640" cy="273960"/>
          </a:xfrm>
          <a:prstGeom prst="rect">
            <a:avLst/>
          </a:prstGeom>
          <a:solidFill>
            <a:schemeClr val="tx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" name="Footer Placeholder 8"/>
          <p:cNvSpPr/>
          <p:nvPr/>
        </p:nvSpPr>
        <p:spPr>
          <a:xfrm>
            <a:off x="76320" y="6584040"/>
            <a:ext cx="22856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de-DE" sz="1000" spc="-1" strike="noStrike">
                <a:solidFill>
                  <a:srgbClr val="bddadf"/>
                </a:solidFill>
                <a:latin typeface="Arial"/>
                <a:ea typeface="Arial"/>
              </a:rPr>
              <a:t>Fall 2026 – University of Virginia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9" name="Slide Number Placeholder 9"/>
          <p:cNvSpPr/>
          <p:nvPr/>
        </p:nvSpPr>
        <p:spPr>
          <a:xfrm>
            <a:off x="8686800" y="6553080"/>
            <a:ext cx="4568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rmAutofit/>
          </a:bodyPr>
          <a:p>
            <a:pPr algn="ctr">
              <a:lnSpc>
                <a:spcPct val="100000"/>
              </a:lnSpc>
              <a:buNone/>
            </a:pPr>
            <a:fld id="{0A45E2AC-A83A-47C2-B804-22FD2AB14AAF}" type="slidenum">
              <a:rPr b="0" lang="en-US" sz="1000" spc="-1" strike="noStrike">
                <a:solidFill>
                  <a:srgbClr val="bddadf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latin typeface="Arial"/>
            </a:endParaRPr>
          </a:p>
        </p:txBody>
      </p:sp>
      <p:sp>
        <p:nvSpPr>
          <p:cNvPr id="10" name="Footer Placeholder 8"/>
          <p:cNvSpPr/>
          <p:nvPr/>
        </p:nvSpPr>
        <p:spPr>
          <a:xfrm>
            <a:off x="3352680" y="6584040"/>
            <a:ext cx="243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de-DE" sz="1000" spc="-1" strike="noStrike">
                <a:solidFill>
                  <a:srgbClr val="bddadf"/>
                </a:solidFill>
                <a:latin typeface="Arial"/>
                <a:ea typeface="Arial"/>
              </a:rPr>
              <a:t>© Praphamontripong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5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9" strike="noStrike">
                <a:solidFill>
                  <a:srgbClr val="ffffff"/>
                </a:solidFill>
                <a:latin typeface="Century Schoolbook"/>
              </a:rPr>
              <a:t>Click to edit the outline text format</a:t>
            </a:r>
            <a:endParaRPr b="0" lang="en-US" sz="1800" spc="9" strike="noStrike">
              <a:solidFill>
                <a:srgbClr val="ffffff"/>
              </a:solidFill>
              <a:latin typeface="Century Schoolbook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ffffff"/>
                </a:solidFill>
                <a:latin typeface="Century Schoolbook"/>
              </a:rPr>
              <a:t>Second Outline Level</a:t>
            </a:r>
            <a:endParaRPr b="0" lang="en-US" sz="1400" spc="-1" strike="noStrike">
              <a:solidFill>
                <a:srgbClr val="ffffff"/>
              </a:solidFill>
              <a:latin typeface="Century Schoolbook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ffffff"/>
                </a:solidFill>
                <a:latin typeface="Century Schoolbook"/>
              </a:rPr>
              <a:t>Third Outline Level</a:t>
            </a:r>
            <a:endParaRPr b="0" lang="en-US" sz="1400" spc="-1" strike="noStrike">
              <a:solidFill>
                <a:srgbClr val="ffffff"/>
              </a:solidFill>
              <a:latin typeface="Century Schoolbook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ffffff"/>
                </a:solidFill>
                <a:latin typeface="Century Schoolbook"/>
              </a:rPr>
              <a:t>Fourth Outline Level</a:t>
            </a:r>
            <a:endParaRPr b="0" lang="en-US" sz="1400" spc="-1" strike="noStrike">
              <a:solidFill>
                <a:srgbClr val="ffffff"/>
              </a:solidFill>
              <a:latin typeface="Century Schoolbook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Century Schoolbook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Century Schoolbook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Century Schoolbook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Century Schoolbook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Century Schoolbook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Century School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16"/>
          <p:cNvSpPr/>
          <p:nvPr/>
        </p:nvSpPr>
        <p:spPr>
          <a:xfrm>
            <a:off x="0" y="6583680"/>
            <a:ext cx="9143640" cy="27396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9" name="Line 10"/>
          <p:cNvSpPr/>
          <p:nvPr/>
        </p:nvSpPr>
        <p:spPr>
          <a:xfrm>
            <a:off x="0" y="914400"/>
            <a:ext cx="9144000" cy="360"/>
          </a:xfrm>
          <a:prstGeom prst="line">
            <a:avLst/>
          </a:prstGeom>
          <a:ln w="57150">
            <a:solidFill>
              <a:srgbClr val="ff4c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" name="Footer Placeholder 8"/>
          <p:cNvSpPr/>
          <p:nvPr/>
        </p:nvSpPr>
        <p:spPr>
          <a:xfrm>
            <a:off x="76320" y="6584040"/>
            <a:ext cx="22856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de-DE" sz="1000" spc="-1" strike="noStrike">
                <a:solidFill>
                  <a:srgbClr val="bddadf"/>
                </a:solidFill>
                <a:latin typeface="Arial"/>
                <a:ea typeface="Arial"/>
              </a:rPr>
              <a:t>Fall 2026 – University of Virginia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1" name="Slide Number Placeholder 9"/>
          <p:cNvSpPr/>
          <p:nvPr/>
        </p:nvSpPr>
        <p:spPr>
          <a:xfrm>
            <a:off x="8686800" y="6553080"/>
            <a:ext cx="4568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rmAutofit/>
          </a:bodyPr>
          <a:p>
            <a:pPr algn="ctr">
              <a:lnSpc>
                <a:spcPct val="100000"/>
              </a:lnSpc>
              <a:buNone/>
            </a:pPr>
            <a:fld id="{27207443-3DB5-48A1-8BA0-8C22D9C20186}" type="slidenum">
              <a:rPr b="0" lang="en-US" sz="1000" spc="-1" strike="noStrike">
                <a:solidFill>
                  <a:srgbClr val="bddadf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latin typeface="Arial"/>
            </a:endParaRPr>
          </a:p>
        </p:txBody>
      </p:sp>
      <p:sp>
        <p:nvSpPr>
          <p:cNvPr id="52" name="Footer Placeholder 8"/>
          <p:cNvSpPr/>
          <p:nvPr/>
        </p:nvSpPr>
        <p:spPr>
          <a:xfrm>
            <a:off x="3352680" y="6584040"/>
            <a:ext cx="243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de-DE" sz="1000" spc="-1" strike="noStrike">
                <a:solidFill>
                  <a:srgbClr val="bddadf"/>
                </a:solidFill>
                <a:latin typeface="Arial"/>
                <a:ea typeface="Arial"/>
              </a:rPr>
              <a:t>© Praphamontripong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4000" spc="-52" strike="noStrike">
                <a:solidFill>
                  <a:srgbClr val="ffff00"/>
                </a:solidFill>
                <a:latin typeface="Verdana"/>
                <a:ea typeface="Verdana"/>
              </a:rPr>
              <a:t>Click to edit Master title </a:t>
            </a:r>
            <a:r>
              <a:rPr b="1" lang="en-US" sz="4000" spc="-52" strike="noStrike">
                <a:solidFill>
                  <a:srgbClr val="ffff00"/>
                </a:solidFill>
                <a:latin typeface="Verdana"/>
                <a:ea typeface="Verdana"/>
              </a:rPr>
              <a:t>style</a:t>
            </a:r>
            <a:endParaRPr b="0" lang="en-US" sz="4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066680"/>
            <a:ext cx="7954920" cy="51130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 marL="182880" indent="-182880">
              <a:lnSpc>
                <a:spcPct val="100000"/>
              </a:lnSpc>
              <a:spcBef>
                <a:spcPts val="1400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800" spc="9" strike="noStrike">
                <a:solidFill>
                  <a:srgbClr val="ffffff"/>
                </a:solidFill>
                <a:latin typeface="Verdana"/>
                <a:ea typeface="Verdana"/>
              </a:rPr>
              <a:t>Click to edit Master text styles</a:t>
            </a:r>
            <a:endParaRPr b="0" lang="en-US" sz="2800" spc="9" strike="noStrike">
              <a:solidFill>
                <a:srgbClr val="000000"/>
              </a:solidFill>
              <a:latin typeface="Century Schoolbook"/>
            </a:endParaRPr>
          </a:p>
          <a:p>
            <a:pPr lvl="1" marL="457200" indent="-18288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ffffff"/>
              </a:buClr>
              <a:buFont typeface="Wingdings 2" charset="2"/>
              <a:buChar char=""/>
            </a:pPr>
            <a:r>
              <a:rPr b="0" lang="en-US" sz="2400" spc="-1" strike="noStrike">
                <a:solidFill>
                  <a:srgbClr val="ffffff"/>
                </a:solidFill>
                <a:latin typeface="Verdana"/>
                <a:ea typeface="Verdana"/>
              </a:rPr>
              <a:t>Second level</a:t>
            </a:r>
            <a:endParaRPr b="0" lang="en-US" sz="2400" spc="-1" strike="noStrike">
              <a:solidFill>
                <a:srgbClr val="262626"/>
              </a:solidFill>
              <a:latin typeface="Century Schoolbook"/>
            </a:endParaRPr>
          </a:p>
          <a:p>
            <a:pPr lvl="2" marL="731520" indent="-18288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ffffff"/>
              </a:buClr>
              <a:buFont typeface="Wingdings 2" charset="2"/>
              <a:buChar char=""/>
            </a:pPr>
            <a:r>
              <a:rPr b="0" lang="en-US" sz="2000" spc="-1" strike="noStrike">
                <a:solidFill>
                  <a:srgbClr val="ffffff"/>
                </a:solidFill>
                <a:latin typeface="Verdana"/>
                <a:ea typeface="Verdana"/>
              </a:rPr>
              <a:t>Third level</a:t>
            </a:r>
            <a:endParaRPr b="0" lang="en-US" sz="2000" spc="-1" strike="noStrike">
              <a:solidFill>
                <a:srgbClr val="262626"/>
              </a:solidFill>
              <a:latin typeface="Century Schoolbook"/>
            </a:endParaRPr>
          </a:p>
          <a:p>
            <a:pPr lvl="3" marL="1005840" indent="-18288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ffffff"/>
              </a:buClr>
              <a:buFont typeface="Wingdings 2" charset="2"/>
              <a:buChar char=""/>
            </a:pPr>
            <a:r>
              <a:rPr b="0" lang="en-US" sz="2000" spc="-1" strike="noStrike">
                <a:solidFill>
                  <a:srgbClr val="ffffff"/>
                </a:solidFill>
                <a:latin typeface="Verdana"/>
                <a:ea typeface="Verdana"/>
              </a:rPr>
              <a:t>Fourth level</a:t>
            </a:r>
            <a:endParaRPr b="0" lang="en-US" sz="2000" spc="-1" strike="noStrike">
              <a:solidFill>
                <a:srgbClr val="262626"/>
              </a:solidFill>
              <a:latin typeface="Century Schoolbook"/>
            </a:endParaRPr>
          </a:p>
          <a:p>
            <a:pPr lvl="4" marL="1280160" indent="-18288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ffffff"/>
              </a:buClr>
              <a:buFont typeface="Wingdings 2" charset="2"/>
              <a:buChar char=""/>
            </a:pPr>
            <a:r>
              <a:rPr b="0" lang="en-US" sz="2000" spc="-1" strike="noStrike">
                <a:solidFill>
                  <a:srgbClr val="ffffff"/>
                </a:solidFill>
                <a:latin typeface="Verdana"/>
                <a:ea typeface="Verdana"/>
              </a:rPr>
              <a:t>Fifth level</a:t>
            </a:r>
            <a:endParaRPr b="0" lang="en-US" sz="2000" spc="-1" strike="noStrike">
              <a:solidFill>
                <a:srgbClr val="262626"/>
              </a:solidFill>
              <a:latin typeface="Century School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16"/>
          <p:cNvSpPr/>
          <p:nvPr/>
        </p:nvSpPr>
        <p:spPr>
          <a:xfrm>
            <a:off x="0" y="6583680"/>
            <a:ext cx="9143640" cy="27396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2" name="Line 10"/>
          <p:cNvSpPr/>
          <p:nvPr/>
        </p:nvSpPr>
        <p:spPr>
          <a:xfrm>
            <a:off x="0" y="914400"/>
            <a:ext cx="9144000" cy="360"/>
          </a:xfrm>
          <a:prstGeom prst="line">
            <a:avLst/>
          </a:prstGeom>
          <a:ln w="57150">
            <a:solidFill>
              <a:srgbClr val="ff4c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3" name="Footer Placeholder 8"/>
          <p:cNvSpPr/>
          <p:nvPr/>
        </p:nvSpPr>
        <p:spPr>
          <a:xfrm>
            <a:off x="76320" y="6584040"/>
            <a:ext cx="22856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de-DE" sz="1000" spc="-1" strike="noStrike">
                <a:solidFill>
                  <a:srgbClr val="bddadf"/>
                </a:solidFill>
                <a:latin typeface="Arial"/>
                <a:ea typeface="Arial"/>
              </a:rPr>
              <a:t>Fall 2026 – University of Virginia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94" name="Slide Number Placeholder 9"/>
          <p:cNvSpPr/>
          <p:nvPr/>
        </p:nvSpPr>
        <p:spPr>
          <a:xfrm>
            <a:off x="8686800" y="6553080"/>
            <a:ext cx="4568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rmAutofit/>
          </a:bodyPr>
          <a:p>
            <a:pPr algn="ctr">
              <a:lnSpc>
                <a:spcPct val="100000"/>
              </a:lnSpc>
              <a:buNone/>
            </a:pPr>
            <a:fld id="{B3A57B08-9C03-4A0A-B939-0F426E57FE81}" type="slidenum">
              <a:rPr b="0" lang="en-US" sz="1000" spc="-1" strike="noStrike">
                <a:solidFill>
                  <a:srgbClr val="bddadf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latin typeface="Arial"/>
            </a:endParaRPr>
          </a:p>
        </p:txBody>
      </p:sp>
      <p:sp>
        <p:nvSpPr>
          <p:cNvPr id="95" name="Footer Placeholder 8"/>
          <p:cNvSpPr/>
          <p:nvPr/>
        </p:nvSpPr>
        <p:spPr>
          <a:xfrm>
            <a:off x="3352680" y="6584040"/>
            <a:ext cx="243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de-DE" sz="1000" spc="-1" strike="noStrike">
                <a:solidFill>
                  <a:srgbClr val="bddadf"/>
                </a:solidFill>
                <a:latin typeface="Arial"/>
                <a:ea typeface="Arial"/>
              </a:rPr>
              <a:t>© Praphamontripong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4000" spc="-52" strike="noStrike">
                <a:solidFill>
                  <a:srgbClr val="ffff00"/>
                </a:solidFill>
                <a:latin typeface="Verdana"/>
                <a:ea typeface="Verdana"/>
              </a:rPr>
              <a:t>Click to edit Master title </a:t>
            </a:r>
            <a:r>
              <a:rPr b="1" lang="en-US" sz="4000" spc="-52" strike="noStrike">
                <a:solidFill>
                  <a:srgbClr val="ffff00"/>
                </a:solidFill>
                <a:latin typeface="Verdana"/>
                <a:ea typeface="Verdana"/>
              </a:rPr>
              <a:t>style</a:t>
            </a:r>
            <a:endParaRPr b="0" lang="en-US" sz="4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457200" y="1066680"/>
            <a:ext cx="7954920" cy="51130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 marL="182880" indent="-182880">
              <a:lnSpc>
                <a:spcPct val="100000"/>
              </a:lnSpc>
              <a:spcBef>
                <a:spcPts val="1400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800" spc="9" strike="noStrike">
                <a:solidFill>
                  <a:srgbClr val="ffffff"/>
                </a:solidFill>
                <a:latin typeface="Verdana"/>
                <a:ea typeface="Verdana"/>
              </a:rPr>
              <a:t>Click to edit Master text styles</a:t>
            </a:r>
            <a:endParaRPr b="0" lang="en-US" sz="2800" spc="9" strike="noStrike">
              <a:solidFill>
                <a:srgbClr val="000000"/>
              </a:solidFill>
              <a:latin typeface="Century Schoolbook"/>
            </a:endParaRPr>
          </a:p>
          <a:p>
            <a:pPr lvl="1" marL="457200" indent="-18288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ffffff"/>
              </a:buClr>
              <a:buFont typeface="Wingdings 2" charset="2"/>
              <a:buChar char=""/>
            </a:pPr>
            <a:r>
              <a:rPr b="0" lang="en-US" sz="2400" spc="-1" strike="noStrike">
                <a:solidFill>
                  <a:srgbClr val="ffffff"/>
                </a:solidFill>
                <a:latin typeface="Verdana"/>
                <a:ea typeface="Verdana"/>
              </a:rPr>
              <a:t>Second level</a:t>
            </a:r>
            <a:endParaRPr b="0" lang="en-US" sz="2400" spc="-1" strike="noStrike">
              <a:solidFill>
                <a:srgbClr val="262626"/>
              </a:solidFill>
              <a:latin typeface="Century Schoolbook"/>
            </a:endParaRPr>
          </a:p>
          <a:p>
            <a:pPr lvl="2" marL="731520" indent="-18288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ffffff"/>
              </a:buClr>
              <a:buFont typeface="Wingdings 2" charset="2"/>
              <a:buChar char=""/>
            </a:pPr>
            <a:r>
              <a:rPr b="0" lang="en-US" sz="2000" spc="-1" strike="noStrike">
                <a:solidFill>
                  <a:srgbClr val="ffffff"/>
                </a:solidFill>
                <a:latin typeface="Verdana"/>
                <a:ea typeface="Verdana"/>
              </a:rPr>
              <a:t>Third level</a:t>
            </a:r>
            <a:endParaRPr b="0" lang="en-US" sz="2000" spc="-1" strike="noStrike">
              <a:solidFill>
                <a:srgbClr val="262626"/>
              </a:solidFill>
              <a:latin typeface="Century Schoolbook"/>
            </a:endParaRPr>
          </a:p>
          <a:p>
            <a:pPr lvl="3" marL="1005840" indent="-18288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ffffff"/>
              </a:buClr>
              <a:buFont typeface="Wingdings 2" charset="2"/>
              <a:buChar char=""/>
            </a:pPr>
            <a:r>
              <a:rPr b="0" lang="en-US" sz="2000" spc="-1" strike="noStrike">
                <a:solidFill>
                  <a:srgbClr val="ffffff"/>
                </a:solidFill>
                <a:latin typeface="Verdana"/>
                <a:ea typeface="Verdana"/>
              </a:rPr>
              <a:t>Fourth level</a:t>
            </a:r>
            <a:endParaRPr b="0" lang="en-US" sz="2000" spc="-1" strike="noStrike">
              <a:solidFill>
                <a:srgbClr val="262626"/>
              </a:solidFill>
              <a:latin typeface="Century Schoolbook"/>
            </a:endParaRPr>
          </a:p>
          <a:p>
            <a:pPr lvl="4" marL="1280160" indent="-18288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ffffff"/>
              </a:buClr>
              <a:buFont typeface="Wingdings 2" charset="2"/>
              <a:buChar char=""/>
            </a:pPr>
            <a:r>
              <a:rPr b="0" lang="en-US" sz="2000" spc="-1" strike="noStrike">
                <a:solidFill>
                  <a:srgbClr val="ffffff"/>
                </a:solidFill>
                <a:latin typeface="Verdana"/>
                <a:ea typeface="Verdana"/>
              </a:rPr>
              <a:t>Fifth level</a:t>
            </a:r>
            <a:endParaRPr b="0" lang="en-US" sz="2000" spc="-1" strike="noStrike">
              <a:solidFill>
                <a:srgbClr val="262626"/>
              </a:solidFill>
              <a:latin typeface="Century School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hyperlink" Target="https://en.wikipedia.org/wiki/Software_system" TargetMode="External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380880" y="685800"/>
            <a:ext cx="8305560" cy="4647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5000" spc="-52" strike="noStrike">
                <a:solidFill>
                  <a:srgbClr val="ffff00"/>
                </a:solidFill>
                <a:latin typeface="Verdana"/>
                <a:ea typeface="Verdana"/>
              </a:rPr>
              <a:t>Faults, Errors, Failures</a:t>
            </a:r>
            <a:br>
              <a:rPr sz="5000"/>
            </a:br>
            <a:r>
              <a:rPr b="1" lang="en-US" sz="5000" spc="-52" strike="noStrike">
                <a:solidFill>
                  <a:srgbClr val="ffff00"/>
                </a:solidFill>
                <a:latin typeface="Verdana"/>
                <a:ea typeface="Verdana"/>
              </a:rPr>
              <a:t>RIPR Model</a:t>
            </a:r>
            <a:br>
              <a:rPr sz="2000"/>
            </a:br>
            <a:br>
              <a:rPr sz="3000"/>
            </a:br>
            <a:r>
              <a:rPr b="1" lang="en-US" sz="4000" spc="-52" strike="noStrike">
                <a:solidFill>
                  <a:srgbClr val="ffffff"/>
                </a:solidFill>
                <a:latin typeface="Verdana"/>
                <a:ea typeface="Verdana"/>
              </a:rPr>
              <a:t>CS 3250</a:t>
            </a:r>
            <a:br>
              <a:rPr sz="4000"/>
            </a:br>
            <a:r>
              <a:rPr b="1" lang="en-US" sz="4000" spc="-52" strike="noStrike">
                <a:solidFill>
                  <a:srgbClr val="ffffff"/>
                </a:solidFill>
                <a:latin typeface="Verdana"/>
                <a:ea typeface="Verdana"/>
              </a:rPr>
              <a:t>Software Testing </a:t>
            </a:r>
            <a:endParaRPr b="0" lang="en-US" sz="40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" name="Rectangle 3"/>
          <p:cNvSpPr/>
          <p:nvPr/>
        </p:nvSpPr>
        <p:spPr>
          <a:xfrm>
            <a:off x="2208600" y="6277680"/>
            <a:ext cx="6858720" cy="270720"/>
          </a:xfrm>
          <a:prstGeom prst="rect">
            <a:avLst/>
          </a:prstGeom>
          <a:noFill/>
          <a:ln w="381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85000"/>
              </a:lnSpc>
              <a:spcBef>
                <a:spcPts val="300"/>
              </a:spcBef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Verdana"/>
                <a:ea typeface="Verdana"/>
              </a:rPr>
              <a:t>[Ammann and Offutt, “Introduction to Software Testing,” Ch.1, Ch. 2.1]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advTm="17000" p14:dur="2000"/>
    </mc:Choice>
    <mc:Fallback>
      <p:transition spd="slow" advTm="17000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4000" spc="-52" strike="noStrike">
                <a:solidFill>
                  <a:srgbClr val="ffff00"/>
                </a:solidFill>
                <a:latin typeface="Verdana"/>
                <a:ea typeface="Verdana"/>
              </a:rPr>
              <a:t>Software Testing</a:t>
            </a:r>
            <a:endParaRPr b="0" lang="en-US" sz="4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Rectangle 8"/>
          <p:cNvSpPr/>
          <p:nvPr/>
        </p:nvSpPr>
        <p:spPr>
          <a:xfrm>
            <a:off x="380880" y="4139640"/>
            <a:ext cx="3657240" cy="11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5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ffffff"/>
                </a:solidFill>
                <a:latin typeface="Verdana"/>
                <a:ea typeface="Verdana"/>
              </a:rPr>
              <a:t>Test case consists of </a:t>
            </a:r>
            <a:endParaRPr b="0" lang="en-US" sz="2000" spc="-1" strike="noStrike">
              <a:latin typeface="Arial"/>
            </a:endParaRPr>
          </a:p>
          <a:p>
            <a:pPr lvl="1" marL="461880" indent="-222120">
              <a:lnSpc>
                <a:spcPct val="100000"/>
              </a:lnSpc>
              <a:spcBef>
                <a:spcPts val="7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rgbClr val="ffffff"/>
                </a:solidFill>
                <a:latin typeface="Verdana"/>
                <a:ea typeface="Verdana"/>
              </a:rPr>
              <a:t>test input value(s)</a:t>
            </a:r>
            <a:endParaRPr b="0" lang="en-US" sz="2000" spc="-1" strike="noStrike">
              <a:latin typeface="Arial"/>
            </a:endParaRPr>
          </a:p>
          <a:p>
            <a:pPr lvl="1" marL="461880" indent="-222120">
              <a:lnSpc>
                <a:spcPct val="100000"/>
              </a:lnSpc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rgbClr val="ffffff"/>
                </a:solidFill>
                <a:latin typeface="Verdana"/>
                <a:ea typeface="Verdana"/>
              </a:rPr>
              <a:t>expected result(s)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44" name="Oval 19"/>
          <p:cNvSpPr/>
          <p:nvPr/>
        </p:nvSpPr>
        <p:spPr>
          <a:xfrm>
            <a:off x="5065920" y="1303200"/>
            <a:ext cx="3683520" cy="950760"/>
          </a:xfrm>
          <a:prstGeom prst="ellipse">
            <a:avLst/>
          </a:prstGeom>
          <a:noFill/>
          <a:ln w="57150">
            <a:solidFill>
              <a:srgbClr val="ff0000"/>
            </a:solidFill>
            <a:round/>
          </a:ln>
          <a:effectLst>
            <a:outerShdw algn="tl" blurRad="50760" dir="5400000" dist="15120" rotWithShape="0">
              <a:srgbClr val="000000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5" name="Straight Arrow Connector 21"/>
          <p:cNvSpPr/>
          <p:nvPr/>
        </p:nvSpPr>
        <p:spPr>
          <a:xfrm>
            <a:off x="2013480" y="1748880"/>
            <a:ext cx="82260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8100">
            <a:solidFill>
              <a:srgbClr val="ffffff"/>
            </a:solidFill>
            <a:round/>
            <a:tailEnd len="med" type="arrow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46" name="Straight Arrow Connector 22"/>
          <p:cNvSpPr/>
          <p:nvPr/>
        </p:nvSpPr>
        <p:spPr>
          <a:xfrm>
            <a:off x="4542840" y="1748880"/>
            <a:ext cx="82260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8100">
            <a:solidFill>
              <a:srgbClr val="ffffff"/>
            </a:solidFill>
            <a:round/>
            <a:tailEnd len="med" type="arrow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47" name="Rectangle 23"/>
          <p:cNvSpPr/>
          <p:nvPr/>
        </p:nvSpPr>
        <p:spPr>
          <a:xfrm>
            <a:off x="468000" y="1422000"/>
            <a:ext cx="167148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d5fc79"/>
                </a:solidFill>
                <a:latin typeface="Verdana"/>
                <a:ea typeface="Verdana"/>
              </a:rPr>
              <a:t>Test values </a:t>
            </a:r>
            <a:endParaRPr b="0" lang="en-US" sz="2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d5fc79"/>
                </a:solidFill>
                <a:latin typeface="Verdana"/>
                <a:ea typeface="Verdana"/>
              </a:rPr>
              <a:t>(inputs)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48" name="Rectangle 24"/>
          <p:cNvSpPr/>
          <p:nvPr/>
        </p:nvSpPr>
        <p:spPr>
          <a:xfrm>
            <a:off x="5245200" y="1437480"/>
            <a:ext cx="110448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ffffff"/>
                </a:solidFill>
                <a:latin typeface="Verdana"/>
                <a:ea typeface="Verdana"/>
              </a:rPr>
              <a:t>Actual results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149" name="Group 25"/>
          <p:cNvGrpSpPr/>
          <p:nvPr/>
        </p:nvGrpSpPr>
        <p:grpSpPr>
          <a:xfrm>
            <a:off x="2826360" y="1479240"/>
            <a:ext cx="1711440" cy="538920"/>
            <a:chOff x="2826360" y="1479240"/>
            <a:chExt cx="1711440" cy="538920"/>
          </a:xfrm>
        </p:grpSpPr>
        <p:sp>
          <p:nvSpPr>
            <p:cNvPr id="150" name="Rectangle 26"/>
            <p:cNvSpPr/>
            <p:nvPr/>
          </p:nvSpPr>
          <p:spPr>
            <a:xfrm>
              <a:off x="2952360" y="1537560"/>
              <a:ext cx="1459440" cy="39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ffffff"/>
                  </a:solidFill>
                  <a:latin typeface="Verdana"/>
                  <a:ea typeface="Verdana"/>
                </a:rPr>
                <a:t>Program</a:t>
              </a:r>
              <a:endParaRPr b="0" lang="en-US" sz="2000" spc="-1" strike="noStrike">
                <a:latin typeface="Arial"/>
              </a:endParaRPr>
            </a:p>
          </p:txBody>
        </p:sp>
        <p:sp>
          <p:nvSpPr>
            <p:cNvPr id="151" name="Rectangle 27"/>
            <p:cNvSpPr/>
            <p:nvPr/>
          </p:nvSpPr>
          <p:spPr>
            <a:xfrm>
              <a:off x="2826360" y="1479240"/>
              <a:ext cx="1711440" cy="538920"/>
            </a:xfrm>
            <a:prstGeom prst="rect">
              <a:avLst/>
            </a:prstGeom>
            <a:noFill/>
            <a:ln w="38100">
              <a:solidFill>
                <a:srgbClr val="ffffff"/>
              </a:solidFill>
              <a:round/>
            </a:ln>
            <a:effectLst>
              <a:glow rad="63360">
                <a:srgbClr val="2556d1">
                  <a:alpha val="40000"/>
                </a:srgbClr>
              </a:glow>
              <a:outerShdw algn="tl" blurRad="50760" dir="5400000" dist="15120" rotWithShape="0">
                <a:srgbClr val="000000">
                  <a:alpha val="7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</p:sp>
      </p:grpSp>
      <p:sp>
        <p:nvSpPr>
          <p:cNvPr id="152" name="Rectangle 28"/>
          <p:cNvSpPr/>
          <p:nvPr/>
        </p:nvSpPr>
        <p:spPr>
          <a:xfrm>
            <a:off x="7163640" y="1437480"/>
            <a:ext cx="140112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d5fc79"/>
                </a:solidFill>
                <a:latin typeface="Verdana"/>
                <a:ea typeface="Verdana"/>
              </a:rPr>
              <a:t>Expected results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53" name="Rectangle 29"/>
          <p:cNvSpPr/>
          <p:nvPr/>
        </p:nvSpPr>
        <p:spPr>
          <a:xfrm>
            <a:off x="6044400" y="1530360"/>
            <a:ext cx="140112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ffffff"/>
                </a:solidFill>
                <a:latin typeface="Verdana"/>
                <a:ea typeface="Verdana"/>
              </a:rPr>
              <a:t>vs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54" name="Oval 30"/>
          <p:cNvSpPr/>
          <p:nvPr/>
        </p:nvSpPr>
        <p:spPr>
          <a:xfrm>
            <a:off x="425520" y="1295280"/>
            <a:ext cx="1707840" cy="914760"/>
          </a:xfrm>
          <a:prstGeom prst="ellipse">
            <a:avLst/>
          </a:prstGeom>
          <a:noFill/>
          <a:ln w="57150">
            <a:solidFill>
              <a:srgbClr val="ff0000"/>
            </a:solidFill>
            <a:round/>
          </a:ln>
          <a:effectLst>
            <a:outerShdw algn="tl" blurRad="50760" dir="5400000" dist="15120" rotWithShape="0">
              <a:srgbClr val="000000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5" name="Rectangle 18"/>
          <p:cNvSpPr/>
          <p:nvPr/>
        </p:nvSpPr>
        <p:spPr>
          <a:xfrm>
            <a:off x="749880" y="2514600"/>
            <a:ext cx="7677000" cy="987120"/>
          </a:xfrm>
          <a:prstGeom prst="rect">
            <a:avLst/>
          </a:prstGeom>
          <a:solidFill>
            <a:srgbClr val="000099"/>
          </a:solidFill>
          <a:ln w="0">
            <a:solidFill>
              <a:srgbClr val="accbf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pc="-1" strike="noStrike">
                <a:solidFill>
                  <a:srgbClr val="ffff00"/>
                </a:solidFill>
                <a:latin typeface="Verdana"/>
                <a:ea typeface="Verdana"/>
              </a:rPr>
              <a:t>Testing can only reveal the presence of faults; </a:t>
            </a:r>
            <a:endParaRPr b="0" lang="en-US" sz="22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pc="-1" strike="noStrike">
                <a:solidFill>
                  <a:srgbClr val="ffff00"/>
                </a:solidFill>
                <a:latin typeface="Verdana"/>
                <a:ea typeface="Verdana"/>
              </a:rPr>
              <a:t>Not showing the absence of faults</a:t>
            </a:r>
            <a:endParaRPr b="0" lang="en-US" sz="2200" spc="-1" strike="noStrike">
              <a:latin typeface="Arial"/>
            </a:endParaRPr>
          </a:p>
        </p:txBody>
      </p:sp>
      <p:grpSp>
        <p:nvGrpSpPr>
          <p:cNvPr id="156" name="Group 20"/>
          <p:cNvGrpSpPr/>
          <p:nvPr/>
        </p:nvGrpSpPr>
        <p:grpSpPr>
          <a:xfrm>
            <a:off x="3809880" y="3886200"/>
            <a:ext cx="3809520" cy="1828440"/>
            <a:chOff x="3809880" y="3886200"/>
            <a:chExt cx="3809520" cy="1828440"/>
          </a:xfrm>
        </p:grpSpPr>
        <p:sp>
          <p:nvSpPr>
            <p:cNvPr id="157" name="Cloud Callout 33"/>
            <p:cNvSpPr/>
            <p:nvPr/>
          </p:nvSpPr>
          <p:spPr>
            <a:xfrm>
              <a:off x="3809880" y="3886200"/>
              <a:ext cx="3809520" cy="1828440"/>
            </a:xfrm>
            <a:prstGeom prst="cloudCallout">
              <a:avLst>
                <a:gd name="adj1" fmla="val 57515"/>
                <a:gd name="adj2" fmla="val 31461"/>
              </a:avLst>
            </a:prstGeom>
            <a:solidFill>
              <a:srgbClr val="dffdc8"/>
            </a:solidFill>
            <a:ln>
              <a:solidFill>
                <a:srgbClr val="ffffff">
                  <a:lumMod val="65000"/>
                </a:srgbClr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58" name="TextBox 34"/>
            <p:cNvSpPr/>
            <p:nvPr/>
          </p:nvSpPr>
          <p:spPr>
            <a:xfrm>
              <a:off x="4114800" y="4355280"/>
              <a:ext cx="3276360" cy="746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marL="17640" indent="-3240" algn="ctr">
                <a:lnSpc>
                  <a:spcPct val="90000"/>
                </a:lnSpc>
                <a:spcBef>
                  <a:spcPts val="1199"/>
                </a:spcBef>
                <a:buNone/>
                <a:tabLst>
                  <a:tab algn="l" pos="0"/>
                </a:tabLst>
              </a:pPr>
              <a:r>
                <a:rPr b="0" lang="en-US" sz="1600" spc="-1" strike="noStrike">
                  <a:solidFill>
                    <a:srgbClr val="000000"/>
                  </a:solidFill>
                  <a:latin typeface="Comic Sans MS"/>
                  <a:ea typeface="Comic Sans MS"/>
                </a:rPr>
                <a:t>Will all inputs trigger a problem in software? Will an input that triggers a problem always lead to a software failure?</a:t>
              </a:r>
              <a:endParaRPr b="0" lang="en-US" sz="1600" spc="-1" strike="noStrike">
                <a:latin typeface="Arial"/>
              </a:endParaRPr>
            </a:p>
          </p:txBody>
        </p:sp>
      </p:grpSp>
      <p:pic>
        <p:nvPicPr>
          <p:cNvPr id="159" name="Picture 35" descr=""/>
          <p:cNvPicPr/>
          <p:nvPr/>
        </p:nvPicPr>
        <p:blipFill>
          <a:blip r:embed="rId1"/>
          <a:stretch/>
        </p:blipFill>
        <p:spPr>
          <a:xfrm>
            <a:off x="7772400" y="5296320"/>
            <a:ext cx="1104120" cy="1104120"/>
          </a:xfrm>
          <a:prstGeom prst="rect">
            <a:avLst/>
          </a:prstGeom>
          <a:ln w="0">
            <a:noFill/>
          </a:ln>
        </p:spPr>
      </p:pic>
      <p:sp>
        <p:nvSpPr>
          <p:cNvPr id="160" name="TextBox 36"/>
          <p:cNvSpPr/>
          <p:nvPr/>
        </p:nvSpPr>
        <p:spPr>
          <a:xfrm>
            <a:off x="6949800" y="6414120"/>
            <a:ext cx="21560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800" spc="-1" strike="noStrike">
                <a:solidFill>
                  <a:srgbClr val="bfbfbf"/>
                </a:solidFill>
                <a:latin typeface="Verdana"/>
                <a:ea typeface="Verdana"/>
              </a:rPr>
              <a:t>[Ref: emoji by Ekarin Apirakthanakorn]</a:t>
            </a:r>
            <a:endParaRPr b="0" lang="en-US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4000" spc="-52" strike="noStrike">
                <a:solidFill>
                  <a:srgbClr val="ffff00"/>
                </a:solidFill>
                <a:latin typeface="Verdana"/>
                <a:ea typeface="Verdana"/>
              </a:rPr>
              <a:t>Today’s Objectives</a:t>
            </a:r>
            <a:endParaRPr b="0" lang="en-US" sz="4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/>
          </p:nvPr>
        </p:nvSpPr>
        <p:spPr>
          <a:xfrm>
            <a:off x="304920" y="1066680"/>
            <a:ext cx="8686440" cy="54860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35080" indent="-235080">
              <a:lnSpc>
                <a:spcPct val="100000"/>
              </a:lnSpc>
              <a:spcBef>
                <a:spcPts val="2001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Understand the differences between faults, errors, and failures</a:t>
            </a:r>
            <a:endParaRPr b="0" lang="en-US" sz="2000" spc="9" strike="noStrike">
              <a:solidFill>
                <a:srgbClr val="000000"/>
              </a:solidFill>
              <a:latin typeface="Century Schoolbook"/>
            </a:endParaRPr>
          </a:p>
          <a:p>
            <a:pPr marL="235080" indent="-235080">
              <a:lnSpc>
                <a:spcPct val="100000"/>
              </a:lnSpc>
              <a:spcBef>
                <a:spcPts val="2999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Understand how faults, errors, and failures affect the program</a:t>
            </a:r>
            <a:endParaRPr b="0" lang="en-US" sz="2000" spc="9" strike="noStrike">
              <a:solidFill>
                <a:srgbClr val="000000"/>
              </a:solidFill>
              <a:latin typeface="Century Schoolbook"/>
            </a:endParaRPr>
          </a:p>
          <a:p>
            <a:pPr marL="235080" indent="-235080">
              <a:lnSpc>
                <a:spcPct val="100000"/>
              </a:lnSpc>
              <a:spcBef>
                <a:spcPts val="2999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Understand the four conditions that must be satisfied when designing tests</a:t>
            </a:r>
            <a:endParaRPr b="0" lang="en-US" sz="2000" spc="9" strike="noStrike">
              <a:solidFill>
                <a:srgbClr val="000000"/>
              </a:solidFill>
              <a:latin typeface="Century Schoolbook"/>
            </a:endParaRPr>
          </a:p>
          <a:p>
            <a:pPr lvl="1" marL="641520" indent="-187200">
              <a:lnSpc>
                <a:spcPct val="100000"/>
              </a:lnSpc>
              <a:spcBef>
                <a:spcPts val="1599"/>
              </a:spcBef>
              <a:spcAft>
                <a:spcPts val="300"/>
              </a:spcAft>
              <a:buClr>
                <a:srgbClr val="ffffff"/>
              </a:buClr>
              <a:buFont typeface="Wingdings 2" charset="2"/>
              <a:buChar char=""/>
            </a:pPr>
            <a:r>
              <a:rPr b="0" lang="en-US" sz="2000" spc="-1" strike="noStrike">
                <a:solidFill>
                  <a:srgbClr val="ffffff"/>
                </a:solidFill>
                <a:latin typeface="Verdana"/>
                <a:ea typeface="Verdana"/>
              </a:rPr>
              <a:t>Reachability</a:t>
            </a:r>
            <a:endParaRPr b="0" lang="en-US" sz="2000" spc="-1" strike="noStrike">
              <a:solidFill>
                <a:srgbClr val="262626"/>
              </a:solidFill>
              <a:latin typeface="Century Schoolbook"/>
            </a:endParaRPr>
          </a:p>
          <a:p>
            <a:pPr lvl="1" marL="641520" indent="-187200">
              <a:lnSpc>
                <a:spcPct val="100000"/>
              </a:lnSpc>
              <a:spcAft>
                <a:spcPts val="300"/>
              </a:spcAft>
              <a:buClr>
                <a:srgbClr val="ffffff"/>
              </a:buClr>
              <a:buFont typeface="Wingdings 2" charset="2"/>
              <a:buChar char=""/>
            </a:pPr>
            <a:r>
              <a:rPr b="0" lang="en-US" sz="2000" spc="-1" strike="noStrike">
                <a:solidFill>
                  <a:srgbClr val="ffffff"/>
                </a:solidFill>
                <a:latin typeface="Verdana"/>
                <a:ea typeface="Verdana"/>
              </a:rPr>
              <a:t>Infection</a:t>
            </a:r>
            <a:endParaRPr b="0" lang="en-US" sz="2000" spc="-1" strike="noStrike">
              <a:solidFill>
                <a:srgbClr val="262626"/>
              </a:solidFill>
              <a:latin typeface="Century Schoolbook"/>
            </a:endParaRPr>
          </a:p>
          <a:p>
            <a:pPr lvl="1" marL="641520" indent="-187200">
              <a:lnSpc>
                <a:spcPct val="100000"/>
              </a:lnSpc>
              <a:spcAft>
                <a:spcPts val="300"/>
              </a:spcAft>
              <a:buClr>
                <a:srgbClr val="ffffff"/>
              </a:buClr>
              <a:buFont typeface="Wingdings 2" charset="2"/>
              <a:buChar char=""/>
            </a:pPr>
            <a:r>
              <a:rPr b="0" lang="en-US" sz="2000" spc="-1" strike="noStrike">
                <a:solidFill>
                  <a:srgbClr val="ffffff"/>
                </a:solidFill>
                <a:latin typeface="Verdana"/>
                <a:ea typeface="Verdana"/>
              </a:rPr>
              <a:t>Propagation</a:t>
            </a:r>
            <a:endParaRPr b="0" lang="en-US" sz="2000" spc="-1" strike="noStrike">
              <a:solidFill>
                <a:srgbClr val="262626"/>
              </a:solidFill>
              <a:latin typeface="Century Schoolbook"/>
            </a:endParaRPr>
          </a:p>
          <a:p>
            <a:pPr lvl="1" marL="641520" indent="-187200">
              <a:lnSpc>
                <a:spcPct val="100000"/>
              </a:lnSpc>
              <a:spcAft>
                <a:spcPts val="300"/>
              </a:spcAft>
              <a:buClr>
                <a:srgbClr val="ffffff"/>
              </a:buClr>
              <a:buFont typeface="Wingdings 2" charset="2"/>
              <a:buChar char=""/>
            </a:pPr>
            <a:r>
              <a:rPr b="0" lang="en-US" sz="2000" spc="-1" strike="noStrike">
                <a:solidFill>
                  <a:srgbClr val="ffffff"/>
                </a:solidFill>
                <a:latin typeface="Verdana"/>
                <a:ea typeface="Verdana"/>
              </a:rPr>
              <a:t>Revealability </a:t>
            </a:r>
            <a:endParaRPr b="0" lang="en-US" sz="2000" spc="-1" strike="noStrike">
              <a:solidFill>
                <a:srgbClr val="262626"/>
              </a:solidFill>
              <a:latin typeface="Century Schoolbook"/>
            </a:endParaRPr>
          </a:p>
        </p:txBody>
      </p:sp>
      <p:grpSp>
        <p:nvGrpSpPr>
          <p:cNvPr id="163" name="Group 6"/>
          <p:cNvGrpSpPr/>
          <p:nvPr/>
        </p:nvGrpSpPr>
        <p:grpSpPr>
          <a:xfrm>
            <a:off x="457200" y="3276720"/>
            <a:ext cx="5256360" cy="1599840"/>
            <a:chOff x="457200" y="3276720"/>
            <a:chExt cx="5256360" cy="1599840"/>
          </a:xfrm>
        </p:grpSpPr>
        <p:sp>
          <p:nvSpPr>
            <p:cNvPr id="164" name="Rectangle 2"/>
            <p:cNvSpPr/>
            <p:nvPr/>
          </p:nvSpPr>
          <p:spPr>
            <a:xfrm>
              <a:off x="3523320" y="3809880"/>
              <a:ext cx="2190240" cy="424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marL="15840" algn="ctr">
                <a:lnSpc>
                  <a:spcPct val="100000"/>
                </a:lnSpc>
                <a:spcBef>
                  <a:spcPts val="1199"/>
                </a:spcBef>
                <a:buNone/>
              </a:pPr>
              <a:r>
                <a:rPr b="0" lang="en-US" sz="2200" spc="-1" strike="noStrike">
                  <a:solidFill>
                    <a:srgbClr val="ffffff"/>
                  </a:solidFill>
                  <a:latin typeface="Verdana"/>
                  <a:ea typeface="Verdana"/>
                </a:rPr>
                <a:t>“</a:t>
              </a:r>
              <a:r>
                <a:rPr b="1" lang="en-US" sz="2200" spc="-1" strike="noStrike">
                  <a:solidFill>
                    <a:srgbClr val="ffff00"/>
                  </a:solidFill>
                  <a:latin typeface="Verdana"/>
                  <a:ea typeface="Verdana"/>
                </a:rPr>
                <a:t>RIPR</a:t>
              </a:r>
              <a:r>
                <a:rPr b="1" lang="en-US" sz="2200" spc="-1" strike="noStrike">
                  <a:solidFill>
                    <a:srgbClr val="ffffff"/>
                  </a:solidFill>
                  <a:latin typeface="Verdana"/>
                  <a:ea typeface="Verdana"/>
                </a:rPr>
                <a:t> </a:t>
              </a:r>
              <a:r>
                <a:rPr b="0" lang="en-US" sz="2200" spc="-1" strike="noStrike">
                  <a:solidFill>
                    <a:srgbClr val="ffffff"/>
                  </a:solidFill>
                  <a:latin typeface="Verdana"/>
                  <a:ea typeface="Verdana"/>
                </a:rPr>
                <a:t>model”</a:t>
              </a:r>
              <a:endParaRPr b="0" lang="en-US" sz="2200" spc="-1" strike="noStrike">
                <a:latin typeface="Arial"/>
              </a:endParaRPr>
            </a:p>
          </p:txBody>
        </p:sp>
        <p:sp>
          <p:nvSpPr>
            <p:cNvPr id="165" name="Rounded Rectangle 5"/>
            <p:cNvSpPr/>
            <p:nvPr/>
          </p:nvSpPr>
          <p:spPr>
            <a:xfrm>
              <a:off x="457200" y="3276720"/>
              <a:ext cx="2971440" cy="1599840"/>
            </a:xfrm>
            <a:prstGeom prst="roundRect">
              <a:avLst>
                <a:gd name="adj" fmla="val 16667"/>
              </a:avLst>
            </a:prstGeom>
            <a:noFill/>
            <a:ln>
              <a:solidFill>
                <a:srgbClr val="ffff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4000" spc="-52" strike="noStrike">
                <a:solidFill>
                  <a:srgbClr val="ffff00"/>
                </a:solidFill>
                <a:latin typeface="Verdana"/>
                <a:ea typeface="Verdana"/>
              </a:rPr>
              <a:t>Bug?</a:t>
            </a:r>
            <a:endParaRPr b="0" lang="en-US" sz="4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67" name="Content Placeholder 3" descr=""/>
          <p:cNvPicPr/>
          <p:nvPr/>
        </p:nvPicPr>
        <p:blipFill>
          <a:blip r:embed="rId1"/>
          <a:stretch/>
        </p:blipFill>
        <p:spPr>
          <a:xfrm>
            <a:off x="5943600" y="1042560"/>
            <a:ext cx="2923560" cy="1974600"/>
          </a:xfrm>
          <a:prstGeom prst="rect">
            <a:avLst/>
          </a:prstGeom>
          <a:ln w="0">
            <a:noFill/>
          </a:ln>
        </p:spPr>
      </p:pic>
      <p:sp>
        <p:nvSpPr>
          <p:cNvPr id="168" name="Content Placeholder 4"/>
          <p:cNvSpPr/>
          <p:nvPr/>
        </p:nvSpPr>
        <p:spPr>
          <a:xfrm>
            <a:off x="419040" y="4572000"/>
            <a:ext cx="8305560" cy="19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82880" indent="-182880">
              <a:lnSpc>
                <a:spcPct val="100000"/>
              </a:lnSpc>
              <a:spcBef>
                <a:spcPts val="1400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“</a:t>
            </a: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Bug”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 is used informally.</a:t>
            </a:r>
            <a:endParaRPr b="0" lang="en-US" sz="2000" spc="-1" strike="noStrike">
              <a:latin typeface="Arial"/>
            </a:endParaRPr>
          </a:p>
          <a:p>
            <a:pPr marL="182880" indent="-182880">
              <a:lnSpc>
                <a:spcPct val="100000"/>
              </a:lnSpc>
              <a:spcBef>
                <a:spcPts val="1400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Fault? Error? Or failure?</a:t>
            </a:r>
            <a:endParaRPr b="0" lang="en-US" sz="2000" spc="-1" strike="noStrike">
              <a:latin typeface="Arial"/>
            </a:endParaRPr>
          </a:p>
          <a:p>
            <a:pPr marL="182880" indent="-182880">
              <a:lnSpc>
                <a:spcPct val="100000"/>
              </a:lnSpc>
              <a:spcBef>
                <a:spcPts val="1400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This course will try to use words that have </a:t>
            </a: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precise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, </a:t>
            </a: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defined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, and </a:t>
            </a: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unambiguous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 meaning – and avoid using the term “bug”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169" name="Group 8"/>
          <p:cNvGrpSpPr/>
          <p:nvPr/>
        </p:nvGrpSpPr>
        <p:grpSpPr>
          <a:xfrm>
            <a:off x="274320" y="1066680"/>
            <a:ext cx="5288040" cy="1980720"/>
            <a:chOff x="274320" y="1066680"/>
            <a:chExt cx="5288040" cy="1980720"/>
          </a:xfrm>
        </p:grpSpPr>
        <p:sp>
          <p:nvSpPr>
            <p:cNvPr id="170" name="Content Placeholder 4"/>
            <p:cNvSpPr/>
            <p:nvPr/>
          </p:nvSpPr>
          <p:spPr>
            <a:xfrm>
              <a:off x="274320" y="1066680"/>
              <a:ext cx="5288040" cy="1980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anchor="t">
              <a:noAutofit/>
            </a:bodyPr>
            <a:p>
              <a:pPr>
                <a:lnSpc>
                  <a:spcPct val="90000"/>
                </a:lnSpc>
                <a:spcBef>
                  <a:spcPts val="1400"/>
                </a:spcBef>
                <a:spcAft>
                  <a:spcPts val="201"/>
                </a:spcAft>
                <a:buNone/>
                <a:tabLst>
                  <a:tab algn="l" pos="0"/>
                </a:tabLst>
              </a:pPr>
              <a:r>
                <a:rPr b="0" lang="en-US" sz="1600" spc="9" strike="noStrike">
                  <a:solidFill>
                    <a:srgbClr val="ffffff"/>
                  </a:solidFill>
                  <a:latin typeface="Verdana"/>
                  <a:ea typeface="Verdana"/>
                </a:rPr>
                <a:t>“ ‘</a:t>
              </a:r>
              <a:r>
                <a:rPr b="0" lang="en-US" sz="1600" spc="9" strike="noStrike">
                  <a:solidFill>
                    <a:srgbClr val="ffffff"/>
                  </a:solidFill>
                  <a:latin typeface="Verdana"/>
                  <a:ea typeface="Verdana"/>
                </a:rPr>
                <a:t>Bug’ – </a:t>
              </a:r>
              <a:r>
                <a:rPr b="0" i="1" lang="en-US" sz="1600" spc="9" strike="noStrike">
                  <a:solidFill>
                    <a:srgbClr val="ffffff"/>
                  </a:solidFill>
                  <a:latin typeface="Verdana"/>
                  <a:ea typeface="Verdana"/>
                </a:rPr>
                <a:t>as such little faults and difficulties are called – show themselves, and months of anxious watching, study, and labor are requisite before commercial success – or failure – is certainly reached.” [Thomas Edison, 1878]</a:t>
              </a:r>
              <a:endParaRPr b="0" lang="en-US" sz="1600" spc="-1" strike="noStrike">
                <a:latin typeface="Arial"/>
              </a:endParaRPr>
            </a:p>
          </p:txBody>
        </p:sp>
        <p:sp>
          <p:nvSpPr>
            <p:cNvPr id="171" name="Rectangle 6"/>
            <p:cNvSpPr/>
            <p:nvPr/>
          </p:nvSpPr>
          <p:spPr>
            <a:xfrm>
              <a:off x="304920" y="2234160"/>
              <a:ext cx="5257440" cy="58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90000"/>
                </a:lnSpc>
                <a:buNone/>
              </a:pPr>
              <a:r>
                <a:rPr b="0" lang="en-US" sz="1200" spc="-1" strike="noStrike">
                  <a:solidFill>
                    <a:srgbClr val="a7feff"/>
                  </a:solidFill>
                  <a:latin typeface="Verdana"/>
                  <a:ea typeface="Verdana"/>
                </a:rPr>
                <a:t>[Ref: Did You Know? Edison Coined the Term “Bug”, http://theinstitute.ieee.org/tech-history/technology-history/did-you-know-edison-coined-the-term-bug, IEEE 2013]</a:t>
              </a:r>
              <a:endParaRPr b="0" lang="en-US" sz="1200" spc="-1" strike="noStrike">
                <a:latin typeface="Arial"/>
              </a:endParaRPr>
            </a:p>
          </p:txBody>
        </p:sp>
      </p:grpSp>
      <p:grpSp>
        <p:nvGrpSpPr>
          <p:cNvPr id="172" name="Group 17"/>
          <p:cNvGrpSpPr/>
          <p:nvPr/>
        </p:nvGrpSpPr>
        <p:grpSpPr>
          <a:xfrm>
            <a:off x="6169320" y="4642200"/>
            <a:ext cx="976680" cy="752040"/>
            <a:chOff x="6169320" y="4642200"/>
            <a:chExt cx="976680" cy="752040"/>
          </a:xfrm>
        </p:grpSpPr>
        <p:sp>
          <p:nvSpPr>
            <p:cNvPr id="173" name="Oval 18"/>
            <p:cNvSpPr/>
            <p:nvPr/>
          </p:nvSpPr>
          <p:spPr>
            <a:xfrm>
              <a:off x="6244920" y="4642200"/>
              <a:ext cx="825120" cy="752040"/>
            </a:xfrm>
            <a:prstGeom prst="ellipse">
              <a:avLst/>
            </a:prstGeom>
            <a:noFill/>
            <a:ln w="76200">
              <a:solidFill>
                <a:srgbClr val="ff0000"/>
              </a:solidFill>
              <a:round/>
            </a:ln>
            <a:effectLst>
              <a:glow rad="101520">
                <a:srgbClr val="2556d1">
                  <a:alpha val="40000"/>
                </a:srgbClr>
              </a:glow>
              <a:innerShdw blurRad="63500" dir="18900000" dist="50800">
                <a:srgbClr val="000000">
                  <a:alpha val="50000"/>
                </a:srgbClr>
              </a:innerShdw>
            </a:effectLst>
          </p:spPr>
          <p:style>
            <a:lnRef idx="0"/>
            <a:fillRef idx="0"/>
            <a:effectRef idx="0"/>
            <a:fontRef idx="minor"/>
          </p:style>
        </p:sp>
        <p:sp>
          <p:nvSpPr>
            <p:cNvPr id="174" name="TextBox 19"/>
            <p:cNvSpPr/>
            <p:nvPr/>
          </p:nvSpPr>
          <p:spPr>
            <a:xfrm>
              <a:off x="6169320" y="4756680"/>
              <a:ext cx="976680" cy="51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2800" spc="-1" strike="noStrike">
                  <a:solidFill>
                    <a:srgbClr val="ffff00"/>
                  </a:solidFill>
                  <a:latin typeface="Bookman Old Style"/>
                </a:rPr>
                <a:t>BUG</a:t>
              </a:r>
              <a:endParaRPr b="0" lang="en-US" sz="2800" spc="-1" strike="noStrike">
                <a:latin typeface="Arial"/>
              </a:endParaRPr>
            </a:p>
          </p:txBody>
        </p:sp>
        <p:sp>
          <p:nvSpPr>
            <p:cNvPr id="175" name="Straight Connector 20"/>
            <p:cNvSpPr/>
            <p:nvPr/>
          </p:nvSpPr>
          <p:spPr>
            <a:xfrm>
              <a:off x="6365880" y="4752000"/>
              <a:ext cx="583560" cy="532440"/>
            </a:xfrm>
            <a:prstGeom prst="line">
              <a:avLst/>
            </a:prstGeom>
            <a:ln w="76200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76" name="Group 9"/>
          <p:cNvGrpSpPr/>
          <p:nvPr/>
        </p:nvGrpSpPr>
        <p:grpSpPr>
          <a:xfrm>
            <a:off x="304920" y="3336840"/>
            <a:ext cx="8762760" cy="764640"/>
            <a:chOff x="304920" y="3336840"/>
            <a:chExt cx="8762760" cy="764640"/>
          </a:xfrm>
        </p:grpSpPr>
        <p:sp>
          <p:nvSpPr>
            <p:cNvPr id="177" name="Rectangle 2"/>
            <p:cNvSpPr/>
            <p:nvPr/>
          </p:nvSpPr>
          <p:spPr>
            <a:xfrm>
              <a:off x="4735440" y="3821400"/>
              <a:ext cx="4332240" cy="280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250" spc="-1" strike="noStrike">
                  <a:solidFill>
                    <a:srgbClr val="a7feff"/>
                  </a:solidFill>
                  <a:latin typeface="Verdana"/>
                  <a:ea typeface="Verdana"/>
                </a:rPr>
                <a:t>[Ref: https://en.wikipedia.org/wiki/Software_bug]</a:t>
              </a:r>
              <a:endParaRPr b="0" lang="en-US" sz="1250" spc="-1" strike="noStrike">
                <a:latin typeface="Arial"/>
              </a:endParaRPr>
            </a:p>
          </p:txBody>
        </p:sp>
        <p:sp>
          <p:nvSpPr>
            <p:cNvPr id="178" name="Rectangle 7"/>
            <p:cNvSpPr/>
            <p:nvPr/>
          </p:nvSpPr>
          <p:spPr>
            <a:xfrm>
              <a:off x="304920" y="3336840"/>
              <a:ext cx="8229240" cy="746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90000"/>
                </a:lnSpc>
                <a:buNone/>
              </a:pPr>
              <a:r>
                <a:rPr b="0" i="1" lang="en-US" sz="1600" spc="-1" strike="noStrike">
                  <a:solidFill>
                    <a:srgbClr val="ffffff"/>
                  </a:solidFill>
                  <a:latin typeface="Verdana"/>
                  <a:ea typeface="Verdana"/>
                </a:rPr>
                <a:t>“</a:t>
              </a:r>
              <a:r>
                <a:rPr b="0" i="1" lang="en-US" sz="1600" spc="-1" strike="noStrike">
                  <a:solidFill>
                    <a:srgbClr val="ffffff"/>
                  </a:solidFill>
                  <a:latin typeface="Verdana"/>
                  <a:ea typeface="Verdana"/>
                </a:rPr>
                <a:t>A software bug is an error, flaw, failure or fault in a computer program or</a:t>
              </a:r>
              <a:r>
                <a:rPr b="0" i="1" lang="en-US" sz="1600" spc="-1" strike="noStrike" u="sng">
                  <a:solidFill>
                    <a:srgbClr val="9454c3"/>
                  </a:solidFill>
                  <a:uFillTx/>
                  <a:latin typeface="Verdana"/>
                  <a:ea typeface="Verdana"/>
                  <a:hlinkClick r:id="rId2"/>
                </a:rPr>
                <a:t> </a:t>
              </a:r>
              <a:r>
                <a:rPr b="0" i="1" lang="en-US" sz="1600" spc="-1" strike="noStrike">
                  <a:solidFill>
                    <a:srgbClr val="ffffff"/>
                  </a:solidFill>
                  <a:latin typeface="Verdana"/>
                  <a:ea typeface="Verdana"/>
                </a:rPr>
                <a:t>system that causes it to produce an incorrect or unexpected result, or to behave in unintended ways.”</a:t>
              </a:r>
              <a:endParaRPr b="0" lang="en-US" sz="16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3700" spc="-52" strike="noStrike">
                <a:solidFill>
                  <a:srgbClr val="ffff00"/>
                </a:solidFill>
                <a:latin typeface="Verdana"/>
                <a:ea typeface="Verdana"/>
              </a:rPr>
              <a:t>Fault, Error, and Failure in Action</a:t>
            </a:r>
            <a:endParaRPr b="0" lang="en-US" sz="3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Content Placeholder 4"/>
          <p:cNvSpPr/>
          <p:nvPr/>
        </p:nvSpPr>
        <p:spPr>
          <a:xfrm>
            <a:off x="343080" y="1066680"/>
            <a:ext cx="864828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spcBef>
                <a:spcPts val="15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Consider the following pseudo. Trace through &amp; execute it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181" name="Group 6"/>
          <p:cNvGrpSpPr/>
          <p:nvPr/>
        </p:nvGrpSpPr>
        <p:grpSpPr>
          <a:xfrm>
            <a:off x="400680" y="2590920"/>
            <a:ext cx="4170960" cy="1462680"/>
            <a:chOff x="400680" y="2590920"/>
            <a:chExt cx="4170960" cy="1462680"/>
          </a:xfrm>
        </p:grpSpPr>
        <p:sp>
          <p:nvSpPr>
            <p:cNvPr id="182" name="TextBox 5"/>
            <p:cNvSpPr/>
            <p:nvPr/>
          </p:nvSpPr>
          <p:spPr>
            <a:xfrm>
              <a:off x="400680" y="2590920"/>
              <a:ext cx="4170960" cy="1462680"/>
            </a:xfrm>
            <a:prstGeom prst="rect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doSomething (int x, int y) </a:t>
              </a:r>
              <a:r>
                <a:rPr b="1" lang="en-US" sz="1800" spc="-1" strike="noStrike">
                  <a:solidFill>
                    <a:srgbClr val="808080"/>
                  </a:solidFill>
                  <a:latin typeface="Courier New"/>
                  <a:ea typeface="Courier New"/>
                </a:rPr>
                <a:t> </a:t>
              </a:r>
              <a:endParaRPr b="0" lang="en-US" sz="1800" spc="-1" strike="noStrike">
                <a:latin typeface="Arial"/>
              </a:endParaRPr>
            </a:p>
            <a:p>
              <a:pPr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if (x &gt;= y)</a:t>
              </a:r>
              <a:endParaRPr b="0" lang="en-US" sz="1800" spc="-1" strike="noStrike">
                <a:latin typeface="Arial"/>
              </a:endParaRPr>
            </a:p>
            <a:p>
              <a:pPr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clap 3 times</a:t>
              </a:r>
              <a:endParaRPr b="0" lang="en-US" sz="1800" spc="-1" strike="noStrike">
                <a:latin typeface="Arial"/>
              </a:endParaRPr>
            </a:p>
            <a:p>
              <a:pPr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else</a:t>
              </a:r>
              <a:endParaRPr b="0" lang="en-US" sz="1800" spc="-1" strike="noStrike">
                <a:latin typeface="Arial"/>
              </a:endParaRPr>
            </a:p>
            <a:p>
              <a:pPr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stomp 5 times</a:t>
              </a:r>
              <a:endParaRPr b="0" lang="en-US" sz="1800" spc="-1" strike="noStrike">
                <a:latin typeface="Arial"/>
              </a:endParaRPr>
            </a:p>
          </p:txBody>
        </p:sp>
        <p:sp>
          <p:nvSpPr>
            <p:cNvPr id="183" name="Rounded Rectangular Callout 3"/>
            <p:cNvSpPr/>
            <p:nvPr/>
          </p:nvSpPr>
          <p:spPr>
            <a:xfrm>
              <a:off x="3444120" y="3392280"/>
              <a:ext cx="1066320" cy="609120"/>
            </a:xfrm>
            <a:prstGeom prst="wedgeRoundRectCallout">
              <a:avLst>
                <a:gd name="adj1" fmla="val -17624"/>
                <a:gd name="adj2" fmla="val 7955"/>
                <a:gd name="adj3" fmla="val 16667"/>
              </a:avLst>
            </a:prstGeom>
            <a:solidFill>
              <a:srgbClr val="000099"/>
            </a:solidFill>
            <a:ln>
              <a:solidFill>
                <a:srgbClr val="364b7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90000"/>
                </a:lnSpc>
                <a:buNone/>
              </a:pPr>
              <a:r>
                <a:rPr b="0" lang="en-US" sz="1500" spc="-1" strike="noStrike">
                  <a:solidFill>
                    <a:srgbClr val="ffffff"/>
                  </a:solidFill>
                  <a:latin typeface="Verdana"/>
                  <a:ea typeface="Verdana"/>
                </a:rPr>
                <a:t>Correct code</a:t>
              </a:r>
              <a:endParaRPr b="0" lang="en-US" sz="1500" spc="-1" strike="noStrike">
                <a:latin typeface="Arial"/>
              </a:endParaRPr>
            </a:p>
          </p:txBody>
        </p:sp>
      </p:grpSp>
      <p:grpSp>
        <p:nvGrpSpPr>
          <p:cNvPr id="184" name="Group 8"/>
          <p:cNvGrpSpPr/>
          <p:nvPr/>
        </p:nvGrpSpPr>
        <p:grpSpPr>
          <a:xfrm>
            <a:off x="380880" y="4267080"/>
            <a:ext cx="4170960" cy="1462680"/>
            <a:chOff x="380880" y="4267080"/>
            <a:chExt cx="4170960" cy="1462680"/>
          </a:xfrm>
        </p:grpSpPr>
        <p:sp>
          <p:nvSpPr>
            <p:cNvPr id="185" name="TextBox 4"/>
            <p:cNvSpPr/>
            <p:nvPr/>
          </p:nvSpPr>
          <p:spPr>
            <a:xfrm>
              <a:off x="380880" y="4267080"/>
              <a:ext cx="4170960" cy="1462680"/>
            </a:xfrm>
            <a:prstGeom prst="rect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doSomething (int x, int y)</a:t>
              </a:r>
              <a:r>
                <a:rPr b="1" lang="en-US" sz="1800" spc="-1" strike="noStrike">
                  <a:solidFill>
                    <a:srgbClr val="808080"/>
                  </a:solidFill>
                  <a:latin typeface="Courier New"/>
                  <a:ea typeface="Courier New"/>
                </a:rPr>
                <a:t> </a:t>
              </a:r>
              <a:endParaRPr b="0" lang="en-US" sz="1800" spc="-1" strike="noStrike">
                <a:latin typeface="Arial"/>
              </a:endParaRPr>
            </a:p>
            <a:p>
              <a:pPr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if (x &gt; y)</a:t>
              </a:r>
              <a:endParaRPr b="0" lang="en-US" sz="1800" spc="-1" strike="noStrike">
                <a:latin typeface="Arial"/>
              </a:endParaRPr>
            </a:p>
            <a:p>
              <a:pPr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clap 3 times</a:t>
              </a:r>
              <a:endParaRPr b="0" lang="en-US" sz="1800" spc="-1" strike="noStrike">
                <a:latin typeface="Arial"/>
              </a:endParaRPr>
            </a:p>
            <a:p>
              <a:pPr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else</a:t>
              </a:r>
              <a:endParaRPr b="0" lang="en-US" sz="1800" spc="-1" strike="noStrike">
                <a:latin typeface="Arial"/>
              </a:endParaRPr>
            </a:p>
            <a:p>
              <a:pPr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stomp 5 times</a:t>
              </a:r>
              <a:endParaRPr b="0" lang="en-US" sz="1800" spc="-1" strike="noStrike">
                <a:latin typeface="Arial"/>
              </a:endParaRPr>
            </a:p>
          </p:txBody>
        </p:sp>
        <p:sp>
          <p:nvSpPr>
            <p:cNvPr id="186" name="Rounded Rectangular Callout 7"/>
            <p:cNvSpPr/>
            <p:nvPr/>
          </p:nvSpPr>
          <p:spPr>
            <a:xfrm>
              <a:off x="3424320" y="5072040"/>
              <a:ext cx="1066320" cy="609120"/>
            </a:xfrm>
            <a:prstGeom prst="wedgeRoundRectCallout">
              <a:avLst>
                <a:gd name="adj1" fmla="val -17624"/>
                <a:gd name="adj2" fmla="val 7955"/>
                <a:gd name="adj3" fmla="val 16667"/>
              </a:avLst>
            </a:prstGeom>
            <a:solidFill>
              <a:srgbClr val="000099"/>
            </a:solidFill>
            <a:ln>
              <a:solidFill>
                <a:srgbClr val="364b7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90000"/>
                </a:lnSpc>
                <a:buNone/>
              </a:pPr>
              <a:r>
                <a:rPr b="0" lang="en-US" sz="1500" spc="-1" strike="noStrike">
                  <a:solidFill>
                    <a:srgbClr val="ffffff"/>
                  </a:solidFill>
                  <a:latin typeface="Verdana"/>
                  <a:ea typeface="Verdana"/>
                </a:rPr>
                <a:t>Faulty code</a:t>
              </a:r>
              <a:endParaRPr b="0" lang="en-US" sz="1500" spc="-1" strike="noStrike">
                <a:latin typeface="Arial"/>
              </a:endParaRPr>
            </a:p>
          </p:txBody>
        </p:sp>
      </p:grpSp>
      <p:grpSp>
        <p:nvGrpSpPr>
          <p:cNvPr id="187" name="Group 13"/>
          <p:cNvGrpSpPr/>
          <p:nvPr/>
        </p:nvGrpSpPr>
        <p:grpSpPr>
          <a:xfrm>
            <a:off x="702000" y="1676520"/>
            <a:ext cx="3474360" cy="442800"/>
            <a:chOff x="702000" y="1676520"/>
            <a:chExt cx="3474360" cy="442800"/>
          </a:xfrm>
        </p:grpSpPr>
        <p:sp>
          <p:nvSpPr>
            <p:cNvPr id="188" name="Rectangle 12"/>
            <p:cNvSpPr/>
            <p:nvPr/>
          </p:nvSpPr>
          <p:spPr>
            <a:xfrm>
              <a:off x="702000" y="1676520"/>
              <a:ext cx="3474360" cy="428760"/>
            </a:xfrm>
            <a:prstGeom prst="rect">
              <a:avLst/>
            </a:prstGeom>
            <a:noFill/>
            <a:ln>
              <a:solidFill>
                <a:srgbClr val="ffd6a9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89" name="Content Placeholder 4"/>
            <p:cNvSpPr/>
            <p:nvPr/>
          </p:nvSpPr>
          <p:spPr>
            <a:xfrm>
              <a:off x="819720" y="1704960"/>
              <a:ext cx="3251520" cy="414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anchor="t">
              <a:noAutofit/>
            </a:bodyPr>
            <a:p>
              <a:pPr>
                <a:lnSpc>
                  <a:spcPct val="100000"/>
                </a:lnSpc>
                <a:spcBef>
                  <a:spcPts val="601"/>
                </a:spcBef>
                <a:buNone/>
                <a:tabLst>
                  <a:tab algn="l" pos="0"/>
                </a:tabLst>
              </a:pPr>
              <a:r>
                <a:rPr b="0" lang="en-US" sz="1800" spc="9" strike="noStrike">
                  <a:solidFill>
                    <a:srgbClr val="ffffff"/>
                  </a:solidFill>
                  <a:latin typeface="Verdana"/>
                  <a:ea typeface="Verdana"/>
                </a:rPr>
                <a:t>Test 1: doSomething(5,3)</a:t>
              </a:r>
              <a:endParaRPr b="0" lang="en-US" sz="1800" spc="-1" strike="noStrike">
                <a:latin typeface="Arial"/>
              </a:endParaRPr>
            </a:p>
          </p:txBody>
        </p:sp>
      </p:grpSp>
      <p:grpSp>
        <p:nvGrpSpPr>
          <p:cNvPr id="190" name="Group 17"/>
          <p:cNvGrpSpPr/>
          <p:nvPr/>
        </p:nvGrpSpPr>
        <p:grpSpPr>
          <a:xfrm>
            <a:off x="4983480" y="1680120"/>
            <a:ext cx="3474360" cy="442800"/>
            <a:chOff x="4983480" y="1680120"/>
            <a:chExt cx="3474360" cy="442800"/>
          </a:xfrm>
        </p:grpSpPr>
        <p:sp>
          <p:nvSpPr>
            <p:cNvPr id="191" name="Rectangle 18"/>
            <p:cNvSpPr/>
            <p:nvPr/>
          </p:nvSpPr>
          <p:spPr>
            <a:xfrm>
              <a:off x="4983480" y="1680120"/>
              <a:ext cx="3474360" cy="428760"/>
            </a:xfrm>
            <a:prstGeom prst="rect">
              <a:avLst/>
            </a:prstGeom>
            <a:noFill/>
            <a:ln>
              <a:solidFill>
                <a:srgbClr val="ffd6a9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92" name="Content Placeholder 4"/>
            <p:cNvSpPr/>
            <p:nvPr/>
          </p:nvSpPr>
          <p:spPr>
            <a:xfrm>
              <a:off x="5101200" y="1708560"/>
              <a:ext cx="3251520" cy="414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anchor="t">
              <a:noAutofit/>
            </a:bodyPr>
            <a:p>
              <a:pPr>
                <a:lnSpc>
                  <a:spcPct val="100000"/>
                </a:lnSpc>
                <a:spcBef>
                  <a:spcPts val="601"/>
                </a:spcBef>
                <a:buNone/>
                <a:tabLst>
                  <a:tab algn="l" pos="0"/>
                </a:tabLst>
              </a:pPr>
              <a:r>
                <a:rPr b="0" lang="en-US" sz="1800" spc="9" strike="noStrike">
                  <a:solidFill>
                    <a:srgbClr val="ffffff"/>
                  </a:solidFill>
                  <a:latin typeface="Verdana"/>
                  <a:ea typeface="Verdana"/>
                </a:rPr>
                <a:t>Test 2: doSomething(5,5)</a:t>
              </a:r>
              <a:endParaRPr b="0" lang="en-US" sz="1800" spc="-1" strike="noStrike">
                <a:latin typeface="Arial"/>
              </a:endParaRPr>
            </a:p>
          </p:txBody>
        </p:sp>
      </p:grpSp>
      <p:sp>
        <p:nvSpPr>
          <p:cNvPr id="193" name="Rounded Rectangular Callout 23"/>
          <p:cNvSpPr/>
          <p:nvPr/>
        </p:nvSpPr>
        <p:spPr>
          <a:xfrm>
            <a:off x="4812480" y="2971800"/>
            <a:ext cx="4026600" cy="609120"/>
          </a:xfrm>
          <a:prstGeom prst="wedgeRoundRectCallout">
            <a:avLst>
              <a:gd name="adj1" fmla="val -65421"/>
              <a:gd name="adj2" fmla="val -76875"/>
              <a:gd name="adj3" fmla="val 16667"/>
            </a:avLst>
          </a:prstGeom>
          <a:solidFill>
            <a:schemeClr val="bg2">
              <a:lumMod val="10000"/>
            </a:schemeClr>
          </a:solidFill>
          <a:ln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Verdana"/>
                <a:ea typeface="Verdana"/>
              </a:rPr>
              <a:t>What is the </a:t>
            </a:r>
            <a:r>
              <a:rPr b="1" lang="en-US" sz="1800" spc="-1" strike="noStrike">
                <a:solidFill>
                  <a:srgbClr val="fffd78"/>
                </a:solidFill>
                <a:latin typeface="Verdana"/>
                <a:ea typeface="Verdana"/>
              </a:rPr>
              <a:t>expected</a:t>
            </a:r>
            <a:r>
              <a:rPr b="0" lang="en-US" sz="1800" spc="-1" strike="noStrike">
                <a:solidFill>
                  <a:srgbClr val="ffffff"/>
                </a:solidFill>
                <a:latin typeface="Verdana"/>
                <a:ea typeface="Verdana"/>
              </a:rPr>
              <a:t> output?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94" name="Rounded Rectangular Callout 24"/>
          <p:cNvSpPr/>
          <p:nvPr/>
        </p:nvSpPr>
        <p:spPr>
          <a:xfrm>
            <a:off x="4812480" y="4656600"/>
            <a:ext cx="4026600" cy="609120"/>
          </a:xfrm>
          <a:prstGeom prst="wedgeRoundRectCallout">
            <a:avLst>
              <a:gd name="adj1" fmla="val -58018"/>
              <a:gd name="adj2" fmla="val -81541"/>
              <a:gd name="adj3" fmla="val 16667"/>
            </a:avLst>
          </a:prstGeom>
          <a:solidFill>
            <a:schemeClr val="bg2">
              <a:lumMod val="10000"/>
            </a:schemeClr>
          </a:solidFill>
          <a:ln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Verdana"/>
                <a:ea typeface="Verdana"/>
              </a:rPr>
              <a:t>What is the </a:t>
            </a:r>
            <a:r>
              <a:rPr b="1" lang="en-US" sz="1800" spc="-1" strike="noStrike">
                <a:solidFill>
                  <a:srgbClr val="fffd78"/>
                </a:solidFill>
                <a:latin typeface="Verdana"/>
                <a:ea typeface="Verdana"/>
              </a:rPr>
              <a:t>actual</a:t>
            </a:r>
            <a:r>
              <a:rPr b="0" lang="en-US" sz="1800" spc="-1" strike="noStrike">
                <a:solidFill>
                  <a:srgbClr val="ffffff"/>
                </a:solidFill>
                <a:latin typeface="Verdana"/>
                <a:ea typeface="Verdana"/>
              </a:rPr>
              <a:t> output?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9" dur="1" fill="hold"/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16" dur="1" fill="hold"/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4000" spc="-52" strike="noStrike">
                <a:solidFill>
                  <a:srgbClr val="ffff00"/>
                </a:solidFill>
                <a:latin typeface="Verdana"/>
                <a:ea typeface="Verdana"/>
              </a:rPr>
              <a:t>Fault, Error, and Failure</a:t>
            </a:r>
            <a:endParaRPr b="0" lang="en-US" sz="4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Content Placeholder 4"/>
          <p:cNvSpPr/>
          <p:nvPr/>
        </p:nvSpPr>
        <p:spPr>
          <a:xfrm>
            <a:off x="343080" y="990720"/>
            <a:ext cx="8115120" cy="510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82880" indent="-182880">
              <a:lnSpc>
                <a:spcPct val="100000"/>
              </a:lnSpc>
              <a:spcBef>
                <a:spcPts val="2001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200" spc="9" strike="noStrike">
                <a:solidFill>
                  <a:srgbClr val="ffff00"/>
                </a:solidFill>
                <a:latin typeface="Verdana"/>
                <a:ea typeface="Verdana"/>
              </a:rPr>
              <a:t>Fault</a:t>
            </a:r>
            <a:r>
              <a:rPr b="0" lang="en-US" sz="2200" spc="9" strike="noStrike">
                <a:solidFill>
                  <a:srgbClr val="ffffff"/>
                </a:solidFill>
                <a:latin typeface="Verdana"/>
                <a:ea typeface="Verdana"/>
              </a:rPr>
              <a:t>: a </a:t>
            </a:r>
            <a:r>
              <a:rPr b="0" lang="en-US" sz="2200" spc="9" strike="noStrike">
                <a:solidFill>
                  <a:srgbClr val="ffff00"/>
                </a:solidFill>
                <a:latin typeface="Verdana"/>
                <a:ea typeface="Verdana"/>
              </a:rPr>
              <a:t>static defect </a:t>
            </a:r>
            <a:r>
              <a:rPr b="0" lang="en-US" sz="2200" spc="9" strike="noStrike">
                <a:solidFill>
                  <a:srgbClr val="ffffff"/>
                </a:solidFill>
                <a:latin typeface="Verdana"/>
                <a:ea typeface="Verdana"/>
              </a:rPr>
              <a:t>in the software’s source code </a:t>
            </a:r>
            <a:endParaRPr b="0" lang="en-US" sz="2200" spc="-1" strike="noStrike">
              <a:latin typeface="Arial"/>
            </a:endParaRPr>
          </a:p>
          <a:p>
            <a:pPr lvl="1" marL="642960" indent="-184320">
              <a:lnSpc>
                <a:spcPct val="100000"/>
              </a:lnSpc>
              <a:spcBef>
                <a:spcPts val="1001"/>
              </a:spcBef>
              <a:spcAft>
                <a:spcPts val="300"/>
              </a:spcAft>
              <a:buClr>
                <a:srgbClr val="ffffff"/>
              </a:buClr>
              <a:buFont typeface="Wingdings 2" charset="2"/>
              <a:buChar char=""/>
            </a:pPr>
            <a:r>
              <a:rPr b="0" lang="en-US" sz="2000" spc="-1" strike="noStrike">
                <a:solidFill>
                  <a:srgbClr val="ffffff"/>
                </a:solidFill>
                <a:latin typeface="Verdana"/>
                <a:ea typeface="Verdana"/>
              </a:rPr>
              <a:t>Cause of a problem </a:t>
            </a:r>
            <a:r>
              <a:rPr b="0" lang="en-US" sz="2000" spc="-1" strike="noStrike">
                <a:solidFill>
                  <a:srgbClr val="ffffff"/>
                </a:solidFill>
                <a:latin typeface="Verdana"/>
                <a:ea typeface="Verdana"/>
              </a:rPr>
              <a:t>– “fault location”</a:t>
            </a:r>
            <a:endParaRPr b="0" lang="en-US" sz="2000" spc="-1" strike="noStrike">
              <a:latin typeface="Arial"/>
            </a:endParaRPr>
          </a:p>
          <a:p>
            <a:pPr marL="182880" indent="-182880">
              <a:lnSpc>
                <a:spcPct val="100000"/>
              </a:lnSpc>
              <a:spcBef>
                <a:spcPts val="3600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200" spc="9" strike="noStrike">
                <a:solidFill>
                  <a:srgbClr val="ffff00"/>
                </a:solidFill>
                <a:latin typeface="Verdana"/>
                <a:ea typeface="Verdana"/>
              </a:rPr>
              <a:t>Error</a:t>
            </a:r>
            <a:r>
              <a:rPr b="0" lang="en-US" sz="2200" spc="9" strike="noStrike">
                <a:solidFill>
                  <a:srgbClr val="ffffff"/>
                </a:solidFill>
                <a:latin typeface="Verdana"/>
                <a:ea typeface="Verdana"/>
              </a:rPr>
              <a:t>: An </a:t>
            </a:r>
            <a:r>
              <a:rPr b="0" lang="en-US" sz="2200" spc="9" strike="noStrike">
                <a:solidFill>
                  <a:srgbClr val="ffff00"/>
                </a:solidFill>
                <a:latin typeface="Verdana"/>
                <a:ea typeface="Verdana"/>
              </a:rPr>
              <a:t>incorrect internal state</a:t>
            </a:r>
            <a:r>
              <a:rPr b="0" lang="en-US" sz="2200" spc="9" strike="noStrike">
                <a:solidFill>
                  <a:srgbClr val="ffffff"/>
                </a:solidFill>
                <a:latin typeface="Verdana"/>
                <a:ea typeface="Verdana"/>
              </a:rPr>
              <a:t> that is the manifestation of some fault</a:t>
            </a:r>
            <a:endParaRPr b="0" lang="en-US" sz="2200" spc="-1" strike="noStrike">
              <a:latin typeface="Arial"/>
            </a:endParaRPr>
          </a:p>
          <a:p>
            <a:pPr lvl="1" marL="642960" indent="-184320">
              <a:lnSpc>
                <a:spcPct val="100000"/>
              </a:lnSpc>
              <a:spcBef>
                <a:spcPts val="1001"/>
              </a:spcBef>
              <a:spcAft>
                <a:spcPts val="300"/>
              </a:spcAft>
              <a:buClr>
                <a:srgbClr val="ffffff"/>
              </a:buClr>
              <a:buFont typeface="Wingdings 2" charset="2"/>
              <a:buChar char=""/>
            </a:pPr>
            <a:r>
              <a:rPr b="0" lang="en-US" sz="2000" spc="-1" strike="noStrike">
                <a:solidFill>
                  <a:srgbClr val="ffffff"/>
                </a:solidFill>
                <a:latin typeface="Verdana"/>
                <a:ea typeface="Verdana"/>
              </a:rPr>
              <a:t>Erroneous/infected program state caused by execution of the fault</a:t>
            </a:r>
            <a:endParaRPr b="0" lang="en-US" sz="2000" spc="-1" strike="noStrike">
              <a:latin typeface="Arial"/>
            </a:endParaRPr>
          </a:p>
          <a:p>
            <a:pPr marL="182880" indent="-182880">
              <a:lnSpc>
                <a:spcPct val="100000"/>
              </a:lnSpc>
              <a:spcBef>
                <a:spcPts val="3600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200" spc="9" strike="noStrike">
                <a:solidFill>
                  <a:srgbClr val="ffff00"/>
                </a:solidFill>
                <a:latin typeface="Verdana"/>
                <a:ea typeface="Verdana"/>
              </a:rPr>
              <a:t>Failure</a:t>
            </a:r>
            <a:r>
              <a:rPr b="0" lang="en-US" sz="2200" spc="9" strike="noStrike">
                <a:solidFill>
                  <a:srgbClr val="ffffff"/>
                </a:solidFill>
                <a:latin typeface="Verdana"/>
                <a:ea typeface="Verdana"/>
              </a:rPr>
              <a:t>: </a:t>
            </a:r>
            <a:r>
              <a:rPr b="0" lang="en-US" sz="2200" spc="9" strike="noStrike">
                <a:solidFill>
                  <a:srgbClr val="ffff00"/>
                </a:solidFill>
                <a:latin typeface="Verdana"/>
                <a:ea typeface="Verdana"/>
              </a:rPr>
              <a:t>External</a:t>
            </a:r>
            <a:r>
              <a:rPr b="0" lang="en-US" sz="2200" spc="9" strike="noStrike">
                <a:solidFill>
                  <a:srgbClr val="ffffff"/>
                </a:solidFill>
                <a:latin typeface="Verdana"/>
                <a:ea typeface="Verdana"/>
              </a:rPr>
              <a:t>, </a:t>
            </a:r>
            <a:r>
              <a:rPr b="0" lang="en-US" sz="2200" spc="9" strike="noStrike">
                <a:solidFill>
                  <a:srgbClr val="ffff00"/>
                </a:solidFill>
                <a:latin typeface="Verdana"/>
                <a:ea typeface="Verdana"/>
              </a:rPr>
              <a:t>incorrect behavior </a:t>
            </a:r>
            <a:r>
              <a:rPr b="0" lang="en-US" sz="2200" spc="9" strike="noStrike">
                <a:solidFill>
                  <a:srgbClr val="ffffff"/>
                </a:solidFill>
                <a:latin typeface="Verdana"/>
                <a:ea typeface="Verdana"/>
              </a:rPr>
              <a:t>with respect to the requirements or other descriptions of the expected behavior</a:t>
            </a:r>
            <a:endParaRPr b="0" lang="en-US" sz="2200" spc="-1" strike="noStrike">
              <a:latin typeface="Arial"/>
            </a:endParaRPr>
          </a:p>
          <a:p>
            <a:pPr lvl="1" marL="642960" indent="-184320">
              <a:lnSpc>
                <a:spcPct val="100000"/>
              </a:lnSpc>
              <a:spcBef>
                <a:spcPts val="1001"/>
              </a:spcBef>
              <a:spcAft>
                <a:spcPts val="300"/>
              </a:spcAft>
              <a:buClr>
                <a:srgbClr val="ffffff"/>
              </a:buClr>
              <a:buFont typeface="Wingdings 2" charset="2"/>
              <a:buChar char=""/>
            </a:pPr>
            <a:r>
              <a:rPr b="0" lang="en-US" sz="2000" spc="-1" strike="noStrike">
                <a:solidFill>
                  <a:srgbClr val="ffffff"/>
                </a:solidFill>
                <a:latin typeface="Verdana"/>
                <a:ea typeface="Verdana"/>
              </a:rPr>
              <a:t>Propagation of erroneous state to the program outputs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97" name="Down Arrow 5"/>
          <p:cNvSpPr/>
          <p:nvPr/>
        </p:nvSpPr>
        <p:spPr>
          <a:xfrm>
            <a:off x="8458200" y="1371600"/>
            <a:ext cx="380520" cy="3809520"/>
          </a:xfrm>
          <a:prstGeom prst="downArrow">
            <a:avLst>
              <a:gd name="adj1" fmla="val 50000"/>
              <a:gd name="adj2" fmla="val 50000"/>
            </a:avLst>
          </a:prstGeom>
          <a:gradFill rotWithShape="0">
            <a:gsLst>
              <a:gs pos="0">
                <a:srgbClr val="ff0000"/>
              </a:gs>
              <a:gs pos="100000">
                <a:srgbClr val="ffc5c5"/>
              </a:gs>
            </a:gsLst>
            <a:lin ang="16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/>
          </p:nvPr>
        </p:nvSpPr>
        <p:spPr>
          <a:xfrm>
            <a:off x="0" y="990720"/>
            <a:ext cx="9143640" cy="50288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9" strike="noStrike">
                <a:solidFill>
                  <a:srgbClr val="fffed6"/>
                </a:solidFill>
                <a:latin typeface="Verdana"/>
                <a:ea typeface="Verdana"/>
              </a:rPr>
              <a:t>Let’s pause and think!!</a:t>
            </a:r>
            <a:endParaRPr b="0" lang="en-US" sz="3200" spc="9" strike="noStrike">
              <a:solidFill>
                <a:srgbClr val="000000"/>
              </a:solidFill>
              <a:latin typeface="Century Schoolbook"/>
            </a:endParaRPr>
          </a:p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3200" spc="9" strike="noStrike">
              <a:solidFill>
                <a:srgbClr val="000000"/>
              </a:solidFill>
              <a:latin typeface="Century Schoolbook"/>
            </a:endParaRPr>
          </a:p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9" strike="noStrike">
                <a:solidFill>
                  <a:srgbClr val="fffed6"/>
                </a:solidFill>
                <a:latin typeface="Verdana"/>
                <a:ea typeface="Verdana"/>
              </a:rPr>
              <a:t>Why do we care about </a:t>
            </a:r>
            <a:endParaRPr b="0" lang="en-US" sz="3200" spc="9" strike="noStrike">
              <a:solidFill>
                <a:srgbClr val="000000"/>
              </a:solidFill>
              <a:latin typeface="Century Schoolbook"/>
            </a:endParaRPr>
          </a:p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9" strike="noStrike">
                <a:solidFill>
                  <a:srgbClr val="fffed6"/>
                </a:solidFill>
                <a:latin typeface="Verdana"/>
                <a:ea typeface="Verdana"/>
              </a:rPr>
              <a:t>“</a:t>
            </a:r>
            <a:r>
              <a:rPr b="1" lang="en-US" sz="3200" spc="9" strike="noStrike">
                <a:solidFill>
                  <a:srgbClr val="fffed6"/>
                </a:solidFill>
                <a:latin typeface="Verdana"/>
                <a:ea typeface="Verdana"/>
              </a:rPr>
              <a:t>fault, error, and failure”?</a:t>
            </a:r>
            <a:endParaRPr b="0" lang="en-US" sz="3200" spc="9" strike="noStrike">
              <a:solidFill>
                <a:srgbClr val="000000"/>
              </a:solidFill>
              <a:latin typeface="Century Schoolbook"/>
            </a:endParaRPr>
          </a:p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3200" spc="9" strike="noStrike">
              <a:solidFill>
                <a:srgbClr val="000000"/>
              </a:solidFill>
              <a:latin typeface="Century Schoolbook"/>
            </a:endParaRPr>
          </a:p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9" strike="noStrike">
                <a:solidFill>
                  <a:srgbClr val="fffed6"/>
                </a:solidFill>
                <a:latin typeface="Verdana"/>
                <a:ea typeface="Verdana"/>
              </a:rPr>
              <a:t>How can we benefit from </a:t>
            </a:r>
            <a:endParaRPr b="0" lang="en-US" sz="3200" spc="9" strike="noStrike">
              <a:solidFill>
                <a:srgbClr val="000000"/>
              </a:solidFill>
              <a:latin typeface="Century Schoolbook"/>
            </a:endParaRPr>
          </a:p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9" strike="noStrike">
                <a:solidFill>
                  <a:srgbClr val="fffed6"/>
                </a:solidFill>
                <a:latin typeface="Verdana"/>
                <a:ea typeface="Verdana"/>
              </a:rPr>
              <a:t>analyzing them?</a:t>
            </a:r>
            <a:endParaRPr b="0" lang="en-US" sz="32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4000" spc="-52" strike="noStrike">
                <a:solidFill>
                  <a:srgbClr val="ffff00"/>
                </a:solidFill>
                <a:latin typeface="Verdana"/>
                <a:ea typeface="Verdana"/>
              </a:rPr>
              <a:t>Example</a:t>
            </a:r>
            <a:endParaRPr b="0" lang="en-US" sz="4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TextBox 5"/>
          <p:cNvSpPr/>
          <p:nvPr/>
        </p:nvSpPr>
        <p:spPr>
          <a:xfrm>
            <a:off x="324720" y="990720"/>
            <a:ext cx="8514000" cy="2309040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public static int numZero (int[] arr)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{ </a:t>
            </a:r>
            <a:r>
              <a:rPr b="1" lang="en-US" sz="1800" spc="-1" strike="noStrike">
                <a:solidFill>
                  <a:srgbClr val="808080"/>
                </a:solidFill>
                <a:latin typeface="Courier New"/>
                <a:ea typeface="Courier New"/>
              </a:rPr>
              <a:t> </a:t>
            </a:r>
            <a:r>
              <a:rPr b="0" i="1" lang="en-US" sz="1800" spc="-1" strike="noStrike">
                <a:solidFill>
                  <a:srgbClr val="262626"/>
                </a:solidFill>
                <a:latin typeface="Courier New"/>
                <a:ea typeface="Courier New"/>
              </a:rPr>
              <a:t>// If arr is null throw NullPointerException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0" i="1" lang="en-US" sz="1800" spc="-1" strike="noStrike">
                <a:solidFill>
                  <a:srgbClr val="262626"/>
                </a:solidFill>
                <a:latin typeface="Courier New"/>
                <a:ea typeface="Courier New"/>
              </a:rPr>
              <a:t>   </a:t>
            </a:r>
            <a:r>
              <a:rPr b="0" i="1" lang="en-US" sz="1800" spc="-1" strike="noStrike">
                <a:solidFill>
                  <a:srgbClr val="262626"/>
                </a:solidFill>
                <a:latin typeface="Courier New"/>
                <a:ea typeface="Courier New"/>
              </a:rPr>
              <a:t>// else return the number of occurrences of 0 in arr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int count = 0;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for (int i = 1; i &lt; arr.length; i++)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if (arr[i] == 0)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   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count++;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return count;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}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01" name="Content Placeholder 4"/>
          <p:cNvSpPr/>
          <p:nvPr/>
        </p:nvSpPr>
        <p:spPr>
          <a:xfrm>
            <a:off x="343080" y="3429000"/>
            <a:ext cx="849600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82880" indent="-182880">
              <a:lnSpc>
                <a:spcPct val="100000"/>
              </a:lnSpc>
              <a:spcBef>
                <a:spcPts val="1599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There is a simple fault in </a:t>
            </a:r>
            <a:r>
              <a:rPr b="1" lang="en-US" sz="2000" spc="9" strike="noStrike">
                <a:solidFill>
                  <a:srgbClr val="ffffff"/>
                </a:solidFill>
                <a:latin typeface="Courier New"/>
                <a:ea typeface="Courier New"/>
              </a:rPr>
              <a:t>numZero</a:t>
            </a:r>
            <a:endParaRPr b="0" lang="en-US" sz="2000" spc="-1" strike="noStrike">
              <a:latin typeface="Arial"/>
            </a:endParaRPr>
          </a:p>
          <a:p>
            <a:pPr marL="182880" indent="-182880">
              <a:lnSpc>
                <a:spcPct val="100000"/>
              </a:lnSpc>
              <a:spcBef>
                <a:spcPts val="1599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Where is the fault </a:t>
            </a: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location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 in the source code? </a:t>
            </a:r>
            <a:endParaRPr b="0" lang="en-US" sz="2000" spc="-1" strike="noStrike">
              <a:latin typeface="Arial"/>
            </a:endParaRPr>
          </a:p>
          <a:p>
            <a:pPr marL="182880" indent="-182880">
              <a:lnSpc>
                <a:spcPct val="100000"/>
              </a:lnSpc>
              <a:spcBef>
                <a:spcPts val="1599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How would you fix it?</a:t>
            </a:r>
            <a:endParaRPr b="0" lang="en-US" sz="2000" spc="-1" strike="noStrike">
              <a:latin typeface="Arial"/>
            </a:endParaRPr>
          </a:p>
          <a:p>
            <a:pPr marL="182880" indent="-182880">
              <a:lnSpc>
                <a:spcPct val="100000"/>
              </a:lnSpc>
              <a:spcBef>
                <a:spcPts val="1599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Can the fault location be </a:t>
            </a: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reached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? How does it corrupt program </a:t>
            </a: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state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? Does it always corrupt the program state?</a:t>
            </a:r>
            <a:endParaRPr b="0" lang="en-US" sz="2000" spc="-1" strike="noStrike">
              <a:latin typeface="Arial"/>
            </a:endParaRPr>
          </a:p>
          <a:p>
            <a:pPr marL="182880" indent="-182880">
              <a:lnSpc>
                <a:spcPct val="100000"/>
              </a:lnSpc>
              <a:spcBef>
                <a:spcPts val="1599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If the program state is corrupted, does </a:t>
            </a:r>
            <a:r>
              <a:rPr b="1" lang="en-US" sz="2000" spc="9" strike="noStrike">
                <a:solidFill>
                  <a:srgbClr val="ffffff"/>
                </a:solidFill>
                <a:latin typeface="Courier New"/>
                <a:ea typeface="Courier New"/>
              </a:rPr>
              <a:t>numZero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 </a:t>
            </a: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fail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? How?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599"/>
              </a:spcBef>
              <a:spcAft>
                <a:spcPts val="201"/>
              </a:spcAft>
              <a:buNone/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4000" spc="-52" strike="noStrike">
                <a:solidFill>
                  <a:srgbClr val="ffff00"/>
                </a:solidFill>
                <a:latin typeface="Verdana"/>
                <a:ea typeface="Verdana"/>
              </a:rPr>
              <a:t>Example – Let’s Analyze</a:t>
            </a:r>
            <a:endParaRPr b="0" lang="en-US" sz="4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TextBox 5"/>
          <p:cNvSpPr/>
          <p:nvPr/>
        </p:nvSpPr>
        <p:spPr>
          <a:xfrm>
            <a:off x="324720" y="990720"/>
            <a:ext cx="8514000" cy="2309040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public static int numZero (int[] arr)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{ </a:t>
            </a:r>
            <a:r>
              <a:rPr b="1" lang="en-US" sz="1800" spc="-1" strike="noStrike">
                <a:solidFill>
                  <a:srgbClr val="808080"/>
                </a:solidFill>
                <a:latin typeface="Courier New"/>
                <a:ea typeface="Courier New"/>
              </a:rPr>
              <a:t> </a:t>
            </a:r>
            <a:r>
              <a:rPr b="0" i="1" lang="en-US" sz="1800" spc="-1" strike="noStrike">
                <a:solidFill>
                  <a:srgbClr val="262626"/>
                </a:solidFill>
                <a:latin typeface="Courier New"/>
                <a:ea typeface="Courier New"/>
              </a:rPr>
              <a:t>// If arr is null throw NullPointerException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0" i="1" lang="en-US" sz="1800" spc="-1" strike="noStrike">
                <a:solidFill>
                  <a:srgbClr val="262626"/>
                </a:solidFill>
                <a:latin typeface="Courier New"/>
                <a:ea typeface="Courier New"/>
              </a:rPr>
              <a:t>   </a:t>
            </a:r>
            <a:r>
              <a:rPr b="0" i="1" lang="en-US" sz="1800" spc="-1" strike="noStrike">
                <a:solidFill>
                  <a:srgbClr val="262626"/>
                </a:solidFill>
                <a:latin typeface="Courier New"/>
                <a:ea typeface="Courier New"/>
              </a:rPr>
              <a:t>// else return the number of occurrences of 0 in arr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int count = 0;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for (int i = 1; i &lt; arr.length; i++)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if (arr[i] == 0)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   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count++;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return count;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}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04" name="Content Placeholder 4"/>
          <p:cNvSpPr/>
          <p:nvPr/>
        </p:nvSpPr>
        <p:spPr>
          <a:xfrm>
            <a:off x="152280" y="3429000"/>
            <a:ext cx="887688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82880" indent="-182880">
              <a:lnSpc>
                <a:spcPct val="100000"/>
              </a:lnSpc>
              <a:spcBef>
                <a:spcPts val="1001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Fault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: a defect in source code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spcAft>
                <a:spcPts val="201"/>
              </a:spcAft>
              <a:buNone/>
            </a:pPr>
            <a:endParaRPr b="0" lang="en-US" sz="2000" spc="-1" strike="noStrike">
              <a:latin typeface="Arial"/>
            </a:endParaRPr>
          </a:p>
          <a:p>
            <a:pPr marL="182880" indent="-182880">
              <a:lnSpc>
                <a:spcPct val="100000"/>
              </a:lnSpc>
              <a:spcBef>
                <a:spcPts val="1599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Error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: erroneous program state caused by execution of the defect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spcAft>
                <a:spcPts val="201"/>
              </a:spcAft>
              <a:buNone/>
            </a:pPr>
            <a:endParaRPr b="0" lang="en-US" sz="2000" spc="-1" strike="noStrike">
              <a:latin typeface="Arial"/>
            </a:endParaRPr>
          </a:p>
          <a:p>
            <a:pPr marL="182880" indent="-182880">
              <a:lnSpc>
                <a:spcPct val="100000"/>
              </a:lnSpc>
              <a:spcBef>
                <a:spcPts val="1599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Failure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: propagation of erroneous state to the program outputs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05" name="Content Placeholder 4"/>
          <p:cNvSpPr/>
          <p:nvPr/>
        </p:nvSpPr>
        <p:spPr>
          <a:xfrm>
            <a:off x="762120" y="3809880"/>
            <a:ext cx="8076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6" name="Oval 8"/>
          <p:cNvSpPr/>
          <p:nvPr/>
        </p:nvSpPr>
        <p:spPr>
          <a:xfrm>
            <a:off x="1905120" y="1981080"/>
            <a:ext cx="990360" cy="380520"/>
          </a:xfrm>
          <a:prstGeom prst="ellipse">
            <a:avLst/>
          </a:prstGeom>
          <a:noFill/>
          <a:ln w="3810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4000" spc="-52" strike="noStrike">
                <a:solidFill>
                  <a:srgbClr val="ffff00"/>
                </a:solidFill>
                <a:latin typeface="Verdana"/>
                <a:ea typeface="Verdana"/>
              </a:rPr>
              <a:t>Example – Let’s Analyze</a:t>
            </a:r>
            <a:endParaRPr b="0" lang="en-US" sz="4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TextBox 2"/>
          <p:cNvSpPr/>
          <p:nvPr/>
        </p:nvSpPr>
        <p:spPr>
          <a:xfrm>
            <a:off x="324720" y="990720"/>
            <a:ext cx="8514000" cy="2309040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public static int numZero (int[] arr)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{ </a:t>
            </a:r>
            <a:r>
              <a:rPr b="1" lang="en-US" sz="1800" spc="-1" strike="noStrike">
                <a:solidFill>
                  <a:srgbClr val="808080"/>
                </a:solidFill>
                <a:latin typeface="Courier New"/>
                <a:ea typeface="Courier New"/>
              </a:rPr>
              <a:t> </a:t>
            </a:r>
            <a:r>
              <a:rPr b="0" i="1" lang="en-US" sz="1800" spc="-1" strike="noStrike">
                <a:solidFill>
                  <a:srgbClr val="262626"/>
                </a:solidFill>
                <a:latin typeface="Courier New"/>
                <a:ea typeface="Courier New"/>
              </a:rPr>
              <a:t>// If arr is null throw NullPointerException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0" i="1" lang="en-US" sz="1800" spc="-1" strike="noStrike">
                <a:solidFill>
                  <a:srgbClr val="262626"/>
                </a:solidFill>
                <a:latin typeface="Courier New"/>
                <a:ea typeface="Courier New"/>
              </a:rPr>
              <a:t>   </a:t>
            </a:r>
            <a:r>
              <a:rPr b="0" i="1" lang="en-US" sz="1800" spc="-1" strike="noStrike">
                <a:solidFill>
                  <a:srgbClr val="262626"/>
                </a:solidFill>
                <a:latin typeface="Courier New"/>
                <a:ea typeface="Courier New"/>
              </a:rPr>
              <a:t>// else return the number of occurrences of 0 in arr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int count = 0;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for (int i = 1; i &lt; arr.length; i++)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if (arr[i] == 0)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   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count++;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return count;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}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09" name="Content Placeholder 6"/>
          <p:cNvSpPr/>
          <p:nvPr/>
        </p:nvSpPr>
        <p:spPr>
          <a:xfrm>
            <a:off x="152280" y="3429000"/>
            <a:ext cx="887688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82880" indent="-182880">
              <a:lnSpc>
                <a:spcPct val="100000"/>
              </a:lnSpc>
              <a:spcBef>
                <a:spcPts val="1001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Fault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: a defect in 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source code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spcAft>
                <a:spcPts val="201"/>
              </a:spcAft>
              <a:buNone/>
            </a:pPr>
            <a:endParaRPr b="0" lang="en-US" sz="2000" spc="-1" strike="noStrike">
              <a:latin typeface="Arial"/>
            </a:endParaRPr>
          </a:p>
          <a:p>
            <a:pPr marL="182880" indent="-182880">
              <a:lnSpc>
                <a:spcPct val="100000"/>
              </a:lnSpc>
              <a:spcBef>
                <a:spcPts val="1599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Error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: erroneous 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program state caused 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by execution of the 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defect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spcAft>
                <a:spcPts val="201"/>
              </a:spcAft>
              <a:buNone/>
            </a:pPr>
            <a:endParaRPr b="0" lang="en-US" sz="2000" spc="-1" strike="noStrike">
              <a:latin typeface="Arial"/>
            </a:endParaRPr>
          </a:p>
          <a:p>
            <a:pPr marL="182880" indent="-182880">
              <a:lnSpc>
                <a:spcPct val="100000"/>
              </a:lnSpc>
              <a:spcBef>
                <a:spcPts val="1599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Failure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: propagation of 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erroneous state to the 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program outputs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10" name="Content Placeholder 7"/>
          <p:cNvSpPr/>
          <p:nvPr/>
        </p:nvSpPr>
        <p:spPr>
          <a:xfrm>
            <a:off x="762120" y="3809880"/>
            <a:ext cx="8076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spcBef>
                <a:spcPts val="700"/>
              </a:spcBef>
              <a:buNone/>
              <a:tabLst>
                <a:tab algn="l" pos="0"/>
              </a:tabLst>
            </a:pPr>
            <a:r>
              <a:rPr b="1" lang="en-US" sz="2000" spc="9" strike="noStrike">
                <a:solidFill>
                  <a:srgbClr val="ffff00"/>
                </a:solidFill>
                <a:latin typeface="Courier New"/>
                <a:ea typeface="Courier New"/>
              </a:rPr>
              <a:t>i = 1</a:t>
            </a:r>
            <a:r>
              <a:rPr b="1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 </a:t>
            </a: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[should start searching </a:t>
            </a: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at 0, not 1]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11" name="Content Placeholder 8"/>
          <p:cNvSpPr/>
          <p:nvPr/>
        </p:nvSpPr>
        <p:spPr>
          <a:xfrm>
            <a:off x="762120" y="4800600"/>
            <a:ext cx="8076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spcBef>
                <a:spcPts val="700"/>
              </a:spcBef>
              <a:buNone/>
              <a:tabLst>
                <a:tab algn="l" pos="0"/>
              </a:tabLst>
            </a:pPr>
            <a:r>
              <a:rPr b="1" lang="en-US" sz="2000" spc="9" strike="noStrike">
                <a:solidFill>
                  <a:srgbClr val="ffff00"/>
                </a:solidFill>
                <a:latin typeface="Courier New"/>
                <a:ea typeface="Courier New"/>
              </a:rPr>
              <a:t>i</a:t>
            </a:r>
            <a:r>
              <a:rPr b="1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 </a:t>
            </a: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becomes 1 [array entry 0 is not ever read]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12" name="Content Placeholder 9"/>
          <p:cNvSpPr/>
          <p:nvPr/>
        </p:nvSpPr>
        <p:spPr>
          <a:xfrm>
            <a:off x="762120" y="5791320"/>
            <a:ext cx="8076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spcBef>
                <a:spcPts val="700"/>
              </a:spcBef>
              <a:buNone/>
              <a:tabLst>
                <a:tab algn="l" pos="0"/>
              </a:tabLst>
            </a:pP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Happens as long as </a:t>
            </a:r>
            <a:r>
              <a:rPr b="1" lang="en-US" sz="2000" spc="9" strike="noStrike">
                <a:solidFill>
                  <a:srgbClr val="ffff00"/>
                </a:solidFill>
                <a:latin typeface="Courier New"/>
                <a:ea typeface="Courier New"/>
              </a:rPr>
              <a:t>arr.length</a:t>
            </a:r>
            <a:r>
              <a:rPr b="1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 </a:t>
            </a:r>
            <a:r>
              <a:rPr b="1" lang="en-US" sz="2000" spc="9" strike="noStrike">
                <a:solidFill>
                  <a:srgbClr val="ffff00"/>
                </a:solidFill>
                <a:latin typeface="Courier New"/>
                <a:ea typeface="Courier New"/>
              </a:rPr>
              <a:t>&gt;</a:t>
            </a:r>
            <a:r>
              <a:rPr b="1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 </a:t>
            </a:r>
            <a:r>
              <a:rPr b="1" lang="en-US" sz="2000" spc="9" strike="noStrike">
                <a:solidFill>
                  <a:srgbClr val="ffff00"/>
                </a:solidFill>
                <a:latin typeface="Courier New"/>
                <a:ea typeface="Courier New"/>
              </a:rPr>
              <a:t>0</a:t>
            </a: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 and </a:t>
            </a:r>
            <a:r>
              <a:rPr b="1" lang="en-US" sz="2000" spc="9" strike="noStrike">
                <a:solidFill>
                  <a:srgbClr val="ffff00"/>
                </a:solidFill>
                <a:latin typeface="Courier New"/>
                <a:ea typeface="Courier New"/>
              </a:rPr>
              <a:t>arr[0]</a:t>
            </a:r>
            <a:r>
              <a:rPr b="1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 </a:t>
            </a:r>
            <a:r>
              <a:rPr b="1" lang="en-US" sz="2000" spc="9" strike="noStrike">
                <a:solidFill>
                  <a:srgbClr val="ffff00"/>
                </a:solidFill>
                <a:latin typeface="Courier New"/>
                <a:ea typeface="Courier New"/>
              </a:rPr>
              <a:t>=</a:t>
            </a:r>
            <a:r>
              <a:rPr b="1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 </a:t>
            </a:r>
            <a:r>
              <a:rPr b="1" lang="en-US" sz="2000" spc="9" strike="noStrike">
                <a:solidFill>
                  <a:srgbClr val="ffff00"/>
                </a:solidFill>
                <a:latin typeface="Courier New"/>
                <a:ea typeface="Courier New"/>
              </a:rPr>
              <a:t>0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13" name="Oval 4"/>
          <p:cNvSpPr/>
          <p:nvPr/>
        </p:nvSpPr>
        <p:spPr>
          <a:xfrm>
            <a:off x="1905120" y="1981080"/>
            <a:ext cx="990360" cy="380520"/>
          </a:xfrm>
          <a:prstGeom prst="ellipse">
            <a:avLst/>
          </a:prstGeom>
          <a:noFill/>
          <a:ln w="3810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4000" spc="-52" strike="noStrike">
                <a:solidFill>
                  <a:srgbClr val="ffff00"/>
                </a:solidFill>
                <a:latin typeface="Verdana"/>
                <a:ea typeface="Verdana"/>
              </a:rPr>
              <a:t>Example – Test Cases</a:t>
            </a:r>
            <a:endParaRPr b="0" lang="en-US" sz="4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TextBox 5"/>
          <p:cNvSpPr/>
          <p:nvPr/>
        </p:nvSpPr>
        <p:spPr>
          <a:xfrm>
            <a:off x="324720" y="990720"/>
            <a:ext cx="8514000" cy="2309040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public static int numZero (int[] arr)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{ </a:t>
            </a:r>
            <a:r>
              <a:rPr b="1" lang="en-US" sz="1800" spc="-1" strike="noStrike">
                <a:solidFill>
                  <a:srgbClr val="808080"/>
                </a:solidFill>
                <a:latin typeface="Courier New"/>
                <a:ea typeface="Courier New"/>
              </a:rPr>
              <a:t> </a:t>
            </a:r>
            <a:r>
              <a:rPr b="0" i="1" lang="en-US" sz="1800" spc="-1" strike="noStrike">
                <a:solidFill>
                  <a:srgbClr val="262626"/>
                </a:solidFill>
                <a:latin typeface="Courier New"/>
                <a:ea typeface="Courier New"/>
              </a:rPr>
              <a:t>// If arr is null throw NullPointerException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0" i="1" lang="en-US" sz="1800" spc="-1" strike="noStrike">
                <a:solidFill>
                  <a:srgbClr val="262626"/>
                </a:solidFill>
                <a:latin typeface="Courier New"/>
                <a:ea typeface="Courier New"/>
              </a:rPr>
              <a:t>   </a:t>
            </a:r>
            <a:r>
              <a:rPr b="0" i="1" lang="en-US" sz="1800" spc="-1" strike="noStrike">
                <a:solidFill>
                  <a:srgbClr val="262626"/>
                </a:solidFill>
                <a:latin typeface="Courier New"/>
                <a:ea typeface="Courier New"/>
              </a:rPr>
              <a:t>// else return the number of occurrences of 0 in arr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int count = 0;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for (int i = 1; i &lt; arr.length; i++)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if (arr[i] == 0)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   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count++;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return count;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}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16" name="Content Placeholder 4"/>
          <p:cNvSpPr/>
          <p:nvPr/>
        </p:nvSpPr>
        <p:spPr>
          <a:xfrm>
            <a:off x="152280" y="3429000"/>
            <a:ext cx="887688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82880" indent="-182880">
              <a:lnSpc>
                <a:spcPct val="100000"/>
              </a:lnSpc>
              <a:spcBef>
                <a:spcPts val="1001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Test 1: [4, 6, 0], expected 1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spcAft>
                <a:spcPts val="201"/>
              </a:spcAft>
              <a:buNone/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spcAft>
                <a:spcPts val="201"/>
              </a:spcAft>
              <a:buNone/>
            </a:pPr>
            <a:endParaRPr b="0" lang="en-US" sz="2000" spc="-1" strike="noStrike">
              <a:latin typeface="Arial"/>
            </a:endParaRPr>
          </a:p>
          <a:p>
            <a:pPr marL="182880" indent="-182880">
              <a:lnSpc>
                <a:spcPct val="100000"/>
              </a:lnSpc>
              <a:spcBef>
                <a:spcPts val="1599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Test 2: [0, 4, 6], expected 1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spcAft>
                <a:spcPts val="201"/>
              </a:spcAft>
              <a:buNone/>
            </a:pPr>
            <a:endParaRPr b="0" lang="en-US" sz="2000" spc="-1" strike="noStrike">
              <a:latin typeface="Arial"/>
            </a:endParaRPr>
          </a:p>
        </p:txBody>
      </p:sp>
      <p:grpSp>
        <p:nvGrpSpPr>
          <p:cNvPr id="217" name="Group 18"/>
          <p:cNvGrpSpPr/>
          <p:nvPr/>
        </p:nvGrpSpPr>
        <p:grpSpPr>
          <a:xfrm>
            <a:off x="1905120" y="1958400"/>
            <a:ext cx="6757920" cy="1255680"/>
            <a:chOff x="1905120" y="1958400"/>
            <a:chExt cx="6757920" cy="1255680"/>
          </a:xfrm>
        </p:grpSpPr>
        <p:sp>
          <p:nvSpPr>
            <p:cNvPr id="218" name="Oval 2"/>
            <p:cNvSpPr/>
            <p:nvPr/>
          </p:nvSpPr>
          <p:spPr>
            <a:xfrm>
              <a:off x="1905120" y="1958400"/>
              <a:ext cx="990360" cy="38052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19" name="Rectangle 3"/>
            <p:cNvSpPr/>
            <p:nvPr/>
          </p:nvSpPr>
          <p:spPr>
            <a:xfrm>
              <a:off x="4572000" y="2514600"/>
              <a:ext cx="4091040" cy="699480"/>
            </a:xfrm>
            <a:prstGeom prst="rect">
              <a:avLst/>
            </a:prstGeom>
            <a:solidFill>
              <a:schemeClr val="tx1"/>
            </a:solidFill>
            <a:ln w="0">
              <a:solidFill>
                <a:srgbClr val="ff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ffff00"/>
                  </a:solidFill>
                  <a:latin typeface="Verdana"/>
                  <a:ea typeface="Verdana"/>
                </a:rPr>
                <a:t>Fault</a:t>
              </a:r>
              <a:r>
                <a:rPr b="0" lang="en-US" sz="2000" spc="-1" strike="noStrike">
                  <a:solidFill>
                    <a:srgbClr val="ffffff"/>
                  </a:solidFill>
                  <a:latin typeface="Verdana"/>
                  <a:ea typeface="Verdana"/>
                </a:rPr>
                <a:t>: </a:t>
              </a:r>
              <a:r>
                <a:rPr b="1" lang="en-US" sz="2000" spc="-1" strike="noStrike">
                  <a:solidFill>
                    <a:srgbClr val="ffffff"/>
                  </a:solidFill>
                  <a:latin typeface="Courier New"/>
                  <a:ea typeface="Courier New"/>
                </a:rPr>
                <a:t>i = 1</a:t>
              </a:r>
              <a:r>
                <a:rPr b="0" lang="en-US" sz="2000" spc="-1" strike="noStrike">
                  <a:solidFill>
                    <a:srgbClr val="ffffff"/>
                  </a:solidFill>
                  <a:latin typeface="Verdana"/>
                  <a:ea typeface="Verdana"/>
                </a:rPr>
                <a:t> [should start searching at 0, not 1]</a:t>
              </a:r>
              <a:endParaRPr b="0" lang="en-US" sz="2000" spc="-1" strike="noStrike">
                <a:latin typeface="Arial"/>
              </a:endParaRPr>
            </a:p>
          </p:txBody>
        </p:sp>
        <p:sp>
          <p:nvSpPr>
            <p:cNvPr id="220" name="Straight Connector 12"/>
            <p:cNvSpPr/>
            <p:nvPr/>
          </p:nvSpPr>
          <p:spPr>
            <a:xfrm>
              <a:off x="2895480" y="2148840"/>
              <a:ext cx="1676520" cy="719640"/>
            </a:xfrm>
            <a:prstGeom prst="line">
              <a:avLst/>
            </a:prstGeom>
            <a:ln w="38100">
              <a:solidFill>
                <a:srgbClr val="ff000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4000" spc="-52" strike="noStrike">
                <a:solidFill>
                  <a:srgbClr val="ffff00"/>
                </a:solidFill>
                <a:latin typeface="Verdana"/>
                <a:ea typeface="Verdana"/>
              </a:rPr>
              <a:t>Example – Test Cases</a:t>
            </a:r>
            <a:endParaRPr b="0" lang="en-US" sz="4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TextBox 3"/>
          <p:cNvSpPr/>
          <p:nvPr/>
        </p:nvSpPr>
        <p:spPr>
          <a:xfrm>
            <a:off x="324720" y="990720"/>
            <a:ext cx="8514000" cy="2309040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public static int numZero (int[] arr)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{ </a:t>
            </a:r>
            <a:r>
              <a:rPr b="1" lang="en-US" sz="1800" spc="-1" strike="noStrike">
                <a:solidFill>
                  <a:srgbClr val="808080"/>
                </a:solidFill>
                <a:latin typeface="Courier New"/>
                <a:ea typeface="Courier New"/>
              </a:rPr>
              <a:t> </a:t>
            </a:r>
            <a:r>
              <a:rPr b="0" i="1" lang="en-US" sz="1800" spc="-1" strike="noStrike">
                <a:solidFill>
                  <a:srgbClr val="262626"/>
                </a:solidFill>
                <a:latin typeface="Courier New"/>
                <a:ea typeface="Courier New"/>
              </a:rPr>
              <a:t>// If arr is null throw NullPointerException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0" i="1" lang="en-US" sz="1800" spc="-1" strike="noStrike">
                <a:solidFill>
                  <a:srgbClr val="262626"/>
                </a:solidFill>
                <a:latin typeface="Courier New"/>
                <a:ea typeface="Courier New"/>
              </a:rPr>
              <a:t>   </a:t>
            </a:r>
            <a:r>
              <a:rPr b="0" i="1" lang="en-US" sz="1800" spc="-1" strike="noStrike">
                <a:solidFill>
                  <a:srgbClr val="262626"/>
                </a:solidFill>
                <a:latin typeface="Courier New"/>
                <a:ea typeface="Courier New"/>
              </a:rPr>
              <a:t>// else return the number of occurrences of 0 in arr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int count = 0;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for (int i = 1; i &lt; arr.length; i++)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if (arr[i] == 0)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   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count++;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</a:t>
            </a: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return count;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}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23" name="Content Placeholder 5"/>
          <p:cNvSpPr/>
          <p:nvPr/>
        </p:nvSpPr>
        <p:spPr>
          <a:xfrm>
            <a:off x="152280" y="3429000"/>
            <a:ext cx="887688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82880" indent="-182880">
              <a:lnSpc>
                <a:spcPct val="100000"/>
              </a:lnSpc>
              <a:spcBef>
                <a:spcPts val="1001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Test 1: [4, 6, 0], expected 1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spcAft>
                <a:spcPts val="201"/>
              </a:spcAft>
              <a:buNone/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spcAft>
                <a:spcPts val="201"/>
              </a:spcAft>
              <a:buNone/>
            </a:pPr>
            <a:endParaRPr b="0" lang="en-US" sz="2000" spc="-1" strike="noStrike">
              <a:latin typeface="Arial"/>
            </a:endParaRPr>
          </a:p>
          <a:p>
            <a:pPr marL="182880" indent="-182880">
              <a:lnSpc>
                <a:spcPct val="100000"/>
              </a:lnSpc>
              <a:spcBef>
                <a:spcPts val="1599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Test 2: [0, 4, 6], expected 1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spcAft>
                <a:spcPts val="201"/>
              </a:spcAft>
              <a:buNone/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224" name="Content Placeholder 10"/>
          <p:cNvSpPr/>
          <p:nvPr/>
        </p:nvSpPr>
        <p:spPr>
          <a:xfrm>
            <a:off x="762120" y="3858840"/>
            <a:ext cx="807660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algn="l" pos="0"/>
              </a:tabLst>
            </a:pP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Error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: </a:t>
            </a:r>
            <a:r>
              <a:rPr b="1" lang="en-US" sz="2000" spc="9" strike="noStrike">
                <a:solidFill>
                  <a:srgbClr val="ffffff"/>
                </a:solidFill>
                <a:latin typeface="Courier New"/>
                <a:ea typeface="Courier New"/>
              </a:rPr>
              <a:t>i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 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is 1, not 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0, on 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the first 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iteration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algn="l" pos="0"/>
              </a:tabLst>
            </a:pP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Failure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: 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none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225" name="Content Placeholder 11"/>
          <p:cNvSpPr/>
          <p:nvPr/>
        </p:nvSpPr>
        <p:spPr>
          <a:xfrm>
            <a:off x="762120" y="5303520"/>
            <a:ext cx="807660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algn="l" pos="0"/>
              </a:tabLst>
            </a:pP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Error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: </a:t>
            </a:r>
            <a:r>
              <a:rPr b="1" lang="en-US" sz="2000" spc="9" strike="noStrike">
                <a:solidFill>
                  <a:srgbClr val="ffffff"/>
                </a:solidFill>
                <a:latin typeface="Courier New"/>
                <a:ea typeface="Courier New"/>
              </a:rPr>
              <a:t>i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 is 1, not 0, error propagates to the variable </a:t>
            </a:r>
            <a:r>
              <a:rPr b="1" lang="en-US" sz="2000" spc="9" strike="noStrike">
                <a:solidFill>
                  <a:srgbClr val="ffffff"/>
                </a:solidFill>
                <a:latin typeface="Courier New"/>
                <a:ea typeface="Courier New"/>
              </a:rPr>
              <a:t>count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algn="l" pos="0"/>
              </a:tabLst>
            </a:pP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Failure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: </a:t>
            </a:r>
            <a:r>
              <a:rPr b="1" lang="en-US" sz="2000" spc="9" strike="noStrike">
                <a:solidFill>
                  <a:srgbClr val="ffffff"/>
                </a:solidFill>
                <a:latin typeface="Courier New"/>
                <a:ea typeface="Courier New"/>
              </a:rPr>
              <a:t>count</a:t>
            </a:r>
            <a:r>
              <a:rPr b="1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 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is 0 at the return statement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  <p:grpSp>
        <p:nvGrpSpPr>
          <p:cNvPr id="226" name="Group 2"/>
          <p:cNvGrpSpPr/>
          <p:nvPr/>
        </p:nvGrpSpPr>
        <p:grpSpPr>
          <a:xfrm>
            <a:off x="1905120" y="1958400"/>
            <a:ext cx="6757920" cy="1255680"/>
            <a:chOff x="1905120" y="1958400"/>
            <a:chExt cx="6757920" cy="1255680"/>
          </a:xfrm>
        </p:grpSpPr>
        <p:sp>
          <p:nvSpPr>
            <p:cNvPr id="227" name="Oval 5"/>
            <p:cNvSpPr/>
            <p:nvPr/>
          </p:nvSpPr>
          <p:spPr>
            <a:xfrm>
              <a:off x="1905120" y="1958400"/>
              <a:ext cx="990360" cy="38052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8" name="Rectangle 4"/>
            <p:cNvSpPr/>
            <p:nvPr/>
          </p:nvSpPr>
          <p:spPr>
            <a:xfrm>
              <a:off x="4572000" y="2514600"/>
              <a:ext cx="4091040" cy="699480"/>
            </a:xfrm>
            <a:prstGeom prst="rect">
              <a:avLst/>
            </a:prstGeom>
            <a:solidFill>
              <a:schemeClr val="tx1"/>
            </a:solidFill>
            <a:ln w="0">
              <a:solidFill>
                <a:srgbClr val="ff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2000" spc="-1" strike="noStrike">
                  <a:solidFill>
                    <a:srgbClr val="ffff00"/>
                  </a:solidFill>
                  <a:latin typeface="Verdana"/>
                  <a:ea typeface="Verdana"/>
                </a:rPr>
                <a:t>Fault</a:t>
              </a:r>
              <a:r>
                <a:rPr b="0" lang="en-US" sz="2000" spc="-1" strike="noStrike">
                  <a:solidFill>
                    <a:srgbClr val="ffffff"/>
                  </a:solidFill>
                  <a:latin typeface="Verdana"/>
                  <a:ea typeface="Verdana"/>
                </a:rPr>
                <a:t>: </a:t>
              </a:r>
              <a:r>
                <a:rPr b="1" lang="en-US" sz="2000" spc="-1" strike="noStrike">
                  <a:solidFill>
                    <a:srgbClr val="ffffff"/>
                  </a:solidFill>
                  <a:latin typeface="Courier New"/>
                  <a:ea typeface="Courier New"/>
                </a:rPr>
                <a:t>i = 1</a:t>
              </a:r>
              <a:r>
                <a:rPr b="0" lang="en-US" sz="2000" spc="-1" strike="noStrike">
                  <a:solidFill>
                    <a:srgbClr val="ffffff"/>
                  </a:solidFill>
                  <a:latin typeface="Verdana"/>
                  <a:ea typeface="Verdana"/>
                </a:rPr>
                <a:t> [should start searching at 0, not 1]</a:t>
              </a:r>
              <a:endParaRPr b="0" lang="en-US" sz="2000" spc="-1" strike="noStrike">
                <a:latin typeface="Arial"/>
              </a:endParaRPr>
            </a:p>
          </p:txBody>
        </p:sp>
        <p:sp>
          <p:nvSpPr>
            <p:cNvPr id="229" name="Straight Connector 2"/>
            <p:cNvSpPr/>
            <p:nvPr/>
          </p:nvSpPr>
          <p:spPr>
            <a:xfrm>
              <a:off x="2895480" y="2148840"/>
              <a:ext cx="1676520" cy="719640"/>
            </a:xfrm>
            <a:prstGeom prst="line">
              <a:avLst/>
            </a:prstGeom>
            <a:ln w="38100">
              <a:solidFill>
                <a:srgbClr val="ff000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3600" spc="-52" strike="noStrike">
                <a:solidFill>
                  <a:srgbClr val="ffff00"/>
                </a:solidFill>
                <a:latin typeface="Verdana"/>
                <a:ea typeface="Verdana"/>
              </a:rPr>
              <a:t>Example – State Representation</a:t>
            </a:r>
            <a:endParaRPr b="0" lang="en-US" sz="3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Content Placeholder 4"/>
          <p:cNvSpPr/>
          <p:nvPr/>
        </p:nvSpPr>
        <p:spPr>
          <a:xfrm>
            <a:off x="152280" y="3401640"/>
            <a:ext cx="8876880" cy="28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82880" indent="-182880">
              <a:lnSpc>
                <a:spcPct val="100000"/>
              </a:lnSpc>
              <a:spcBef>
                <a:spcPts val="1001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Assume that we want to represent program states using the notation </a:t>
            </a:r>
            <a:r>
              <a:rPr b="1" lang="en-US" sz="2000" spc="9" strike="noStrike">
                <a:solidFill>
                  <a:srgbClr val="ffffff"/>
                </a:solidFill>
                <a:latin typeface="Courier New"/>
                <a:ea typeface="Courier New"/>
              </a:rPr>
              <a:t>&lt;var</a:t>
            </a:r>
            <a:r>
              <a:rPr b="1" lang="en-US" sz="2000" spc="9" strike="noStrike" baseline="-25000">
                <a:solidFill>
                  <a:srgbClr val="ffffff"/>
                </a:solidFill>
                <a:latin typeface="Courier New"/>
                <a:ea typeface="Courier New"/>
              </a:rPr>
              <a:t>1 </a:t>
            </a:r>
            <a:r>
              <a:rPr b="1" lang="en-US" sz="2000" spc="9" strike="noStrike">
                <a:solidFill>
                  <a:srgbClr val="ffffff"/>
                </a:solidFill>
                <a:latin typeface="Courier New"/>
                <a:ea typeface="Courier New"/>
              </a:rPr>
              <a:t>= v</a:t>
            </a:r>
            <a:r>
              <a:rPr b="1" lang="en-US" sz="2000" spc="9" strike="noStrike" baseline="-25000">
                <a:solidFill>
                  <a:srgbClr val="ffffff"/>
                </a:solidFill>
                <a:latin typeface="Courier New"/>
                <a:ea typeface="Courier New"/>
              </a:rPr>
              <a:t>1</a:t>
            </a:r>
            <a:r>
              <a:rPr b="1" lang="en-US" sz="2000" spc="9" strike="noStrike">
                <a:solidFill>
                  <a:srgbClr val="ffffff"/>
                </a:solidFill>
                <a:latin typeface="Courier New"/>
                <a:ea typeface="Courier New"/>
              </a:rPr>
              <a:t>, </a:t>
            </a:r>
            <a:r>
              <a:rPr b="1" lang="is-IS" sz="2000" spc="9" strike="noStrike">
                <a:solidFill>
                  <a:srgbClr val="ffffff"/>
                </a:solidFill>
                <a:latin typeface="Courier New"/>
                <a:ea typeface="Courier New"/>
              </a:rPr>
              <a:t>…, var</a:t>
            </a:r>
            <a:r>
              <a:rPr b="1" lang="is-IS" sz="2000" spc="9" strike="noStrike" baseline="-25000">
                <a:solidFill>
                  <a:srgbClr val="ffffff"/>
                </a:solidFill>
                <a:latin typeface="Courier New"/>
                <a:ea typeface="Courier New"/>
              </a:rPr>
              <a:t>n</a:t>
            </a:r>
            <a:r>
              <a:rPr b="1" lang="is-IS" sz="2000" spc="9" strike="noStrike">
                <a:solidFill>
                  <a:srgbClr val="ffffff"/>
                </a:solidFill>
                <a:latin typeface="Courier New"/>
                <a:ea typeface="Courier New"/>
              </a:rPr>
              <a:t> = v</a:t>
            </a:r>
            <a:r>
              <a:rPr b="1" lang="is-IS" sz="2000" spc="9" strike="noStrike" baseline="-25000">
                <a:solidFill>
                  <a:srgbClr val="ffffff"/>
                </a:solidFill>
                <a:latin typeface="Courier New"/>
                <a:ea typeface="Courier New"/>
              </a:rPr>
              <a:t>n</a:t>
            </a:r>
            <a:r>
              <a:rPr b="1" lang="is-IS" sz="2000" spc="9" strike="noStrike">
                <a:solidFill>
                  <a:srgbClr val="ffffff"/>
                </a:solidFill>
                <a:latin typeface="Courier New"/>
                <a:ea typeface="Courier New"/>
              </a:rPr>
              <a:t>, PC = program counter&gt;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 </a:t>
            </a:r>
            <a:endParaRPr b="0" lang="en-US" sz="2000" spc="-1" strike="noStrike">
              <a:latin typeface="Arial"/>
            </a:endParaRPr>
          </a:p>
          <a:p>
            <a:pPr marL="182880" indent="-182880">
              <a:lnSpc>
                <a:spcPct val="100000"/>
              </a:lnSpc>
              <a:spcBef>
                <a:spcPts val="2401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Sequence of states in the execution of </a:t>
            </a:r>
            <a:r>
              <a:rPr b="1" lang="en-US" sz="2000" spc="9" strike="noStrike">
                <a:solidFill>
                  <a:srgbClr val="ffffff"/>
                </a:solidFill>
                <a:latin typeface="Courier New"/>
                <a:ea typeface="Courier New"/>
              </a:rPr>
              <a:t>numZero({0,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 </a:t>
            </a:r>
            <a:r>
              <a:rPr b="1" lang="en-US" sz="2000" spc="9" strike="noStrike">
                <a:solidFill>
                  <a:srgbClr val="ffffff"/>
                </a:solidFill>
                <a:latin typeface="Courier New"/>
                <a:ea typeface="Courier New"/>
              </a:rPr>
              <a:t>4,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 </a:t>
            </a:r>
            <a:r>
              <a:rPr b="1" lang="en-US" sz="2000" spc="9" strike="noStrike">
                <a:solidFill>
                  <a:srgbClr val="ffffff"/>
                </a:solidFill>
                <a:latin typeface="Courier New"/>
                <a:ea typeface="Courier New"/>
              </a:rPr>
              <a:t>6})</a:t>
            </a:r>
            <a:endParaRPr b="0" lang="en-US" sz="2000" spc="-1" strike="noStrike">
              <a:latin typeface="Arial"/>
            </a:endParaRPr>
          </a:p>
          <a:p>
            <a:pPr marL="696960"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00"/>
                </a:solidFill>
                <a:latin typeface="Verdana"/>
                <a:ea typeface="Verdana"/>
              </a:rPr>
              <a:t>1: &lt; arr={0, 4, 6}, PC=[</a:t>
            </a:r>
            <a:r>
              <a:rPr b="1" lang="en-US" sz="1600" spc="-1" strike="noStrike">
                <a:solidFill>
                  <a:srgbClr val="ffff00"/>
                </a:solidFill>
                <a:latin typeface="Courier New"/>
                <a:ea typeface="Courier New"/>
              </a:rPr>
              <a:t>int count=0</a:t>
            </a:r>
            <a:r>
              <a:rPr b="0" lang="en-US" sz="1600" spc="-1" strike="noStrike">
                <a:solidFill>
                  <a:srgbClr val="ffff00"/>
                </a:solidFill>
                <a:latin typeface="Verdana"/>
                <a:ea typeface="Verdana"/>
              </a:rPr>
              <a:t> (L1)] &gt;</a:t>
            </a:r>
            <a:endParaRPr b="0" lang="en-US" sz="1600" spc="-1" strike="noStrike">
              <a:latin typeface="Arial"/>
            </a:endParaRPr>
          </a:p>
          <a:p>
            <a:pPr marL="696960"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00"/>
                </a:solidFill>
                <a:latin typeface="Verdana"/>
                <a:ea typeface="Verdana"/>
              </a:rPr>
              <a:t>2: &lt; arr={0, 4, 6}, </a:t>
            </a:r>
            <a:r>
              <a:rPr b="1" lang="en-US" sz="1600" spc="-1" strike="noStrike">
                <a:solidFill>
                  <a:srgbClr val="ffff00"/>
                </a:solidFill>
                <a:latin typeface="Courier New"/>
                <a:ea typeface="Courier New"/>
              </a:rPr>
              <a:t>count=0</a:t>
            </a:r>
            <a:r>
              <a:rPr b="0" lang="en-US" sz="1600" spc="-1" strike="noStrike">
                <a:solidFill>
                  <a:srgbClr val="ffff00"/>
                </a:solidFill>
                <a:latin typeface="Verdana"/>
                <a:ea typeface="Verdana"/>
              </a:rPr>
              <a:t>, PC=[</a:t>
            </a:r>
            <a:r>
              <a:rPr b="1" lang="en-US" sz="1600" spc="-1" strike="noStrike">
                <a:solidFill>
                  <a:srgbClr val="ffff00"/>
                </a:solidFill>
                <a:latin typeface="Courier New"/>
                <a:ea typeface="Courier New"/>
              </a:rPr>
              <a:t>i=1</a:t>
            </a:r>
            <a:r>
              <a:rPr b="0" lang="en-US" sz="1600" spc="-1" strike="noStrike">
                <a:solidFill>
                  <a:srgbClr val="ffff00"/>
                </a:solidFill>
                <a:latin typeface="Verdana"/>
                <a:ea typeface="Verdana"/>
              </a:rPr>
              <a:t> (L2)] &gt;</a:t>
            </a:r>
            <a:endParaRPr b="0" lang="en-US" sz="1600" spc="-1" strike="noStrike">
              <a:latin typeface="Arial"/>
            </a:endParaRPr>
          </a:p>
          <a:p>
            <a:pPr marL="696960"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00"/>
                </a:solidFill>
                <a:latin typeface="Verdana"/>
                <a:ea typeface="Verdana"/>
              </a:rPr>
              <a:t>3: &lt; arr={0, 4, 6}, </a:t>
            </a:r>
            <a:r>
              <a:rPr b="1" lang="en-US" sz="1600" spc="-1" strike="noStrike">
                <a:solidFill>
                  <a:srgbClr val="ffff00"/>
                </a:solidFill>
                <a:latin typeface="Courier New"/>
                <a:ea typeface="Courier New"/>
              </a:rPr>
              <a:t>count=0</a:t>
            </a:r>
            <a:r>
              <a:rPr b="0" lang="en-US" sz="1600" spc="-1" strike="noStrike">
                <a:solidFill>
                  <a:srgbClr val="ffff00"/>
                </a:solidFill>
                <a:latin typeface="Verdana"/>
                <a:ea typeface="Verdana"/>
              </a:rPr>
              <a:t>, </a:t>
            </a:r>
            <a:r>
              <a:rPr b="1" lang="en-US" sz="1600" spc="-1" strike="noStrike">
                <a:solidFill>
                  <a:srgbClr val="ffff00"/>
                </a:solidFill>
                <a:latin typeface="Courier New"/>
                <a:ea typeface="Courier New"/>
              </a:rPr>
              <a:t>i=1</a:t>
            </a:r>
            <a:r>
              <a:rPr b="0" lang="en-US" sz="1600" spc="-1" strike="noStrike">
                <a:solidFill>
                  <a:srgbClr val="ffff00"/>
                </a:solidFill>
                <a:latin typeface="Verdana"/>
                <a:ea typeface="Verdana"/>
              </a:rPr>
              <a:t>, PC=[</a:t>
            </a:r>
            <a:r>
              <a:rPr b="1" lang="en-US" sz="1600" spc="-1" strike="noStrike">
                <a:solidFill>
                  <a:srgbClr val="ffff00"/>
                </a:solidFill>
                <a:latin typeface="Courier New"/>
                <a:ea typeface="Courier New"/>
              </a:rPr>
              <a:t>i&lt;arr.length</a:t>
            </a:r>
            <a:r>
              <a:rPr b="0" lang="en-US" sz="1600" spc="-1" strike="noStrike">
                <a:solidFill>
                  <a:srgbClr val="ffff00"/>
                </a:solidFill>
                <a:latin typeface="Verdana"/>
                <a:ea typeface="Verdana"/>
              </a:rPr>
              <a:t> (L2)] &gt;</a:t>
            </a:r>
            <a:endParaRPr b="0" lang="en-US" sz="1600" spc="-1" strike="noStrike">
              <a:latin typeface="Arial"/>
            </a:endParaRPr>
          </a:p>
          <a:p>
            <a:pPr marL="696960"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r>
              <a:rPr b="0" lang="is-IS" sz="1600" spc="-1" strike="noStrike">
                <a:solidFill>
                  <a:srgbClr val="ffff00"/>
                </a:solidFill>
                <a:latin typeface="Verdana"/>
                <a:ea typeface="Verdana"/>
              </a:rPr>
              <a:t>…</a:t>
            </a:r>
            <a:endParaRPr b="0" lang="en-US" sz="1600" spc="-1" strike="noStrike">
              <a:latin typeface="Arial"/>
            </a:endParaRPr>
          </a:p>
          <a:p>
            <a:pPr marL="696960"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00"/>
                </a:solidFill>
                <a:latin typeface="Verdana"/>
                <a:ea typeface="Verdana"/>
              </a:rPr>
              <a:t>    </a:t>
            </a:r>
            <a:r>
              <a:rPr b="0" lang="en-US" sz="1600" spc="-1" strike="noStrike">
                <a:solidFill>
                  <a:srgbClr val="ffff00"/>
                </a:solidFill>
                <a:latin typeface="Verdana"/>
                <a:ea typeface="Verdana"/>
              </a:rPr>
              <a:t>&lt; arr={0, 4, 6}, </a:t>
            </a:r>
            <a:r>
              <a:rPr b="1" lang="en-US" sz="1600" spc="-1" strike="noStrike">
                <a:solidFill>
                  <a:srgbClr val="ffff00"/>
                </a:solidFill>
                <a:latin typeface="Courier New"/>
                <a:ea typeface="Courier New"/>
              </a:rPr>
              <a:t>count=0</a:t>
            </a:r>
            <a:r>
              <a:rPr b="1" lang="en-US" sz="1600" spc="-1" strike="noStrike">
                <a:solidFill>
                  <a:srgbClr val="ffff00"/>
                </a:solidFill>
                <a:latin typeface="Courier New"/>
                <a:ea typeface="Courier New"/>
              </a:rPr>
              <a:t>,</a:t>
            </a:r>
            <a:r>
              <a:rPr b="1" lang="en-US" sz="1600" spc="-1" strike="noStrike">
                <a:solidFill>
                  <a:srgbClr val="ffff00"/>
                </a:solidFill>
                <a:latin typeface="Verdana"/>
                <a:ea typeface="Verdana"/>
              </a:rPr>
              <a:t> </a:t>
            </a:r>
            <a:r>
              <a:rPr b="1" lang="en-US" sz="1600" spc="-1" strike="noStrike">
                <a:solidFill>
                  <a:srgbClr val="ffff00"/>
                </a:solidFill>
                <a:latin typeface="Courier New"/>
                <a:ea typeface="Courier New"/>
              </a:rPr>
              <a:t>i=3, </a:t>
            </a:r>
            <a:r>
              <a:rPr b="0" lang="en-US" sz="1600" spc="-1" strike="noStrike">
                <a:solidFill>
                  <a:srgbClr val="ffff00"/>
                </a:solidFill>
                <a:latin typeface="Verdana"/>
                <a:ea typeface="Verdana"/>
              </a:rPr>
              <a:t>PC=</a:t>
            </a:r>
            <a:r>
              <a:rPr b="1" lang="en-US" sz="1600" spc="-1" strike="noStrike">
                <a:solidFill>
                  <a:srgbClr val="ffff00"/>
                </a:solidFill>
                <a:latin typeface="Courier New"/>
                <a:ea typeface="Courier New"/>
              </a:rPr>
              <a:t>[return count</a:t>
            </a:r>
            <a:r>
              <a:rPr b="0" lang="en-US" sz="1600" spc="-1" strike="noStrike">
                <a:solidFill>
                  <a:srgbClr val="ffff00"/>
                </a:solidFill>
                <a:latin typeface="Verdana"/>
                <a:ea typeface="Verdana"/>
              </a:rPr>
              <a:t> (L5)] &gt;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endParaRPr b="0" lang="en-US" sz="1600" spc="-1" strike="noStrike">
              <a:latin typeface="Arial"/>
            </a:endParaRPr>
          </a:p>
        </p:txBody>
      </p:sp>
      <p:grpSp>
        <p:nvGrpSpPr>
          <p:cNvPr id="232" name="Group 13"/>
          <p:cNvGrpSpPr/>
          <p:nvPr/>
        </p:nvGrpSpPr>
        <p:grpSpPr>
          <a:xfrm>
            <a:off x="228600" y="990720"/>
            <a:ext cx="8686440" cy="2309040"/>
            <a:chOff x="228600" y="990720"/>
            <a:chExt cx="8686440" cy="2309040"/>
          </a:xfrm>
        </p:grpSpPr>
        <p:sp>
          <p:nvSpPr>
            <p:cNvPr id="233" name="TextBox 4"/>
            <p:cNvSpPr/>
            <p:nvPr/>
          </p:nvSpPr>
          <p:spPr>
            <a:xfrm>
              <a:off x="228600" y="990720"/>
              <a:ext cx="8686440" cy="2309040"/>
            </a:xfrm>
            <a:prstGeom prst="rect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public static int numZero (int[] arr)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{ </a:t>
              </a:r>
              <a:r>
                <a:rPr b="1" lang="en-US" sz="1800" spc="-1" strike="noStrike">
                  <a:solidFill>
                    <a:srgbClr val="808080"/>
                  </a:solidFill>
                  <a:latin typeface="Courier New"/>
                  <a:ea typeface="Courier New"/>
                </a:rPr>
                <a:t> </a:t>
              </a:r>
              <a:r>
                <a:rPr b="0" i="1" lang="en-US" sz="1800" spc="-1" strike="noStrike">
                  <a:solidFill>
                    <a:srgbClr val="262626"/>
                  </a:solidFill>
                  <a:latin typeface="Courier New"/>
                  <a:ea typeface="Courier New"/>
                </a:rPr>
                <a:t>// If arr is null throw NullPointerException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0" i="1" lang="en-US" sz="1800" spc="-1" strike="noStrike">
                  <a:solidFill>
                    <a:srgbClr val="262626"/>
                  </a:solidFill>
                  <a:latin typeface="Courier New"/>
                  <a:ea typeface="Courier New"/>
                </a:rPr>
                <a:t>   </a:t>
              </a:r>
              <a:r>
                <a:rPr b="0" i="1" lang="en-US" sz="1800" spc="-1" strike="noStrike">
                  <a:solidFill>
                    <a:srgbClr val="262626"/>
                  </a:solidFill>
                  <a:latin typeface="Courier New"/>
                  <a:ea typeface="Courier New"/>
                </a:rPr>
                <a:t>// else return the number of occurrences of 0 in arr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int count = 0;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for (int i = 1; i &lt; arr.length; i++)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if (arr[i] == 0)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   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count++;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return count;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}</a:t>
              </a:r>
              <a:endParaRPr b="0" lang="en-US" sz="1800" spc="-1" strike="noStrike">
                <a:latin typeface="Arial"/>
              </a:endParaRPr>
            </a:p>
          </p:txBody>
        </p:sp>
        <p:sp>
          <p:nvSpPr>
            <p:cNvPr id="234" name="Rectangle 7"/>
            <p:cNvSpPr/>
            <p:nvPr/>
          </p:nvSpPr>
          <p:spPr>
            <a:xfrm>
              <a:off x="231120" y="1703520"/>
              <a:ext cx="43848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700" spc="-1" strike="noStrike">
                  <a:solidFill>
                    <a:srgbClr val="808080"/>
                  </a:solidFill>
                  <a:latin typeface="Verdana"/>
                  <a:ea typeface="Verdana"/>
                </a:rPr>
                <a:t>L1</a:t>
              </a:r>
              <a:endParaRPr b="0" lang="en-US" sz="1700" spc="-1" strike="noStrike">
                <a:latin typeface="Arial"/>
              </a:endParaRPr>
            </a:p>
          </p:txBody>
        </p:sp>
        <p:sp>
          <p:nvSpPr>
            <p:cNvPr id="235" name="Rectangle 8"/>
            <p:cNvSpPr/>
            <p:nvPr/>
          </p:nvSpPr>
          <p:spPr>
            <a:xfrm>
              <a:off x="231120" y="1974960"/>
              <a:ext cx="43848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700" spc="-1" strike="noStrike">
                  <a:solidFill>
                    <a:srgbClr val="808080"/>
                  </a:solidFill>
                  <a:latin typeface="Verdana"/>
                  <a:ea typeface="Verdana"/>
                </a:rPr>
                <a:t>L2</a:t>
              </a:r>
              <a:endParaRPr b="0" lang="en-US" sz="1700" spc="-1" strike="noStrike">
                <a:latin typeface="Arial"/>
              </a:endParaRPr>
            </a:p>
          </p:txBody>
        </p:sp>
        <p:sp>
          <p:nvSpPr>
            <p:cNvPr id="236" name="Rectangle 9"/>
            <p:cNvSpPr/>
            <p:nvPr/>
          </p:nvSpPr>
          <p:spPr>
            <a:xfrm>
              <a:off x="231120" y="2231280"/>
              <a:ext cx="43848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700" spc="-1" strike="noStrike">
                  <a:solidFill>
                    <a:srgbClr val="808080"/>
                  </a:solidFill>
                  <a:latin typeface="Verdana"/>
                  <a:ea typeface="Verdana"/>
                </a:rPr>
                <a:t>L3</a:t>
              </a:r>
              <a:endParaRPr b="0" lang="en-US" sz="1700" spc="-1" strike="noStrike">
                <a:latin typeface="Arial"/>
              </a:endParaRPr>
            </a:p>
          </p:txBody>
        </p:sp>
        <p:sp>
          <p:nvSpPr>
            <p:cNvPr id="237" name="Rectangle 10"/>
            <p:cNvSpPr/>
            <p:nvPr/>
          </p:nvSpPr>
          <p:spPr>
            <a:xfrm>
              <a:off x="231120" y="2468880"/>
              <a:ext cx="43848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700" spc="-1" strike="noStrike">
                  <a:solidFill>
                    <a:srgbClr val="808080"/>
                  </a:solidFill>
                  <a:latin typeface="Verdana"/>
                  <a:ea typeface="Verdana"/>
                </a:rPr>
                <a:t>L4</a:t>
              </a:r>
              <a:endParaRPr b="0" lang="en-US" sz="1700" spc="-1" strike="noStrike">
                <a:latin typeface="Arial"/>
              </a:endParaRPr>
            </a:p>
          </p:txBody>
        </p:sp>
        <p:sp>
          <p:nvSpPr>
            <p:cNvPr id="238" name="Rectangle 11"/>
            <p:cNvSpPr/>
            <p:nvPr/>
          </p:nvSpPr>
          <p:spPr>
            <a:xfrm>
              <a:off x="231120" y="2706480"/>
              <a:ext cx="43848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700" spc="-1" strike="noStrike">
                  <a:solidFill>
                    <a:srgbClr val="808080"/>
                  </a:solidFill>
                  <a:latin typeface="Verdana"/>
                  <a:ea typeface="Verdana"/>
                </a:rPr>
                <a:t>L5</a:t>
              </a:r>
              <a:endParaRPr b="0" lang="en-US" sz="17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3600" spc="-52" strike="noStrike">
                <a:solidFill>
                  <a:srgbClr val="ffff00"/>
                </a:solidFill>
                <a:latin typeface="Verdana"/>
                <a:ea typeface="Verdana"/>
              </a:rPr>
              <a:t>Example – Error State</a:t>
            </a:r>
            <a:endParaRPr b="0" lang="en-US" sz="3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Content Placeholder 4"/>
          <p:cNvSpPr/>
          <p:nvPr/>
        </p:nvSpPr>
        <p:spPr>
          <a:xfrm>
            <a:off x="152280" y="993600"/>
            <a:ext cx="8762760" cy="533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231840" indent="-231840">
              <a:lnSpc>
                <a:spcPct val="100000"/>
              </a:lnSpc>
              <a:spcBef>
                <a:spcPts val="1001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Error state</a:t>
            </a:r>
            <a:endParaRPr b="0" lang="en-US" sz="2000" spc="-1" strike="noStrike">
              <a:latin typeface="Arial"/>
            </a:endParaRPr>
          </a:p>
          <a:p>
            <a:pPr lvl="1" marL="635040" indent="-23328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buClr>
                <a:srgbClr val="ffffff"/>
              </a:buClr>
              <a:buFont typeface="Wingdings 2" charset="2"/>
              <a:buChar char=""/>
            </a:pPr>
            <a:r>
              <a:rPr b="0" lang="en-US" sz="1800" spc="-1" strike="noStrike">
                <a:solidFill>
                  <a:srgbClr val="ffffff"/>
                </a:solidFill>
                <a:latin typeface="Verdana"/>
                <a:ea typeface="Verdana"/>
              </a:rPr>
              <a:t>The </a:t>
            </a:r>
            <a:r>
              <a:rPr b="0" lang="en-US" sz="1800" spc="-1" strike="noStrike">
                <a:solidFill>
                  <a:srgbClr val="ffff00"/>
                </a:solidFill>
                <a:latin typeface="Verdana"/>
                <a:ea typeface="Verdana"/>
              </a:rPr>
              <a:t>first</a:t>
            </a:r>
            <a:r>
              <a:rPr b="0" lang="en-US" sz="1800" spc="-1" strike="noStrike">
                <a:solidFill>
                  <a:srgbClr val="ffffff"/>
                </a:solidFill>
                <a:latin typeface="Verdana"/>
                <a:ea typeface="Verdana"/>
              </a:rPr>
              <a:t> </a:t>
            </a:r>
            <a:r>
              <a:rPr b="0" lang="en-US" sz="1800" spc="-1" strike="noStrike">
                <a:solidFill>
                  <a:srgbClr val="ffff00"/>
                </a:solidFill>
                <a:latin typeface="Verdana"/>
                <a:ea typeface="Verdana"/>
              </a:rPr>
              <a:t>different</a:t>
            </a:r>
            <a:r>
              <a:rPr b="0" lang="en-US" sz="1800" spc="-1" strike="noStrike">
                <a:solidFill>
                  <a:srgbClr val="ffffff"/>
                </a:solidFill>
                <a:latin typeface="Verdana"/>
                <a:ea typeface="Verdana"/>
              </a:rPr>
              <a:t> state in execution in comparison to an execution to the state sequence of what would be the correct program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200" spc="-1" strike="noStrike">
              <a:latin typeface="Arial"/>
            </a:endParaRPr>
          </a:p>
          <a:p>
            <a:pPr marL="293760" indent="-293760">
              <a:lnSpc>
                <a:spcPct val="100000"/>
              </a:lnSpc>
              <a:spcBef>
                <a:spcPts val="1001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If the code had i=0 (correct program), the execution of  </a:t>
            </a:r>
            <a:r>
              <a:rPr b="1" lang="en-US" sz="2000" spc="9" strike="noStrike">
                <a:solidFill>
                  <a:srgbClr val="ffffff"/>
                </a:solidFill>
                <a:latin typeface="Courier New"/>
                <a:ea typeface="Courier New"/>
              </a:rPr>
              <a:t>numZero({0,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 </a:t>
            </a:r>
            <a:r>
              <a:rPr b="1" lang="en-US" sz="2000" spc="9" strike="noStrike">
                <a:solidFill>
                  <a:srgbClr val="ffffff"/>
                </a:solidFill>
                <a:latin typeface="Courier New"/>
                <a:ea typeface="Courier New"/>
              </a:rPr>
              <a:t>4,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 </a:t>
            </a:r>
            <a:r>
              <a:rPr b="1" lang="en-US" sz="2000" spc="9" strike="noStrike">
                <a:solidFill>
                  <a:srgbClr val="ffffff"/>
                </a:solidFill>
                <a:latin typeface="Courier New"/>
                <a:ea typeface="Courier New"/>
              </a:rPr>
              <a:t>6})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 would be</a:t>
            </a:r>
            <a:endParaRPr b="0" lang="en-US" sz="2000" spc="-1" strike="noStrike">
              <a:latin typeface="Arial"/>
            </a:endParaRPr>
          </a:p>
          <a:p>
            <a:pPr marL="696960">
              <a:lnSpc>
                <a:spcPct val="100000"/>
              </a:lnSpc>
              <a:spcBef>
                <a:spcPts val="700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Verdana"/>
                <a:ea typeface="Verdana"/>
              </a:rPr>
              <a:t>1: &lt; arr={0, 4, 6}, PC=[</a:t>
            </a:r>
            <a:r>
              <a:rPr b="1" lang="en-US" sz="1600" spc="-1" strike="noStrike">
                <a:solidFill>
                  <a:srgbClr val="ffffff"/>
                </a:solidFill>
                <a:latin typeface="Courier New"/>
                <a:ea typeface="Courier New"/>
              </a:rPr>
              <a:t>int count=0</a:t>
            </a:r>
            <a:r>
              <a:rPr b="0" lang="en-US" sz="1600" spc="-1" strike="noStrike">
                <a:solidFill>
                  <a:srgbClr val="ffffff"/>
                </a:solidFill>
                <a:latin typeface="Verdana"/>
                <a:ea typeface="Verdana"/>
              </a:rPr>
              <a:t> (L1)] &gt;</a:t>
            </a:r>
            <a:endParaRPr b="0" lang="en-US" sz="1600" spc="-1" strike="noStrike">
              <a:latin typeface="Arial"/>
            </a:endParaRPr>
          </a:p>
          <a:p>
            <a:pPr marL="696960"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Verdana"/>
                <a:ea typeface="Verdana"/>
              </a:rPr>
              <a:t>2: &lt; arr={0, 4, 6}, </a:t>
            </a:r>
            <a:r>
              <a:rPr b="1" lang="en-US" sz="1600" spc="-1" strike="noStrike">
                <a:solidFill>
                  <a:srgbClr val="ffffff"/>
                </a:solidFill>
                <a:latin typeface="Courier New"/>
                <a:ea typeface="Courier New"/>
              </a:rPr>
              <a:t>count=0</a:t>
            </a:r>
            <a:r>
              <a:rPr b="0" lang="en-US" sz="1600" spc="-1" strike="noStrike">
                <a:solidFill>
                  <a:srgbClr val="ffffff"/>
                </a:solidFill>
                <a:latin typeface="Verdana"/>
                <a:ea typeface="Verdana"/>
              </a:rPr>
              <a:t>, PC=[</a:t>
            </a:r>
            <a:r>
              <a:rPr b="1" lang="en-US" sz="1600" spc="-1" strike="noStrike">
                <a:solidFill>
                  <a:srgbClr val="ffffff"/>
                </a:solidFill>
                <a:latin typeface="Courier New"/>
                <a:ea typeface="Courier New"/>
              </a:rPr>
              <a:t>i=0</a:t>
            </a:r>
            <a:r>
              <a:rPr b="0" lang="en-US" sz="1600" spc="-1" strike="noStrike">
                <a:solidFill>
                  <a:srgbClr val="ffffff"/>
                </a:solidFill>
                <a:latin typeface="Verdana"/>
                <a:ea typeface="Verdana"/>
              </a:rPr>
              <a:t> (L2)] &gt;</a:t>
            </a:r>
            <a:endParaRPr b="0" lang="en-US" sz="1600" spc="-1" strike="noStrike">
              <a:latin typeface="Arial"/>
            </a:endParaRPr>
          </a:p>
          <a:p>
            <a:pPr marL="696960"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Verdana"/>
                <a:ea typeface="Verdana"/>
              </a:rPr>
              <a:t>3: &lt; arr={0, 4, 6}, </a:t>
            </a:r>
            <a:r>
              <a:rPr b="1" lang="en-US" sz="1600" spc="-1" strike="noStrike">
                <a:solidFill>
                  <a:srgbClr val="ffffff"/>
                </a:solidFill>
                <a:latin typeface="Courier New"/>
                <a:ea typeface="Courier New"/>
              </a:rPr>
              <a:t>count=0</a:t>
            </a:r>
            <a:r>
              <a:rPr b="0" lang="en-US" sz="1600" spc="-1" strike="noStrike">
                <a:solidFill>
                  <a:srgbClr val="ffffff"/>
                </a:solidFill>
                <a:latin typeface="Verdana"/>
                <a:ea typeface="Verdana"/>
              </a:rPr>
              <a:t>, </a:t>
            </a:r>
            <a:r>
              <a:rPr b="1" lang="en-US" sz="1600" spc="-1" strike="noStrike">
                <a:solidFill>
                  <a:srgbClr val="ffffff"/>
                </a:solidFill>
                <a:latin typeface="Courier New"/>
                <a:ea typeface="Courier New"/>
              </a:rPr>
              <a:t>i=0</a:t>
            </a:r>
            <a:r>
              <a:rPr b="0" lang="en-US" sz="1600" spc="-1" strike="noStrike">
                <a:solidFill>
                  <a:srgbClr val="ffffff"/>
                </a:solidFill>
                <a:latin typeface="Verdana"/>
                <a:ea typeface="Verdana"/>
              </a:rPr>
              <a:t>, PC=[</a:t>
            </a:r>
            <a:r>
              <a:rPr b="1" lang="en-US" sz="1600" spc="-1" strike="noStrike">
                <a:solidFill>
                  <a:srgbClr val="ffffff"/>
                </a:solidFill>
                <a:latin typeface="Courier New"/>
                <a:ea typeface="Courier New"/>
              </a:rPr>
              <a:t>i&lt;arr.length</a:t>
            </a:r>
            <a:r>
              <a:rPr b="0" lang="en-US" sz="1600" spc="-1" strike="noStrike">
                <a:solidFill>
                  <a:srgbClr val="ffffff"/>
                </a:solidFill>
                <a:latin typeface="Verdana"/>
                <a:ea typeface="Verdana"/>
              </a:rPr>
              <a:t> (L2)] &gt;</a:t>
            </a:r>
            <a:endParaRPr b="0" lang="en-US" sz="1600" spc="-1" strike="noStrike">
              <a:latin typeface="Arial"/>
            </a:endParaRPr>
          </a:p>
          <a:p>
            <a:pPr marL="696960"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r>
              <a:rPr b="0" lang="is-IS" sz="1600" spc="-1" strike="noStrike">
                <a:solidFill>
                  <a:srgbClr val="ffffff"/>
                </a:solidFill>
                <a:latin typeface="Verdana"/>
                <a:ea typeface="Verdana"/>
              </a:rPr>
              <a:t>…</a:t>
            </a:r>
            <a:endParaRPr b="0" lang="en-US" sz="1600" spc="-1" strike="noStrike">
              <a:latin typeface="Arial"/>
            </a:endParaRPr>
          </a:p>
          <a:p>
            <a:pPr marL="293760" indent="-279360">
              <a:lnSpc>
                <a:spcPct val="100000"/>
              </a:lnSpc>
              <a:spcBef>
                <a:spcPts val="1400"/>
              </a:spcBef>
              <a:buClr>
                <a:srgbClr val="ffffff"/>
              </a:buClr>
              <a:buSzPct val="80000"/>
              <a:buFont typeface="Arial"/>
              <a:buChar char="•"/>
              <a:tabLst>
                <a:tab algn="l" pos="0"/>
              </a:tabLst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Instead, we have</a:t>
            </a:r>
            <a:endParaRPr b="0" lang="en-US" sz="2000" spc="-1" strike="noStrike">
              <a:latin typeface="Arial"/>
            </a:endParaRPr>
          </a:p>
          <a:p>
            <a:pPr marL="696960">
              <a:lnSpc>
                <a:spcPct val="100000"/>
              </a:lnSpc>
              <a:spcBef>
                <a:spcPts val="700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Verdana"/>
                <a:ea typeface="Verdana"/>
              </a:rPr>
              <a:t>1: &lt; arr={0, 4, 6}, PC=[</a:t>
            </a:r>
            <a:r>
              <a:rPr b="1" lang="en-US" sz="1600" spc="-1" strike="noStrike">
                <a:solidFill>
                  <a:srgbClr val="ffffff"/>
                </a:solidFill>
                <a:latin typeface="Courier New"/>
                <a:ea typeface="Courier New"/>
              </a:rPr>
              <a:t>int count=0</a:t>
            </a:r>
            <a:r>
              <a:rPr b="0" lang="en-US" sz="1600" spc="-1" strike="noStrike">
                <a:solidFill>
                  <a:srgbClr val="ffffff"/>
                </a:solidFill>
                <a:latin typeface="Verdana"/>
                <a:ea typeface="Verdana"/>
              </a:rPr>
              <a:t> (L1)] &gt;</a:t>
            </a:r>
            <a:endParaRPr b="0" lang="en-US" sz="1600" spc="-1" strike="noStrike">
              <a:latin typeface="Arial"/>
            </a:endParaRPr>
          </a:p>
          <a:p>
            <a:pPr marL="696960"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Verdana"/>
                <a:ea typeface="Verdana"/>
              </a:rPr>
              <a:t>2: &lt; arr={0, 4, 6}, </a:t>
            </a:r>
            <a:r>
              <a:rPr b="1" lang="en-US" sz="1600" spc="-1" strike="noStrike">
                <a:solidFill>
                  <a:srgbClr val="ffffff"/>
                </a:solidFill>
                <a:latin typeface="Courier New"/>
                <a:ea typeface="Courier New"/>
              </a:rPr>
              <a:t>count=0</a:t>
            </a:r>
            <a:r>
              <a:rPr b="0" lang="en-US" sz="1600" spc="-1" strike="noStrike">
                <a:solidFill>
                  <a:srgbClr val="ffffff"/>
                </a:solidFill>
                <a:latin typeface="Verdana"/>
                <a:ea typeface="Verdana"/>
              </a:rPr>
              <a:t>, PC=[</a:t>
            </a:r>
            <a:r>
              <a:rPr b="1" lang="en-US" sz="1600" spc="-1" strike="noStrike">
                <a:solidFill>
                  <a:srgbClr val="ffffff"/>
                </a:solidFill>
                <a:latin typeface="Courier New"/>
                <a:ea typeface="Courier New"/>
              </a:rPr>
              <a:t>i=1</a:t>
            </a:r>
            <a:r>
              <a:rPr b="0" lang="en-US" sz="1600" spc="-1" strike="noStrike">
                <a:solidFill>
                  <a:srgbClr val="ffffff"/>
                </a:solidFill>
                <a:latin typeface="Verdana"/>
                <a:ea typeface="Verdana"/>
              </a:rPr>
              <a:t> (L2)] &gt;</a:t>
            </a:r>
            <a:endParaRPr b="0" lang="en-US" sz="1600" spc="-1" strike="noStrike">
              <a:latin typeface="Arial"/>
            </a:endParaRPr>
          </a:p>
          <a:p>
            <a:pPr marL="696960"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Verdana"/>
                <a:ea typeface="Verdana"/>
              </a:rPr>
              <a:t>3: &lt; arr={0, 4, 6}, </a:t>
            </a:r>
            <a:r>
              <a:rPr b="1" lang="en-US" sz="1600" spc="-1" strike="noStrike">
                <a:solidFill>
                  <a:srgbClr val="ffffff"/>
                </a:solidFill>
                <a:latin typeface="Courier New"/>
                <a:ea typeface="Courier New"/>
              </a:rPr>
              <a:t>count=0</a:t>
            </a:r>
            <a:r>
              <a:rPr b="0" lang="en-US" sz="1600" spc="-1" strike="noStrike">
                <a:solidFill>
                  <a:srgbClr val="ffffff"/>
                </a:solidFill>
                <a:latin typeface="Verdana"/>
                <a:ea typeface="Verdana"/>
              </a:rPr>
              <a:t>, </a:t>
            </a:r>
            <a:r>
              <a:rPr b="1" lang="en-US" sz="1600" spc="-1" strike="noStrike">
                <a:solidFill>
                  <a:srgbClr val="ffffff"/>
                </a:solidFill>
                <a:latin typeface="Courier New"/>
                <a:ea typeface="Courier New"/>
              </a:rPr>
              <a:t>i=1</a:t>
            </a:r>
            <a:r>
              <a:rPr b="0" lang="en-US" sz="1600" spc="-1" strike="noStrike">
                <a:solidFill>
                  <a:srgbClr val="ffffff"/>
                </a:solidFill>
                <a:latin typeface="Verdana"/>
                <a:ea typeface="Verdana"/>
              </a:rPr>
              <a:t>, PC=[</a:t>
            </a:r>
            <a:r>
              <a:rPr b="1" lang="en-US" sz="1600" spc="-1" strike="noStrike">
                <a:solidFill>
                  <a:srgbClr val="ffffff"/>
                </a:solidFill>
                <a:latin typeface="Courier New"/>
                <a:ea typeface="Courier New"/>
              </a:rPr>
              <a:t>i&lt;arr.length</a:t>
            </a:r>
            <a:r>
              <a:rPr b="0" lang="en-US" sz="1600" spc="-1" strike="noStrike">
                <a:solidFill>
                  <a:srgbClr val="ffffff"/>
                </a:solidFill>
                <a:latin typeface="Verdana"/>
                <a:ea typeface="Verdana"/>
              </a:rPr>
              <a:t> (L2)] &gt;</a:t>
            </a:r>
            <a:endParaRPr b="0" lang="en-US" sz="1600" spc="-1" strike="noStrike">
              <a:latin typeface="Arial"/>
            </a:endParaRPr>
          </a:p>
          <a:p>
            <a:pPr marL="696960"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r>
              <a:rPr b="0" lang="is-IS" sz="1600" spc="-1" strike="noStrike">
                <a:solidFill>
                  <a:srgbClr val="ffffff"/>
                </a:solidFill>
                <a:latin typeface="Verdana"/>
                <a:ea typeface="Verdana"/>
              </a:rPr>
              <a:t>…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00"/>
              </a:spcBef>
              <a:buNone/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endParaRPr b="0" lang="en-US" sz="1600" spc="-1" strike="noStrike">
              <a:latin typeface="Arial"/>
            </a:endParaRPr>
          </a:p>
        </p:txBody>
      </p:sp>
      <p:sp>
        <p:nvSpPr>
          <p:cNvPr id="241" name="Rectangle 2"/>
          <p:cNvSpPr/>
          <p:nvPr/>
        </p:nvSpPr>
        <p:spPr>
          <a:xfrm>
            <a:off x="609480" y="3581280"/>
            <a:ext cx="5333760" cy="301320"/>
          </a:xfrm>
          <a:prstGeom prst="rect">
            <a:avLst/>
          </a:prstGeom>
          <a:noFill/>
          <a:ln w="3810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42" name="Rectangle 12"/>
          <p:cNvSpPr/>
          <p:nvPr/>
        </p:nvSpPr>
        <p:spPr>
          <a:xfrm>
            <a:off x="609480" y="5254920"/>
            <a:ext cx="5333760" cy="301320"/>
          </a:xfrm>
          <a:prstGeom prst="rect">
            <a:avLst/>
          </a:prstGeom>
          <a:noFill/>
          <a:ln w="3810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243" name="Group 22"/>
          <p:cNvGrpSpPr/>
          <p:nvPr/>
        </p:nvGrpSpPr>
        <p:grpSpPr>
          <a:xfrm>
            <a:off x="5715000" y="3882960"/>
            <a:ext cx="3264120" cy="1371600"/>
            <a:chOff x="5715000" y="3882960"/>
            <a:chExt cx="3264120" cy="1371600"/>
          </a:xfrm>
        </p:grpSpPr>
        <p:sp>
          <p:nvSpPr>
            <p:cNvPr id="244" name="Rectangle 14"/>
            <p:cNvSpPr/>
            <p:nvPr/>
          </p:nvSpPr>
          <p:spPr>
            <a:xfrm>
              <a:off x="6400800" y="4038480"/>
              <a:ext cx="2578320" cy="1076040"/>
            </a:xfrm>
            <a:prstGeom prst="rect">
              <a:avLst/>
            </a:prstGeom>
            <a:noFill/>
            <a:ln w="38100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90000"/>
                </a:lnSpc>
                <a:buNone/>
              </a:pPr>
              <a:r>
                <a:rPr b="0" lang="en-US" sz="1800" spc="-1" strike="noStrike">
                  <a:solidFill>
                    <a:srgbClr val="ffff00"/>
                  </a:solidFill>
                  <a:latin typeface="Verdana"/>
                  <a:ea typeface="Verdana"/>
                </a:rPr>
                <a:t>The first error state is immediately after executing </a:t>
              </a:r>
              <a:r>
                <a:rPr b="1" lang="en-US" sz="1800" spc="-1" strike="noStrike">
                  <a:solidFill>
                    <a:srgbClr val="ffff00"/>
                  </a:solidFill>
                  <a:latin typeface="Courier New"/>
                  <a:ea typeface="Courier New"/>
                </a:rPr>
                <a:t>i=1</a:t>
              </a:r>
              <a:r>
                <a:rPr b="0" lang="en-US" sz="1800" spc="-1" strike="noStrike">
                  <a:solidFill>
                    <a:srgbClr val="ffff00"/>
                  </a:solidFill>
                  <a:latin typeface="Verdana"/>
                  <a:ea typeface="Verdana"/>
                </a:rPr>
                <a:t> </a:t>
              </a:r>
              <a:endParaRPr b="0" lang="en-US" sz="1800" spc="-1" strike="noStrike">
                <a:latin typeface="Arial"/>
              </a:endParaRPr>
            </a:p>
            <a:p>
              <a:pPr>
                <a:lnSpc>
                  <a:spcPct val="90000"/>
                </a:lnSpc>
                <a:buNone/>
              </a:pPr>
              <a:r>
                <a:rPr b="0" lang="en-US" sz="1800" spc="-1" strike="noStrike">
                  <a:solidFill>
                    <a:srgbClr val="ffff00"/>
                  </a:solidFill>
                  <a:latin typeface="Verdana"/>
                  <a:ea typeface="Verdana"/>
                </a:rPr>
                <a:t>(line L2)</a:t>
              </a:r>
              <a:endParaRPr b="0" lang="en-US" sz="1800" spc="-1" strike="noStrike">
                <a:latin typeface="Arial"/>
              </a:endParaRPr>
            </a:p>
          </p:txBody>
        </p:sp>
        <p:sp>
          <p:nvSpPr>
            <p:cNvPr id="245" name="Straight Connector 6"/>
            <p:cNvSpPr/>
            <p:nvPr/>
          </p:nvSpPr>
          <p:spPr>
            <a:xfrm flipH="1" flipV="1">
              <a:off x="5715000" y="3882960"/>
              <a:ext cx="685800" cy="460440"/>
            </a:xfrm>
            <a:prstGeom prst="line">
              <a:avLst/>
            </a:prstGeom>
            <a:ln w="38100">
              <a:solidFill>
                <a:srgbClr val="ff4c0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46" name="Straight Connector 15"/>
            <p:cNvSpPr/>
            <p:nvPr/>
          </p:nvSpPr>
          <p:spPr>
            <a:xfrm flipH="1">
              <a:off x="5715000" y="4583160"/>
              <a:ext cx="685800" cy="671400"/>
            </a:xfrm>
            <a:prstGeom prst="line">
              <a:avLst/>
            </a:prstGeom>
            <a:ln w="38100">
              <a:solidFill>
                <a:srgbClr val="ff4c0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247" name="Group 4"/>
          <p:cNvGrpSpPr/>
          <p:nvPr/>
        </p:nvGrpSpPr>
        <p:grpSpPr>
          <a:xfrm>
            <a:off x="3840480" y="3508200"/>
            <a:ext cx="703800" cy="2119680"/>
            <a:chOff x="3840480" y="3508200"/>
            <a:chExt cx="703800" cy="2119680"/>
          </a:xfrm>
        </p:grpSpPr>
        <p:sp>
          <p:nvSpPr>
            <p:cNvPr id="248" name="Oval 3"/>
            <p:cNvSpPr/>
            <p:nvPr/>
          </p:nvSpPr>
          <p:spPr>
            <a:xfrm>
              <a:off x="3840480" y="3508200"/>
              <a:ext cx="685440" cy="453960"/>
            </a:xfrm>
            <a:prstGeom prst="ellipse">
              <a:avLst/>
            </a:prstGeom>
            <a:noFill/>
            <a:ln w="38100">
              <a:solidFill>
                <a:srgbClr val="ffff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49" name="Oval 10"/>
            <p:cNvSpPr/>
            <p:nvPr/>
          </p:nvSpPr>
          <p:spPr>
            <a:xfrm>
              <a:off x="3858840" y="5173920"/>
              <a:ext cx="685440" cy="453960"/>
            </a:xfrm>
            <a:prstGeom prst="ellipse">
              <a:avLst/>
            </a:prstGeom>
            <a:noFill/>
            <a:ln w="38100">
              <a:solidFill>
                <a:srgbClr val="ffff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4000" spc="-52" strike="noStrike">
                <a:solidFill>
                  <a:srgbClr val="ffff00"/>
                </a:solidFill>
                <a:latin typeface="Verdana"/>
                <a:ea typeface="Verdana"/>
              </a:rPr>
              <a:t>RIPR Model</a:t>
            </a:r>
            <a:endParaRPr b="0" lang="en-US" sz="4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228600" y="990720"/>
            <a:ext cx="8686440" cy="51130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100000"/>
              </a:lnSpc>
              <a:spcBef>
                <a:spcPts val="1400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en-US" sz="2200" spc="9" strike="noStrike">
                <a:solidFill>
                  <a:srgbClr val="ffffff"/>
                </a:solidFill>
                <a:latin typeface="Verdana"/>
                <a:ea typeface="Verdana"/>
              </a:rPr>
              <a:t>Four conditions necessary for a failure to be observed</a:t>
            </a:r>
            <a:endParaRPr b="0" lang="en-US" sz="2200" spc="9" strike="noStrike">
              <a:solidFill>
                <a:srgbClr val="000000"/>
              </a:solidFill>
              <a:latin typeface="Century Schoolbook"/>
            </a:endParaRPr>
          </a:p>
          <a:p>
            <a:pPr marL="182880" indent="-182880">
              <a:lnSpc>
                <a:spcPct val="100000"/>
              </a:lnSpc>
              <a:spcBef>
                <a:spcPts val="2001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  <a:tabLst>
                <a:tab algn="l" pos="0"/>
              </a:tabLst>
            </a:pPr>
            <a:r>
              <a:rPr b="1" lang="en-US" sz="2200" spc="9" strike="noStrike">
                <a:solidFill>
                  <a:srgbClr val="ffff00"/>
                </a:solidFill>
                <a:latin typeface="Verdana"/>
                <a:ea typeface="Verdana"/>
              </a:rPr>
              <a:t>R</a:t>
            </a:r>
            <a:r>
              <a:rPr b="0" lang="en-US" sz="2200" spc="9" strike="noStrike">
                <a:solidFill>
                  <a:srgbClr val="ffffff"/>
                </a:solidFill>
                <a:latin typeface="Verdana"/>
                <a:ea typeface="Verdana"/>
              </a:rPr>
              <a:t>eachability</a:t>
            </a:r>
            <a:endParaRPr b="0" lang="en-US" sz="2200" spc="9" strike="noStrike">
              <a:solidFill>
                <a:srgbClr val="000000"/>
              </a:solidFill>
              <a:latin typeface="Century Schoolbook"/>
            </a:endParaRPr>
          </a:p>
          <a:p>
            <a:pPr lvl="1" marL="700200" indent="-26208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ffffff"/>
              </a:buClr>
              <a:buFont typeface="Wingdings 2" charset="2"/>
              <a:buChar char=""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Verdana"/>
                <a:ea typeface="Verdana"/>
              </a:rPr>
              <a:t>The fault is reached</a:t>
            </a:r>
            <a:endParaRPr b="0" lang="en-US" sz="1800" spc="-1" strike="noStrike">
              <a:solidFill>
                <a:srgbClr val="262626"/>
              </a:solidFill>
              <a:latin typeface="Century Schoolbook"/>
            </a:endParaRPr>
          </a:p>
          <a:p>
            <a:pPr marL="182880" indent="-182880">
              <a:lnSpc>
                <a:spcPct val="100000"/>
              </a:lnSpc>
              <a:spcBef>
                <a:spcPts val="2001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  <a:tabLst>
                <a:tab algn="l" pos="0"/>
              </a:tabLst>
            </a:pPr>
            <a:r>
              <a:rPr b="1" lang="en-US" sz="2200" spc="9" strike="noStrike">
                <a:solidFill>
                  <a:srgbClr val="ffff00"/>
                </a:solidFill>
                <a:latin typeface="Verdana"/>
                <a:ea typeface="Verdana"/>
              </a:rPr>
              <a:t>I</a:t>
            </a:r>
            <a:r>
              <a:rPr b="0" lang="en-US" sz="2200" spc="9" strike="noStrike">
                <a:solidFill>
                  <a:srgbClr val="ffffff"/>
                </a:solidFill>
                <a:latin typeface="Verdana"/>
                <a:ea typeface="Verdana"/>
              </a:rPr>
              <a:t>nfection</a:t>
            </a:r>
            <a:endParaRPr b="0" lang="en-US" sz="2200" spc="9" strike="noStrike">
              <a:solidFill>
                <a:srgbClr val="000000"/>
              </a:solidFill>
              <a:latin typeface="Century Schoolbook"/>
            </a:endParaRPr>
          </a:p>
          <a:p>
            <a:pPr lvl="1" marL="700200" indent="-24444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ffffff"/>
              </a:buClr>
              <a:buFont typeface="Wingdings 2" charset="2"/>
              <a:buChar char=""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Verdana"/>
                <a:ea typeface="Verdana"/>
              </a:rPr>
              <a:t>Execution of the fault leads to an incorrect program state (error)</a:t>
            </a:r>
            <a:endParaRPr b="0" lang="en-US" sz="1800" spc="-1" strike="noStrike">
              <a:solidFill>
                <a:srgbClr val="262626"/>
              </a:solidFill>
              <a:latin typeface="Century Schoolbook"/>
            </a:endParaRPr>
          </a:p>
          <a:p>
            <a:pPr marL="182880" indent="-182880">
              <a:lnSpc>
                <a:spcPct val="100000"/>
              </a:lnSpc>
              <a:spcBef>
                <a:spcPts val="2001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  <a:tabLst>
                <a:tab algn="l" pos="0"/>
              </a:tabLst>
            </a:pPr>
            <a:r>
              <a:rPr b="1" lang="en-US" sz="2200" spc="9" strike="noStrike">
                <a:solidFill>
                  <a:srgbClr val="ffff00"/>
                </a:solidFill>
                <a:latin typeface="Verdana"/>
                <a:ea typeface="Verdana"/>
              </a:rPr>
              <a:t>P</a:t>
            </a:r>
            <a:r>
              <a:rPr b="0" lang="en-US" sz="2200" spc="9" strike="noStrike">
                <a:solidFill>
                  <a:srgbClr val="ffffff"/>
                </a:solidFill>
                <a:latin typeface="Verdana"/>
                <a:ea typeface="Verdana"/>
              </a:rPr>
              <a:t>ropagation</a:t>
            </a:r>
            <a:endParaRPr b="0" lang="en-US" sz="2200" spc="9" strike="noStrike">
              <a:solidFill>
                <a:srgbClr val="000000"/>
              </a:solidFill>
              <a:latin typeface="Century Schoolbook"/>
            </a:endParaRPr>
          </a:p>
          <a:p>
            <a:pPr lvl="1" marL="700200" indent="-26208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ffffff"/>
              </a:buClr>
              <a:buFont typeface="Wingdings 2" charset="2"/>
              <a:buChar char=""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Verdana"/>
                <a:ea typeface="Verdana"/>
              </a:rPr>
              <a:t>The infected state must cause the program output or final state to be incorrect (failure)</a:t>
            </a:r>
            <a:endParaRPr b="0" lang="en-US" sz="1800" spc="-1" strike="noStrike">
              <a:solidFill>
                <a:srgbClr val="262626"/>
              </a:solidFill>
              <a:latin typeface="Century Schoolbook"/>
            </a:endParaRPr>
          </a:p>
          <a:p>
            <a:pPr marL="182880" indent="-182880">
              <a:lnSpc>
                <a:spcPct val="100000"/>
              </a:lnSpc>
              <a:spcBef>
                <a:spcPts val="2001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  <a:tabLst>
                <a:tab algn="l" pos="0"/>
              </a:tabLst>
            </a:pPr>
            <a:r>
              <a:rPr b="1" lang="en-US" sz="2200" spc="9" strike="noStrike">
                <a:solidFill>
                  <a:srgbClr val="ffff00"/>
                </a:solidFill>
                <a:latin typeface="Verdana"/>
                <a:ea typeface="Verdana"/>
              </a:rPr>
              <a:t>R</a:t>
            </a:r>
            <a:r>
              <a:rPr b="0" lang="en-US" sz="2200" spc="9" strike="noStrike">
                <a:solidFill>
                  <a:srgbClr val="ffffff"/>
                </a:solidFill>
                <a:latin typeface="Verdana"/>
                <a:ea typeface="Verdana"/>
              </a:rPr>
              <a:t>evealability</a:t>
            </a:r>
            <a:endParaRPr b="0" lang="en-US" sz="2200" spc="9" strike="noStrike">
              <a:solidFill>
                <a:srgbClr val="000000"/>
              </a:solidFill>
              <a:latin typeface="Century Schoolbook"/>
            </a:endParaRPr>
          </a:p>
          <a:p>
            <a:pPr lvl="1" marL="700200" indent="-26208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ffffff"/>
              </a:buClr>
              <a:buFont typeface="Wingdings 2" charset="2"/>
              <a:buChar char=""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Verdana"/>
                <a:ea typeface="Verdana"/>
              </a:rPr>
              <a:t>The tester must observe part of the incorrect portion of the program state</a:t>
            </a:r>
            <a:endParaRPr b="0" lang="en-US" sz="1800" spc="-1" strike="noStrike">
              <a:solidFill>
                <a:srgbClr val="262626"/>
              </a:solidFill>
              <a:latin typeface="Century Schoolbook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4000" spc="-52" strike="noStrike">
                <a:solidFill>
                  <a:srgbClr val="ffff00"/>
                </a:solidFill>
                <a:latin typeface="Verdana"/>
                <a:ea typeface="Verdana"/>
              </a:rPr>
              <a:t>RIPR Model</a:t>
            </a:r>
            <a:endParaRPr b="0" lang="en-US" sz="4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Content Placeholder 2"/>
          <p:cNvSpPr/>
          <p:nvPr/>
        </p:nvSpPr>
        <p:spPr>
          <a:xfrm>
            <a:off x="38160" y="6248520"/>
            <a:ext cx="11808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>
              <a:lnSpc>
                <a:spcPct val="100000"/>
              </a:lnSpc>
              <a:spcBef>
                <a:spcPts val="1400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en-US" sz="1400" spc="9" strike="noStrike">
                <a:solidFill>
                  <a:srgbClr val="ffffff"/>
                </a:solidFill>
                <a:latin typeface="Verdana"/>
                <a:ea typeface="Verdana"/>
              </a:rPr>
              <a:t>[AO, p.21]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254" name="Group 12"/>
          <p:cNvGrpSpPr/>
          <p:nvPr/>
        </p:nvGrpSpPr>
        <p:grpSpPr>
          <a:xfrm>
            <a:off x="1559160" y="1377720"/>
            <a:ext cx="1294920" cy="533160"/>
            <a:chOff x="1559160" y="1377720"/>
            <a:chExt cx="1294920" cy="533160"/>
          </a:xfrm>
        </p:grpSpPr>
        <p:sp>
          <p:nvSpPr>
            <p:cNvPr id="255" name="Content Placeholder 2"/>
            <p:cNvSpPr/>
            <p:nvPr/>
          </p:nvSpPr>
          <p:spPr>
            <a:xfrm>
              <a:off x="1559160" y="1454040"/>
              <a:ext cx="1294920" cy="45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anchor="t">
              <a:normAutofit/>
            </a:bodyPr>
            <a:p>
              <a:pPr algn="ctr">
                <a:lnSpc>
                  <a:spcPct val="100000"/>
                </a:lnSpc>
                <a:spcBef>
                  <a:spcPts val="1400"/>
                </a:spcBef>
                <a:spcAft>
                  <a:spcPts val="201"/>
                </a:spcAft>
                <a:buNone/>
                <a:tabLst>
                  <a:tab algn="l" pos="0"/>
                </a:tabLst>
              </a:pPr>
              <a:r>
                <a:rPr b="0" lang="en-US" sz="1600" spc="9" strike="noStrike">
                  <a:solidFill>
                    <a:srgbClr val="ffffff"/>
                  </a:solidFill>
                  <a:latin typeface="Verdana"/>
                  <a:ea typeface="Verdana"/>
                </a:rPr>
                <a:t>Test</a:t>
              </a:r>
              <a:endParaRPr b="0" lang="en-US" sz="1600" spc="-1" strike="noStrike">
                <a:latin typeface="Arial"/>
              </a:endParaRPr>
            </a:p>
          </p:txBody>
        </p:sp>
        <p:sp>
          <p:nvSpPr>
            <p:cNvPr id="256" name="Oval 6"/>
            <p:cNvSpPr/>
            <p:nvPr/>
          </p:nvSpPr>
          <p:spPr>
            <a:xfrm>
              <a:off x="1675080" y="1377720"/>
              <a:ext cx="1096920" cy="533160"/>
            </a:xfrm>
            <a:prstGeom prst="ellipse">
              <a:avLst/>
            </a:prstGeom>
            <a:noFill/>
            <a:ln w="38100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257" name="Group 13"/>
          <p:cNvGrpSpPr/>
          <p:nvPr/>
        </p:nvGrpSpPr>
        <p:grpSpPr>
          <a:xfrm>
            <a:off x="1574640" y="2520720"/>
            <a:ext cx="1294920" cy="794880"/>
            <a:chOff x="1574640" y="2520720"/>
            <a:chExt cx="1294920" cy="794880"/>
          </a:xfrm>
        </p:grpSpPr>
        <p:sp>
          <p:nvSpPr>
            <p:cNvPr id="258" name="Content Placeholder 2"/>
            <p:cNvSpPr/>
            <p:nvPr/>
          </p:nvSpPr>
          <p:spPr>
            <a:xfrm>
              <a:off x="1574640" y="2593800"/>
              <a:ext cx="1294920" cy="645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anchor="ctr">
              <a:noAutofit/>
            </a:bodyPr>
            <a:p>
              <a:pPr algn="ctr">
                <a:lnSpc>
                  <a:spcPct val="90000"/>
                </a:lnSpc>
                <a:spcAft>
                  <a:spcPts val="201"/>
                </a:spcAft>
                <a:buNone/>
                <a:tabLst>
                  <a:tab algn="l" pos="0"/>
                </a:tabLst>
              </a:pPr>
              <a:r>
                <a:rPr b="0" lang="en-US" sz="1600" spc="9" strike="noStrike">
                  <a:solidFill>
                    <a:srgbClr val="ffffff"/>
                  </a:solidFill>
                  <a:latin typeface="Verdana"/>
                  <a:ea typeface="Verdana"/>
                </a:rPr>
                <a:t>Fault location</a:t>
              </a:r>
              <a:endParaRPr b="0" lang="en-US" sz="1600" spc="-1" strike="noStrike">
                <a:latin typeface="Arial"/>
              </a:endParaRPr>
            </a:p>
          </p:txBody>
        </p:sp>
        <p:sp>
          <p:nvSpPr>
            <p:cNvPr id="259" name="Oval 9"/>
            <p:cNvSpPr/>
            <p:nvPr/>
          </p:nvSpPr>
          <p:spPr>
            <a:xfrm>
              <a:off x="1574640" y="2520720"/>
              <a:ext cx="1294920" cy="794880"/>
            </a:xfrm>
            <a:prstGeom prst="ellipse">
              <a:avLst/>
            </a:prstGeom>
            <a:noFill/>
            <a:ln w="38100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260" name="Group 14"/>
          <p:cNvGrpSpPr/>
          <p:nvPr/>
        </p:nvGrpSpPr>
        <p:grpSpPr>
          <a:xfrm>
            <a:off x="1391760" y="3892320"/>
            <a:ext cx="1676160" cy="1061640"/>
            <a:chOff x="1391760" y="3892320"/>
            <a:chExt cx="1676160" cy="1061640"/>
          </a:xfrm>
        </p:grpSpPr>
        <p:sp>
          <p:nvSpPr>
            <p:cNvPr id="261" name="Content Placeholder 2"/>
            <p:cNvSpPr/>
            <p:nvPr/>
          </p:nvSpPr>
          <p:spPr>
            <a:xfrm>
              <a:off x="1391760" y="3989520"/>
              <a:ext cx="1676160" cy="86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anchor="ctr">
              <a:noAutofit/>
            </a:bodyPr>
            <a:p>
              <a:pPr algn="ctr">
                <a:lnSpc>
                  <a:spcPct val="90000"/>
                </a:lnSpc>
                <a:spcAft>
                  <a:spcPts val="201"/>
                </a:spcAft>
                <a:buNone/>
                <a:tabLst>
                  <a:tab algn="l" pos="0"/>
                </a:tabLst>
              </a:pPr>
              <a:r>
                <a:rPr b="0" lang="en-US" sz="1600" spc="9" strike="noStrike">
                  <a:solidFill>
                    <a:srgbClr val="ffffff"/>
                  </a:solidFill>
                  <a:latin typeface="Verdana"/>
                  <a:ea typeface="Verdana"/>
                </a:rPr>
                <a:t>Incorrect program states</a:t>
              </a:r>
              <a:endParaRPr b="0" lang="en-US" sz="1600" spc="-1" strike="noStrike">
                <a:latin typeface="Arial"/>
              </a:endParaRPr>
            </a:p>
          </p:txBody>
        </p:sp>
        <p:sp>
          <p:nvSpPr>
            <p:cNvPr id="262" name="Oval 11"/>
            <p:cNvSpPr/>
            <p:nvPr/>
          </p:nvSpPr>
          <p:spPr>
            <a:xfrm>
              <a:off x="1391760" y="3892320"/>
              <a:ext cx="1676160" cy="1061640"/>
            </a:xfrm>
            <a:prstGeom prst="ellipse">
              <a:avLst/>
            </a:prstGeom>
            <a:noFill/>
            <a:ln w="38100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263" name="Group 15"/>
          <p:cNvGrpSpPr/>
          <p:nvPr/>
        </p:nvGrpSpPr>
        <p:grpSpPr>
          <a:xfrm>
            <a:off x="4318920" y="2627280"/>
            <a:ext cx="1883160" cy="1164960"/>
            <a:chOff x="4318920" y="2627280"/>
            <a:chExt cx="1883160" cy="1164960"/>
          </a:xfrm>
        </p:grpSpPr>
        <p:sp>
          <p:nvSpPr>
            <p:cNvPr id="264" name="Oval 17"/>
            <p:cNvSpPr/>
            <p:nvPr/>
          </p:nvSpPr>
          <p:spPr>
            <a:xfrm>
              <a:off x="4318920" y="2627280"/>
              <a:ext cx="1883160" cy="1164960"/>
            </a:xfrm>
            <a:prstGeom prst="ellipse">
              <a:avLst/>
            </a:prstGeom>
            <a:solidFill>
              <a:srgbClr val="c00000"/>
            </a:solidFill>
            <a:ln w="38100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65" name="Content Placeholder 2"/>
            <p:cNvSpPr/>
            <p:nvPr/>
          </p:nvSpPr>
          <p:spPr>
            <a:xfrm>
              <a:off x="4318920" y="2749320"/>
              <a:ext cx="1670040" cy="1008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anchor="ctr">
              <a:noAutofit/>
            </a:bodyPr>
            <a:p>
              <a:pPr algn="ctr">
                <a:lnSpc>
                  <a:spcPct val="90000"/>
                </a:lnSpc>
                <a:spcAft>
                  <a:spcPts val="201"/>
                </a:spcAft>
                <a:buNone/>
                <a:tabLst>
                  <a:tab algn="l" pos="0"/>
                </a:tabLst>
              </a:pPr>
              <a:r>
                <a:rPr b="0" lang="en-US" sz="1600" spc="9" strike="noStrike">
                  <a:solidFill>
                    <a:srgbClr val="ffffff"/>
                  </a:solidFill>
                  <a:latin typeface="Verdana"/>
                  <a:ea typeface="Verdana"/>
                </a:rPr>
                <a:t>Incorrect portion of the final state</a:t>
              </a:r>
              <a:endParaRPr b="0" lang="en-US" sz="1600" spc="-1" strike="noStrike">
                <a:latin typeface="Arial"/>
              </a:endParaRPr>
            </a:p>
          </p:txBody>
        </p:sp>
      </p:grpSp>
      <p:grpSp>
        <p:nvGrpSpPr>
          <p:cNvPr id="266" name="Group 18"/>
          <p:cNvGrpSpPr/>
          <p:nvPr/>
        </p:nvGrpSpPr>
        <p:grpSpPr>
          <a:xfrm>
            <a:off x="5571000" y="2063520"/>
            <a:ext cx="2125080" cy="1240560"/>
            <a:chOff x="5571000" y="2063520"/>
            <a:chExt cx="2125080" cy="1240560"/>
          </a:xfrm>
        </p:grpSpPr>
        <p:sp>
          <p:nvSpPr>
            <p:cNvPr id="267" name="Oval 20"/>
            <p:cNvSpPr/>
            <p:nvPr/>
          </p:nvSpPr>
          <p:spPr>
            <a:xfrm>
              <a:off x="5571000" y="2063520"/>
              <a:ext cx="2125080" cy="1240560"/>
            </a:xfrm>
            <a:prstGeom prst="ellipse">
              <a:avLst/>
            </a:prstGeom>
            <a:solidFill>
              <a:srgbClr val="000099">
                <a:alpha val="57000"/>
              </a:srgbClr>
            </a:solidFill>
            <a:ln w="38100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68" name="Content Placeholder 2"/>
            <p:cNvSpPr/>
            <p:nvPr/>
          </p:nvSpPr>
          <p:spPr>
            <a:xfrm>
              <a:off x="5950440" y="2139840"/>
              <a:ext cx="1562400" cy="1008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anchor="ctr">
              <a:noAutofit/>
            </a:bodyPr>
            <a:p>
              <a:pPr algn="ctr">
                <a:lnSpc>
                  <a:spcPct val="90000"/>
                </a:lnSpc>
                <a:spcAft>
                  <a:spcPts val="201"/>
                </a:spcAft>
                <a:buNone/>
                <a:tabLst>
                  <a:tab algn="l" pos="0"/>
                </a:tabLst>
              </a:pPr>
              <a:r>
                <a:rPr b="0" lang="en-US" sz="1600" spc="9" strike="noStrike">
                  <a:solidFill>
                    <a:srgbClr val="ffffff"/>
                  </a:solidFill>
                  <a:latin typeface="Verdana"/>
                  <a:ea typeface="Verdana"/>
                </a:rPr>
                <a:t>Observed portion of the program state</a:t>
              </a:r>
              <a:endParaRPr b="0" lang="en-US" sz="1600" spc="-1" strike="noStrike">
                <a:latin typeface="Arial"/>
              </a:endParaRPr>
            </a:p>
          </p:txBody>
        </p:sp>
      </p:grpSp>
      <p:pic>
        <p:nvPicPr>
          <p:cNvPr id="269" name="Picture 21" descr="mage result for human cartoon images"/>
          <p:cNvPicPr/>
          <p:nvPr/>
        </p:nvPicPr>
        <p:blipFill>
          <a:blip r:embed="rId1"/>
          <a:stretch/>
        </p:blipFill>
        <p:spPr>
          <a:xfrm>
            <a:off x="5562720" y="4425840"/>
            <a:ext cx="2429640" cy="1365120"/>
          </a:xfrm>
          <a:prstGeom prst="rect">
            <a:avLst/>
          </a:prstGeom>
          <a:ln w="0">
            <a:noFill/>
          </a:ln>
        </p:spPr>
      </p:pic>
      <p:grpSp>
        <p:nvGrpSpPr>
          <p:cNvPr id="270" name="Group 22"/>
          <p:cNvGrpSpPr/>
          <p:nvPr/>
        </p:nvGrpSpPr>
        <p:grpSpPr>
          <a:xfrm>
            <a:off x="3923640" y="1197360"/>
            <a:ext cx="4145040" cy="2999520"/>
            <a:chOff x="3923640" y="1197360"/>
            <a:chExt cx="4145040" cy="2999520"/>
          </a:xfrm>
        </p:grpSpPr>
        <p:sp>
          <p:nvSpPr>
            <p:cNvPr id="271" name="Content Placeholder 2"/>
            <p:cNvSpPr/>
            <p:nvPr/>
          </p:nvSpPr>
          <p:spPr>
            <a:xfrm>
              <a:off x="3923640" y="1197360"/>
              <a:ext cx="2413080" cy="669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anchor="ctr">
              <a:noAutofit/>
            </a:bodyPr>
            <a:p>
              <a:pPr algn="ctr">
                <a:lnSpc>
                  <a:spcPct val="90000"/>
                </a:lnSpc>
                <a:spcAft>
                  <a:spcPts val="201"/>
                </a:spcAft>
                <a:buNone/>
                <a:tabLst>
                  <a:tab algn="l" pos="0"/>
                </a:tabLst>
              </a:pPr>
              <a:r>
                <a:rPr b="0" lang="en-US" sz="1600" spc="9" strike="noStrike">
                  <a:solidFill>
                    <a:srgbClr val="ffffff"/>
                  </a:solidFill>
                  <a:latin typeface="Verdana"/>
                  <a:ea typeface="Verdana"/>
                </a:rPr>
                <a:t>Final program state and outputs</a:t>
              </a:r>
              <a:endParaRPr b="0" lang="en-US" sz="1600" spc="-1" strike="noStrike">
                <a:latin typeface="Arial"/>
              </a:endParaRPr>
            </a:p>
          </p:txBody>
        </p:sp>
        <p:sp>
          <p:nvSpPr>
            <p:cNvPr id="272" name="Oval 24"/>
            <p:cNvSpPr/>
            <p:nvPr/>
          </p:nvSpPr>
          <p:spPr>
            <a:xfrm>
              <a:off x="3962520" y="1777320"/>
              <a:ext cx="4106160" cy="2419560"/>
            </a:xfrm>
            <a:prstGeom prst="ellipse">
              <a:avLst/>
            </a:prstGeom>
            <a:noFill/>
            <a:ln w="38100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273" name="Group 49"/>
          <p:cNvGrpSpPr/>
          <p:nvPr/>
        </p:nvGrpSpPr>
        <p:grpSpPr>
          <a:xfrm>
            <a:off x="990720" y="1911240"/>
            <a:ext cx="1218600" cy="609120"/>
            <a:chOff x="990720" y="1911240"/>
            <a:chExt cx="1218600" cy="609120"/>
          </a:xfrm>
        </p:grpSpPr>
        <p:sp>
          <p:nvSpPr>
            <p:cNvPr id="274" name="Straight Arrow Connector 26"/>
            <p:cNvSpPr/>
            <p:nvPr/>
          </p:nvSpPr>
          <p:spPr>
            <a:xfrm flipH="1">
              <a:off x="2207880" y="1911240"/>
              <a:ext cx="1080" cy="6091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noFill/>
            <a:ln w="38100">
              <a:solidFill>
                <a:srgbClr val="ffff00"/>
              </a:solidFill>
              <a:round/>
              <a:tailEnd len="med" type="arrow" w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75" name="Content Placeholder 2"/>
            <p:cNvSpPr/>
            <p:nvPr/>
          </p:nvSpPr>
          <p:spPr>
            <a:xfrm>
              <a:off x="990720" y="1960560"/>
              <a:ext cx="1162800" cy="407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anchor="ctr">
              <a:noAutofit/>
            </a:bodyPr>
            <a:p>
              <a:pPr algn="r">
                <a:lnSpc>
                  <a:spcPct val="90000"/>
                </a:lnSpc>
                <a:spcAft>
                  <a:spcPts val="201"/>
                </a:spcAft>
                <a:buNone/>
                <a:tabLst>
                  <a:tab algn="l" pos="0"/>
                </a:tabLst>
              </a:pPr>
              <a:r>
                <a:rPr b="0" lang="en-US" sz="1600" spc="9" strike="noStrike">
                  <a:solidFill>
                    <a:srgbClr val="ffff00"/>
                  </a:solidFill>
                  <a:latin typeface="Verdana"/>
                  <a:ea typeface="Verdana"/>
                </a:rPr>
                <a:t>Reaches</a:t>
              </a:r>
              <a:endParaRPr b="0" lang="en-US" sz="1600" spc="-1" strike="noStrike">
                <a:latin typeface="Arial"/>
              </a:endParaRPr>
            </a:p>
          </p:txBody>
        </p:sp>
      </p:grpSp>
      <p:grpSp>
        <p:nvGrpSpPr>
          <p:cNvPr id="276" name="Group 50"/>
          <p:cNvGrpSpPr/>
          <p:nvPr/>
        </p:nvGrpSpPr>
        <p:grpSpPr>
          <a:xfrm>
            <a:off x="990720" y="3316320"/>
            <a:ext cx="1225080" cy="576000"/>
            <a:chOff x="990720" y="3316320"/>
            <a:chExt cx="1225080" cy="576000"/>
          </a:xfrm>
        </p:grpSpPr>
        <p:sp>
          <p:nvSpPr>
            <p:cNvPr id="277" name="Straight Arrow Connector 31"/>
            <p:cNvSpPr/>
            <p:nvPr/>
          </p:nvSpPr>
          <p:spPr>
            <a:xfrm>
              <a:off x="2208600" y="3316320"/>
              <a:ext cx="7200" cy="57600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noFill/>
            <a:ln w="38100">
              <a:solidFill>
                <a:srgbClr val="ffff00"/>
              </a:solidFill>
              <a:round/>
              <a:tailEnd len="med" type="arrow" w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78" name="Content Placeholder 2"/>
            <p:cNvSpPr/>
            <p:nvPr/>
          </p:nvSpPr>
          <p:spPr>
            <a:xfrm>
              <a:off x="990720" y="3381120"/>
              <a:ext cx="1162800" cy="407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anchor="ctr">
              <a:noAutofit/>
            </a:bodyPr>
            <a:p>
              <a:pPr algn="r">
                <a:lnSpc>
                  <a:spcPct val="90000"/>
                </a:lnSpc>
                <a:spcAft>
                  <a:spcPts val="201"/>
                </a:spcAft>
                <a:buNone/>
                <a:tabLst>
                  <a:tab algn="l" pos="0"/>
                </a:tabLst>
              </a:pPr>
              <a:r>
                <a:rPr b="0" lang="en-US" sz="1600" spc="9" strike="noStrike">
                  <a:solidFill>
                    <a:srgbClr val="ffff00"/>
                  </a:solidFill>
                  <a:latin typeface="Verdana"/>
                  <a:ea typeface="Verdana"/>
                </a:rPr>
                <a:t>Infects</a:t>
              </a:r>
              <a:endParaRPr b="0" lang="en-US" sz="1600" spc="-1" strike="noStrike">
                <a:latin typeface="Arial"/>
              </a:endParaRPr>
            </a:p>
          </p:txBody>
        </p:sp>
      </p:grpSp>
      <p:grpSp>
        <p:nvGrpSpPr>
          <p:cNvPr id="279" name="Group 51"/>
          <p:cNvGrpSpPr/>
          <p:nvPr/>
        </p:nvGrpSpPr>
        <p:grpSpPr>
          <a:xfrm>
            <a:off x="3054240" y="3621600"/>
            <a:ext cx="1559520" cy="1098360"/>
            <a:chOff x="3054240" y="3621600"/>
            <a:chExt cx="1559520" cy="1098360"/>
          </a:xfrm>
        </p:grpSpPr>
        <p:sp>
          <p:nvSpPr>
            <p:cNvPr id="280" name="Straight Arrow Connector 35"/>
            <p:cNvSpPr/>
            <p:nvPr/>
          </p:nvSpPr>
          <p:spPr>
            <a:xfrm flipV="1">
              <a:off x="3054240" y="3621240"/>
              <a:ext cx="1526400" cy="7988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noFill/>
            <a:ln w="38100">
              <a:solidFill>
                <a:srgbClr val="ffff00"/>
              </a:solidFill>
              <a:round/>
              <a:tailEnd len="med" type="arrow" w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81" name="Content Placeholder 2"/>
            <p:cNvSpPr/>
            <p:nvPr/>
          </p:nvSpPr>
          <p:spPr>
            <a:xfrm rot="19953000">
              <a:off x="3132360" y="3996000"/>
              <a:ext cx="1470240" cy="407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anchor="ctr">
              <a:noAutofit/>
            </a:bodyPr>
            <a:p>
              <a:pPr algn="ctr">
                <a:lnSpc>
                  <a:spcPct val="90000"/>
                </a:lnSpc>
                <a:spcAft>
                  <a:spcPts val="201"/>
                </a:spcAft>
                <a:buNone/>
                <a:tabLst>
                  <a:tab algn="l" pos="0"/>
                </a:tabLst>
              </a:pPr>
              <a:r>
                <a:rPr b="0" lang="en-US" sz="1600" spc="9" strike="noStrike">
                  <a:solidFill>
                    <a:srgbClr val="ffff00"/>
                  </a:solidFill>
                  <a:latin typeface="Verdana"/>
                  <a:ea typeface="Verdana"/>
                </a:rPr>
                <a:t>Propagates</a:t>
              </a:r>
              <a:endParaRPr b="0" lang="en-US" sz="1600" spc="-1" strike="noStrike">
                <a:latin typeface="Arial"/>
              </a:endParaRPr>
            </a:p>
          </p:txBody>
        </p:sp>
      </p:grpSp>
      <p:grpSp>
        <p:nvGrpSpPr>
          <p:cNvPr id="282" name="Group 52"/>
          <p:cNvGrpSpPr/>
          <p:nvPr/>
        </p:nvGrpSpPr>
        <p:grpSpPr>
          <a:xfrm>
            <a:off x="5181480" y="2986920"/>
            <a:ext cx="1269000" cy="1743120"/>
            <a:chOff x="5181480" y="2986920"/>
            <a:chExt cx="1269000" cy="1743120"/>
          </a:xfrm>
        </p:grpSpPr>
        <p:sp>
          <p:nvSpPr>
            <p:cNvPr id="283" name="Straight Arrow Connector 43"/>
            <p:cNvSpPr/>
            <p:nvPr/>
          </p:nvSpPr>
          <p:spPr>
            <a:xfrm flipH="1" flipV="1">
              <a:off x="6014880" y="2986560"/>
              <a:ext cx="435240" cy="172260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noFill/>
            <a:ln w="38100">
              <a:solidFill>
                <a:srgbClr val="ffff00"/>
              </a:solidFill>
              <a:round/>
              <a:headEnd len="med" type="arrow" w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84" name="Content Placeholder 2"/>
            <p:cNvSpPr/>
            <p:nvPr/>
          </p:nvSpPr>
          <p:spPr>
            <a:xfrm>
              <a:off x="5181480" y="4322520"/>
              <a:ext cx="1162800" cy="407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anchor="ctr">
              <a:noAutofit/>
            </a:bodyPr>
            <a:p>
              <a:pPr algn="r">
                <a:lnSpc>
                  <a:spcPct val="90000"/>
                </a:lnSpc>
                <a:spcAft>
                  <a:spcPts val="201"/>
                </a:spcAft>
                <a:buNone/>
                <a:tabLst>
                  <a:tab algn="l" pos="0"/>
                </a:tabLst>
              </a:pPr>
              <a:r>
                <a:rPr b="0" lang="en-US" sz="1600" spc="9" strike="noStrike">
                  <a:solidFill>
                    <a:srgbClr val="ffff00"/>
                  </a:solidFill>
                  <a:latin typeface="Verdana"/>
                  <a:ea typeface="Verdana"/>
                </a:rPr>
                <a:t>Reveals</a:t>
              </a:r>
              <a:endParaRPr b="0" lang="en-US" sz="1600" spc="-1" strike="noStrike">
                <a:latin typeface="Arial"/>
              </a:endParaRPr>
            </a:p>
          </p:txBody>
        </p:sp>
      </p:grpSp>
      <p:grpSp>
        <p:nvGrpSpPr>
          <p:cNvPr id="285" name="Group 70"/>
          <p:cNvGrpSpPr/>
          <p:nvPr/>
        </p:nvGrpSpPr>
        <p:grpSpPr>
          <a:xfrm>
            <a:off x="6387480" y="2618640"/>
            <a:ext cx="1883880" cy="2133360"/>
            <a:chOff x="6387480" y="2618640"/>
            <a:chExt cx="1883880" cy="2133360"/>
          </a:xfrm>
        </p:grpSpPr>
        <p:grpSp>
          <p:nvGrpSpPr>
            <p:cNvPr id="286" name="Group 54"/>
            <p:cNvGrpSpPr/>
            <p:nvPr/>
          </p:nvGrpSpPr>
          <p:grpSpPr>
            <a:xfrm>
              <a:off x="6387480" y="2618640"/>
              <a:ext cx="1561320" cy="1002600"/>
              <a:chOff x="6387480" y="2618640"/>
              <a:chExt cx="1561320" cy="1002600"/>
            </a:xfrm>
          </p:grpSpPr>
          <p:sp>
            <p:nvSpPr>
              <p:cNvPr id="287" name="Oval 55"/>
              <p:cNvSpPr/>
              <p:nvPr/>
            </p:nvSpPr>
            <p:spPr>
              <a:xfrm>
                <a:off x="6387480" y="2618640"/>
                <a:ext cx="1561320" cy="1002600"/>
              </a:xfrm>
              <a:prstGeom prst="ellipse">
                <a:avLst/>
              </a:prstGeom>
              <a:solidFill>
                <a:srgbClr val="000099">
                  <a:alpha val="57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88" name="Content Placeholder 2"/>
              <p:cNvSpPr/>
              <p:nvPr/>
            </p:nvSpPr>
            <p:spPr>
              <a:xfrm>
                <a:off x="6419160" y="2749320"/>
                <a:ext cx="1505520" cy="814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anchor="ctr">
                <a:noAutofit/>
              </a:bodyPr>
              <a:p>
                <a:pPr algn="ctr">
                  <a:lnSpc>
                    <a:spcPct val="90000"/>
                  </a:lnSpc>
                  <a:spcAft>
                    <a:spcPts val="201"/>
                  </a:spcAft>
                  <a:buNone/>
                  <a:tabLst>
                    <a:tab algn="l" pos="0"/>
                  </a:tabLst>
                </a:pPr>
                <a:r>
                  <a:rPr b="0" lang="en-US" sz="1600" spc="9" strike="noStrike">
                    <a:solidFill>
                      <a:srgbClr val="ffffff"/>
                    </a:solidFill>
                    <a:latin typeface="Verdana"/>
                    <a:ea typeface="Verdana"/>
                  </a:rPr>
                  <a:t>Observed portion of the program state</a:t>
                </a:r>
                <a:endParaRPr b="0" lang="en-US" sz="1600" spc="-1" strike="noStrike">
                  <a:latin typeface="Arial"/>
                </a:endParaRPr>
              </a:p>
            </p:txBody>
          </p:sp>
        </p:grpSp>
        <p:grpSp>
          <p:nvGrpSpPr>
            <p:cNvPr id="289" name="Group 57"/>
            <p:cNvGrpSpPr/>
            <p:nvPr/>
          </p:nvGrpSpPr>
          <p:grpSpPr>
            <a:xfrm>
              <a:off x="7108560" y="3621960"/>
              <a:ext cx="1162800" cy="1130040"/>
              <a:chOff x="7108560" y="3621960"/>
              <a:chExt cx="1162800" cy="1130040"/>
            </a:xfrm>
          </p:grpSpPr>
          <p:sp>
            <p:nvSpPr>
              <p:cNvPr id="290" name="Straight Arrow Connector 58"/>
              <p:cNvSpPr/>
              <p:nvPr/>
            </p:nvSpPr>
            <p:spPr>
              <a:xfrm flipH="1">
                <a:off x="7108560" y="3621960"/>
                <a:ext cx="59040" cy="113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21600"/>
                    </a:lnTo>
                  </a:path>
                </a:pathLst>
              </a:custGeom>
              <a:noFill/>
              <a:ln w="38100">
                <a:solidFill>
                  <a:srgbClr val="ffff00"/>
                </a:solidFill>
                <a:round/>
                <a:headEnd len="med" type="arrow" w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91" name="Content Placeholder 2"/>
              <p:cNvSpPr/>
              <p:nvPr/>
            </p:nvSpPr>
            <p:spPr>
              <a:xfrm>
                <a:off x="7108560" y="4308840"/>
                <a:ext cx="1162800" cy="4075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anchor="ctr">
                <a:noAutofit/>
              </a:bodyPr>
              <a:p>
                <a:pPr algn="r">
                  <a:lnSpc>
                    <a:spcPct val="90000"/>
                  </a:lnSpc>
                  <a:spcAft>
                    <a:spcPts val="201"/>
                  </a:spcAft>
                  <a:buNone/>
                  <a:tabLst>
                    <a:tab algn="l" pos="0"/>
                  </a:tabLst>
                </a:pPr>
                <a:r>
                  <a:rPr b="0" lang="en-US" sz="1600" spc="9" strike="noStrike">
                    <a:solidFill>
                      <a:srgbClr val="ffff00"/>
                    </a:solidFill>
                    <a:latin typeface="Verdana"/>
                    <a:ea typeface="Verdana"/>
                  </a:rPr>
                  <a:t>Observes</a:t>
                </a:r>
                <a:endParaRPr b="0" lang="en-US" sz="1600" spc="-1" strike="noStrike">
                  <a:latin typeface="Arial"/>
                </a:endParaRPr>
              </a:p>
            </p:txBody>
          </p:sp>
        </p:grpSp>
      </p:grpSp>
      <p:grpSp>
        <p:nvGrpSpPr>
          <p:cNvPr id="292" name="Group 65"/>
          <p:cNvGrpSpPr/>
          <p:nvPr/>
        </p:nvGrpSpPr>
        <p:grpSpPr>
          <a:xfrm>
            <a:off x="6376320" y="3304440"/>
            <a:ext cx="1339560" cy="1218960"/>
            <a:chOff x="6376320" y="3304440"/>
            <a:chExt cx="1339560" cy="1218960"/>
          </a:xfrm>
        </p:grpSpPr>
        <p:sp>
          <p:nvSpPr>
            <p:cNvPr id="293" name="Straight Arrow Connector 66"/>
            <p:cNvSpPr/>
            <p:nvPr/>
          </p:nvSpPr>
          <p:spPr>
            <a:xfrm>
              <a:off x="6376320" y="3304440"/>
              <a:ext cx="258120" cy="12189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noFill/>
            <a:ln w="38100">
              <a:solidFill>
                <a:srgbClr val="ffff00"/>
              </a:solidFill>
              <a:round/>
              <a:headEnd len="med" type="arrow" w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94" name="Content Placeholder 2"/>
            <p:cNvSpPr/>
            <p:nvPr/>
          </p:nvSpPr>
          <p:spPr>
            <a:xfrm>
              <a:off x="6553080" y="4080240"/>
              <a:ext cx="1162800" cy="407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anchor="ctr">
              <a:noAutofit/>
            </a:bodyPr>
            <a:p>
              <a:pPr algn="r">
                <a:lnSpc>
                  <a:spcPct val="90000"/>
                </a:lnSpc>
                <a:spcAft>
                  <a:spcPts val="201"/>
                </a:spcAft>
                <a:buNone/>
                <a:tabLst>
                  <a:tab algn="l" pos="0"/>
                </a:tabLst>
              </a:pPr>
              <a:r>
                <a:rPr b="0" lang="en-US" sz="1600" spc="9" strike="noStrike">
                  <a:solidFill>
                    <a:srgbClr val="ffff00"/>
                  </a:solidFill>
                  <a:latin typeface="Verdana"/>
                  <a:ea typeface="Verdana"/>
                </a:rPr>
                <a:t>Observes</a:t>
              </a:r>
              <a:endParaRPr b="0" lang="en-US" sz="16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0" y="3672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72000"/>
              </a:lnSpc>
              <a:buNone/>
            </a:pPr>
            <a:r>
              <a:rPr b="1" lang="en-US" sz="3800" spc="-52" strike="noStrike">
                <a:solidFill>
                  <a:srgbClr val="ffff00"/>
                </a:solidFill>
                <a:latin typeface="Verdana"/>
                <a:ea typeface="Verdana"/>
              </a:rPr>
              <a:t>Example – Applying RIPR</a:t>
            </a:r>
            <a:endParaRPr b="0" lang="en-US" sz="3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Content Placeholder 4"/>
          <p:cNvSpPr/>
          <p:nvPr/>
        </p:nvSpPr>
        <p:spPr>
          <a:xfrm>
            <a:off x="228600" y="3429000"/>
            <a:ext cx="876276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spcBef>
                <a:spcPts val="700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Revisit the example, what characteristics (or constraints) the inputs should have (or satisfy)?</a:t>
            </a:r>
            <a:endParaRPr b="0" lang="en-US" sz="2000" spc="-1" strike="noStrike">
              <a:latin typeface="Arial"/>
            </a:endParaRPr>
          </a:p>
          <a:p>
            <a:pPr marL="471600" indent="-228600">
              <a:lnSpc>
                <a:spcPct val="100000"/>
              </a:lnSpc>
              <a:spcBef>
                <a:spcPts val="1400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  <a:tabLst>
                <a:tab algn="l" pos="0"/>
              </a:tabLst>
            </a:pP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Reach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 a fault (i.e., execute the fault)</a:t>
            </a:r>
            <a:endParaRPr b="0" lang="en-US" sz="2000" spc="-1" strike="noStrike">
              <a:latin typeface="Arial"/>
            </a:endParaRPr>
          </a:p>
          <a:p>
            <a:pPr marL="471600" indent="-228600">
              <a:lnSpc>
                <a:spcPct val="100000"/>
              </a:lnSpc>
              <a:spcBef>
                <a:spcPts val="1001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  <a:tabLst>
                <a:tab algn="l" pos="0"/>
              </a:tabLst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Cause the program </a:t>
            </a: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state to be incorrect 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(i.e., error)</a:t>
            </a:r>
            <a:endParaRPr b="0" lang="en-US" sz="2000" spc="-1" strike="noStrike">
              <a:latin typeface="Arial"/>
            </a:endParaRPr>
          </a:p>
          <a:p>
            <a:pPr marL="471600" indent="-228600">
              <a:lnSpc>
                <a:spcPct val="100000"/>
              </a:lnSpc>
              <a:spcBef>
                <a:spcPts val="1001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  <a:tabLst>
                <a:tab algn="l" pos="0"/>
              </a:tabLst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Cause the infected state to be </a:t>
            </a: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propagated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 (i.e., failure)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297" name="Group 22"/>
          <p:cNvGrpSpPr/>
          <p:nvPr/>
        </p:nvGrpSpPr>
        <p:grpSpPr>
          <a:xfrm>
            <a:off x="228600" y="990720"/>
            <a:ext cx="8686440" cy="2309040"/>
            <a:chOff x="228600" y="990720"/>
            <a:chExt cx="8686440" cy="2309040"/>
          </a:xfrm>
        </p:grpSpPr>
        <p:sp>
          <p:nvSpPr>
            <p:cNvPr id="298" name="TextBox 23"/>
            <p:cNvSpPr/>
            <p:nvPr/>
          </p:nvSpPr>
          <p:spPr>
            <a:xfrm>
              <a:off x="228600" y="990720"/>
              <a:ext cx="8686440" cy="2309040"/>
            </a:xfrm>
            <a:prstGeom prst="rect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public static int numZero (int[] arr)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{ </a:t>
              </a:r>
              <a:r>
                <a:rPr b="1" lang="en-US" sz="1800" spc="-1" strike="noStrike">
                  <a:solidFill>
                    <a:srgbClr val="808080"/>
                  </a:solidFill>
                  <a:latin typeface="Courier New"/>
                  <a:ea typeface="Courier New"/>
                </a:rPr>
                <a:t> </a:t>
              </a:r>
              <a:r>
                <a:rPr b="0" i="1" lang="en-US" sz="1800" spc="-1" strike="noStrike">
                  <a:solidFill>
                    <a:srgbClr val="262626"/>
                  </a:solidFill>
                  <a:latin typeface="Courier New"/>
                  <a:ea typeface="Courier New"/>
                </a:rPr>
                <a:t>// If arr is null throw NullPointerException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0" i="1" lang="en-US" sz="1800" spc="-1" strike="noStrike">
                  <a:solidFill>
                    <a:srgbClr val="262626"/>
                  </a:solidFill>
                  <a:latin typeface="Courier New"/>
                  <a:ea typeface="Courier New"/>
                </a:rPr>
                <a:t>   </a:t>
              </a:r>
              <a:r>
                <a:rPr b="0" i="1" lang="en-US" sz="1800" spc="-1" strike="noStrike">
                  <a:solidFill>
                    <a:srgbClr val="262626"/>
                  </a:solidFill>
                  <a:latin typeface="Courier New"/>
                  <a:ea typeface="Courier New"/>
                </a:rPr>
                <a:t>// else return the number of occurrences of 0 in arr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int count = 0;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for (int i = 1; i &lt; arr.length; i++)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if (arr[i] == 0)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   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count++;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return count;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}</a:t>
              </a:r>
              <a:endParaRPr b="0" lang="en-US" sz="1800" spc="-1" strike="noStrike">
                <a:latin typeface="Arial"/>
              </a:endParaRPr>
            </a:p>
          </p:txBody>
        </p:sp>
        <p:sp>
          <p:nvSpPr>
            <p:cNvPr id="299" name="Rectangle 24"/>
            <p:cNvSpPr/>
            <p:nvPr/>
          </p:nvSpPr>
          <p:spPr>
            <a:xfrm>
              <a:off x="231120" y="1703520"/>
              <a:ext cx="43848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700" spc="-1" strike="noStrike">
                  <a:solidFill>
                    <a:srgbClr val="808080"/>
                  </a:solidFill>
                  <a:latin typeface="Verdana"/>
                  <a:ea typeface="Verdana"/>
                </a:rPr>
                <a:t>L1</a:t>
              </a:r>
              <a:endParaRPr b="0" lang="en-US" sz="1700" spc="-1" strike="noStrike">
                <a:latin typeface="Arial"/>
              </a:endParaRPr>
            </a:p>
          </p:txBody>
        </p:sp>
        <p:sp>
          <p:nvSpPr>
            <p:cNvPr id="300" name="Rectangle 25"/>
            <p:cNvSpPr/>
            <p:nvPr/>
          </p:nvSpPr>
          <p:spPr>
            <a:xfrm>
              <a:off x="231120" y="1974960"/>
              <a:ext cx="43848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700" spc="-1" strike="noStrike">
                  <a:solidFill>
                    <a:srgbClr val="808080"/>
                  </a:solidFill>
                  <a:latin typeface="Verdana"/>
                  <a:ea typeface="Verdana"/>
                </a:rPr>
                <a:t>L2</a:t>
              </a:r>
              <a:endParaRPr b="0" lang="en-US" sz="1700" spc="-1" strike="noStrike">
                <a:latin typeface="Arial"/>
              </a:endParaRPr>
            </a:p>
          </p:txBody>
        </p:sp>
        <p:sp>
          <p:nvSpPr>
            <p:cNvPr id="301" name="Rectangle 26"/>
            <p:cNvSpPr/>
            <p:nvPr/>
          </p:nvSpPr>
          <p:spPr>
            <a:xfrm>
              <a:off x="231120" y="2231280"/>
              <a:ext cx="43848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700" spc="-1" strike="noStrike">
                  <a:solidFill>
                    <a:srgbClr val="808080"/>
                  </a:solidFill>
                  <a:latin typeface="Verdana"/>
                  <a:ea typeface="Verdana"/>
                </a:rPr>
                <a:t>L3</a:t>
              </a:r>
              <a:endParaRPr b="0" lang="en-US" sz="1700" spc="-1" strike="noStrike">
                <a:latin typeface="Arial"/>
              </a:endParaRPr>
            </a:p>
          </p:txBody>
        </p:sp>
        <p:sp>
          <p:nvSpPr>
            <p:cNvPr id="302" name="Rectangle 27"/>
            <p:cNvSpPr/>
            <p:nvPr/>
          </p:nvSpPr>
          <p:spPr>
            <a:xfrm>
              <a:off x="231120" y="2468880"/>
              <a:ext cx="43848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700" spc="-1" strike="noStrike">
                  <a:solidFill>
                    <a:srgbClr val="808080"/>
                  </a:solidFill>
                  <a:latin typeface="Verdana"/>
                  <a:ea typeface="Verdana"/>
                </a:rPr>
                <a:t>L4</a:t>
              </a:r>
              <a:endParaRPr b="0" lang="en-US" sz="1700" spc="-1" strike="noStrike">
                <a:latin typeface="Arial"/>
              </a:endParaRPr>
            </a:p>
          </p:txBody>
        </p:sp>
        <p:sp>
          <p:nvSpPr>
            <p:cNvPr id="303" name="Rectangle 28"/>
            <p:cNvSpPr/>
            <p:nvPr/>
          </p:nvSpPr>
          <p:spPr>
            <a:xfrm>
              <a:off x="231120" y="2706480"/>
              <a:ext cx="43848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700" spc="-1" strike="noStrike">
                  <a:solidFill>
                    <a:srgbClr val="808080"/>
                  </a:solidFill>
                  <a:latin typeface="Verdana"/>
                  <a:ea typeface="Verdana"/>
                </a:rPr>
                <a:t>L5</a:t>
              </a:r>
              <a:endParaRPr b="0" lang="en-US" sz="1700" spc="-1" strike="noStrike">
                <a:latin typeface="Arial"/>
              </a:endParaRPr>
            </a:p>
          </p:txBody>
        </p:sp>
      </p:grpSp>
      <p:sp>
        <p:nvSpPr>
          <p:cNvPr id="304" name="Rectangle 10"/>
          <p:cNvSpPr/>
          <p:nvPr/>
        </p:nvSpPr>
        <p:spPr>
          <a:xfrm>
            <a:off x="533520" y="5791320"/>
            <a:ext cx="8076960" cy="456840"/>
          </a:xfrm>
          <a:prstGeom prst="rect">
            <a:avLst/>
          </a:prstGeom>
          <a:solidFill>
            <a:srgbClr val="000099"/>
          </a:solidFill>
          <a:ln w="0">
            <a:solidFill>
              <a:srgbClr val="ffffff">
                <a:lumMod val="6500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5840" algn="ctr">
              <a:lnSpc>
                <a:spcPct val="100000"/>
              </a:lnSpc>
              <a:spcBef>
                <a:spcPts val="1199"/>
              </a:spcBef>
              <a:buNone/>
            </a:pPr>
            <a:r>
              <a:rPr b="0" lang="en-US" sz="2000" spc="-1" strike="noStrike">
                <a:solidFill>
                  <a:srgbClr val="ffffff"/>
                </a:solidFill>
                <a:latin typeface="Verdana"/>
                <a:ea typeface="Verdana"/>
              </a:rPr>
              <a:t>Did you consider “happy paths” or “non happy paths” ?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305" name="Oval 12"/>
          <p:cNvSpPr/>
          <p:nvPr/>
        </p:nvSpPr>
        <p:spPr>
          <a:xfrm>
            <a:off x="4191120" y="990720"/>
            <a:ext cx="1752120" cy="380520"/>
          </a:xfrm>
          <a:prstGeom prst="ellipse">
            <a:avLst/>
          </a:prstGeom>
          <a:noFill/>
          <a:ln w="3810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0" y="3672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72000"/>
              </a:lnSpc>
              <a:buNone/>
            </a:pPr>
            <a:r>
              <a:rPr b="1" lang="en-US" sz="3600" spc="-52" strike="noStrike">
                <a:solidFill>
                  <a:srgbClr val="ffff00"/>
                </a:solidFill>
                <a:latin typeface="Verdana"/>
                <a:ea typeface="Verdana"/>
              </a:rPr>
              <a:t>Example – RIPR (Error, No Failure)</a:t>
            </a:r>
            <a:endParaRPr b="0" lang="en-US" sz="3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Content Placeholder 4"/>
          <p:cNvSpPr/>
          <p:nvPr/>
        </p:nvSpPr>
        <p:spPr>
          <a:xfrm>
            <a:off x="228600" y="3429000"/>
            <a:ext cx="8762760" cy="24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spcBef>
                <a:spcPts val="700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Revisit the example, apply RIPR to design tests that</a:t>
            </a:r>
            <a:endParaRPr b="0" lang="en-US" sz="2000" spc="-1" strike="noStrike">
              <a:latin typeface="Arial"/>
            </a:endParaRPr>
          </a:p>
          <a:p>
            <a:pPr marL="471600" indent="-228600">
              <a:lnSpc>
                <a:spcPct val="100000"/>
              </a:lnSpc>
              <a:spcBef>
                <a:spcPts val="1400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  <a:tabLst>
                <a:tab algn="l" pos="0"/>
              </a:tabLst>
            </a:pP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Reach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 a fault (i.e., execute the fault)</a:t>
            </a:r>
            <a:endParaRPr b="0" lang="en-US" sz="2000" spc="-1" strike="noStrike">
              <a:latin typeface="Arial"/>
            </a:endParaRPr>
          </a:p>
          <a:p>
            <a:pPr marL="471600" indent="-228600">
              <a:lnSpc>
                <a:spcPct val="100000"/>
              </a:lnSpc>
              <a:spcBef>
                <a:spcPts val="1400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  <a:tabLst>
                <a:tab algn="l" pos="0"/>
              </a:tabLst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Cause the program </a:t>
            </a: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state to be incorrect 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(i.e., error)</a:t>
            </a:r>
            <a:endParaRPr b="0" lang="en-US" sz="2000" spc="-1" strike="noStrike">
              <a:latin typeface="Arial"/>
            </a:endParaRPr>
          </a:p>
          <a:p>
            <a:pPr marL="471600" indent="-228600">
              <a:lnSpc>
                <a:spcPct val="100000"/>
              </a:lnSpc>
              <a:spcBef>
                <a:spcPts val="1400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  <a:tabLst>
                <a:tab algn="l" pos="0"/>
              </a:tabLst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Does </a:t>
            </a: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not propagate 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(i.e., no failure)</a:t>
            </a:r>
            <a:endParaRPr b="0" lang="en-US" sz="2000" spc="-1" strike="noStrike">
              <a:latin typeface="Arial"/>
            </a:endParaRPr>
          </a:p>
          <a:p>
            <a:pPr lvl="1" marL="861840" indent="-210960">
              <a:lnSpc>
                <a:spcPct val="100000"/>
              </a:lnSpc>
              <a:spcBef>
                <a:spcPts val="700"/>
              </a:spcBef>
              <a:spcAft>
                <a:spcPts val="300"/>
              </a:spcAft>
              <a:buClr>
                <a:srgbClr val="ffffff"/>
              </a:buClr>
              <a:buFont typeface="Wingdings 2" charset="2"/>
              <a:buChar char=""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Verdana"/>
                <a:ea typeface="Verdana"/>
              </a:rPr>
              <a:t>One possible test is [4, 6, 0] – now, design some more</a:t>
            </a:r>
            <a:endParaRPr b="0" lang="en-US" sz="1800" spc="-1" strike="noStrike">
              <a:latin typeface="Arial"/>
            </a:endParaRPr>
          </a:p>
          <a:p>
            <a:pPr marL="471600" indent="-228600">
              <a:lnSpc>
                <a:spcPct val="100000"/>
              </a:lnSpc>
              <a:spcBef>
                <a:spcPts val="1400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  <a:tabLst>
                <a:tab algn="l" pos="0"/>
              </a:tabLst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How does RIPR model help designing tests?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308" name="Group 22"/>
          <p:cNvGrpSpPr/>
          <p:nvPr/>
        </p:nvGrpSpPr>
        <p:grpSpPr>
          <a:xfrm>
            <a:off x="228600" y="990720"/>
            <a:ext cx="8686440" cy="2309040"/>
            <a:chOff x="228600" y="990720"/>
            <a:chExt cx="8686440" cy="2309040"/>
          </a:xfrm>
        </p:grpSpPr>
        <p:sp>
          <p:nvSpPr>
            <p:cNvPr id="309" name="TextBox 23"/>
            <p:cNvSpPr/>
            <p:nvPr/>
          </p:nvSpPr>
          <p:spPr>
            <a:xfrm>
              <a:off x="228600" y="990720"/>
              <a:ext cx="8686440" cy="2309040"/>
            </a:xfrm>
            <a:prstGeom prst="rect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public static int numZero (int[] arr)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{ </a:t>
              </a:r>
              <a:r>
                <a:rPr b="1" lang="en-US" sz="1800" spc="-1" strike="noStrike">
                  <a:solidFill>
                    <a:srgbClr val="808080"/>
                  </a:solidFill>
                  <a:latin typeface="Courier New"/>
                  <a:ea typeface="Courier New"/>
                </a:rPr>
                <a:t> </a:t>
              </a:r>
              <a:r>
                <a:rPr b="0" i="1" lang="en-US" sz="1800" spc="-1" strike="noStrike">
                  <a:solidFill>
                    <a:srgbClr val="262626"/>
                  </a:solidFill>
                  <a:latin typeface="Courier New"/>
                  <a:ea typeface="Courier New"/>
                </a:rPr>
                <a:t>// If arr is null throw NullPointerException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0" i="1" lang="en-US" sz="1800" spc="-1" strike="noStrike">
                  <a:solidFill>
                    <a:srgbClr val="262626"/>
                  </a:solidFill>
                  <a:latin typeface="Courier New"/>
                  <a:ea typeface="Courier New"/>
                </a:rPr>
                <a:t>   </a:t>
              </a:r>
              <a:r>
                <a:rPr b="0" i="1" lang="en-US" sz="1800" spc="-1" strike="noStrike">
                  <a:solidFill>
                    <a:srgbClr val="262626"/>
                  </a:solidFill>
                  <a:latin typeface="Courier New"/>
                  <a:ea typeface="Courier New"/>
                </a:rPr>
                <a:t>// else return the number of occurrences of 0 in arr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int count = 0;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for (int i = 1; i &lt; arr.length; i++)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if (arr[i] == 0)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   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count++;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return count;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}</a:t>
              </a:r>
              <a:endParaRPr b="0" lang="en-US" sz="1800" spc="-1" strike="noStrike">
                <a:latin typeface="Arial"/>
              </a:endParaRPr>
            </a:p>
          </p:txBody>
        </p:sp>
        <p:sp>
          <p:nvSpPr>
            <p:cNvPr id="310" name="Rectangle 24"/>
            <p:cNvSpPr/>
            <p:nvPr/>
          </p:nvSpPr>
          <p:spPr>
            <a:xfrm>
              <a:off x="231120" y="1703520"/>
              <a:ext cx="43848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700" spc="-1" strike="noStrike">
                  <a:solidFill>
                    <a:srgbClr val="808080"/>
                  </a:solidFill>
                  <a:latin typeface="Verdana"/>
                  <a:ea typeface="Verdana"/>
                </a:rPr>
                <a:t>L1</a:t>
              </a:r>
              <a:endParaRPr b="0" lang="en-US" sz="1700" spc="-1" strike="noStrike">
                <a:latin typeface="Arial"/>
              </a:endParaRPr>
            </a:p>
          </p:txBody>
        </p:sp>
        <p:sp>
          <p:nvSpPr>
            <p:cNvPr id="311" name="Rectangle 25"/>
            <p:cNvSpPr/>
            <p:nvPr/>
          </p:nvSpPr>
          <p:spPr>
            <a:xfrm>
              <a:off x="231120" y="1974960"/>
              <a:ext cx="43848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700" spc="-1" strike="noStrike">
                  <a:solidFill>
                    <a:srgbClr val="808080"/>
                  </a:solidFill>
                  <a:latin typeface="Verdana"/>
                  <a:ea typeface="Verdana"/>
                </a:rPr>
                <a:t>L2</a:t>
              </a:r>
              <a:endParaRPr b="0" lang="en-US" sz="1700" spc="-1" strike="noStrike">
                <a:latin typeface="Arial"/>
              </a:endParaRPr>
            </a:p>
          </p:txBody>
        </p:sp>
        <p:sp>
          <p:nvSpPr>
            <p:cNvPr id="312" name="Rectangle 26"/>
            <p:cNvSpPr/>
            <p:nvPr/>
          </p:nvSpPr>
          <p:spPr>
            <a:xfrm>
              <a:off x="231120" y="2231280"/>
              <a:ext cx="43848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700" spc="-1" strike="noStrike">
                  <a:solidFill>
                    <a:srgbClr val="808080"/>
                  </a:solidFill>
                  <a:latin typeface="Verdana"/>
                  <a:ea typeface="Verdana"/>
                </a:rPr>
                <a:t>L3</a:t>
              </a:r>
              <a:endParaRPr b="0" lang="en-US" sz="1700" spc="-1" strike="noStrike">
                <a:latin typeface="Arial"/>
              </a:endParaRPr>
            </a:p>
          </p:txBody>
        </p:sp>
        <p:sp>
          <p:nvSpPr>
            <p:cNvPr id="313" name="Rectangle 27"/>
            <p:cNvSpPr/>
            <p:nvPr/>
          </p:nvSpPr>
          <p:spPr>
            <a:xfrm>
              <a:off x="231120" y="2468880"/>
              <a:ext cx="43848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700" spc="-1" strike="noStrike">
                  <a:solidFill>
                    <a:srgbClr val="808080"/>
                  </a:solidFill>
                  <a:latin typeface="Verdana"/>
                  <a:ea typeface="Verdana"/>
                </a:rPr>
                <a:t>L4</a:t>
              </a:r>
              <a:endParaRPr b="0" lang="en-US" sz="1700" spc="-1" strike="noStrike">
                <a:latin typeface="Arial"/>
              </a:endParaRPr>
            </a:p>
          </p:txBody>
        </p:sp>
        <p:sp>
          <p:nvSpPr>
            <p:cNvPr id="314" name="Rectangle 28"/>
            <p:cNvSpPr/>
            <p:nvPr/>
          </p:nvSpPr>
          <p:spPr>
            <a:xfrm>
              <a:off x="231120" y="2706480"/>
              <a:ext cx="43848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700" spc="-1" strike="noStrike">
                  <a:solidFill>
                    <a:srgbClr val="808080"/>
                  </a:solidFill>
                  <a:latin typeface="Verdana"/>
                  <a:ea typeface="Verdana"/>
                </a:rPr>
                <a:t>L5</a:t>
              </a:r>
              <a:endParaRPr b="0" lang="en-US" sz="17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title"/>
          </p:nvPr>
        </p:nvSpPr>
        <p:spPr>
          <a:xfrm>
            <a:off x="0" y="3672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72000"/>
              </a:lnSpc>
              <a:buNone/>
            </a:pPr>
            <a:r>
              <a:rPr b="1" lang="en-US" sz="3800" spc="-52" strike="noStrike">
                <a:solidFill>
                  <a:srgbClr val="ffff00"/>
                </a:solidFill>
                <a:latin typeface="Verdana"/>
                <a:ea typeface="Verdana"/>
              </a:rPr>
              <a:t>Example – RIPR (Error, Failure)</a:t>
            </a:r>
            <a:endParaRPr b="0" lang="en-US" sz="3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Content Placeholder 4"/>
          <p:cNvSpPr/>
          <p:nvPr/>
        </p:nvSpPr>
        <p:spPr>
          <a:xfrm>
            <a:off x="228600" y="3429000"/>
            <a:ext cx="8762760" cy="24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spcBef>
                <a:spcPts val="700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Revisit the example, apply RIPR to design tests that</a:t>
            </a:r>
            <a:endParaRPr b="0" lang="en-US" sz="2000" spc="-1" strike="noStrike">
              <a:latin typeface="Arial"/>
            </a:endParaRPr>
          </a:p>
          <a:p>
            <a:pPr marL="471600" indent="-228600">
              <a:lnSpc>
                <a:spcPct val="100000"/>
              </a:lnSpc>
              <a:spcBef>
                <a:spcPts val="1400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  <a:tabLst>
                <a:tab algn="l" pos="0"/>
              </a:tabLst>
            </a:pP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Reach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 a fault (i.e., execute the fault)</a:t>
            </a:r>
            <a:endParaRPr b="0" lang="en-US" sz="2000" spc="-1" strike="noStrike">
              <a:latin typeface="Arial"/>
            </a:endParaRPr>
          </a:p>
          <a:p>
            <a:pPr marL="471600" indent="-228600">
              <a:lnSpc>
                <a:spcPct val="100000"/>
              </a:lnSpc>
              <a:spcBef>
                <a:spcPts val="1400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  <a:tabLst>
                <a:tab algn="l" pos="0"/>
              </a:tabLst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Cause the program </a:t>
            </a: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state to be incorrect 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(i.e., error)</a:t>
            </a:r>
            <a:endParaRPr b="0" lang="en-US" sz="2000" spc="-1" strike="noStrike">
              <a:latin typeface="Arial"/>
            </a:endParaRPr>
          </a:p>
          <a:p>
            <a:pPr marL="471600" indent="-228600">
              <a:lnSpc>
                <a:spcPct val="100000"/>
              </a:lnSpc>
              <a:spcBef>
                <a:spcPts val="1400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  <a:tabLst>
                <a:tab algn="l" pos="0"/>
              </a:tabLst>
            </a:pPr>
            <a:r>
              <a:rPr b="0" lang="en-US" sz="2000" spc="9" strike="noStrike">
                <a:solidFill>
                  <a:srgbClr val="ffff00"/>
                </a:solidFill>
                <a:latin typeface="Verdana"/>
                <a:ea typeface="Verdana"/>
              </a:rPr>
              <a:t>Propagate</a:t>
            </a: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 (i.e., failure)</a:t>
            </a:r>
            <a:endParaRPr b="0" lang="en-US" sz="2000" spc="-1" strike="noStrike">
              <a:latin typeface="Arial"/>
            </a:endParaRPr>
          </a:p>
          <a:p>
            <a:pPr lvl="1" marL="861840" indent="-210960">
              <a:lnSpc>
                <a:spcPct val="100000"/>
              </a:lnSpc>
              <a:spcBef>
                <a:spcPts val="700"/>
              </a:spcBef>
              <a:spcAft>
                <a:spcPts val="300"/>
              </a:spcAft>
              <a:buClr>
                <a:srgbClr val="ffffff"/>
              </a:buClr>
              <a:buFont typeface="Wingdings 2" charset="2"/>
              <a:buChar char=""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Verdana"/>
                <a:ea typeface="Verdana"/>
              </a:rPr>
              <a:t>One possible test is [0, 4, 6] – now, design some more</a:t>
            </a:r>
            <a:endParaRPr b="0" lang="en-US" sz="1800" spc="-1" strike="noStrike">
              <a:latin typeface="Arial"/>
            </a:endParaRPr>
          </a:p>
          <a:p>
            <a:pPr marL="471600" indent="-228600">
              <a:lnSpc>
                <a:spcPct val="100000"/>
              </a:lnSpc>
              <a:spcBef>
                <a:spcPts val="1400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  <a:tabLst>
                <a:tab algn="l" pos="0"/>
              </a:tabLst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How does RIPR model help designing tests?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317" name="Group 22"/>
          <p:cNvGrpSpPr/>
          <p:nvPr/>
        </p:nvGrpSpPr>
        <p:grpSpPr>
          <a:xfrm>
            <a:off x="228600" y="990720"/>
            <a:ext cx="8686440" cy="2309040"/>
            <a:chOff x="228600" y="990720"/>
            <a:chExt cx="8686440" cy="2309040"/>
          </a:xfrm>
        </p:grpSpPr>
        <p:sp>
          <p:nvSpPr>
            <p:cNvPr id="318" name="TextBox 23"/>
            <p:cNvSpPr/>
            <p:nvPr/>
          </p:nvSpPr>
          <p:spPr>
            <a:xfrm>
              <a:off x="228600" y="990720"/>
              <a:ext cx="8686440" cy="2309040"/>
            </a:xfrm>
            <a:prstGeom prst="rect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public static int numZero (int[] arr)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{ </a:t>
              </a:r>
              <a:r>
                <a:rPr b="1" lang="en-US" sz="1800" spc="-1" strike="noStrike">
                  <a:solidFill>
                    <a:srgbClr val="808080"/>
                  </a:solidFill>
                  <a:latin typeface="Courier New"/>
                  <a:ea typeface="Courier New"/>
                </a:rPr>
                <a:t> </a:t>
              </a:r>
              <a:r>
                <a:rPr b="0" i="1" lang="en-US" sz="1800" spc="-1" strike="noStrike">
                  <a:solidFill>
                    <a:srgbClr val="262626"/>
                  </a:solidFill>
                  <a:latin typeface="Courier New"/>
                  <a:ea typeface="Courier New"/>
                </a:rPr>
                <a:t>// If arr is null throw NullPointerException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0" i="1" lang="en-US" sz="1800" spc="-1" strike="noStrike">
                  <a:solidFill>
                    <a:srgbClr val="262626"/>
                  </a:solidFill>
                  <a:latin typeface="Courier New"/>
                  <a:ea typeface="Courier New"/>
                </a:rPr>
                <a:t>   </a:t>
              </a:r>
              <a:r>
                <a:rPr b="0" i="1" lang="en-US" sz="1800" spc="-1" strike="noStrike">
                  <a:solidFill>
                    <a:srgbClr val="262626"/>
                  </a:solidFill>
                  <a:latin typeface="Courier New"/>
                  <a:ea typeface="Courier New"/>
                </a:rPr>
                <a:t>// else return the number of occurrences of 0 in arr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int count = 0;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for (int i = 1; i &lt; arr.length; i++)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if (arr[i] == 0)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   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count++;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   </a:t>
              </a: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return count;</a:t>
              </a:r>
              <a:endParaRPr b="0" lang="en-US" sz="1800" spc="-1" strike="noStrike">
                <a:latin typeface="Arial"/>
              </a:endParaRPr>
            </a:p>
            <a:p>
              <a:pPr marL="355680">
                <a:lnSpc>
                  <a:spcPct val="90000"/>
                </a:lnSpc>
                <a:buNone/>
              </a:pPr>
              <a:r>
                <a:rPr b="1" lang="en-US" sz="1800" spc="-1" strike="noStrike">
                  <a:solidFill>
                    <a:srgbClr val="000000"/>
                  </a:solidFill>
                  <a:latin typeface="Courier New"/>
                  <a:ea typeface="Courier New"/>
                </a:rPr>
                <a:t>}</a:t>
              </a:r>
              <a:endParaRPr b="0" lang="en-US" sz="1800" spc="-1" strike="noStrike">
                <a:latin typeface="Arial"/>
              </a:endParaRPr>
            </a:p>
          </p:txBody>
        </p:sp>
        <p:sp>
          <p:nvSpPr>
            <p:cNvPr id="319" name="Rectangle 24"/>
            <p:cNvSpPr/>
            <p:nvPr/>
          </p:nvSpPr>
          <p:spPr>
            <a:xfrm>
              <a:off x="231120" y="1703520"/>
              <a:ext cx="43848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700" spc="-1" strike="noStrike">
                  <a:solidFill>
                    <a:srgbClr val="808080"/>
                  </a:solidFill>
                  <a:latin typeface="Verdana"/>
                  <a:ea typeface="Verdana"/>
                </a:rPr>
                <a:t>L1</a:t>
              </a:r>
              <a:endParaRPr b="0" lang="en-US" sz="1700" spc="-1" strike="noStrike">
                <a:latin typeface="Arial"/>
              </a:endParaRPr>
            </a:p>
          </p:txBody>
        </p:sp>
        <p:sp>
          <p:nvSpPr>
            <p:cNvPr id="320" name="Rectangle 25"/>
            <p:cNvSpPr/>
            <p:nvPr/>
          </p:nvSpPr>
          <p:spPr>
            <a:xfrm>
              <a:off x="231120" y="1974960"/>
              <a:ext cx="43848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700" spc="-1" strike="noStrike">
                  <a:solidFill>
                    <a:srgbClr val="808080"/>
                  </a:solidFill>
                  <a:latin typeface="Verdana"/>
                  <a:ea typeface="Verdana"/>
                </a:rPr>
                <a:t>L2</a:t>
              </a:r>
              <a:endParaRPr b="0" lang="en-US" sz="1700" spc="-1" strike="noStrike">
                <a:latin typeface="Arial"/>
              </a:endParaRPr>
            </a:p>
          </p:txBody>
        </p:sp>
        <p:sp>
          <p:nvSpPr>
            <p:cNvPr id="321" name="Rectangle 26"/>
            <p:cNvSpPr/>
            <p:nvPr/>
          </p:nvSpPr>
          <p:spPr>
            <a:xfrm>
              <a:off x="231120" y="2231280"/>
              <a:ext cx="43848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700" spc="-1" strike="noStrike">
                  <a:solidFill>
                    <a:srgbClr val="808080"/>
                  </a:solidFill>
                  <a:latin typeface="Verdana"/>
                  <a:ea typeface="Verdana"/>
                </a:rPr>
                <a:t>L3</a:t>
              </a:r>
              <a:endParaRPr b="0" lang="en-US" sz="1700" spc="-1" strike="noStrike">
                <a:latin typeface="Arial"/>
              </a:endParaRPr>
            </a:p>
          </p:txBody>
        </p:sp>
        <p:sp>
          <p:nvSpPr>
            <p:cNvPr id="322" name="Rectangle 27"/>
            <p:cNvSpPr/>
            <p:nvPr/>
          </p:nvSpPr>
          <p:spPr>
            <a:xfrm>
              <a:off x="231120" y="2468880"/>
              <a:ext cx="43848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700" spc="-1" strike="noStrike">
                  <a:solidFill>
                    <a:srgbClr val="808080"/>
                  </a:solidFill>
                  <a:latin typeface="Verdana"/>
                  <a:ea typeface="Verdana"/>
                </a:rPr>
                <a:t>L4</a:t>
              </a:r>
              <a:endParaRPr b="0" lang="en-US" sz="1700" spc="-1" strike="noStrike">
                <a:latin typeface="Arial"/>
              </a:endParaRPr>
            </a:p>
          </p:txBody>
        </p:sp>
        <p:sp>
          <p:nvSpPr>
            <p:cNvPr id="323" name="Rectangle 28"/>
            <p:cNvSpPr/>
            <p:nvPr/>
          </p:nvSpPr>
          <p:spPr>
            <a:xfrm>
              <a:off x="231120" y="2706480"/>
              <a:ext cx="43848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700" spc="-1" strike="noStrike">
                  <a:solidFill>
                    <a:srgbClr val="808080"/>
                  </a:solidFill>
                  <a:latin typeface="Verdana"/>
                  <a:ea typeface="Verdana"/>
                </a:rPr>
                <a:t>L5</a:t>
              </a:r>
              <a:endParaRPr b="0" lang="en-US" sz="17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914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4000" spc="-52" strike="noStrike">
                <a:solidFill>
                  <a:srgbClr val="ffff00"/>
                </a:solidFill>
                <a:latin typeface="Verdana"/>
                <a:ea typeface="Verdana"/>
              </a:rPr>
              <a:t>Wrap-up</a:t>
            </a:r>
            <a:endParaRPr b="0" lang="en-US" sz="4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PlaceHolder 2"/>
          <p:cNvSpPr>
            <a:spLocks noGrp="1"/>
          </p:cNvSpPr>
          <p:nvPr>
            <p:ph/>
          </p:nvPr>
        </p:nvSpPr>
        <p:spPr>
          <a:xfrm>
            <a:off x="304920" y="1066680"/>
            <a:ext cx="8610120" cy="55623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182880" indent="-182880">
              <a:lnSpc>
                <a:spcPct val="100000"/>
              </a:lnSpc>
              <a:spcBef>
                <a:spcPts val="2401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200" spc="9" strike="noStrike">
                <a:solidFill>
                  <a:srgbClr val="ffffff"/>
                </a:solidFill>
                <a:latin typeface="Verdana"/>
                <a:ea typeface="Verdana"/>
              </a:rPr>
              <a:t>Faults, errors, failures</a:t>
            </a:r>
            <a:endParaRPr b="0" lang="en-US" sz="2200" spc="9" strike="noStrike">
              <a:solidFill>
                <a:srgbClr val="000000"/>
              </a:solidFill>
              <a:latin typeface="Century Schoolbook"/>
            </a:endParaRPr>
          </a:p>
          <a:p>
            <a:pPr marL="182880" indent="-18288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200" spc="9" strike="noStrike">
                <a:solidFill>
                  <a:srgbClr val="ffffff"/>
                </a:solidFill>
                <a:latin typeface="Verdana"/>
                <a:ea typeface="Verdana"/>
              </a:rPr>
              <a:t>Fault location</a:t>
            </a:r>
            <a:endParaRPr b="0" lang="en-US" sz="2200" spc="9" strike="noStrike">
              <a:solidFill>
                <a:srgbClr val="000000"/>
              </a:solidFill>
              <a:latin typeface="Century Schoolbook"/>
            </a:endParaRPr>
          </a:p>
          <a:p>
            <a:pPr marL="182880" indent="-18288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200" spc="9" strike="noStrike">
                <a:solidFill>
                  <a:srgbClr val="ffffff"/>
                </a:solidFill>
                <a:latin typeface="Verdana"/>
                <a:ea typeface="Verdana"/>
              </a:rPr>
              <a:t>Infected state</a:t>
            </a:r>
            <a:endParaRPr b="0" lang="en-US" sz="2200" spc="9" strike="noStrike">
              <a:solidFill>
                <a:srgbClr val="000000"/>
              </a:solidFill>
              <a:latin typeface="Century Schoolbook"/>
            </a:endParaRPr>
          </a:p>
          <a:p>
            <a:pPr marL="182880" indent="-18288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200" spc="9" strike="noStrike">
                <a:solidFill>
                  <a:srgbClr val="ffffff"/>
                </a:solidFill>
                <a:latin typeface="Verdana"/>
                <a:ea typeface="Verdana"/>
              </a:rPr>
              <a:t>RIPR model</a:t>
            </a:r>
            <a:endParaRPr b="0" lang="en-US" sz="2200" spc="9" strike="noStrike">
              <a:solidFill>
                <a:srgbClr val="000000"/>
              </a:solidFill>
              <a:latin typeface="Century Schoolbook"/>
            </a:endParaRPr>
          </a:p>
          <a:p>
            <a:pPr marL="182880" indent="-18288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</a:pPr>
            <a:r>
              <a:rPr b="0" lang="en-US" sz="2200" spc="9" strike="noStrike">
                <a:solidFill>
                  <a:srgbClr val="ffffff"/>
                </a:solidFill>
                <a:latin typeface="Verdana"/>
                <a:ea typeface="Verdana"/>
              </a:rPr>
              <a:t>Observability and revealibility</a:t>
            </a:r>
            <a:endParaRPr b="0" lang="en-US" sz="2200" spc="9" strike="noStrike">
              <a:solidFill>
                <a:srgbClr val="000000"/>
              </a:solidFill>
              <a:latin typeface="Century Schoolbook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None/>
            </a:pPr>
            <a:endParaRPr b="0" lang="en-US" sz="2200" spc="9" strike="noStrike">
              <a:solidFill>
                <a:srgbClr val="000000"/>
              </a:solidFill>
              <a:latin typeface="Century Schoolbook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1" lang="en-US" sz="2200" spc="9" strike="noStrike">
                <a:solidFill>
                  <a:srgbClr val="ffff00"/>
                </a:solidFill>
                <a:latin typeface="Verdana"/>
                <a:ea typeface="Verdana"/>
              </a:rPr>
              <a:t>What’s Next? </a:t>
            </a:r>
            <a:endParaRPr b="0" lang="en-US" sz="2200" spc="9" strike="noStrike">
              <a:solidFill>
                <a:srgbClr val="000000"/>
              </a:solidFill>
              <a:latin typeface="Century Schoolbook"/>
            </a:endParaRPr>
          </a:p>
          <a:p>
            <a:pPr marL="471600" indent="-22860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ffffff"/>
              </a:buClr>
              <a:buSzPct val="80000"/>
              <a:buFont typeface="Arial"/>
              <a:buChar char="•"/>
              <a:tabLst>
                <a:tab algn="l" pos="0"/>
              </a:tabLst>
            </a:pPr>
            <a:r>
              <a:rPr b="0" lang="en-US" sz="2000" spc="9" strike="noStrike">
                <a:solidFill>
                  <a:srgbClr val="ffffff"/>
                </a:solidFill>
                <a:latin typeface="Verdana"/>
                <a:ea typeface="Verdana"/>
              </a:rPr>
              <a:t>Model-Driven Test Design (MDTD)</a:t>
            </a:r>
            <a:endParaRPr b="0" lang="en-US" sz="2000" spc="9" strike="noStrike">
              <a:solidFill>
                <a:srgbClr val="000000"/>
              </a:solidFill>
              <a:latin typeface="Century Schoolbook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swtest-template</Template>
  <TotalTime>18563</TotalTime>
  <Application>LibreOffice/7.3.7.2$Linux_X86_64 LibreOffice_project/30$Build-2</Application>
  <AppVersion>15.0000</AppVersion>
  <Words>1988</Words>
  <Paragraphs>266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2017-07-01T01:04:54Z</dcterms:created>
  <dc:creator>Microsoft Office User</dc:creator>
  <dc:description/>
  <dc:language>en-US</dc:language>
  <cp:lastModifiedBy/>
  <cp:lastPrinted>2026-01-21T15:05:21Z</cp:lastPrinted>
  <dcterms:modified xsi:type="dcterms:W3CDTF">2026-09-15T16:34:29Z</dcterms:modified>
  <cp:revision>796</cp:revision>
  <dc:subject/>
  <dc:title>Course Overview  CS 4501 / 6501  Software Testing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15</vt:i4>
  </property>
  <property fmtid="{D5CDD505-2E9C-101B-9397-08002B2CF9AE}" pid="3" name="PresentationFormat">
    <vt:lpwstr>On-screen Show (4:3)</vt:lpwstr>
  </property>
  <property fmtid="{D5CDD505-2E9C-101B-9397-08002B2CF9AE}" pid="4" name="Slides">
    <vt:i4>18</vt:i4>
  </property>
</Properties>
</file>