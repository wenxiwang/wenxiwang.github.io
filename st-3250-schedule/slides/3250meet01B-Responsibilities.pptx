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ms-office.chartcolorstyle+xml" PartName="/ppt/charts/colors1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drawingml.chart+xml" PartName="/ppt/charts/char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drawingml.chartshapes+xml" PartName="/ppt/drawings/drawing1.xml"/>
  <Override ContentType="application/vnd.ms-office.chartstyle+xml" PartName="/ppt/charts/style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  <p:sldMasterId id="2147483650" r:id="rId5"/>
    <p:sldMasterId id="2147483662" r:id="rId6"/>
    <p:sldMasterId id="2147483674" r:id="rId7"/>
    <p:sldMasterId id="2147483686" r:id="rId8"/>
    <p:sldMasterId id="2147483698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</p:sldIdLst>
  <p:sldSz cy="6858000" cx="9144000"/>
  <p:notesSz cx="9236075" cy="7010400"/>
  <p:embeddedFontLst>
    <p:embeddedFont>
      <p:font typeface="Century Schoolbook"/>
      <p:regular r:id="rId18"/>
      <p:bold r:id="rId19"/>
      <p:italic r:id="rId20"/>
      <p:boldItalic r:id="rId21"/>
    </p:embeddedFont>
    <p:embeddedFont>
      <p:font typeface="Short Stack"/>
      <p:regular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08">
          <p15:clr>
            <a:srgbClr val="A4A3A4"/>
          </p15:clr>
        </p15:guide>
        <p15:guide id="2" pos="3744">
          <p15:clr>
            <a:srgbClr val="A4A3A4"/>
          </p15:clr>
        </p15:guide>
      </p15:sldGuideLst>
    </p:ext>
    <p:ext uri="{2D200454-40CA-4A62-9FC3-DE9A4176ACB9}">
      <p15:notesGuideLst>
        <p15:guide id="1" orient="horz" pos="2208">
          <p15:clr>
            <a:srgbClr val="A4A3A4"/>
          </p15:clr>
        </p15:guide>
        <p15:guide id="2" pos="2909">
          <p15:clr>
            <a:srgbClr val="A4A3A4"/>
          </p15:clr>
        </p15:guide>
      </p15:notesGuideLst>
    </p:ext>
    <p:ext uri="GoogleSlidesCustomDataVersion2">
      <go:slidesCustomData xmlns:go="http://customooxmlschemas.google.com/" r:id="rId23" roundtripDataSignature="AMtx7mhwhYbfEf7jEazFHoc5RAKxmaEd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08" orient="horz"/>
        <p:guide pos="3744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208" orient="horz"/>
        <p:guide pos="2909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Schoolbook-italic.fntdata"/><Relationship Id="rId11" Type="http://schemas.openxmlformats.org/officeDocument/2006/relationships/slide" Target="slides/slide1.xml"/><Relationship Id="rId22" Type="http://schemas.openxmlformats.org/officeDocument/2006/relationships/font" Target="fonts/ShortStack-regular.fntdata"/><Relationship Id="rId10" Type="http://schemas.openxmlformats.org/officeDocument/2006/relationships/notesMaster" Target="notesMasters/notesMaster1.xml"/><Relationship Id="rId21" Type="http://schemas.openxmlformats.org/officeDocument/2006/relationships/font" Target="fonts/CenturySchoolbook-boldItalic.fntdata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23" Type="http://customschemas.google.com/relationships/presentationmetadata" Target="meta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9" Type="http://schemas.openxmlformats.org/officeDocument/2006/relationships/font" Target="fonts/CenturySchoolbook-bold.fntdata"/><Relationship Id="rId6" Type="http://schemas.openxmlformats.org/officeDocument/2006/relationships/slideMaster" Target="slideMasters/slideMaster3.xml"/><Relationship Id="rId18" Type="http://schemas.openxmlformats.org/officeDocument/2006/relationships/font" Target="fonts/CenturySchoolbook-regular.fntdata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/Relationships>
</file>

<file path=ppt/charts/_rels/chart1.xml.rels><?xml version="1.0" encoding="UTF-8" standalone="yes"?>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Sheet1.xlsx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329976071056797"/>
          <c:y val="6.1174682351933719E-2"/>
          <c:w val="0.65056983330854812"/>
          <c:h val="0.9014407895441066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C00000"/>
              </a:solidFill>
              <a:ln w="19050">
                <a:solidFill>
                  <a:prstClr val="black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FA9-5645-A886-F11B5336389B}"/>
              </c:ext>
            </c:extLst>
          </c:dPt>
          <c:dPt>
            <c:idx val="1"/>
            <c:bubble3D val="0"/>
            <c:spPr>
              <a:solidFill>
                <a:srgbClr val="D87A00"/>
              </a:solidFill>
              <a:ln w="19050">
                <a:solidFill>
                  <a:prstClr val="black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FA9-5645-A886-F11B5336389B}"/>
              </c:ext>
            </c:extLst>
          </c:dPt>
          <c:dPt>
            <c:idx val="2"/>
            <c:bubble3D val="0"/>
            <c:spPr>
              <a:solidFill>
                <a:srgbClr val="FFFF00"/>
              </a:solidFill>
              <a:ln w="19050">
                <a:solidFill>
                  <a:prstClr val="black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FA9-5645-A886-F11B5336389B}"/>
              </c:ext>
            </c:extLst>
          </c:dPt>
          <c:dPt>
            <c:idx val="3"/>
            <c:bubble3D val="0"/>
            <c:spPr>
              <a:solidFill>
                <a:srgbClr val="92D050"/>
              </a:solidFill>
              <a:ln w="19050">
                <a:solidFill>
                  <a:prstClr val="black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FA9-5645-A886-F11B5336389B}"/>
              </c:ext>
            </c:extLst>
          </c:dPt>
          <c:dPt>
            <c:idx val="4"/>
            <c:bubble3D val="0"/>
            <c:spPr>
              <a:solidFill>
                <a:srgbClr val="00A779"/>
              </a:solidFill>
              <a:ln w="19050">
                <a:solidFill>
                  <a:prstClr val="black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FA9-5645-A886-F11B5336389B}"/>
              </c:ext>
            </c:extLst>
          </c:dPt>
          <c:dPt>
            <c:idx val="5"/>
            <c:bubble3D val="0"/>
            <c:spPr>
              <a:solidFill>
                <a:srgbClr val="00B0F0"/>
              </a:solidFill>
              <a:ln w="19050">
                <a:solidFill>
                  <a:prstClr val="black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2FA9-5645-A886-F11B5336389B}"/>
              </c:ext>
            </c:extLst>
          </c:dPt>
          <c:dPt>
            <c:idx val="6"/>
            <c:bubble3D val="0"/>
            <c:spPr>
              <a:solidFill>
                <a:srgbClr val="0048AA"/>
              </a:solidFill>
              <a:ln w="19050">
                <a:solidFill>
                  <a:prstClr val="black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2FA9-5645-A886-F11B5336389B}"/>
              </c:ext>
            </c:extLst>
          </c:dPt>
          <c:dPt>
            <c:idx val="7"/>
            <c:bubble3D val="0"/>
            <c:spPr>
              <a:solidFill>
                <a:srgbClr val="7030A0"/>
              </a:solidFill>
              <a:ln w="19050">
                <a:solidFill>
                  <a:prstClr val="black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2FA9-5645-A886-F11B5336389B}"/>
              </c:ext>
            </c:extLst>
          </c:dPt>
          <c:cat>
            <c:strRef>
              <c:f>Sheet1!$A$2:$A$9</c:f>
              <c:strCache>
                <c:ptCount val="8"/>
                <c:pt idx="0">
                  <c:v>Inclusive</c:v>
                </c:pt>
                <c:pt idx="1">
                  <c:v>Equitable</c:v>
                </c:pt>
                <c:pt idx="2">
                  <c:v>Diverse</c:v>
                </c:pt>
                <c:pt idx="3">
                  <c:v>Fair</c:v>
                </c:pt>
                <c:pt idx="4">
                  <c:v>Accepting</c:v>
                </c:pt>
                <c:pt idx="5">
                  <c:v>Welcoming</c:v>
                </c:pt>
                <c:pt idx="6">
                  <c:v>Safe space</c:v>
                </c:pt>
                <c:pt idx="7">
                  <c:v>For everyone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12.5</c:v>
                </c:pt>
                <c:pt idx="1">
                  <c:v>12.5</c:v>
                </c:pt>
                <c:pt idx="2">
                  <c:v>12.5</c:v>
                </c:pt>
                <c:pt idx="3">
                  <c:v>12.5</c:v>
                </c:pt>
                <c:pt idx="4">
                  <c:v>12.5</c:v>
                </c:pt>
                <c:pt idx="5">
                  <c:v>12.5</c:v>
                </c:pt>
                <c:pt idx="6">
                  <c:v>12.5</c:v>
                </c:pt>
                <c:pt idx="7">
                  <c:v>12.5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2FA9-5645-A886-F11B533638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0.64793</cdr:x>
      <cdr:y>0.03601</cdr:y>
    </cdr:from>
    <cdr:to>
      <cdr:x>0.79793</cdr:x>
      <cdr:y>0.12638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A95C243B-0D13-114D-8777-83F5BC164374}"/>
            </a:ext>
          </a:extLst>
        </cdr:cNvPr>
        <cdr:cNvSpPr txBox="1"/>
      </cdr:nvSpPr>
      <cdr:spPr>
        <a:xfrm xmlns:a="http://schemas.openxmlformats.org/drawingml/2006/main">
          <a:off x="3354891" y="134572"/>
          <a:ext cx="776675" cy="33769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600" dirty="0">
              <a:solidFill>
                <a:schemeClr val="bg1"/>
              </a:solidFill>
              <a:latin typeface="Comic Sans MS" panose="030F0902030302020204" pitchFamily="66" charset="0"/>
            </a:rPr>
            <a:t>Inclusive</a:t>
          </a:r>
        </a:p>
      </cdr:txBody>
    </cdr:sp>
  </cdr:relSizeAnchor>
  <cdr:relSizeAnchor xmlns:cdr="http://schemas.openxmlformats.org/drawingml/2006/chartDrawing">
    <cdr:from>
      <cdr:x>0.80658</cdr:x>
      <cdr:y>0.28071</cdr:y>
    </cdr:from>
    <cdr:to>
      <cdr:x>0.95658</cdr:x>
      <cdr:y>0.37107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D9F5FF65-D4DF-674B-82C3-7892027923C9}"/>
            </a:ext>
          </a:extLst>
        </cdr:cNvPr>
        <cdr:cNvSpPr txBox="1"/>
      </cdr:nvSpPr>
      <cdr:spPr>
        <a:xfrm xmlns:a="http://schemas.openxmlformats.org/drawingml/2006/main">
          <a:off x="4176325" y="1048972"/>
          <a:ext cx="776675" cy="33766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600" dirty="0">
              <a:solidFill>
                <a:schemeClr val="bg1"/>
              </a:solidFill>
              <a:latin typeface="Comic Sans MS" panose="030F0902030302020204" pitchFamily="66" charset="0"/>
            </a:rPr>
            <a:t>Equitable</a:t>
          </a:r>
        </a:p>
      </cdr:txBody>
    </cdr:sp>
  </cdr:relSizeAnchor>
  <cdr:relSizeAnchor xmlns:cdr="http://schemas.openxmlformats.org/drawingml/2006/chartDrawing">
    <cdr:from>
      <cdr:x>0.7947</cdr:x>
      <cdr:y>0.66815</cdr:y>
    </cdr:from>
    <cdr:to>
      <cdr:x>0.9447</cdr:x>
      <cdr:y>0.75852</cdr:y>
    </cdr:to>
    <cdr:sp macro="" textlink="">
      <cdr:nvSpPr>
        <cdr:cNvPr id="4" name="TextBox 3">
          <a:extLst xmlns:a="http://schemas.openxmlformats.org/drawingml/2006/main">
            <a:ext uri="{FF2B5EF4-FFF2-40B4-BE49-F238E27FC236}">
              <a16:creationId xmlns:a16="http://schemas.microsoft.com/office/drawing/2014/main" id="{B1EBEA3F-D07B-0843-BFF5-796FADCD4F8A}"/>
            </a:ext>
          </a:extLst>
        </cdr:cNvPr>
        <cdr:cNvSpPr txBox="1"/>
      </cdr:nvSpPr>
      <cdr:spPr>
        <a:xfrm xmlns:a="http://schemas.openxmlformats.org/drawingml/2006/main">
          <a:off x="4114800" y="2496772"/>
          <a:ext cx="776675" cy="33769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600" dirty="0">
              <a:solidFill>
                <a:schemeClr val="bg1"/>
              </a:solidFill>
              <a:latin typeface="Comic Sans MS" panose="030F0902030302020204" pitchFamily="66" charset="0"/>
            </a:rPr>
            <a:t>Diverse</a:t>
          </a:r>
        </a:p>
      </cdr:txBody>
    </cdr:sp>
  </cdr:relSizeAnchor>
  <cdr:relSizeAnchor xmlns:cdr="http://schemas.openxmlformats.org/drawingml/2006/chartDrawing">
    <cdr:from>
      <cdr:x>0.63322</cdr:x>
      <cdr:y>0.90963</cdr:y>
    </cdr:from>
    <cdr:to>
      <cdr:x>0.78322</cdr:x>
      <cdr:y>1</cdr:y>
    </cdr:to>
    <cdr:sp macro="" textlink="">
      <cdr:nvSpPr>
        <cdr:cNvPr id="5" name="TextBox 4">
          <a:extLst xmlns:a="http://schemas.openxmlformats.org/drawingml/2006/main">
            <a:ext uri="{FF2B5EF4-FFF2-40B4-BE49-F238E27FC236}">
              <a16:creationId xmlns:a16="http://schemas.microsoft.com/office/drawing/2014/main" id="{EE645134-D0D0-2347-911F-1837FFEA9246}"/>
            </a:ext>
          </a:extLst>
        </cdr:cNvPr>
        <cdr:cNvSpPr txBox="1"/>
      </cdr:nvSpPr>
      <cdr:spPr>
        <a:xfrm xmlns:a="http://schemas.openxmlformats.org/drawingml/2006/main">
          <a:off x="3278691" y="3399142"/>
          <a:ext cx="776674" cy="33769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600" dirty="0">
              <a:solidFill>
                <a:schemeClr val="bg1"/>
              </a:solidFill>
              <a:latin typeface="Comic Sans MS" panose="030F0902030302020204" pitchFamily="66" charset="0"/>
            </a:rPr>
            <a:t>Fair</a:t>
          </a:r>
        </a:p>
      </cdr:txBody>
    </cdr:sp>
  </cdr:relSizeAnchor>
  <cdr:relSizeAnchor xmlns:cdr="http://schemas.openxmlformats.org/drawingml/2006/chartDrawing">
    <cdr:from>
      <cdr:x>0.177</cdr:x>
      <cdr:y>0.89246</cdr:y>
    </cdr:from>
    <cdr:to>
      <cdr:x>0.327</cdr:x>
      <cdr:y>0.98283</cdr:y>
    </cdr:to>
    <cdr:sp macro="" textlink="">
      <cdr:nvSpPr>
        <cdr:cNvPr id="6" name="TextBox 5">
          <a:extLst xmlns:a="http://schemas.openxmlformats.org/drawingml/2006/main">
            <a:ext uri="{FF2B5EF4-FFF2-40B4-BE49-F238E27FC236}">
              <a16:creationId xmlns:a16="http://schemas.microsoft.com/office/drawing/2014/main" id="{6033013E-1EC0-7B49-AFA8-249BE88D14F0}"/>
            </a:ext>
          </a:extLst>
        </cdr:cNvPr>
        <cdr:cNvSpPr txBox="1"/>
      </cdr:nvSpPr>
      <cdr:spPr>
        <a:xfrm xmlns:a="http://schemas.openxmlformats.org/drawingml/2006/main">
          <a:off x="916491" y="3334972"/>
          <a:ext cx="776675" cy="33769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600" dirty="0">
              <a:solidFill>
                <a:schemeClr val="bg1"/>
              </a:solidFill>
              <a:latin typeface="Comic Sans MS" panose="030F0902030302020204" pitchFamily="66" charset="0"/>
            </a:rPr>
            <a:t>Accepting</a:t>
          </a:r>
        </a:p>
      </cdr:txBody>
    </cdr:sp>
  </cdr:relSizeAnchor>
  <cdr:relSizeAnchor xmlns:cdr="http://schemas.openxmlformats.org/drawingml/2006/chartDrawing">
    <cdr:from>
      <cdr:x>0.0004</cdr:x>
      <cdr:y>0.68854</cdr:y>
    </cdr:from>
    <cdr:to>
      <cdr:x>0.20466</cdr:x>
      <cdr:y>0.78483</cdr:y>
    </cdr:to>
    <cdr:sp macro="" textlink="">
      <cdr:nvSpPr>
        <cdr:cNvPr id="7" name="TextBox 6">
          <a:extLst xmlns:a="http://schemas.openxmlformats.org/drawingml/2006/main">
            <a:ext uri="{FF2B5EF4-FFF2-40B4-BE49-F238E27FC236}">
              <a16:creationId xmlns:a16="http://schemas.microsoft.com/office/drawing/2014/main" id="{6702B2DF-6B23-8241-82E3-C415F787CA35}"/>
            </a:ext>
          </a:extLst>
        </cdr:cNvPr>
        <cdr:cNvSpPr txBox="1"/>
      </cdr:nvSpPr>
      <cdr:spPr>
        <a:xfrm xmlns:a="http://schemas.openxmlformats.org/drawingml/2006/main">
          <a:off x="2091" y="2572972"/>
          <a:ext cx="1057624" cy="35982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600" dirty="0">
              <a:solidFill>
                <a:schemeClr val="bg1"/>
              </a:solidFill>
              <a:latin typeface="Comic Sans MS" panose="030F0902030302020204" pitchFamily="66" charset="0"/>
            </a:rPr>
            <a:t>Welcoming</a:t>
          </a:r>
        </a:p>
      </cdr:txBody>
    </cdr:sp>
  </cdr:relSizeAnchor>
  <cdr:relSizeAnchor xmlns:cdr="http://schemas.openxmlformats.org/drawingml/2006/chartDrawing">
    <cdr:from>
      <cdr:x>0.05927</cdr:x>
      <cdr:y>0.28071</cdr:y>
    </cdr:from>
    <cdr:to>
      <cdr:x>0.31577</cdr:x>
      <cdr:y>0.46424</cdr:y>
    </cdr:to>
    <cdr:sp macro="" textlink="">
      <cdr:nvSpPr>
        <cdr:cNvPr id="8" name="TextBox 7">
          <a:extLst xmlns:a="http://schemas.openxmlformats.org/drawingml/2006/main">
            <a:ext uri="{FF2B5EF4-FFF2-40B4-BE49-F238E27FC236}">
              <a16:creationId xmlns:a16="http://schemas.microsoft.com/office/drawing/2014/main" id="{39349A7B-6CA7-3B42-9951-4B6085CFDF02}"/>
            </a:ext>
          </a:extLst>
        </cdr:cNvPr>
        <cdr:cNvSpPr txBox="1"/>
      </cdr:nvSpPr>
      <cdr:spPr>
        <a:xfrm xmlns:a="http://schemas.openxmlformats.org/drawingml/2006/main">
          <a:off x="306891" y="1048972"/>
          <a:ext cx="1328113" cy="6858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pPr>
            <a:lnSpc>
              <a:spcPct val="80000"/>
            </a:lnSpc>
          </a:pPr>
          <a:r>
            <a:rPr lang="en-US" sz="1600" dirty="0">
              <a:solidFill>
                <a:schemeClr val="bg1"/>
              </a:solidFill>
              <a:latin typeface="Comic Sans MS" panose="030F0902030302020204" pitchFamily="66" charset="0"/>
            </a:rPr>
            <a:t>Safe</a:t>
          </a:r>
        </a:p>
        <a:p xmlns:a="http://schemas.openxmlformats.org/drawingml/2006/main">
          <a:pPr>
            <a:lnSpc>
              <a:spcPct val="80000"/>
            </a:lnSpc>
          </a:pPr>
          <a:r>
            <a:rPr lang="en-US" sz="1600" dirty="0">
              <a:solidFill>
                <a:schemeClr val="bg1"/>
              </a:solidFill>
              <a:latin typeface="Comic Sans MS" panose="030F0902030302020204" pitchFamily="66" charset="0"/>
            </a:rPr>
            <a:t>space</a:t>
          </a:r>
        </a:p>
      </cdr:txBody>
    </cdr:sp>
  </cdr:relSizeAnchor>
  <cdr:relSizeAnchor xmlns:cdr="http://schemas.openxmlformats.org/drawingml/2006/chartDrawing">
    <cdr:from>
      <cdr:x>0.11814</cdr:x>
      <cdr:y>0.01562</cdr:y>
    </cdr:from>
    <cdr:to>
      <cdr:x>0.3224</cdr:x>
      <cdr:y>0.11192</cdr:y>
    </cdr:to>
    <cdr:sp macro="" textlink="">
      <cdr:nvSpPr>
        <cdr:cNvPr id="9" name="TextBox 8">
          <a:extLst xmlns:a="http://schemas.openxmlformats.org/drawingml/2006/main">
            <a:ext uri="{FF2B5EF4-FFF2-40B4-BE49-F238E27FC236}">
              <a16:creationId xmlns:a16="http://schemas.microsoft.com/office/drawing/2014/main" id="{C5351814-F1C2-CF4B-BBC2-A5A6ADBC3DD9}"/>
            </a:ext>
          </a:extLst>
        </cdr:cNvPr>
        <cdr:cNvSpPr txBox="1"/>
      </cdr:nvSpPr>
      <cdr:spPr>
        <a:xfrm xmlns:a="http://schemas.openxmlformats.org/drawingml/2006/main">
          <a:off x="611691" y="58372"/>
          <a:ext cx="1057624" cy="35985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600" dirty="0">
              <a:solidFill>
                <a:schemeClr val="bg1"/>
              </a:solidFill>
              <a:latin typeface="Comic Sans MS" panose="030F0902030302020204" pitchFamily="66" charset="0"/>
            </a:rPr>
            <a:t>For everyone</a:t>
          </a:r>
        </a:p>
      </cdr:txBody>
    </cdr:sp>
  </cdr:relSizeAnchor>
</c:userShape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3" y="2"/>
            <a:ext cx="4003136" cy="350641"/>
          </a:xfrm>
          <a:prstGeom prst="rect">
            <a:avLst/>
          </a:prstGeom>
          <a:noFill/>
          <a:ln>
            <a:noFill/>
          </a:ln>
        </p:spPr>
        <p:txBody>
          <a:bodyPr anchorCtr="0" anchor="t" bIns="46400" lIns="92800" spcFirstLastPara="1" rIns="92800" wrap="square" tIns="464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232941" y="2"/>
            <a:ext cx="4003136" cy="350641"/>
          </a:xfrm>
          <a:prstGeom prst="rect">
            <a:avLst/>
          </a:prstGeom>
          <a:noFill/>
          <a:ln>
            <a:noFill/>
          </a:ln>
        </p:spPr>
        <p:txBody>
          <a:bodyPr anchorCtr="0" anchor="t" bIns="46400" lIns="92800" spcFirstLastPara="1" rIns="92800" wrap="square" tIns="464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  <a:noFill/>
          <a:ln>
            <a:noFill/>
          </a:ln>
        </p:spPr>
        <p:txBody>
          <a:bodyPr anchorCtr="0" anchor="t" bIns="46400" lIns="92800" spcFirstLastPara="1" rIns="92800" wrap="square" tIns="464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3" y="6659760"/>
            <a:ext cx="4003136" cy="350640"/>
          </a:xfrm>
          <a:prstGeom prst="rect">
            <a:avLst/>
          </a:prstGeom>
          <a:noFill/>
          <a:ln>
            <a:noFill/>
          </a:ln>
        </p:spPr>
        <p:txBody>
          <a:bodyPr anchorCtr="0" anchor="b" bIns="46400" lIns="92800" spcFirstLastPara="1" rIns="92800" wrap="square" tIns="464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232941" y="6659760"/>
            <a:ext cx="4003136" cy="350640"/>
          </a:xfrm>
          <a:prstGeom prst="rect">
            <a:avLst/>
          </a:prstGeom>
          <a:noFill/>
          <a:ln>
            <a:noFill/>
          </a:ln>
        </p:spPr>
        <p:txBody>
          <a:bodyPr anchorCtr="0" anchor="b" bIns="46400" lIns="92800" spcFirstLastPara="1" rIns="92800" wrap="square" tIns="46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1" name="Google Shape;391;p1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  <a:noFill/>
          <a:ln>
            <a:noFill/>
          </a:ln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96" name="Google Shape;396;p2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  <a:noFill/>
          <a:ln>
            <a:noFill/>
          </a:ln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:notes"/>
          <p:cNvSpPr txBox="1"/>
          <p:nvPr>
            <p:ph idx="12" type="sldNum"/>
          </p:nvPr>
        </p:nvSpPr>
        <p:spPr>
          <a:xfrm>
            <a:off x="5232941" y="6659760"/>
            <a:ext cx="4003136" cy="350640"/>
          </a:xfrm>
          <a:prstGeom prst="rect">
            <a:avLst/>
          </a:prstGeom>
          <a:noFill/>
          <a:ln>
            <a:noFill/>
          </a:ln>
        </p:spPr>
        <p:txBody>
          <a:bodyPr anchorCtr="0" anchor="b" bIns="46400" lIns="92800" spcFirstLastPara="1" rIns="92800" wrap="square" tIns="464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24" name="Google Shape;424;p3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  <a:noFill/>
          <a:ln>
            <a:noFill/>
          </a:ln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:notes"/>
          <p:cNvSpPr txBox="1"/>
          <p:nvPr>
            <p:ph idx="12" type="sldNum"/>
          </p:nvPr>
        </p:nvSpPr>
        <p:spPr>
          <a:xfrm>
            <a:off x="5232941" y="6659760"/>
            <a:ext cx="4003136" cy="350640"/>
          </a:xfrm>
          <a:prstGeom prst="rect">
            <a:avLst/>
          </a:prstGeom>
          <a:noFill/>
          <a:ln>
            <a:noFill/>
          </a:ln>
        </p:spPr>
        <p:txBody>
          <a:bodyPr anchorCtr="0" anchor="b" bIns="46400" lIns="92800" spcFirstLastPara="1" rIns="92800" wrap="square" tIns="464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59" name="Google Shape;459;p4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  <a:noFill/>
          <a:ln>
            <a:noFill/>
          </a:ln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4:notes"/>
          <p:cNvSpPr txBox="1"/>
          <p:nvPr>
            <p:ph idx="12" type="sldNum"/>
          </p:nvPr>
        </p:nvSpPr>
        <p:spPr>
          <a:xfrm>
            <a:off x="5232941" y="6659760"/>
            <a:ext cx="4003136" cy="350640"/>
          </a:xfrm>
          <a:prstGeom prst="rect">
            <a:avLst/>
          </a:prstGeom>
          <a:noFill/>
          <a:ln>
            <a:noFill/>
          </a:ln>
        </p:spPr>
        <p:txBody>
          <a:bodyPr anchorCtr="0" anchor="b" bIns="46400" lIns="92800" spcFirstLastPara="1" rIns="92800" wrap="square" tIns="464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72" name="Google Shape;472;p5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  <a:noFill/>
          <a:ln>
            <a:noFill/>
          </a:ln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5:notes"/>
          <p:cNvSpPr txBox="1"/>
          <p:nvPr>
            <p:ph idx="12" type="sldNum"/>
          </p:nvPr>
        </p:nvSpPr>
        <p:spPr>
          <a:xfrm>
            <a:off x="5232941" y="6659760"/>
            <a:ext cx="4003136" cy="350640"/>
          </a:xfrm>
          <a:prstGeom prst="rect">
            <a:avLst/>
          </a:prstGeom>
          <a:noFill/>
          <a:ln>
            <a:noFill/>
          </a:ln>
        </p:spPr>
        <p:txBody>
          <a:bodyPr anchorCtr="0" anchor="b" bIns="46400" lIns="92800" spcFirstLastPara="1" rIns="92800" wrap="square" tIns="464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6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7:notes"/>
          <p:cNvSpPr txBox="1"/>
          <p:nvPr>
            <p:ph idx="1" type="body"/>
          </p:nvPr>
        </p:nvSpPr>
        <p:spPr>
          <a:xfrm>
            <a:off x="1229804" y="3330482"/>
            <a:ext cx="6776468" cy="3153355"/>
          </a:xfrm>
          <a:prstGeom prst="rect">
            <a:avLst/>
          </a:prstGeom>
        </p:spPr>
        <p:txBody>
          <a:bodyPr anchorCtr="0" anchor="t" bIns="46400" lIns="92800" spcFirstLastPara="1" rIns="92800" wrap="square" tIns="464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7:notes"/>
          <p:cNvSpPr/>
          <p:nvPr>
            <p:ph idx="2" type="sldImg"/>
          </p:nvPr>
        </p:nvSpPr>
        <p:spPr>
          <a:xfrm>
            <a:off x="2867025" y="527050"/>
            <a:ext cx="3502025" cy="26273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rgbClr val="0C0C0C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ctrTitle"/>
          </p:nvPr>
        </p:nvSpPr>
        <p:spPr>
          <a:xfrm>
            <a:off x="1066800" y="377952"/>
            <a:ext cx="7063740" cy="4041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Verdana"/>
              <a:buNone/>
              <a:defRPr sz="66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subTitle"/>
          </p:nvPr>
        </p:nvSpPr>
        <p:spPr>
          <a:xfrm>
            <a:off x="1066800" y="4495800"/>
            <a:ext cx="706374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D8D8D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" name="Google Shape;20;p11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72B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1"/>
          <p:cNvSpPr txBox="1"/>
          <p:nvPr/>
        </p:nvSpPr>
        <p:spPr>
          <a:xfrm>
            <a:off x="76200" y="6584156"/>
            <a:ext cx="2286000" cy="304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rPr>
              <a:t>Fall 2026 – University of Virginia</a:t>
            </a:r>
            <a:endParaRPr b="0" i="0" sz="1000" u="none" cap="none" strike="noStrike">
              <a:solidFill>
                <a:srgbClr val="BBD9D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1"/>
          <p:cNvSpPr txBox="1"/>
          <p:nvPr/>
        </p:nvSpPr>
        <p:spPr>
          <a:xfrm>
            <a:off x="8686800" y="65532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BBD9D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1"/>
          <p:cNvSpPr txBox="1"/>
          <p:nvPr/>
        </p:nvSpPr>
        <p:spPr>
          <a:xfrm>
            <a:off x="3352800" y="6584156"/>
            <a:ext cx="2438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rPr>
              <a:t>© Praphamontripong</a:t>
            </a:r>
            <a:endParaRPr b="0" i="0" sz="1000" u="none" cap="none" strike="noStrike">
              <a:solidFill>
                <a:srgbClr val="BBD9D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" name="Google Shape;24;p11"/>
          <p:cNvCxnSpPr/>
          <p:nvPr/>
        </p:nvCxnSpPr>
        <p:spPr>
          <a:xfrm>
            <a:off x="609600" y="3505200"/>
            <a:ext cx="7924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rgbClr val="0C0C0C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000"/>
              <a:buFont typeface="Verdana"/>
              <a:buNone/>
              <a:defRPr b="1" sz="40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457200" y="1066801"/>
            <a:ext cx="7955280" cy="5113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2240"/>
              <a:buChar char="•"/>
              <a:defRPr sz="2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810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55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55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55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rgbClr val="0C0C0C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ctrTitle"/>
          </p:nvPr>
        </p:nvSpPr>
        <p:spPr>
          <a:xfrm>
            <a:off x="1066800" y="377952"/>
            <a:ext cx="7063740" cy="4041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Verdana"/>
              <a:buNone/>
              <a:defRPr sz="66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subTitle"/>
          </p:nvPr>
        </p:nvSpPr>
        <p:spPr>
          <a:xfrm>
            <a:off x="1066800" y="4495800"/>
            <a:ext cx="706374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D8D8D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" name="Google Shape;39;p10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72B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0"/>
          <p:cNvSpPr txBox="1"/>
          <p:nvPr/>
        </p:nvSpPr>
        <p:spPr>
          <a:xfrm>
            <a:off x="76200" y="6584156"/>
            <a:ext cx="2286000" cy="304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rPr>
              <a:t>Fall 2026 – University of Virginia</a:t>
            </a:r>
            <a:endParaRPr b="0" i="0" sz="1000" u="none" cap="none" strike="noStrike">
              <a:solidFill>
                <a:srgbClr val="BBD9D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0"/>
          <p:cNvSpPr txBox="1"/>
          <p:nvPr/>
        </p:nvSpPr>
        <p:spPr>
          <a:xfrm>
            <a:off x="8686800" y="65532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BBD9D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0"/>
          <p:cNvSpPr txBox="1"/>
          <p:nvPr/>
        </p:nvSpPr>
        <p:spPr>
          <a:xfrm>
            <a:off x="3352800" y="6584156"/>
            <a:ext cx="2438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rPr>
              <a:t>© Praphamontripong</a:t>
            </a:r>
            <a:endParaRPr b="0" i="0" sz="1000" u="none" cap="none" strike="noStrike">
              <a:solidFill>
                <a:srgbClr val="BBD9D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p10"/>
          <p:cNvCxnSpPr/>
          <p:nvPr/>
        </p:nvCxnSpPr>
        <p:spPr>
          <a:xfrm>
            <a:off x="609600" y="3505200"/>
            <a:ext cx="7924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0C0C0C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/>
          <p:nvPr>
            <p:ph type="title"/>
          </p:nvPr>
        </p:nvSpPr>
        <p:spPr>
          <a:xfrm>
            <a:off x="946404" y="758952"/>
            <a:ext cx="7063740" cy="4041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entury Schoolbook"/>
              <a:buNone/>
              <a:defRPr b="0" sz="6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" type="body"/>
          </p:nvPr>
        </p:nvSpPr>
        <p:spPr>
          <a:xfrm>
            <a:off x="946404" y="4800600"/>
            <a:ext cx="706374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solidFill>
          <a:srgbClr val="0C0C0C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/>
          <p:nvPr>
            <p:ph type="title"/>
          </p:nvPr>
        </p:nvSpPr>
        <p:spPr>
          <a:xfrm>
            <a:off x="974539" y="365760"/>
            <a:ext cx="726948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Schoolbook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" type="body"/>
          </p:nvPr>
        </p:nvSpPr>
        <p:spPr>
          <a:xfrm>
            <a:off x="974539" y="1828801"/>
            <a:ext cx="336042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50" name="Google Shape;50;p14"/>
          <p:cNvSpPr txBox="1"/>
          <p:nvPr>
            <p:ph idx="2" type="body"/>
          </p:nvPr>
        </p:nvSpPr>
        <p:spPr>
          <a:xfrm>
            <a:off x="4622995" y="1828801"/>
            <a:ext cx="336042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51" name="Google Shape;51;p14"/>
          <p:cNvSpPr txBox="1"/>
          <p:nvPr>
            <p:ph idx="11" type="ftr"/>
          </p:nvPr>
        </p:nvSpPr>
        <p:spPr>
          <a:xfrm>
            <a:off x="3124200" y="6455811"/>
            <a:ext cx="3581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2" name="Google Shape;52;p14"/>
          <p:cNvSpPr txBox="1"/>
          <p:nvPr>
            <p:ph idx="12" type="sldNum"/>
          </p:nvPr>
        </p:nvSpPr>
        <p:spPr>
          <a:xfrm>
            <a:off x="8077200" y="62484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1" i="0" sz="16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1" i="0" sz="16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1" i="0" sz="16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1" i="0" sz="16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1" i="0" sz="16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1" i="0" sz="16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1" i="0" sz="16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1" i="0" sz="16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1" i="0" sz="16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/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1" type="body"/>
          </p:nvPr>
        </p:nvSpPr>
        <p:spPr>
          <a:xfrm>
            <a:off x="946404" y="1717185"/>
            <a:ext cx="33604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b="0" sz="1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15"/>
          <p:cNvSpPr txBox="1"/>
          <p:nvPr>
            <p:ph idx="2" type="body"/>
          </p:nvPr>
        </p:nvSpPr>
        <p:spPr>
          <a:xfrm>
            <a:off x="946404" y="2507550"/>
            <a:ext cx="3360420" cy="366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57" name="Google Shape;57;p15"/>
          <p:cNvSpPr txBox="1"/>
          <p:nvPr>
            <p:ph idx="3" type="body"/>
          </p:nvPr>
        </p:nvSpPr>
        <p:spPr>
          <a:xfrm>
            <a:off x="4599432" y="1717185"/>
            <a:ext cx="33649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Font typeface="Century Schoolbook"/>
              <a:buNone/>
              <a:defRPr b="0" sz="18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4" type="body"/>
          </p:nvPr>
        </p:nvSpPr>
        <p:spPr>
          <a:xfrm>
            <a:off x="4594860" y="2507550"/>
            <a:ext cx="3360420" cy="366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8"/>
          <p:cNvSpPr txBox="1"/>
          <p:nvPr>
            <p:ph type="title"/>
          </p:nvPr>
        </p:nvSpPr>
        <p:spPr>
          <a:xfrm>
            <a:off x="630936" y="457201"/>
            <a:ext cx="2400300" cy="1600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Schoolbook"/>
              <a:buNone/>
              <a:defRPr b="0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3378200" y="685800"/>
            <a:ext cx="45593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65" name="Google Shape;65;p18"/>
          <p:cNvSpPr txBox="1"/>
          <p:nvPr>
            <p:ph idx="2" type="body"/>
          </p:nvPr>
        </p:nvSpPr>
        <p:spPr>
          <a:xfrm>
            <a:off x="630936" y="2099735"/>
            <a:ext cx="240030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/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18"/>
          <p:cNvSpPr txBox="1"/>
          <p:nvPr>
            <p:ph idx="10" type="dt"/>
          </p:nvPr>
        </p:nvSpPr>
        <p:spPr>
          <a:xfrm rot="-5400000">
            <a:off x="7831456" y="1044178"/>
            <a:ext cx="19049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7" name="Google Shape;67;p18"/>
          <p:cNvSpPr txBox="1"/>
          <p:nvPr>
            <p:ph idx="11" type="ftr"/>
          </p:nvPr>
        </p:nvSpPr>
        <p:spPr>
          <a:xfrm rot="-5400000">
            <a:off x="6993255" y="4092178"/>
            <a:ext cx="3581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8" name="Google Shape;68;p18"/>
          <p:cNvSpPr txBox="1"/>
          <p:nvPr>
            <p:ph idx="12" type="sldNum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9"/>
          <p:cNvSpPr txBox="1"/>
          <p:nvPr>
            <p:ph type="title"/>
          </p:nvPr>
        </p:nvSpPr>
        <p:spPr>
          <a:xfrm>
            <a:off x="685800" y="5257800"/>
            <a:ext cx="74866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Schoolbook"/>
              <a:buNone/>
              <a:defRPr b="0"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2" name="Google Shape;72;p19"/>
          <p:cNvPicPr preferRelativeResize="0"/>
          <p:nvPr>
            <p:ph idx="2" type="pic"/>
          </p:nvPr>
        </p:nvPicPr>
        <p:blipFill/>
        <p:spPr>
          <a:xfrm>
            <a:off x="0" y="1"/>
            <a:ext cx="8469630" cy="5128923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73" name="Google Shape;73;p19"/>
          <p:cNvSpPr txBox="1"/>
          <p:nvPr>
            <p:ph idx="1" type="body"/>
          </p:nvPr>
        </p:nvSpPr>
        <p:spPr>
          <a:xfrm>
            <a:off x="685800" y="6108590"/>
            <a:ext cx="7486650" cy="5970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4" name="Google Shape;74;p19"/>
          <p:cNvSpPr txBox="1"/>
          <p:nvPr>
            <p:ph idx="10" type="dt"/>
          </p:nvPr>
        </p:nvSpPr>
        <p:spPr>
          <a:xfrm rot="-5400000">
            <a:off x="7831456" y="1044178"/>
            <a:ext cx="19049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5" name="Google Shape;75;p19"/>
          <p:cNvSpPr txBox="1"/>
          <p:nvPr>
            <p:ph idx="11" type="ftr"/>
          </p:nvPr>
        </p:nvSpPr>
        <p:spPr>
          <a:xfrm rot="-5400000">
            <a:off x="6993255" y="4092178"/>
            <a:ext cx="3581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" type="body"/>
          </p:nvPr>
        </p:nvSpPr>
        <p:spPr>
          <a:xfrm rot="5400000">
            <a:off x="1993995" y="781210"/>
            <a:ext cx="4351337" cy="6446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0" type="dt"/>
          </p:nvPr>
        </p:nvSpPr>
        <p:spPr>
          <a:xfrm rot="-5400000">
            <a:off x="7831456" y="1044178"/>
            <a:ext cx="19049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1" name="Google Shape;81;p20"/>
          <p:cNvSpPr txBox="1"/>
          <p:nvPr>
            <p:ph idx="11" type="ftr"/>
          </p:nvPr>
        </p:nvSpPr>
        <p:spPr>
          <a:xfrm rot="-5400000">
            <a:off x="6993255" y="4092178"/>
            <a:ext cx="3581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2" name="Google Shape;82;p20"/>
          <p:cNvSpPr txBox="1"/>
          <p:nvPr>
            <p:ph idx="12" type="sldNum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/>
          <p:nvPr>
            <p:ph type="title"/>
          </p:nvPr>
        </p:nvSpPr>
        <p:spPr>
          <a:xfrm rot="5400000">
            <a:off x="4466432" y="2401093"/>
            <a:ext cx="5897562" cy="1857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" type="body"/>
          </p:nvPr>
        </p:nvSpPr>
        <p:spPr>
          <a:xfrm rot="5400000">
            <a:off x="523081" y="429418"/>
            <a:ext cx="5897562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6" name="Google Shape;86;p21"/>
          <p:cNvSpPr txBox="1"/>
          <p:nvPr>
            <p:ph idx="10" type="dt"/>
          </p:nvPr>
        </p:nvSpPr>
        <p:spPr>
          <a:xfrm rot="-5400000">
            <a:off x="7831456" y="1044178"/>
            <a:ext cx="19049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7" name="Google Shape;87;p21"/>
          <p:cNvSpPr txBox="1"/>
          <p:nvPr>
            <p:ph idx="11" type="ftr"/>
          </p:nvPr>
        </p:nvSpPr>
        <p:spPr>
          <a:xfrm rot="-5400000">
            <a:off x="6993255" y="4092178"/>
            <a:ext cx="3581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8" name="Google Shape;88;p21"/>
          <p:cNvSpPr txBox="1"/>
          <p:nvPr>
            <p:ph idx="12" type="sldNum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8" name="Google Shape;9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0" name="Google Shape;11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6" name="Google Shape;116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7" name="Google Shape;11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3" name="Google Shape;123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4" name="Google Shape;124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5" name="Google Shape;125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6" name="Google Shape;12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41" name="Google Shape;141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2" name="Google Shape;142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9" name="Google Shape;149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1" name="Google Shape;16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3" name="Google Shape;173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3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5" name="Google Shape;185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91" name="Google Shape;191;p3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92" name="Google Shape;192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3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8" name="Google Shape;198;p3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99" name="Google Shape;199;p3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0" name="Google Shape;200;p3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01" name="Google Shape;201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4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16" name="Google Shape;216;p4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17" name="Google Shape;217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4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4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24" name="Google Shape;224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4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0" name="Google Shape;230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4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6" name="Google Shape;236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4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8" name="Google Shape;248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4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4" name="Google Shape;254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4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0" name="Google Shape;260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5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66" name="Google Shape;266;p5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67" name="Google Shape;267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5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73" name="Google Shape;273;p5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74" name="Google Shape;274;p5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75" name="Google Shape;275;p5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76" name="Google Shape;276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5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91" name="Google Shape;291;p5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92" name="Google Shape;292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5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98" name="Google Shape;298;p5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99" name="Google Shape;299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5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5" name="Google Shape;305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5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1" name="Google Shape;311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2" name="Google Shape;322;p5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3" name="Google Shape;323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6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9" name="Google Shape;329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0" name="Google Shape;330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6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6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5" name="Google Shape;335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7" name="Google Shape;337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6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1" name="Google Shape;341;p6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2" name="Google Shape;342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7" name="Google Shape;347;p6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48" name="Google Shape;348;p6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49" name="Google Shape;349;p6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0" name="Google Shape;350;p6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51" name="Google Shape;351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" name="Google Shape;358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6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66" name="Google Shape;366;p6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67" name="Google Shape;367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2" name="Google Shape;372;p6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6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74" name="Google Shape;374;p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p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6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0" name="Google Shape;380;p6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6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6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5" name="Google Shape;385;p6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6" name="Google Shape;386;p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7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2" Type="http://schemas.openxmlformats.org/officeDocument/2006/relationships/theme" Target="../theme/theme5.xml"/><Relationship Id="rId9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5.xml"/><Relationship Id="rId12" Type="http://schemas.openxmlformats.org/officeDocument/2006/relationships/theme" Target="../theme/theme6.xml"/><Relationship Id="rId9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909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" name="Google Shape;11;p9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FF4C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" name="Google Shape;12;p9"/>
          <p:cNvSpPr txBox="1"/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Schoolbook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9"/>
          <p:cNvSpPr txBox="1"/>
          <p:nvPr>
            <p:ph idx="1" type="body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4" name="Google Shape;14;p9"/>
          <p:cNvSpPr txBox="1"/>
          <p:nvPr/>
        </p:nvSpPr>
        <p:spPr>
          <a:xfrm>
            <a:off x="76200" y="6584156"/>
            <a:ext cx="2286000" cy="304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rPr>
              <a:t>Fall 2026 – University of Virginia</a:t>
            </a:r>
            <a:endParaRPr b="0" i="0" sz="1000" u="none" cap="none" strike="noStrike">
              <a:solidFill>
                <a:srgbClr val="BBD9D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9"/>
          <p:cNvSpPr txBox="1"/>
          <p:nvPr/>
        </p:nvSpPr>
        <p:spPr>
          <a:xfrm>
            <a:off x="8686800" y="65532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BBD9D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9"/>
          <p:cNvSpPr txBox="1"/>
          <p:nvPr/>
        </p:nvSpPr>
        <p:spPr>
          <a:xfrm>
            <a:off x="3352800" y="6584156"/>
            <a:ext cx="2438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rPr>
              <a:t>© Praphamontripong</a:t>
            </a:r>
            <a:endParaRPr b="0" i="0" sz="1000" u="none" cap="none" strike="noStrike">
              <a:solidFill>
                <a:srgbClr val="BBD9D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72B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" name="Google Shape;27;p8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FF4C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" name="Google Shape;28;p8"/>
          <p:cNvSpPr txBox="1"/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30" name="Google Shape;30;p8"/>
          <p:cNvSpPr txBox="1"/>
          <p:nvPr/>
        </p:nvSpPr>
        <p:spPr>
          <a:xfrm>
            <a:off x="76200" y="6584156"/>
            <a:ext cx="2286000" cy="304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rPr>
              <a:t>Fall 2026 – University of Virginia</a:t>
            </a:r>
            <a:endParaRPr b="0" i="0" sz="1000" u="none" cap="none" strike="noStrike">
              <a:solidFill>
                <a:srgbClr val="BBD9D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8"/>
          <p:cNvSpPr txBox="1"/>
          <p:nvPr/>
        </p:nvSpPr>
        <p:spPr>
          <a:xfrm>
            <a:off x="8686800" y="65532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BBD9D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8"/>
          <p:cNvSpPr txBox="1"/>
          <p:nvPr/>
        </p:nvSpPr>
        <p:spPr>
          <a:xfrm>
            <a:off x="3352800" y="6584156"/>
            <a:ext cx="2438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D9DE"/>
                </a:solidFill>
                <a:latin typeface="Arial"/>
                <a:ea typeface="Arial"/>
                <a:cs typeface="Arial"/>
                <a:sym typeface="Arial"/>
              </a:rPr>
              <a:t>© Praphamontripong</a:t>
            </a:r>
            <a:endParaRPr b="0" i="0" sz="1000" u="none" cap="none" strike="noStrike">
              <a:solidFill>
                <a:srgbClr val="BBD9D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1" name="Google Shape;91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3" name="Google Shape;9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4" name="Google Shape;9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6" name="Google Shape;166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7" name="Google Shape;167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8" name="Google Shape;168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9" name="Google Shape;169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1" name="Google Shape;241;p4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2" name="Google Shape;242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43" name="Google Shape;243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44" name="Google Shape;244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6" name="Google Shape;316;p5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7" name="Google Shape;317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18" name="Google Shape;318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19" name="Google Shape;319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"/>
          <p:cNvSpPr txBox="1"/>
          <p:nvPr>
            <p:ph type="ctrTitle"/>
          </p:nvPr>
        </p:nvSpPr>
        <p:spPr>
          <a:xfrm>
            <a:off x="685800" y="99060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800"/>
              <a:buFont typeface="Verdana"/>
              <a:buNone/>
            </a:pPr>
            <a:r>
              <a:rPr b="1" lang="en-US" sz="48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How We Shall</a:t>
            </a:r>
            <a:br>
              <a:rPr b="1" lang="en-US" sz="48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lang="en-US" sz="48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Work Together</a:t>
            </a:r>
            <a:br>
              <a:rPr b="1" lang="en-US" sz="50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b="1" lang="en-US" sz="30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lang="en-US" sz="36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CS 3250</a:t>
            </a:r>
            <a:br>
              <a:rPr b="1" lang="en-US" sz="36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lang="en-US" sz="36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Software Testing</a:t>
            </a:r>
            <a:endParaRPr b="1" sz="400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"/>
          <p:cNvSpPr txBox="1"/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000"/>
              <a:buFont typeface="Verdana"/>
              <a:buNone/>
            </a:pPr>
            <a:r>
              <a:rPr lang="en-US"/>
              <a:t>Responsibilities of Instructor</a:t>
            </a:r>
            <a:endParaRPr/>
          </a:p>
        </p:txBody>
      </p:sp>
      <p:sp>
        <p:nvSpPr>
          <p:cNvPr id="400" name="Google Shape;400;p2"/>
          <p:cNvSpPr txBox="1"/>
          <p:nvPr/>
        </p:nvSpPr>
        <p:spPr>
          <a:xfrm>
            <a:off x="6705600" y="6345936"/>
            <a:ext cx="242085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8D8D8"/>
                </a:solidFill>
                <a:latin typeface="Verdana"/>
                <a:ea typeface="Verdana"/>
                <a:cs typeface="Verdana"/>
                <a:sym typeface="Verdana"/>
              </a:rPr>
              <a:t>[Ref: image by https://www.pngwing.com]</a:t>
            </a:r>
            <a:endParaRPr/>
          </a:p>
        </p:txBody>
      </p:sp>
      <p:grpSp>
        <p:nvGrpSpPr>
          <p:cNvPr id="401" name="Google Shape;401;p2"/>
          <p:cNvGrpSpPr/>
          <p:nvPr/>
        </p:nvGrpSpPr>
        <p:grpSpPr>
          <a:xfrm>
            <a:off x="562614" y="1219200"/>
            <a:ext cx="8124186" cy="5257800"/>
            <a:chOff x="488291" y="1782588"/>
            <a:chExt cx="8124186" cy="5257800"/>
          </a:xfrm>
        </p:grpSpPr>
        <p:pic>
          <p:nvPicPr>
            <p:cNvPr descr="A cartoon character with arms spread out&#10;&#10;Description automatically generated" id="402" name="Google Shape;402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040477" y="4199652"/>
              <a:ext cx="1775460" cy="284073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03" name="Google Shape;403;p2"/>
            <p:cNvGrpSpPr/>
            <p:nvPr/>
          </p:nvGrpSpPr>
          <p:grpSpPr>
            <a:xfrm>
              <a:off x="488291" y="1782588"/>
              <a:ext cx="8124186" cy="3930687"/>
              <a:chOff x="412091" y="1858788"/>
              <a:chExt cx="8124186" cy="3930687"/>
            </a:xfrm>
          </p:grpSpPr>
          <p:grpSp>
            <p:nvGrpSpPr>
              <p:cNvPr id="404" name="Google Shape;404;p2"/>
              <p:cNvGrpSpPr/>
              <p:nvPr/>
            </p:nvGrpSpPr>
            <p:grpSpPr>
              <a:xfrm>
                <a:off x="3371708" y="1863476"/>
                <a:ext cx="2876693" cy="1199519"/>
                <a:chOff x="228407" y="4174571"/>
                <a:chExt cx="2499268" cy="1425582"/>
              </a:xfrm>
            </p:grpSpPr>
            <p:sp>
              <p:nvSpPr>
                <p:cNvPr id="405" name="Google Shape;405;p2"/>
                <p:cNvSpPr/>
                <p:nvPr/>
              </p:nvSpPr>
              <p:spPr>
                <a:xfrm>
                  <a:off x="228407" y="4174571"/>
                  <a:ext cx="2499268" cy="1425582"/>
                </a:xfrm>
                <a:prstGeom prst="cloudCallout">
                  <a:avLst>
                    <a:gd fmla="val -303" name="adj1"/>
                    <a:gd fmla="val -3627" name="adj2"/>
                  </a:avLst>
                </a:prstGeom>
                <a:solidFill>
                  <a:srgbClr val="FFFED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dk2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06" name="Google Shape;406;p2"/>
                <p:cNvSpPr txBox="1"/>
                <p:nvPr/>
              </p:nvSpPr>
              <p:spPr>
                <a:xfrm>
                  <a:off x="418146" y="4541659"/>
                  <a:ext cx="2243327" cy="8010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Prepare useful, interesting knowledge and make it available to you</a:t>
                  </a:r>
                  <a:endParaRPr/>
                </a:p>
              </p:txBody>
            </p:sp>
          </p:grpSp>
          <p:grpSp>
            <p:nvGrpSpPr>
              <p:cNvPr id="407" name="Google Shape;407;p2"/>
              <p:cNvGrpSpPr/>
              <p:nvPr/>
            </p:nvGrpSpPr>
            <p:grpSpPr>
              <a:xfrm>
                <a:off x="660680" y="1858788"/>
                <a:ext cx="2489514" cy="1280407"/>
                <a:chOff x="720502" y="2776444"/>
                <a:chExt cx="2290238" cy="1604610"/>
              </a:xfrm>
            </p:grpSpPr>
            <p:sp>
              <p:nvSpPr>
                <p:cNvPr id="408" name="Google Shape;408;p2"/>
                <p:cNvSpPr/>
                <p:nvPr/>
              </p:nvSpPr>
              <p:spPr>
                <a:xfrm>
                  <a:off x="720502" y="2776444"/>
                  <a:ext cx="2290238" cy="1604610"/>
                </a:xfrm>
                <a:prstGeom prst="cloudCallout">
                  <a:avLst>
                    <a:gd fmla="val 8751" name="adj1"/>
                    <a:gd fmla="val 8128" name="adj2"/>
                  </a:avLst>
                </a:prstGeom>
                <a:solidFill>
                  <a:srgbClr val="FFFED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dk2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09" name="Google Shape;409;p2"/>
                <p:cNvSpPr txBox="1"/>
                <p:nvPr/>
              </p:nvSpPr>
              <p:spPr>
                <a:xfrm>
                  <a:off x="930805" y="3044137"/>
                  <a:ext cx="1847486" cy="10876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Come to class on time, prepared to share knowledge and expertise</a:t>
                  </a:r>
                  <a:endParaRPr/>
                </a:p>
              </p:txBody>
            </p:sp>
          </p:grpSp>
          <p:grpSp>
            <p:nvGrpSpPr>
              <p:cNvPr id="410" name="Google Shape;410;p2"/>
              <p:cNvGrpSpPr/>
              <p:nvPr/>
            </p:nvGrpSpPr>
            <p:grpSpPr>
              <a:xfrm>
                <a:off x="1674524" y="3154188"/>
                <a:ext cx="2745077" cy="1137551"/>
                <a:chOff x="1037252" y="6023239"/>
                <a:chExt cx="2401011" cy="1425582"/>
              </a:xfrm>
            </p:grpSpPr>
            <p:sp>
              <p:nvSpPr>
                <p:cNvPr id="411" name="Google Shape;411;p2"/>
                <p:cNvSpPr/>
                <p:nvPr/>
              </p:nvSpPr>
              <p:spPr>
                <a:xfrm>
                  <a:off x="1037252" y="6023239"/>
                  <a:ext cx="2401011" cy="1425582"/>
                </a:xfrm>
                <a:prstGeom prst="cloudCallout">
                  <a:avLst>
                    <a:gd fmla="val 27443" name="adj1"/>
                    <a:gd fmla="val -21326" name="adj2"/>
                  </a:avLst>
                </a:prstGeom>
                <a:solidFill>
                  <a:srgbClr val="FFFED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dk2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12" name="Google Shape;412;p2"/>
                <p:cNvSpPr txBox="1"/>
                <p:nvPr/>
              </p:nvSpPr>
              <p:spPr>
                <a:xfrm>
                  <a:off x="1109269" y="6305286"/>
                  <a:ext cx="2243326" cy="10876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Offer challenging but reasonable assignments and assessments</a:t>
                  </a:r>
                  <a:endParaRPr/>
                </a:p>
              </p:txBody>
            </p:sp>
          </p:grpSp>
          <p:grpSp>
            <p:nvGrpSpPr>
              <p:cNvPr id="413" name="Google Shape;413;p2"/>
              <p:cNvGrpSpPr/>
              <p:nvPr/>
            </p:nvGrpSpPr>
            <p:grpSpPr>
              <a:xfrm>
                <a:off x="412091" y="4449588"/>
                <a:ext cx="3169310" cy="1339887"/>
                <a:chOff x="844436" y="4470608"/>
                <a:chExt cx="2833181" cy="1715248"/>
              </a:xfrm>
            </p:grpSpPr>
            <p:sp>
              <p:nvSpPr>
                <p:cNvPr id="414" name="Google Shape;414;p2"/>
                <p:cNvSpPr/>
                <p:nvPr/>
              </p:nvSpPr>
              <p:spPr>
                <a:xfrm>
                  <a:off x="844436" y="4470608"/>
                  <a:ext cx="2833181" cy="1715248"/>
                </a:xfrm>
                <a:prstGeom prst="cloudCallout">
                  <a:avLst>
                    <a:gd fmla="val 5614" name="adj1"/>
                    <a:gd fmla="val -10810" name="adj2"/>
                  </a:avLst>
                </a:prstGeom>
                <a:solidFill>
                  <a:srgbClr val="FFFED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dk2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15" name="Google Shape;415;p2"/>
                <p:cNvSpPr txBox="1"/>
                <p:nvPr/>
              </p:nvSpPr>
              <p:spPr>
                <a:xfrm>
                  <a:off x="1163786" y="4733943"/>
                  <a:ext cx="2243327" cy="11110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Grade fairly without bias, and return graded work promptly with educational comments</a:t>
                  </a:r>
                  <a:endParaRPr/>
                </a:p>
              </p:txBody>
            </p:sp>
          </p:grpSp>
          <p:grpSp>
            <p:nvGrpSpPr>
              <p:cNvPr id="416" name="Google Shape;416;p2"/>
              <p:cNvGrpSpPr/>
              <p:nvPr/>
            </p:nvGrpSpPr>
            <p:grpSpPr>
              <a:xfrm>
                <a:off x="5410201" y="3074683"/>
                <a:ext cx="2745076" cy="1222505"/>
                <a:chOff x="358014" y="4234345"/>
                <a:chExt cx="2882025" cy="1321647"/>
              </a:xfrm>
            </p:grpSpPr>
            <p:sp>
              <p:nvSpPr>
                <p:cNvPr id="417" name="Google Shape;417;p2"/>
                <p:cNvSpPr/>
                <p:nvPr/>
              </p:nvSpPr>
              <p:spPr>
                <a:xfrm>
                  <a:off x="358014" y="4234345"/>
                  <a:ext cx="2882025" cy="1321647"/>
                </a:xfrm>
                <a:prstGeom prst="cloudCallout">
                  <a:avLst>
                    <a:gd fmla="val -9393" name="adj1"/>
                    <a:gd fmla="val 20237" name="adj2"/>
                  </a:avLst>
                </a:prstGeom>
                <a:solidFill>
                  <a:srgbClr val="73FE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dk2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18" name="Google Shape;418;p2"/>
                <p:cNvSpPr txBox="1"/>
                <p:nvPr/>
              </p:nvSpPr>
              <p:spPr>
                <a:xfrm>
                  <a:off x="517410" y="4465277"/>
                  <a:ext cx="2518600" cy="9383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Goal: Support discussion &amp; knowledge sharing of important concepts</a:t>
                  </a:r>
                  <a:endParaRPr/>
                </a:p>
              </p:txBody>
            </p:sp>
          </p:grpSp>
          <p:grpSp>
            <p:nvGrpSpPr>
              <p:cNvPr id="419" name="Google Shape;419;p2"/>
              <p:cNvGrpSpPr/>
              <p:nvPr/>
            </p:nvGrpSpPr>
            <p:grpSpPr>
              <a:xfrm>
                <a:off x="5638801" y="4446283"/>
                <a:ext cx="2897476" cy="1222505"/>
                <a:chOff x="44562" y="4118049"/>
                <a:chExt cx="3095264" cy="1425582"/>
              </a:xfrm>
            </p:grpSpPr>
            <p:sp>
              <p:nvSpPr>
                <p:cNvPr id="420" name="Google Shape;420;p2"/>
                <p:cNvSpPr/>
                <p:nvPr/>
              </p:nvSpPr>
              <p:spPr>
                <a:xfrm>
                  <a:off x="44562" y="4118049"/>
                  <a:ext cx="3095264" cy="1425582"/>
                </a:xfrm>
                <a:prstGeom prst="cloudCallout">
                  <a:avLst>
                    <a:gd fmla="val -5227" name="adj1"/>
                    <a:gd fmla="val 6672" name="adj2"/>
                  </a:avLst>
                </a:prstGeom>
                <a:solidFill>
                  <a:srgbClr val="73FE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dk2"/>
                    </a:solidFill>
                    <a:latin typeface="Comic Sans MS"/>
                    <a:ea typeface="Comic Sans MS"/>
                    <a:cs typeface="Comic Sans MS"/>
                    <a:sym typeface="Comic Sans MS"/>
                  </a:endParaRPr>
                </a:p>
              </p:txBody>
            </p:sp>
            <p:sp>
              <p:nvSpPr>
                <p:cNvPr id="421" name="Google Shape;421;p2"/>
                <p:cNvSpPr txBox="1"/>
                <p:nvPr/>
              </p:nvSpPr>
              <p:spPr>
                <a:xfrm>
                  <a:off x="345337" y="4479189"/>
                  <a:ext cx="2562677" cy="79401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Goal: Make the learning environment welcoming &amp; engaging</a:t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"/>
          <p:cNvSpPr txBox="1"/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000"/>
              <a:buFont typeface="Verdana"/>
              <a:buNone/>
            </a:pPr>
            <a:r>
              <a:rPr lang="en-US"/>
              <a:t>Responsibilities of Students</a:t>
            </a:r>
            <a:endParaRPr/>
          </a:p>
        </p:txBody>
      </p:sp>
      <p:sp>
        <p:nvSpPr>
          <p:cNvPr id="428" name="Google Shape;428;p3"/>
          <p:cNvSpPr txBox="1"/>
          <p:nvPr/>
        </p:nvSpPr>
        <p:spPr>
          <a:xfrm>
            <a:off x="6705600" y="6345936"/>
            <a:ext cx="242085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8D8D8"/>
                </a:solidFill>
                <a:latin typeface="Verdana"/>
                <a:ea typeface="Verdana"/>
                <a:cs typeface="Verdana"/>
                <a:sym typeface="Verdana"/>
              </a:rPr>
              <a:t>[Ref: image by https://www.pngwing.com]</a:t>
            </a:r>
            <a:endParaRPr/>
          </a:p>
        </p:txBody>
      </p:sp>
      <p:pic>
        <p:nvPicPr>
          <p:cNvPr descr="Blue cartoon character sitting at a desk using a computer&#10;&#10;Description automatically generated" id="429" name="Google Shape;42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1" y="4343400"/>
            <a:ext cx="2057400" cy="2057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0" name="Google Shape;430;p3"/>
          <p:cNvGrpSpPr/>
          <p:nvPr/>
        </p:nvGrpSpPr>
        <p:grpSpPr>
          <a:xfrm>
            <a:off x="3962400" y="2435225"/>
            <a:ext cx="2489514" cy="1300214"/>
            <a:chOff x="2743200" y="4033787"/>
            <a:chExt cx="2489514" cy="1300214"/>
          </a:xfrm>
        </p:grpSpPr>
        <p:sp>
          <p:nvSpPr>
            <p:cNvPr id="431" name="Google Shape;431;p3"/>
            <p:cNvSpPr/>
            <p:nvPr/>
          </p:nvSpPr>
          <p:spPr>
            <a:xfrm>
              <a:off x="2743200" y="4033787"/>
              <a:ext cx="2489514" cy="1300214"/>
            </a:xfrm>
            <a:prstGeom prst="cloudCallout">
              <a:avLst>
                <a:gd fmla="val 22719" name="adj1"/>
                <a:gd fmla="val -4948" name="adj2"/>
              </a:avLst>
            </a:prstGeom>
            <a:solidFill>
              <a:srgbClr val="F4C5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32" name="Google Shape;432;p3"/>
            <p:cNvSpPr txBox="1"/>
            <p:nvPr/>
          </p:nvSpPr>
          <p:spPr>
            <a:xfrm>
              <a:off x="2995876" y="4280559"/>
              <a:ext cx="2008238" cy="8248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Come to class on time, ready to learn and share your thoughts</a:t>
              </a:r>
              <a:endParaRPr/>
            </a:p>
          </p:txBody>
        </p:sp>
      </p:grpSp>
      <p:grpSp>
        <p:nvGrpSpPr>
          <p:cNvPr id="433" name="Google Shape;433;p3"/>
          <p:cNvGrpSpPr/>
          <p:nvPr/>
        </p:nvGrpSpPr>
        <p:grpSpPr>
          <a:xfrm>
            <a:off x="6501085" y="1676400"/>
            <a:ext cx="2489514" cy="1280407"/>
            <a:chOff x="6400800" y="4434593"/>
            <a:chExt cx="2489514" cy="1280407"/>
          </a:xfrm>
        </p:grpSpPr>
        <p:sp>
          <p:nvSpPr>
            <p:cNvPr id="434" name="Google Shape;434;p3"/>
            <p:cNvSpPr/>
            <p:nvPr/>
          </p:nvSpPr>
          <p:spPr>
            <a:xfrm>
              <a:off x="6400800" y="4434593"/>
              <a:ext cx="2489514" cy="1280407"/>
            </a:xfrm>
            <a:prstGeom prst="cloudCallout">
              <a:avLst>
                <a:gd fmla="val 22719" name="adj1"/>
                <a:gd fmla="val -4948" name="adj2"/>
              </a:avLst>
            </a:prstGeom>
            <a:solidFill>
              <a:srgbClr val="FFFE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35" name="Google Shape;435;p3"/>
            <p:cNvSpPr txBox="1"/>
            <p:nvPr/>
          </p:nvSpPr>
          <p:spPr>
            <a:xfrm>
              <a:off x="6547578" y="4726052"/>
              <a:ext cx="2240924" cy="8248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If you miss a class, catch up on your own &amp; ask for help if needed</a:t>
              </a:r>
              <a:endParaRPr/>
            </a:p>
          </p:txBody>
        </p:sp>
      </p:grpSp>
      <p:grpSp>
        <p:nvGrpSpPr>
          <p:cNvPr id="436" name="Google Shape;436;p3"/>
          <p:cNvGrpSpPr/>
          <p:nvPr/>
        </p:nvGrpSpPr>
        <p:grpSpPr>
          <a:xfrm>
            <a:off x="2335162" y="2033788"/>
            <a:ext cx="2008238" cy="785612"/>
            <a:chOff x="5269683" y="3677580"/>
            <a:chExt cx="2008238" cy="785612"/>
          </a:xfrm>
        </p:grpSpPr>
        <p:sp>
          <p:nvSpPr>
            <p:cNvPr id="437" name="Google Shape;437;p3"/>
            <p:cNvSpPr/>
            <p:nvPr/>
          </p:nvSpPr>
          <p:spPr>
            <a:xfrm>
              <a:off x="5348491" y="3677580"/>
              <a:ext cx="1850622" cy="785612"/>
            </a:xfrm>
            <a:prstGeom prst="cloudCallout">
              <a:avLst>
                <a:gd fmla="val 22719" name="adj1"/>
                <a:gd fmla="val -4948" name="adj2"/>
              </a:avLst>
            </a:prstGeom>
            <a:solidFill>
              <a:srgbClr val="F4C5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38" name="Google Shape;438;p3"/>
            <p:cNvSpPr txBox="1"/>
            <p:nvPr/>
          </p:nvSpPr>
          <p:spPr>
            <a:xfrm>
              <a:off x="5269683" y="3830321"/>
              <a:ext cx="2008238" cy="4585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Engage and participate</a:t>
              </a:r>
              <a:endParaRPr/>
            </a:p>
          </p:txBody>
        </p:sp>
      </p:grpSp>
      <p:grpSp>
        <p:nvGrpSpPr>
          <p:cNvPr id="439" name="Google Shape;439;p3"/>
          <p:cNvGrpSpPr/>
          <p:nvPr/>
        </p:nvGrpSpPr>
        <p:grpSpPr>
          <a:xfrm>
            <a:off x="4419600" y="1219200"/>
            <a:ext cx="2202752" cy="1050975"/>
            <a:chOff x="5331747" y="4853942"/>
            <a:chExt cx="2202752" cy="1050975"/>
          </a:xfrm>
        </p:grpSpPr>
        <p:sp>
          <p:nvSpPr>
            <p:cNvPr id="440" name="Google Shape;440;p3"/>
            <p:cNvSpPr/>
            <p:nvPr/>
          </p:nvSpPr>
          <p:spPr>
            <a:xfrm>
              <a:off x="5331747" y="4853942"/>
              <a:ext cx="2202752" cy="1050975"/>
            </a:xfrm>
            <a:prstGeom prst="cloudCallout">
              <a:avLst>
                <a:gd fmla="val 22719" name="adj1"/>
                <a:gd fmla="val -4948" name="adj2"/>
              </a:avLst>
            </a:prstGeom>
            <a:solidFill>
              <a:srgbClr val="FFFE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41" name="Google Shape;441;p3"/>
            <p:cNvSpPr txBox="1"/>
            <p:nvPr/>
          </p:nvSpPr>
          <p:spPr>
            <a:xfrm>
              <a:off x="5459362" y="5105400"/>
              <a:ext cx="2008238" cy="6417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Turn in POTDs and assignments on time</a:t>
              </a:r>
              <a:endParaRPr/>
            </a:p>
          </p:txBody>
        </p:sp>
      </p:grpSp>
      <p:grpSp>
        <p:nvGrpSpPr>
          <p:cNvPr id="442" name="Google Shape;442;p3"/>
          <p:cNvGrpSpPr/>
          <p:nvPr/>
        </p:nvGrpSpPr>
        <p:grpSpPr>
          <a:xfrm>
            <a:off x="6762091" y="3124200"/>
            <a:ext cx="2184179" cy="929276"/>
            <a:chOff x="4910552" y="1978516"/>
            <a:chExt cx="2184179" cy="929276"/>
          </a:xfrm>
        </p:grpSpPr>
        <p:sp>
          <p:nvSpPr>
            <p:cNvPr id="443" name="Google Shape;443;p3"/>
            <p:cNvSpPr/>
            <p:nvPr/>
          </p:nvSpPr>
          <p:spPr>
            <a:xfrm>
              <a:off x="4910552" y="1978516"/>
              <a:ext cx="2184179" cy="929276"/>
            </a:xfrm>
            <a:prstGeom prst="cloudCallout">
              <a:avLst>
                <a:gd fmla="val 22719" name="adj1"/>
                <a:gd fmla="val -4948" name="adj2"/>
              </a:avLst>
            </a:prstGeom>
            <a:solidFill>
              <a:srgbClr val="FFFE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44" name="Google Shape;444;p3"/>
            <p:cNvSpPr txBox="1"/>
            <p:nvPr/>
          </p:nvSpPr>
          <p:spPr>
            <a:xfrm>
              <a:off x="5002162" y="2182938"/>
              <a:ext cx="2008238" cy="4585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Ask for help when you are confused</a:t>
              </a:r>
              <a:endParaRPr/>
            </a:p>
          </p:txBody>
        </p:sp>
      </p:grpSp>
      <p:grpSp>
        <p:nvGrpSpPr>
          <p:cNvPr id="445" name="Google Shape;445;p3"/>
          <p:cNvGrpSpPr/>
          <p:nvPr/>
        </p:nvGrpSpPr>
        <p:grpSpPr>
          <a:xfrm>
            <a:off x="4846861" y="3962400"/>
            <a:ext cx="2239739" cy="1011743"/>
            <a:chOff x="2516411" y="1811843"/>
            <a:chExt cx="2239739" cy="1011743"/>
          </a:xfrm>
        </p:grpSpPr>
        <p:sp>
          <p:nvSpPr>
            <p:cNvPr id="446" name="Google Shape;446;p3"/>
            <p:cNvSpPr/>
            <p:nvPr/>
          </p:nvSpPr>
          <p:spPr>
            <a:xfrm>
              <a:off x="2516411" y="1811843"/>
              <a:ext cx="2239739" cy="1011743"/>
            </a:xfrm>
            <a:prstGeom prst="cloudCallout">
              <a:avLst>
                <a:gd fmla="val 22719" name="adj1"/>
                <a:gd fmla="val -4948" name="adj2"/>
              </a:avLst>
            </a:prstGeom>
            <a:solidFill>
              <a:srgbClr val="F4C5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47" name="Google Shape;447;p3"/>
            <p:cNvSpPr txBox="1"/>
            <p:nvPr/>
          </p:nvSpPr>
          <p:spPr>
            <a:xfrm>
              <a:off x="2642570" y="2086633"/>
              <a:ext cx="2008238" cy="4585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Read and study the materials/concepts</a:t>
              </a:r>
              <a:endParaRPr/>
            </a:p>
          </p:txBody>
        </p:sp>
      </p:grpSp>
      <p:grpSp>
        <p:nvGrpSpPr>
          <p:cNvPr id="448" name="Google Shape;448;p3"/>
          <p:cNvGrpSpPr/>
          <p:nvPr/>
        </p:nvGrpSpPr>
        <p:grpSpPr>
          <a:xfrm>
            <a:off x="381000" y="2816095"/>
            <a:ext cx="2411813" cy="1222505"/>
            <a:chOff x="320581" y="2690083"/>
            <a:chExt cx="2411813" cy="1222505"/>
          </a:xfrm>
        </p:grpSpPr>
        <p:sp>
          <p:nvSpPr>
            <p:cNvPr id="449" name="Google Shape;449;p3"/>
            <p:cNvSpPr/>
            <p:nvPr/>
          </p:nvSpPr>
          <p:spPr>
            <a:xfrm>
              <a:off x="320581" y="2690083"/>
              <a:ext cx="2346419" cy="1222505"/>
            </a:xfrm>
            <a:prstGeom prst="cloudCallout">
              <a:avLst>
                <a:gd fmla="val -5227" name="adj1"/>
                <a:gd fmla="val 6672" name="adj2"/>
              </a:avLst>
            </a:prstGeom>
            <a:solidFill>
              <a:srgbClr val="73FE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50" name="Google Shape;450;p3"/>
            <p:cNvSpPr txBox="1"/>
            <p:nvPr/>
          </p:nvSpPr>
          <p:spPr>
            <a:xfrm>
              <a:off x="333473" y="2999778"/>
              <a:ext cx="2398921" cy="6740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Goal: Learn and be proud of your achievements</a:t>
              </a:r>
              <a:endParaRPr/>
            </a:p>
          </p:txBody>
        </p:sp>
      </p:grpSp>
      <p:grpSp>
        <p:nvGrpSpPr>
          <p:cNvPr id="451" name="Google Shape;451;p3"/>
          <p:cNvGrpSpPr/>
          <p:nvPr/>
        </p:nvGrpSpPr>
        <p:grpSpPr>
          <a:xfrm>
            <a:off x="2057400" y="3735439"/>
            <a:ext cx="2596978" cy="1222505"/>
            <a:chOff x="320581" y="2690083"/>
            <a:chExt cx="2596978" cy="1222505"/>
          </a:xfrm>
        </p:grpSpPr>
        <p:sp>
          <p:nvSpPr>
            <p:cNvPr id="452" name="Google Shape;452;p3"/>
            <p:cNvSpPr/>
            <p:nvPr/>
          </p:nvSpPr>
          <p:spPr>
            <a:xfrm>
              <a:off x="320581" y="2690083"/>
              <a:ext cx="2596978" cy="1222505"/>
            </a:xfrm>
            <a:prstGeom prst="cloudCallout">
              <a:avLst>
                <a:gd fmla="val -5227" name="adj1"/>
                <a:gd fmla="val 6672" name="adj2"/>
              </a:avLst>
            </a:prstGeom>
            <a:solidFill>
              <a:srgbClr val="73FE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53" name="Google Shape;453;p3"/>
            <p:cNvSpPr txBox="1"/>
            <p:nvPr/>
          </p:nvSpPr>
          <p:spPr>
            <a:xfrm>
              <a:off x="497666" y="2999778"/>
              <a:ext cx="2398921" cy="6740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Goal: Prepare for your software-related professions</a:t>
              </a:r>
              <a:endParaRPr/>
            </a:p>
          </p:txBody>
        </p:sp>
      </p:grpSp>
      <p:grpSp>
        <p:nvGrpSpPr>
          <p:cNvPr id="454" name="Google Shape;454;p3"/>
          <p:cNvGrpSpPr/>
          <p:nvPr/>
        </p:nvGrpSpPr>
        <p:grpSpPr>
          <a:xfrm>
            <a:off x="2413971" y="5257800"/>
            <a:ext cx="6501430" cy="1078993"/>
            <a:chOff x="4859850" y="1952225"/>
            <a:chExt cx="4532654" cy="390880"/>
          </a:xfrm>
        </p:grpSpPr>
        <p:sp>
          <p:nvSpPr>
            <p:cNvPr id="455" name="Google Shape;455;p3"/>
            <p:cNvSpPr/>
            <p:nvPr/>
          </p:nvSpPr>
          <p:spPr>
            <a:xfrm rot="5400000">
              <a:off x="6930737" y="-118662"/>
              <a:ext cx="390880" cy="4532654"/>
            </a:xfrm>
            <a:prstGeom prst="moon">
              <a:avLst>
                <a:gd fmla="val 81829" name="adj"/>
              </a:avLst>
            </a:prstGeom>
            <a:solidFill>
              <a:srgbClr val="BFBFBF"/>
            </a:solidFill>
            <a:ln cap="flat" cmpd="sng" w="1395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6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56" name="Google Shape;456;p3"/>
            <p:cNvSpPr/>
            <p:nvPr/>
          </p:nvSpPr>
          <p:spPr>
            <a:xfrm>
              <a:off x="5197642" y="1970980"/>
              <a:ext cx="3851144" cy="228480"/>
            </a:xfrm>
            <a:custGeom>
              <a:rect b="b" l="l" r="r" t="t"/>
              <a:pathLst>
                <a:path extrusionOk="0" fill="none" h="228480" w="3851144">
                  <a:moveTo>
                    <a:pt x="0" y="0"/>
                  </a:moveTo>
                  <a:cubicBezTo>
                    <a:pt x="126323" y="-55503"/>
                    <a:pt x="303577" y="54968"/>
                    <a:pt x="511652" y="0"/>
                  </a:cubicBezTo>
                  <a:cubicBezTo>
                    <a:pt x="719727" y="-54968"/>
                    <a:pt x="744307" y="10907"/>
                    <a:pt x="946281" y="0"/>
                  </a:cubicBezTo>
                  <a:cubicBezTo>
                    <a:pt x="1148255" y="-10907"/>
                    <a:pt x="1233142" y="25566"/>
                    <a:pt x="1419422" y="0"/>
                  </a:cubicBezTo>
                  <a:cubicBezTo>
                    <a:pt x="1605702" y="-25566"/>
                    <a:pt x="1810950" y="30015"/>
                    <a:pt x="2008097" y="0"/>
                  </a:cubicBezTo>
                  <a:cubicBezTo>
                    <a:pt x="2205245" y="-30015"/>
                    <a:pt x="2401370" y="38439"/>
                    <a:pt x="2519749" y="0"/>
                  </a:cubicBezTo>
                  <a:cubicBezTo>
                    <a:pt x="2638128" y="-38439"/>
                    <a:pt x="2842653" y="22862"/>
                    <a:pt x="2992889" y="0"/>
                  </a:cubicBezTo>
                  <a:cubicBezTo>
                    <a:pt x="3143125" y="-22862"/>
                    <a:pt x="3624681" y="5624"/>
                    <a:pt x="3851144" y="0"/>
                  </a:cubicBezTo>
                  <a:cubicBezTo>
                    <a:pt x="3857065" y="84555"/>
                    <a:pt x="3847185" y="180369"/>
                    <a:pt x="3851144" y="228480"/>
                  </a:cubicBezTo>
                  <a:cubicBezTo>
                    <a:pt x="3670139" y="273488"/>
                    <a:pt x="3472970" y="190554"/>
                    <a:pt x="3300981" y="228480"/>
                  </a:cubicBezTo>
                  <a:cubicBezTo>
                    <a:pt x="3128992" y="266406"/>
                    <a:pt x="3017418" y="217223"/>
                    <a:pt x="2827840" y="228480"/>
                  </a:cubicBezTo>
                  <a:cubicBezTo>
                    <a:pt x="2638262" y="239737"/>
                    <a:pt x="2450084" y="200128"/>
                    <a:pt x="2200654" y="228480"/>
                  </a:cubicBezTo>
                  <a:cubicBezTo>
                    <a:pt x="1951224" y="256832"/>
                    <a:pt x="1808923" y="179728"/>
                    <a:pt x="1689002" y="228480"/>
                  </a:cubicBezTo>
                  <a:cubicBezTo>
                    <a:pt x="1569081" y="277232"/>
                    <a:pt x="1456736" y="205836"/>
                    <a:pt x="1254373" y="228480"/>
                  </a:cubicBezTo>
                  <a:cubicBezTo>
                    <a:pt x="1052010" y="251124"/>
                    <a:pt x="878412" y="193316"/>
                    <a:pt x="665698" y="228480"/>
                  </a:cubicBezTo>
                  <a:cubicBezTo>
                    <a:pt x="452985" y="263644"/>
                    <a:pt x="234210" y="194383"/>
                    <a:pt x="0" y="228480"/>
                  </a:cubicBezTo>
                  <a:cubicBezTo>
                    <a:pt x="-3334" y="172709"/>
                    <a:pt x="16855" y="77470"/>
                    <a:pt x="0" y="0"/>
                  </a:cubicBezTo>
                  <a:close/>
                </a:path>
                <a:path extrusionOk="0" h="228480" w="3851144">
                  <a:moveTo>
                    <a:pt x="0" y="0"/>
                  </a:moveTo>
                  <a:cubicBezTo>
                    <a:pt x="230611" y="-30220"/>
                    <a:pt x="287184" y="40953"/>
                    <a:pt x="511652" y="0"/>
                  </a:cubicBezTo>
                  <a:cubicBezTo>
                    <a:pt x="736120" y="-40953"/>
                    <a:pt x="786154" y="13859"/>
                    <a:pt x="946281" y="0"/>
                  </a:cubicBezTo>
                  <a:cubicBezTo>
                    <a:pt x="1106408" y="-13859"/>
                    <a:pt x="1319706" y="27690"/>
                    <a:pt x="1573467" y="0"/>
                  </a:cubicBezTo>
                  <a:cubicBezTo>
                    <a:pt x="1827228" y="-27690"/>
                    <a:pt x="1858594" y="6519"/>
                    <a:pt x="2085119" y="0"/>
                  </a:cubicBezTo>
                  <a:cubicBezTo>
                    <a:pt x="2311644" y="-6519"/>
                    <a:pt x="2352089" y="23362"/>
                    <a:pt x="2596771" y="0"/>
                  </a:cubicBezTo>
                  <a:cubicBezTo>
                    <a:pt x="2841453" y="-23362"/>
                    <a:pt x="2938121" y="72062"/>
                    <a:pt x="3223958" y="0"/>
                  </a:cubicBezTo>
                  <a:cubicBezTo>
                    <a:pt x="3509795" y="-72062"/>
                    <a:pt x="3607579" y="1859"/>
                    <a:pt x="3851144" y="0"/>
                  </a:cubicBezTo>
                  <a:cubicBezTo>
                    <a:pt x="3860849" y="85515"/>
                    <a:pt x="3829465" y="164260"/>
                    <a:pt x="3851144" y="228480"/>
                  </a:cubicBezTo>
                  <a:cubicBezTo>
                    <a:pt x="3630930" y="261198"/>
                    <a:pt x="3510798" y="192497"/>
                    <a:pt x="3378003" y="228480"/>
                  </a:cubicBezTo>
                  <a:cubicBezTo>
                    <a:pt x="3245208" y="264463"/>
                    <a:pt x="3072891" y="173341"/>
                    <a:pt x="2827840" y="228480"/>
                  </a:cubicBezTo>
                  <a:cubicBezTo>
                    <a:pt x="2582789" y="283619"/>
                    <a:pt x="2517213" y="208066"/>
                    <a:pt x="2277677" y="228480"/>
                  </a:cubicBezTo>
                  <a:cubicBezTo>
                    <a:pt x="2038141" y="248894"/>
                    <a:pt x="1969314" y="186486"/>
                    <a:pt x="1766025" y="228480"/>
                  </a:cubicBezTo>
                  <a:cubicBezTo>
                    <a:pt x="1562736" y="270474"/>
                    <a:pt x="1415656" y="204357"/>
                    <a:pt x="1138838" y="228480"/>
                  </a:cubicBezTo>
                  <a:cubicBezTo>
                    <a:pt x="862020" y="252603"/>
                    <a:pt x="768920" y="190010"/>
                    <a:pt x="511652" y="228480"/>
                  </a:cubicBezTo>
                  <a:cubicBezTo>
                    <a:pt x="254384" y="266950"/>
                    <a:pt x="122488" y="168850"/>
                    <a:pt x="0" y="228480"/>
                  </a:cubicBezTo>
                  <a:cubicBezTo>
                    <a:pt x="-26541" y="176964"/>
                    <a:pt x="16554" y="7250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sx="102000" rotWithShape="0" algn="ctr" sy="102000">
                <a:srgbClr val="7F7F7F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15875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Short Stack"/>
                  <a:ea typeface="Short Stack"/>
                  <a:cs typeface="Short Stack"/>
                  <a:sym typeface="Short Stack"/>
                </a:rPr>
                <a:t>Showing up != ( Attending &amp;&amp; Participating )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"/>
          <p:cNvSpPr txBox="1"/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000"/>
              <a:buFont typeface="Verdana"/>
              <a:buNone/>
            </a:pPr>
            <a:r>
              <a:rPr lang="en-US"/>
              <a:t>Inclusive and Safe Space</a:t>
            </a:r>
            <a:endParaRPr/>
          </a:p>
        </p:txBody>
      </p:sp>
      <p:grpSp>
        <p:nvGrpSpPr>
          <p:cNvPr id="463" name="Google Shape;463;p4"/>
          <p:cNvGrpSpPr/>
          <p:nvPr/>
        </p:nvGrpSpPr>
        <p:grpSpPr>
          <a:xfrm>
            <a:off x="3813770" y="2667000"/>
            <a:ext cx="5177830" cy="3736840"/>
            <a:chOff x="4051749" y="2669588"/>
            <a:chExt cx="5177830" cy="3736840"/>
          </a:xfrm>
        </p:grpSpPr>
        <p:graphicFrame>
          <p:nvGraphicFramePr>
            <p:cNvPr id="464" name="Google Shape;464;p4"/>
            <p:cNvGraphicFramePr/>
            <p:nvPr/>
          </p:nvGraphicFramePr>
          <p:xfrm>
            <a:off x="4051749" y="2669588"/>
            <a:ext cx="5177830" cy="3736840"/>
          </p:xfrm>
          <a:graphic>
            <a:graphicData uri="http://schemas.openxmlformats.org/drawingml/2006/chart">
              <c:chart r:id="rId3"/>
            </a:graphicData>
          </a:graphic>
        </p:graphicFrame>
        <p:pic>
          <p:nvPicPr>
            <p:cNvPr descr="A white puzzle in a circle&#10;&#10;Description automatically generated" id="465" name="Google Shape;465;p4"/>
            <p:cNvPicPr preferRelativeResize="0"/>
            <p:nvPr/>
          </p:nvPicPr>
          <p:blipFill rotWithShape="1">
            <a:blip r:embed="rId4">
              <a:alphaModFix amt="35000"/>
            </a:blip>
            <a:srcRect b="0" l="0" r="0" t="0"/>
            <a:stretch/>
          </p:blipFill>
          <p:spPr>
            <a:xfrm>
              <a:off x="5029200" y="2935224"/>
              <a:ext cx="3291840" cy="32918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6" name="Google Shape;466;p4"/>
          <p:cNvGrpSpPr/>
          <p:nvPr/>
        </p:nvGrpSpPr>
        <p:grpSpPr>
          <a:xfrm>
            <a:off x="-76201" y="917735"/>
            <a:ext cx="9296400" cy="2017492"/>
            <a:chOff x="4998002" y="1952227"/>
            <a:chExt cx="4225596" cy="292115"/>
          </a:xfrm>
        </p:grpSpPr>
        <p:sp>
          <p:nvSpPr>
            <p:cNvPr id="467" name="Google Shape;467;p4"/>
            <p:cNvSpPr/>
            <p:nvPr/>
          </p:nvSpPr>
          <p:spPr>
            <a:xfrm rot="5400000">
              <a:off x="6964743" y="-14514"/>
              <a:ext cx="292115" cy="4225596"/>
            </a:xfrm>
            <a:prstGeom prst="moon">
              <a:avLst>
                <a:gd fmla="val 81829" name="adj"/>
              </a:avLst>
            </a:prstGeom>
            <a:solidFill>
              <a:srgbClr val="BFBFBF"/>
            </a:solidFill>
            <a:ln cap="flat" cmpd="sng" w="1395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2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68" name="Google Shape;468;p4"/>
            <p:cNvSpPr txBox="1"/>
            <p:nvPr/>
          </p:nvSpPr>
          <p:spPr>
            <a:xfrm>
              <a:off x="5136375" y="1964211"/>
              <a:ext cx="3957648" cy="22696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63500" sx="102000" rotWithShape="0" algn="ctr" sy="102000">
                <a:srgbClr val="7F7F7F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15875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Learning environment = students + TAs + instructor</a:t>
              </a:r>
              <a:endParaRPr/>
            </a:p>
            <a:p>
              <a:pPr indent="0" lvl="0" marL="15875" marR="0" rtl="0" algn="ctr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We all play a role in creating a </a:t>
              </a:r>
              <a:r>
                <a:rPr b="0" i="0" lang="en-US" sz="2000" u="none" cap="none" strike="noStrike">
                  <a:solidFill>
                    <a:srgbClr val="C00000"/>
                  </a:solidFill>
                  <a:latin typeface="Verdana"/>
                  <a:ea typeface="Verdana"/>
                  <a:cs typeface="Verdana"/>
                  <a:sym typeface="Verdana"/>
                </a:rPr>
                <a:t>safe learning environment</a:t>
              </a:r>
              <a:endParaRPr/>
            </a:p>
            <a:p>
              <a:pPr indent="0" lvl="0" marL="15875" marR="0" rtl="0" algn="ctr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Everyone should feel comfortable &amp; supported by fellow classmates and instructor</a:t>
              </a:r>
              <a:endParaRPr b="0" i="0" sz="2000" u="none" cap="none" strike="noStrike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469" name="Google Shape;469;p4"/>
          <p:cNvSpPr txBox="1"/>
          <p:nvPr>
            <p:ph idx="1" type="body"/>
          </p:nvPr>
        </p:nvSpPr>
        <p:spPr>
          <a:xfrm>
            <a:off x="76200" y="3352800"/>
            <a:ext cx="3692859" cy="17566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n-US" sz="1900">
                <a:latin typeface="Verdana"/>
                <a:ea typeface="Verdana"/>
                <a:cs typeface="Verdana"/>
                <a:sym typeface="Verdana"/>
              </a:rPr>
              <a:t>There is </a:t>
            </a:r>
            <a:r>
              <a:rPr b="1" lang="en-US" sz="1900">
                <a:solidFill>
                  <a:srgbClr val="FFFD78"/>
                </a:solidFill>
                <a:latin typeface="Verdana"/>
                <a:ea typeface="Verdana"/>
                <a:cs typeface="Verdana"/>
                <a:sym typeface="Verdana"/>
              </a:rPr>
              <a:t>zero tolerance</a:t>
            </a:r>
            <a:r>
              <a:rPr lang="en-US" sz="1900">
                <a:solidFill>
                  <a:srgbClr val="FFFD78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1900">
                <a:latin typeface="Verdana"/>
                <a:ea typeface="Verdana"/>
                <a:cs typeface="Verdana"/>
                <a:sym typeface="Verdana"/>
              </a:rPr>
              <a:t>for</a:t>
            </a:r>
            <a:endParaRPr/>
          </a:p>
          <a:p>
            <a:pPr indent="-225425" lvl="0" marL="355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 sz="1900">
                <a:latin typeface="Verdana"/>
                <a:ea typeface="Verdana"/>
                <a:cs typeface="Verdana"/>
                <a:sym typeface="Verdana"/>
              </a:rPr>
              <a:t>Racism or sexism</a:t>
            </a:r>
            <a:endParaRPr/>
          </a:p>
          <a:p>
            <a:pPr indent="-225425" lvl="0" marL="3556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900"/>
              <a:buChar char="•"/>
            </a:pPr>
            <a:r>
              <a:rPr lang="en-US" sz="1900">
                <a:latin typeface="Verdana"/>
                <a:ea typeface="Verdana"/>
                <a:cs typeface="Verdana"/>
                <a:sym typeface="Verdana"/>
              </a:rPr>
              <a:t>Bullying or harassment</a:t>
            </a:r>
            <a:endParaRPr/>
          </a:p>
          <a:p>
            <a:pPr indent="-225425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>
                <a:latin typeface="Verdana"/>
                <a:ea typeface="Verdana"/>
                <a:cs typeface="Verdana"/>
                <a:sym typeface="Verdana"/>
              </a:rPr>
              <a:t>Inappropriate behaviors of any kind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"/>
          <p:cNvSpPr txBox="1"/>
          <p:nvPr>
            <p:ph idx="1" type="body"/>
          </p:nvPr>
        </p:nvSpPr>
        <p:spPr>
          <a:xfrm>
            <a:off x="304800" y="990601"/>
            <a:ext cx="8686800" cy="548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/>
              <a:t>The </a:t>
            </a:r>
            <a:r>
              <a:rPr lang="en-US" sz="2000">
                <a:solidFill>
                  <a:srgbClr val="FFFD78"/>
                </a:solidFill>
              </a:rPr>
              <a:t>slides summarize </a:t>
            </a:r>
            <a:r>
              <a:rPr lang="en-US" sz="2000"/>
              <a:t>the material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-US" sz="2000"/>
              <a:t>The </a:t>
            </a:r>
            <a:r>
              <a:rPr lang="en-US" sz="2000">
                <a:solidFill>
                  <a:srgbClr val="FFFD78"/>
                </a:solidFill>
              </a:rPr>
              <a:t>words </a:t>
            </a:r>
            <a:r>
              <a:rPr lang="en-US" sz="2000"/>
              <a:t>we discuss in class provide the </a:t>
            </a:r>
            <a:r>
              <a:rPr lang="en-US" sz="2000">
                <a:solidFill>
                  <a:srgbClr val="FFFD78"/>
                </a:solidFill>
              </a:rPr>
              <a:t>details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-US" sz="2000"/>
              <a:t>We </a:t>
            </a:r>
            <a:r>
              <a:rPr lang="en-US" sz="2000">
                <a:solidFill>
                  <a:srgbClr val="FFFD78"/>
                </a:solidFill>
              </a:rPr>
              <a:t>learn </a:t>
            </a:r>
            <a:r>
              <a:rPr lang="en-US" sz="2000"/>
              <a:t>a lot by </a:t>
            </a:r>
            <a:r>
              <a:rPr lang="en-US" sz="2000">
                <a:solidFill>
                  <a:srgbClr val="FFFD78"/>
                </a:solidFill>
              </a:rPr>
              <a:t>transferring </a:t>
            </a:r>
            <a:r>
              <a:rPr lang="en-US" sz="2000"/>
              <a:t>information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SzPts val="1600"/>
              <a:buNone/>
            </a:pPr>
            <a:r>
              <a:rPr lang="en-US" sz="2000"/>
              <a:t>Unless you have a perfect memory, I expect you to take notes on what we discuss ☺</a:t>
            </a:r>
            <a:endParaRPr sz="2000"/>
          </a:p>
        </p:txBody>
      </p:sp>
      <p:sp>
        <p:nvSpPr>
          <p:cNvPr id="476" name="Google Shape;476;p5"/>
          <p:cNvSpPr txBox="1"/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000"/>
              <a:buFont typeface="Verdana"/>
              <a:buNone/>
            </a:pPr>
            <a:r>
              <a:rPr lang="en-US"/>
              <a:t>Taking Notes</a:t>
            </a:r>
            <a:endParaRPr/>
          </a:p>
        </p:txBody>
      </p:sp>
      <p:grpSp>
        <p:nvGrpSpPr>
          <p:cNvPr id="477" name="Google Shape;477;p5"/>
          <p:cNvGrpSpPr/>
          <p:nvPr/>
        </p:nvGrpSpPr>
        <p:grpSpPr>
          <a:xfrm>
            <a:off x="1792224" y="2667000"/>
            <a:ext cx="5577840" cy="2438400"/>
            <a:chOff x="2773680" y="2743200"/>
            <a:chExt cx="3474720" cy="2438400"/>
          </a:xfrm>
        </p:grpSpPr>
        <p:sp>
          <p:nvSpPr>
            <p:cNvPr id="478" name="Google Shape;478;p5"/>
            <p:cNvSpPr/>
            <p:nvPr/>
          </p:nvSpPr>
          <p:spPr>
            <a:xfrm>
              <a:off x="2773680" y="2743200"/>
              <a:ext cx="3474720" cy="402336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chemeClr val="lt1"/>
                  </a:solidFill>
                  <a:latin typeface="Short Stack"/>
                  <a:ea typeface="Short Stack"/>
                  <a:cs typeface="Short Stack"/>
                  <a:sym typeface="Short Stack"/>
                </a:rPr>
                <a:t>Through our ears</a:t>
              </a:r>
              <a:endParaRPr/>
            </a:p>
          </p:txBody>
        </p:sp>
        <p:sp>
          <p:nvSpPr>
            <p:cNvPr id="479" name="Google Shape;479;p5"/>
            <p:cNvSpPr/>
            <p:nvPr/>
          </p:nvSpPr>
          <p:spPr>
            <a:xfrm>
              <a:off x="2773680" y="3420316"/>
              <a:ext cx="3474720" cy="402336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chemeClr val="lt1"/>
                  </a:solidFill>
                  <a:latin typeface="Short Stack"/>
                  <a:ea typeface="Short Stack"/>
                  <a:cs typeface="Short Stack"/>
                  <a:sym typeface="Short Stack"/>
                </a:rPr>
                <a:t>To our brains</a:t>
              </a:r>
              <a:endParaRPr/>
            </a:p>
          </p:txBody>
        </p:sp>
        <p:sp>
          <p:nvSpPr>
            <p:cNvPr id="480" name="Google Shape;480;p5"/>
            <p:cNvSpPr/>
            <p:nvPr/>
          </p:nvSpPr>
          <p:spPr>
            <a:xfrm>
              <a:off x="2773680" y="4099922"/>
              <a:ext cx="3474720" cy="402336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chemeClr val="lt1"/>
                  </a:solidFill>
                  <a:latin typeface="Short Stack"/>
                  <a:ea typeface="Short Stack"/>
                  <a:cs typeface="Short Stack"/>
                  <a:sym typeface="Short Stack"/>
                </a:rPr>
                <a:t>To our pens/pencils/keyboards/mouses</a:t>
              </a:r>
              <a:endParaRPr/>
            </a:p>
          </p:txBody>
        </p:sp>
        <p:sp>
          <p:nvSpPr>
            <p:cNvPr id="481" name="Google Shape;481;p5"/>
            <p:cNvSpPr/>
            <p:nvPr/>
          </p:nvSpPr>
          <p:spPr>
            <a:xfrm>
              <a:off x="2773680" y="4779264"/>
              <a:ext cx="3474720" cy="402336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chemeClr val="lt1"/>
                  </a:solidFill>
                  <a:latin typeface="Short Stack"/>
                  <a:ea typeface="Short Stack"/>
                  <a:cs typeface="Short Stack"/>
                  <a:sym typeface="Short Stack"/>
                </a:rPr>
                <a:t>Onto paper/disk/memory</a:t>
              </a:r>
              <a:endParaRPr/>
            </a:p>
          </p:txBody>
        </p:sp>
        <p:cxnSp>
          <p:nvCxnSpPr>
            <p:cNvPr id="482" name="Google Shape;482;p5"/>
            <p:cNvCxnSpPr/>
            <p:nvPr/>
          </p:nvCxnSpPr>
          <p:spPr>
            <a:xfrm>
              <a:off x="4495800" y="3145536"/>
              <a:ext cx="0" cy="274780"/>
            </a:xfrm>
            <a:prstGeom prst="straightConnector1">
              <a:avLst/>
            </a:prstGeom>
            <a:noFill/>
            <a:ln cap="flat" cmpd="sng" w="222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83" name="Google Shape;483;p5"/>
            <p:cNvCxnSpPr>
              <a:stCxn id="479" idx="2"/>
              <a:endCxn id="480" idx="0"/>
            </p:cNvCxnSpPr>
            <p:nvPr/>
          </p:nvCxnSpPr>
          <p:spPr>
            <a:xfrm>
              <a:off x="4511040" y="3822652"/>
              <a:ext cx="0" cy="277200"/>
            </a:xfrm>
            <a:prstGeom prst="straightConnector1">
              <a:avLst/>
            </a:prstGeom>
            <a:noFill/>
            <a:ln cap="flat" cmpd="sng" w="222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84" name="Google Shape;484;p5"/>
            <p:cNvCxnSpPr>
              <a:stCxn id="480" idx="2"/>
              <a:endCxn id="481" idx="0"/>
            </p:cNvCxnSpPr>
            <p:nvPr/>
          </p:nvCxnSpPr>
          <p:spPr>
            <a:xfrm>
              <a:off x="4511040" y="4502258"/>
              <a:ext cx="0" cy="276900"/>
            </a:xfrm>
            <a:prstGeom prst="straightConnector1">
              <a:avLst/>
            </a:prstGeom>
            <a:noFill/>
            <a:ln cap="flat" cmpd="sng" w="222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"/>
          <p:cNvSpPr txBox="1"/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800"/>
              <a:buFont typeface="Verdana"/>
              <a:buNone/>
            </a:pPr>
            <a:r>
              <a:rPr lang="en-US" sz="3800"/>
              <a:t>Reading + Practicing + Applying</a:t>
            </a:r>
            <a:endParaRPr/>
          </a:p>
        </p:txBody>
      </p:sp>
      <p:sp>
        <p:nvSpPr>
          <p:cNvPr id="490" name="Google Shape;490;p6"/>
          <p:cNvSpPr txBox="1"/>
          <p:nvPr>
            <p:ph idx="1" type="body"/>
          </p:nvPr>
        </p:nvSpPr>
        <p:spPr>
          <a:xfrm>
            <a:off x="304800" y="990601"/>
            <a:ext cx="8686800" cy="548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2000"/>
              <a:t>Books have knowledge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 sz="2000"/>
              <a:t>Instructors are your guides</a:t>
            </a:r>
            <a:endParaRPr/>
          </a:p>
          <a:p>
            <a:pPr indent="-81280" lvl="0" marL="18288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000"/>
          </a:p>
          <a:p>
            <a:pPr indent="-182880" lvl="0" marL="18288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</a:pPr>
            <a:r>
              <a:rPr lang="en-US" sz="2000">
                <a:solidFill>
                  <a:srgbClr val="FFFD78"/>
                </a:solidFill>
              </a:rPr>
              <a:t>Information</a:t>
            </a:r>
            <a:r>
              <a:rPr lang="en-US" sz="2000"/>
              <a:t>: comes from lectures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 sz="2000">
                <a:solidFill>
                  <a:srgbClr val="FFFD78"/>
                </a:solidFill>
              </a:rPr>
              <a:t>Knowledge</a:t>
            </a:r>
            <a:r>
              <a:rPr lang="en-US" sz="2000"/>
              <a:t>: comes from books and assignments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 sz="2000">
                <a:solidFill>
                  <a:srgbClr val="FFFD78"/>
                </a:solidFill>
              </a:rPr>
              <a:t>Skill</a:t>
            </a:r>
            <a:r>
              <a:rPr lang="en-US" sz="2000"/>
              <a:t>: comes from hands-on activities, POTDs, and assignments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lang="en-US" sz="2000">
                <a:solidFill>
                  <a:srgbClr val="FFFD78"/>
                </a:solidFill>
              </a:rPr>
              <a:t>Wisdom</a:t>
            </a:r>
            <a:r>
              <a:rPr lang="en-US" sz="2000"/>
              <a:t>: comes from experience</a:t>
            </a:r>
            <a:endParaRPr/>
          </a:p>
        </p:txBody>
      </p:sp>
      <p:grpSp>
        <p:nvGrpSpPr>
          <p:cNvPr id="491" name="Google Shape;491;p6"/>
          <p:cNvGrpSpPr/>
          <p:nvPr/>
        </p:nvGrpSpPr>
        <p:grpSpPr>
          <a:xfrm>
            <a:off x="838200" y="4434840"/>
            <a:ext cx="7543800" cy="1356360"/>
            <a:chOff x="807720" y="4221480"/>
            <a:chExt cx="7543800" cy="1356360"/>
          </a:xfrm>
        </p:grpSpPr>
        <p:sp>
          <p:nvSpPr>
            <p:cNvPr id="492" name="Google Shape;492;p6"/>
            <p:cNvSpPr/>
            <p:nvPr/>
          </p:nvSpPr>
          <p:spPr>
            <a:xfrm>
              <a:off x="807720" y="4233366"/>
              <a:ext cx="2377666" cy="1329233"/>
            </a:xfrm>
            <a:prstGeom prst="homePlate">
              <a:avLst>
                <a:gd fmla="val 50000" name="adj"/>
              </a:avLst>
            </a:prstGeom>
            <a:solidFill>
              <a:srgbClr val="FFD8FF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Read</a:t>
              </a:r>
              <a:endParaRPr/>
            </a:p>
          </p:txBody>
        </p:sp>
        <p:sp>
          <p:nvSpPr>
            <p:cNvPr id="493" name="Google Shape;493;p6"/>
            <p:cNvSpPr/>
            <p:nvPr/>
          </p:nvSpPr>
          <p:spPr>
            <a:xfrm>
              <a:off x="2682240" y="4221480"/>
              <a:ext cx="3256682" cy="1356360"/>
            </a:xfrm>
            <a:prstGeom prst="chevron">
              <a:avLst>
                <a:gd fmla="val 50000" name="adj"/>
              </a:avLst>
            </a:prstGeom>
            <a:solidFill>
              <a:srgbClr val="D5FED6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14288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Practice</a:t>
              </a:r>
              <a:endParaRPr/>
            </a:p>
          </p:txBody>
        </p:sp>
        <p:sp>
          <p:nvSpPr>
            <p:cNvPr id="494" name="Google Shape;494;p6"/>
            <p:cNvSpPr/>
            <p:nvPr/>
          </p:nvSpPr>
          <p:spPr>
            <a:xfrm>
              <a:off x="5440680" y="4221480"/>
              <a:ext cx="2910840" cy="1356360"/>
            </a:xfrm>
            <a:prstGeom prst="chevron">
              <a:avLst>
                <a:gd fmla="val 50000" name="adj"/>
              </a:avLst>
            </a:prstGeom>
            <a:solidFill>
              <a:srgbClr val="C1F0FC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60325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Apply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7"/>
          <p:cNvSpPr txBox="1"/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800"/>
              <a:buFont typeface="Comic Sans MS"/>
              <a:buNone/>
            </a:pPr>
            <a:r>
              <a:rPr lang="en-US" sz="4800">
                <a:latin typeface="Comic Sans MS"/>
                <a:ea typeface="Comic Sans MS"/>
                <a:cs typeface="Comic Sans MS"/>
                <a:sym typeface="Comic Sans MS"/>
              </a:rPr>
              <a:t>“You”</a:t>
            </a:r>
            <a:r>
              <a:rPr lang="en-US" sz="4800"/>
              <a:t> </a:t>
            </a:r>
            <a:r>
              <a:rPr lang="en-US"/>
              <a:t>are the Main Driver!!</a:t>
            </a:r>
            <a:endParaRPr/>
          </a:p>
        </p:txBody>
      </p:sp>
      <p:grpSp>
        <p:nvGrpSpPr>
          <p:cNvPr id="500" name="Google Shape;500;p7"/>
          <p:cNvGrpSpPr/>
          <p:nvPr/>
        </p:nvGrpSpPr>
        <p:grpSpPr>
          <a:xfrm>
            <a:off x="0" y="1905000"/>
            <a:ext cx="9144000" cy="3733800"/>
            <a:chOff x="-76200" y="1371600"/>
            <a:chExt cx="9220200" cy="3429000"/>
          </a:xfrm>
        </p:grpSpPr>
        <p:sp>
          <p:nvSpPr>
            <p:cNvPr id="501" name="Google Shape;501;p7"/>
            <p:cNvSpPr/>
            <p:nvPr/>
          </p:nvSpPr>
          <p:spPr>
            <a:xfrm rot="5400000">
              <a:off x="3581400" y="-762000"/>
              <a:ext cx="1905000" cy="9220200"/>
            </a:xfrm>
            <a:prstGeom prst="moon">
              <a:avLst>
                <a:gd fmla="val 77209" name="adj"/>
              </a:avLst>
            </a:prstGeom>
            <a:solidFill>
              <a:srgbClr val="7F7F7F"/>
            </a:solidFill>
            <a:ln cap="flat" cmpd="sng" w="1395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2" name="Google Shape;502;p7"/>
            <p:cNvSpPr/>
            <p:nvPr/>
          </p:nvSpPr>
          <p:spPr>
            <a:xfrm>
              <a:off x="218846" y="1371600"/>
              <a:ext cx="8610600" cy="2971800"/>
            </a:xfrm>
            <a:prstGeom prst="rect">
              <a:avLst/>
            </a:prstGeom>
            <a:solidFill>
              <a:srgbClr val="002060"/>
            </a:solidFill>
            <a:ln cap="flat" cmpd="sng" w="13950">
              <a:solidFill>
                <a:srgbClr val="D3E4F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sx="101000" rotWithShape="0" algn="ctr" sy="101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503" name="Google Shape;503;p7"/>
          <p:cNvSpPr txBox="1"/>
          <p:nvPr>
            <p:ph idx="1" type="body"/>
          </p:nvPr>
        </p:nvSpPr>
        <p:spPr>
          <a:xfrm>
            <a:off x="304800" y="1981200"/>
            <a:ext cx="8534400" cy="3084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20"/>
              <a:buNone/>
            </a:pPr>
            <a:r>
              <a:rPr b="1" lang="en-US" sz="5400">
                <a:solidFill>
                  <a:srgbClr val="FFFD78"/>
                </a:solidFill>
                <a:latin typeface="Comic Sans MS"/>
                <a:ea typeface="Comic Sans MS"/>
                <a:cs typeface="Comic Sans MS"/>
                <a:sym typeface="Comic Sans MS"/>
              </a:rPr>
              <a:t>“You”</a:t>
            </a:r>
            <a:r>
              <a:rPr lang="en-US" sz="2100">
                <a:solidFill>
                  <a:srgbClr val="FFFD78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are the main driver of your learning success. </a:t>
            </a:r>
            <a:endParaRPr/>
          </a:p>
          <a:p>
            <a:pPr indent="0" lvl="0" marL="14287" rtl="0" algn="ctr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Your engagement and participation is </a:t>
            </a:r>
            <a:endParaRPr/>
          </a:p>
          <a:p>
            <a:pPr indent="0" lvl="0" marL="1428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the most important aspect of your learning experience. </a:t>
            </a:r>
            <a:endParaRPr/>
          </a:p>
          <a:p>
            <a:pPr indent="0" lvl="0" marL="14287" rtl="0" algn="ctr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You are encouraged to do all the activities, </a:t>
            </a:r>
            <a:endParaRPr/>
          </a:p>
          <a:p>
            <a:pPr indent="0" lvl="0" marL="1428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try all concepts, experience all frameworks … </a:t>
            </a:r>
            <a:endParaRPr/>
          </a:p>
          <a:p>
            <a:pPr indent="0" lvl="0" marL="1428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and do beyond the course’s minimum requirements!!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3_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iew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2_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View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2017-07-01T01:04:54Z</dcterms:created>
  <dc:creator>Microsoft Office User</dc:creator>
</cp:coreProperties>
</file>