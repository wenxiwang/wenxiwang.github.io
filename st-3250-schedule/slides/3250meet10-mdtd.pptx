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  <p:sldMasterId id="2147483685" r:id="rId2"/>
    <p:sldMasterId id="2147483673" r:id="rId3"/>
    <p:sldMasterId id="2147483661" r:id="rId4"/>
    <p:sldMasterId id="2147483741" r:id="rId5"/>
  </p:sldMasterIdLst>
  <p:notesMasterIdLst>
    <p:notesMasterId r:id="rId24"/>
  </p:notesMasterIdLst>
  <p:handoutMasterIdLst>
    <p:handoutMasterId r:id="rId25"/>
  </p:handoutMasterIdLst>
  <p:sldIdLst>
    <p:sldId id="262" r:id="rId6"/>
    <p:sldId id="617" r:id="rId7"/>
    <p:sldId id="650" r:id="rId8"/>
    <p:sldId id="638" r:id="rId9"/>
    <p:sldId id="618" r:id="rId10"/>
    <p:sldId id="632" r:id="rId11"/>
    <p:sldId id="631" r:id="rId12"/>
    <p:sldId id="625" r:id="rId13"/>
    <p:sldId id="647" r:id="rId14"/>
    <p:sldId id="633" r:id="rId15"/>
    <p:sldId id="634" r:id="rId16"/>
    <p:sldId id="635" r:id="rId17"/>
    <p:sldId id="636" r:id="rId18"/>
    <p:sldId id="637" r:id="rId19"/>
    <p:sldId id="626" r:id="rId20"/>
    <p:sldId id="648" r:id="rId21"/>
    <p:sldId id="649" r:id="rId22"/>
    <p:sldId id="646" r:id="rId23"/>
  </p:sldIdLst>
  <p:sldSz cx="9144000" cy="6858000" type="screen4x3"/>
  <p:notesSz cx="9236075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FC79"/>
    <a:srgbClr val="FFFED6"/>
    <a:srgbClr val="D5FDA9"/>
    <a:srgbClr val="000099"/>
    <a:srgbClr val="FFFFFF"/>
    <a:srgbClr val="0052FF"/>
    <a:srgbClr val="00FF00"/>
    <a:srgbClr val="FFFD78"/>
    <a:srgbClr val="FF4C00"/>
    <a:srgbClr val="FF7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7" autoAdjust="0"/>
    <p:restoredTop sz="73391" autoAdjust="0"/>
  </p:normalViewPr>
  <p:slideViewPr>
    <p:cSldViewPr>
      <p:cViewPr varScale="1">
        <p:scale>
          <a:sx n="74" d="100"/>
          <a:sy n="74" d="100"/>
        </p:scale>
        <p:origin x="1032" y="176"/>
      </p:cViewPr>
      <p:guideLst>
        <p:guide orient="horz" pos="2352"/>
        <p:guide pos="2880"/>
      </p:guideLst>
    </p:cSldViewPr>
  </p:slideViewPr>
  <p:outlineViewPr>
    <p:cViewPr>
      <p:scale>
        <a:sx n="33" d="100"/>
        <a:sy n="33" d="100"/>
      </p:scale>
      <p:origin x="0" y="291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4" d="100"/>
        <a:sy n="84" d="100"/>
      </p:scale>
      <p:origin x="0" y="16064"/>
    </p:cViewPr>
  </p:sorterViewPr>
  <p:notesViewPr>
    <p:cSldViewPr snapToGrid="0" snapToObjects="1">
      <p:cViewPr varScale="1">
        <p:scale>
          <a:sx n="115" d="100"/>
          <a:sy n="115" d="100"/>
        </p:scale>
        <p:origin x="736" y="200"/>
      </p:cViewPr>
      <p:guideLst>
        <p:guide orient="horz" pos="2208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003136" cy="350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t" anchorCtr="0" compatLnSpc="1">
            <a:prstTxWarp prst="textNoShape">
              <a:avLst/>
            </a:prstTxWarp>
          </a:bodyPr>
          <a:lstStyle>
            <a:lvl1pPr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2941" y="1"/>
            <a:ext cx="4003136" cy="350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t" anchorCtr="0" compatLnSpc="1">
            <a:prstTxWarp prst="textNoShape">
              <a:avLst/>
            </a:prstTxWarp>
          </a:bodyPr>
          <a:lstStyle>
            <a:lvl1pPr algn="r"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659760"/>
            <a:ext cx="4003136" cy="35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b" anchorCtr="0" compatLnSpc="1">
            <a:prstTxWarp prst="textNoShape">
              <a:avLst/>
            </a:prstTxWarp>
          </a:bodyPr>
          <a:lstStyle>
            <a:lvl1pPr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2941" y="6659760"/>
            <a:ext cx="4003136" cy="35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b" anchorCtr="0" compatLnSpc="1">
            <a:prstTxWarp prst="textNoShape">
              <a:avLst/>
            </a:prstTxWarp>
          </a:bodyPr>
          <a:lstStyle>
            <a:lvl1pPr algn="r" defTabSz="928407">
              <a:defRPr sz="1200" b="0">
                <a:effectLst/>
              </a:defRPr>
            </a:lvl1pPr>
          </a:lstStyle>
          <a:p>
            <a:pPr>
              <a:defRPr/>
            </a:pPr>
            <a:fld id="{9ED969BC-D0E7-4BE4-8D59-EDF1FF51A9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192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003136" cy="350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t" anchorCtr="0" compatLnSpc="1">
            <a:prstTxWarp prst="textNoShape">
              <a:avLst/>
            </a:prstTxWarp>
          </a:bodyPr>
          <a:lstStyle>
            <a:lvl1pPr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5232941" y="1"/>
            <a:ext cx="4003136" cy="350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t" anchorCtr="0" compatLnSpc="1">
            <a:prstTxWarp prst="textNoShape">
              <a:avLst/>
            </a:prstTxWarp>
          </a:bodyPr>
          <a:lstStyle>
            <a:lvl1pPr algn="r"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67025" y="527050"/>
            <a:ext cx="3502025" cy="26273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9804" y="3330482"/>
            <a:ext cx="6776468" cy="3153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43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659760"/>
            <a:ext cx="4003136" cy="35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b" anchorCtr="0" compatLnSpc="1">
            <a:prstTxWarp prst="textNoShape">
              <a:avLst/>
            </a:prstTxWarp>
          </a:bodyPr>
          <a:lstStyle>
            <a:lvl1pPr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32941" y="6659760"/>
            <a:ext cx="4003136" cy="35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b" anchorCtr="0" compatLnSpc="1">
            <a:prstTxWarp prst="textNoShape">
              <a:avLst/>
            </a:prstTxWarp>
          </a:bodyPr>
          <a:lstStyle>
            <a:lvl1pPr algn="r" defTabSz="928407">
              <a:defRPr sz="1200" b="0">
                <a:effectLst/>
              </a:defRPr>
            </a:lvl1pPr>
          </a:lstStyle>
          <a:p>
            <a:pPr>
              <a:defRPr/>
            </a:pPr>
            <a:fld id="{E7DD9321-EF23-4D4F-8E26-34363D8AFB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943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97632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26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12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1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26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2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74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98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68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54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87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18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0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3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3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9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4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8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89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7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7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8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9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88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59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18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44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90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361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44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91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748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52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468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60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044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10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4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517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685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12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517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98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373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79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134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587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966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309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7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742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94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381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174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152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465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1066800" y="4495800"/>
            <a:ext cx="7063740" cy="1691640"/>
          </a:xfrm>
        </p:spPr>
        <p:txBody>
          <a:bodyPr>
            <a:normAutofit/>
          </a:bodyPr>
          <a:lstStyle>
            <a:lvl1pPr marL="0" indent="0" algn="ctr">
              <a:buNone/>
              <a:defRPr sz="2800" baseline="0">
                <a:solidFill>
                  <a:schemeClr val="tx1">
                    <a:lumMod val="85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609600" y="3200400"/>
            <a:ext cx="7924800" cy="0"/>
          </a:xfrm>
          <a:prstGeom prst="line">
            <a:avLst/>
          </a:prstGeom>
          <a:ln w="38100">
            <a:solidFill>
              <a:srgbClr val="FF4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3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9" name="Footer Placeholder 8"/>
          <p:cNvSpPr txBox="1">
            <a:spLocks/>
          </p:cNvSpPr>
          <p:nvPr userDrawn="1"/>
        </p:nvSpPr>
        <p:spPr>
          <a:xfrm>
            <a:off x="76200" y="6584156"/>
            <a:ext cx="2286000" cy="3043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de-DE" sz="1000" dirty="0">
                <a:latin typeface="Arial" charset="0"/>
                <a:ea typeface="Arial" charset="0"/>
                <a:cs typeface="Arial" charset="0"/>
              </a:rPr>
              <a:t>Fall 2026 – University of Virginia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0" name="Slide Number Placeholder 9"/>
          <p:cNvSpPr txBox="1">
            <a:spLocks/>
          </p:cNvSpPr>
          <p:nvPr userDrawn="1"/>
        </p:nvSpPr>
        <p:spPr>
          <a:xfrm>
            <a:off x="8686800" y="6553200"/>
            <a:ext cx="457200" cy="3048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13F0136-1ADC-465D-9B90-C4B23ACD248C}" type="slidenum">
              <a:rPr lang="en-US" sz="1000" b="0" smtClean="0">
                <a:latin typeface="Arial" charset="0"/>
                <a:ea typeface="Arial" charset="0"/>
                <a:cs typeface="Arial" charset="0"/>
              </a:rPr>
              <a:pPr algn="ctr">
                <a:defRPr/>
              </a:pPr>
              <a:t>‹#›</a:t>
            </a:fld>
            <a:endParaRPr lang="en-US" sz="10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1" name="Footer Placeholder 8"/>
          <p:cNvSpPr txBox="1">
            <a:spLocks/>
          </p:cNvSpPr>
          <p:nvPr userDrawn="1"/>
        </p:nvSpPr>
        <p:spPr>
          <a:xfrm>
            <a:off x="3352800" y="6584156"/>
            <a:ext cx="2438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de-DE" sz="1000" dirty="0"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de-DE" sz="1000" dirty="0" err="1">
                <a:latin typeface="Arial" charset="0"/>
                <a:ea typeface="Arial" charset="0"/>
                <a:cs typeface="Arial" charset="0"/>
              </a:rPr>
              <a:t>Praphamontripong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623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7955280" cy="5113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chemeClr val="bg1"/>
              </a:buClr>
              <a:defRPr sz="28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>
              <a:lnSpc>
                <a:spcPct val="100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>
              <a:lnSpc>
                <a:spcPct val="100000"/>
              </a:lnSpc>
              <a:buClr>
                <a:schemeClr val="bg1"/>
              </a:buClr>
              <a:defRPr sz="20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>
              <a:lnSpc>
                <a:spcPct val="100000"/>
              </a:lnSpc>
              <a:buClr>
                <a:schemeClr val="bg1"/>
              </a:buClr>
              <a:defRPr sz="20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>
              <a:lnSpc>
                <a:spcPct val="100000"/>
              </a:lnSpc>
              <a:buClr>
                <a:schemeClr val="bg1"/>
              </a:buClr>
              <a:defRPr sz="20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88727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620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539" y="365760"/>
            <a:ext cx="7269480" cy="13255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4539" y="1828801"/>
            <a:ext cx="3360420" cy="435133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995" y="1828801"/>
            <a:ext cx="3360420" cy="435133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124200" y="6455811"/>
            <a:ext cx="3581400" cy="273844"/>
          </a:xfrm>
          <a:prstGeom prst="rect">
            <a:avLst/>
          </a:prstGeom>
        </p:spPr>
        <p:txBody>
          <a:bodyPr/>
          <a:lstStyle>
            <a:lvl1pPr algn="ctr">
              <a:defRPr sz="1200" b="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077200" y="6248400"/>
            <a:ext cx="685800" cy="593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</a:lstStyle>
          <a:p>
            <a:pPr>
              <a:defRPr/>
            </a:pPr>
            <a:fld id="{313F0136-1ADC-465D-9B90-C4B23ACD248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4312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7647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8585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0398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296474-364D-4E26-AA0C-354464955E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832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B52EE84-6360-4B12-B1B1-48D5AB00A8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7961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164CEE9-8946-4111-8F4D-0E794C699F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376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7F248C6-A948-49B1-AFED-B83994B9E5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07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00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97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86A18-3CA3-3644-949E-A3B3F7CF49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30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2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57150">
            <a:solidFill>
              <a:srgbClr val="FF4C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" name="Footer Placeholder 8"/>
          <p:cNvSpPr txBox="1">
            <a:spLocks/>
          </p:cNvSpPr>
          <p:nvPr userDrawn="1"/>
        </p:nvSpPr>
        <p:spPr>
          <a:xfrm>
            <a:off x="76200" y="6584156"/>
            <a:ext cx="2286000" cy="3043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de-DE" sz="1000" dirty="0">
                <a:latin typeface="Arial" charset="0"/>
                <a:ea typeface="Arial" charset="0"/>
                <a:cs typeface="Arial" charset="0"/>
              </a:rPr>
              <a:t>Fall 2026 – University of Virginia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" name="Slide Number Placeholder 9"/>
          <p:cNvSpPr txBox="1">
            <a:spLocks/>
          </p:cNvSpPr>
          <p:nvPr userDrawn="1"/>
        </p:nvSpPr>
        <p:spPr>
          <a:xfrm>
            <a:off x="8686800" y="6553200"/>
            <a:ext cx="457200" cy="3048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13F0136-1ADC-465D-9B90-C4B23ACD248C}" type="slidenum">
              <a:rPr lang="en-US" sz="1000" b="0" smtClean="0">
                <a:latin typeface="Arial" charset="0"/>
                <a:ea typeface="Arial" charset="0"/>
                <a:cs typeface="Arial" charset="0"/>
              </a:rPr>
              <a:pPr algn="ctr">
                <a:defRPr/>
              </a:pPr>
              <a:t>‹#›</a:t>
            </a:fld>
            <a:endParaRPr lang="en-US" sz="10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3352800" y="6584156"/>
            <a:ext cx="2438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de-DE" sz="1000" dirty="0"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de-DE" sz="1000" dirty="0" err="1">
                <a:latin typeface="Arial" charset="0"/>
                <a:ea typeface="Arial" charset="0"/>
                <a:cs typeface="Arial" charset="0"/>
              </a:rPr>
              <a:t>Praphamontripong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82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76200" y="762000"/>
            <a:ext cx="9220200" cy="4648200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5000" b="1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  <a:t>Model-Driven </a:t>
            </a:r>
            <a:br>
              <a:rPr lang="en-US" sz="5000" b="1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</a:br>
            <a:r>
              <a:rPr lang="en-US" sz="5000" b="1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  <a:t>Test Design</a:t>
            </a:r>
            <a:br>
              <a:rPr lang="en-US" sz="2000" b="1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</a:br>
            <a:br>
              <a:rPr lang="en-US" sz="3000" b="1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</a:br>
            <a:r>
              <a:rPr lang="en-US" sz="4000" b="1" dirty="0">
                <a:solidFill>
                  <a:srgbClr val="FFFFFF"/>
                </a:solidFill>
                <a:latin typeface="Verdana" charset="0"/>
                <a:ea typeface="Verdana" charset="0"/>
                <a:cs typeface="Verdana" charset="0"/>
              </a:rPr>
              <a:t>CS 3250</a:t>
            </a:r>
            <a:br>
              <a:rPr lang="en-US" sz="4000" b="1" dirty="0">
                <a:solidFill>
                  <a:srgbClr val="FFFFFF"/>
                </a:solidFill>
                <a:latin typeface="Verdana" charset="0"/>
                <a:ea typeface="Verdana" charset="0"/>
                <a:cs typeface="Verdana" charset="0"/>
              </a:rPr>
            </a:br>
            <a:r>
              <a:rPr lang="en-US" sz="4000" b="1" dirty="0">
                <a:solidFill>
                  <a:srgbClr val="FFFFFF"/>
                </a:solidFill>
                <a:latin typeface="Verdana" charset="0"/>
                <a:ea typeface="Verdana" charset="0"/>
                <a:cs typeface="Verdana" charset="0"/>
              </a:rPr>
              <a:t>Software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589738" y="6277740"/>
            <a:ext cx="6478062" cy="275460"/>
          </a:xfrm>
          <a:prstGeom prst="rect">
            <a:avLst/>
          </a:prstGeom>
          <a:noFill/>
          <a:ln w="38100" cmpd="sng">
            <a:noFill/>
          </a:ln>
        </p:spPr>
        <p:txBody>
          <a:bodyPr wrap="square">
            <a:spAutoFit/>
          </a:bodyPr>
          <a:lstStyle/>
          <a:p>
            <a:pPr algn="r">
              <a:lnSpc>
                <a:spcPct val="85000"/>
              </a:lnSpc>
              <a:spcBef>
                <a:spcPts val="300"/>
              </a:spcBef>
            </a:pPr>
            <a:r>
              <a:rPr lang="en-US" sz="1400" b="0" dirty="0">
                <a:latin typeface="Verdana" charset="0"/>
                <a:ea typeface="Verdana" charset="0"/>
                <a:cs typeface="Verdana" charset="0"/>
              </a:rPr>
              <a:t>[</a:t>
            </a:r>
            <a:r>
              <a:rPr lang="en-US" sz="1400" b="0" dirty="0" err="1">
                <a:latin typeface="Verdana" charset="0"/>
                <a:ea typeface="Verdana" charset="0"/>
                <a:cs typeface="Verdana" charset="0"/>
              </a:rPr>
              <a:t>Ammann</a:t>
            </a:r>
            <a:r>
              <a:rPr lang="en-US" sz="1400" b="0" dirty="0">
                <a:latin typeface="Verdana" charset="0"/>
                <a:ea typeface="Verdana" charset="0"/>
                <a:cs typeface="Verdana" charset="0"/>
              </a:rPr>
              <a:t> and Offutt, “Introduction to Software Testing,” Ch. 2]</a:t>
            </a:r>
          </a:p>
        </p:txBody>
      </p:sp>
      <p:sp>
        <p:nvSpPr>
          <p:cNvPr id="2" name="TextBox 1"/>
          <p:cNvSpPr txBox="1"/>
          <p:nvPr/>
        </p:nvSpPr>
        <p:spPr bwMode="auto">
          <a:xfrm>
            <a:off x="228600" y="5181600"/>
            <a:ext cx="5448928" cy="757130"/>
          </a:xfrm>
          <a:prstGeom prst="rect">
            <a:avLst/>
          </a:prstGeom>
          <a:noFill/>
          <a:ln w="31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b="0" i="1" dirty="0">
                <a:latin typeface="Century" charset="0"/>
                <a:ea typeface="Century" charset="0"/>
                <a:cs typeface="Century" charset="0"/>
              </a:rPr>
              <a:t>“Designers are more efficient and effective </a:t>
            </a:r>
          </a:p>
          <a:p>
            <a:pPr>
              <a:lnSpc>
                <a:spcPct val="90000"/>
              </a:lnSpc>
            </a:pPr>
            <a:r>
              <a:rPr lang="en-US" sz="1600" b="0" i="1" dirty="0">
                <a:latin typeface="Century" charset="0"/>
                <a:ea typeface="Century" charset="0"/>
                <a:cs typeface="Century" charset="0"/>
              </a:rPr>
              <a:t>if they can raise their level of abstraction.” </a:t>
            </a:r>
            <a:r>
              <a:rPr lang="mr-IN" sz="1600" b="0" i="1" dirty="0">
                <a:latin typeface="Century" charset="0"/>
                <a:ea typeface="Century" charset="0"/>
                <a:cs typeface="Century" charset="0"/>
              </a:rPr>
              <a:t>–</a:t>
            </a:r>
            <a:r>
              <a:rPr lang="en-US" sz="1600" b="0" i="1" dirty="0">
                <a:latin typeface="Century" charset="0"/>
                <a:ea typeface="Century" charset="0"/>
                <a:cs typeface="Century" charset="0"/>
              </a:rPr>
              <a:t> Jeff Offutt</a:t>
            </a:r>
          </a:p>
          <a:p>
            <a:pPr>
              <a:lnSpc>
                <a:spcPct val="90000"/>
              </a:lnSpc>
            </a:pPr>
            <a:endParaRPr lang="en-US" sz="1600" b="0" i="1" dirty="0">
              <a:latin typeface="Century" charset="0"/>
              <a:ea typeface="Century" charset="0"/>
              <a:cs typeface="Century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60"/>
    </mc:Choice>
    <mc:Fallback xmlns="">
      <p:transition spd="slow" advTm="1796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Testing Software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486399"/>
          </a:xfrm>
        </p:spPr>
        <p:txBody>
          <a:bodyPr>
            <a:noAutofit/>
          </a:bodyPr>
          <a:lstStyle/>
          <a:p>
            <a:pPr marL="290513" indent="-276225">
              <a:spcBef>
                <a:spcPts val="1200"/>
              </a:spcBef>
              <a:spcAft>
                <a:spcPts val="0"/>
              </a:spcAft>
            </a:pPr>
            <a:r>
              <a:rPr lang="en-US" sz="2000" dirty="0"/>
              <a:t>11 * 11 = 121</a:t>
            </a:r>
          </a:p>
          <a:p>
            <a:pPr marL="290513" indent="-276225">
              <a:spcBef>
                <a:spcPts val="1200"/>
              </a:spcBef>
              <a:spcAft>
                <a:spcPts val="0"/>
              </a:spcAft>
            </a:pPr>
            <a:r>
              <a:rPr lang="en-US" sz="2000" dirty="0"/>
              <a:t>1111 * 1111 = 1234321</a:t>
            </a:r>
            <a:endParaRPr lang="en-US" sz="2000" dirty="0">
              <a:solidFill>
                <a:srgbClr val="00FF00"/>
              </a:solidFill>
            </a:endParaRPr>
          </a:p>
          <a:p>
            <a:pPr marL="290513" indent="-276225">
              <a:spcBef>
                <a:spcPts val="1200"/>
              </a:spcBef>
              <a:spcAft>
                <a:spcPts val="0"/>
              </a:spcAft>
            </a:pPr>
            <a:r>
              <a:rPr lang="en-US" sz="2000" dirty="0"/>
              <a:t>111111 </a:t>
            </a:r>
            <a:r>
              <a:rPr lang="en-US" sz="2000"/>
              <a:t>* 111111 </a:t>
            </a:r>
            <a:r>
              <a:rPr lang="en-US" sz="2000" dirty="0"/>
              <a:t>= 1245654321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67000" y="863025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FF00"/>
                </a:solidFill>
              </a:rPr>
              <a:t>✓</a:t>
            </a:r>
            <a:endParaRPr lang="en-US" sz="3200" dirty="0"/>
          </a:p>
        </p:txBody>
      </p:sp>
      <p:sp>
        <p:nvSpPr>
          <p:cNvPr id="8" name="Rectangle 7"/>
          <p:cNvSpPr/>
          <p:nvPr/>
        </p:nvSpPr>
        <p:spPr>
          <a:xfrm>
            <a:off x="5029200" y="1813739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✘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3962400" y="1295400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FF00"/>
                </a:solidFill>
              </a:rPr>
              <a:t>✓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6116875" y="1524000"/>
            <a:ext cx="2417525" cy="430887"/>
          </a:xfrm>
          <a:prstGeom prst="rect">
            <a:avLst/>
          </a:prstGeom>
          <a:solidFill>
            <a:srgbClr val="000099"/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200" b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Correctness?</a:t>
            </a:r>
            <a:endParaRPr lang="en-US" sz="2200" b="0" dirty="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D1E69A-A988-26EB-95D0-AFFD96AD49DD}"/>
              </a:ext>
            </a:extLst>
          </p:cNvPr>
          <p:cNvGrpSpPr/>
          <p:nvPr/>
        </p:nvGrpSpPr>
        <p:grpSpPr>
          <a:xfrm>
            <a:off x="76200" y="2465748"/>
            <a:ext cx="9067800" cy="4011251"/>
            <a:chOff x="76200" y="2465748"/>
            <a:chExt cx="9067800" cy="401125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31DA140-3C19-69CD-BB21-09C7042FEA7A}"/>
                </a:ext>
              </a:extLst>
            </p:cNvPr>
            <p:cNvSpPr/>
            <p:nvPr/>
          </p:nvSpPr>
          <p:spPr>
            <a:xfrm>
              <a:off x="76200" y="2465748"/>
              <a:ext cx="9067800" cy="401125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3805995-F966-9475-472D-C6B1D1A28F2D}"/>
                </a:ext>
              </a:extLst>
            </p:cNvPr>
            <p:cNvSpPr/>
            <p:nvPr/>
          </p:nvSpPr>
          <p:spPr>
            <a:xfrm>
              <a:off x="822960" y="3276600"/>
              <a:ext cx="7512472" cy="1874520"/>
            </a:xfrm>
            <a:prstGeom prst="rect">
              <a:avLst/>
            </a:prstGeom>
            <a:solidFill>
              <a:srgbClr val="000099"/>
            </a:solidFill>
            <a:ln>
              <a:solidFill>
                <a:schemeClr val="bg2"/>
              </a:solidFill>
            </a:ln>
          </p:spPr>
          <p:txBody>
            <a:bodyPr wrap="square" anchor="ctr">
              <a:noAutofit/>
            </a:bodyPr>
            <a:lstStyle/>
            <a:p>
              <a:pPr algn="ctr"/>
              <a:r>
                <a:rPr lang="en-US" sz="2200" b="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</a:rPr>
                <a:t>Software goes beyond correctness. </a:t>
              </a:r>
            </a:p>
            <a:p>
              <a:pPr algn="ctr"/>
              <a:endParaRPr lang="en-US" sz="2200" b="0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endParaRPr>
            </a:p>
            <a:p>
              <a:pPr algn="ctr"/>
              <a:r>
                <a:rPr lang="en-US" sz="2200" b="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</a:rPr>
                <a:t>Need abstraction to manage complexity </a:t>
              </a:r>
              <a:r>
                <a:rPr lang="en-US" sz="2200" b="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  <a:sym typeface="Wingdings"/>
                </a:rPr>
                <a:t> model</a:t>
              </a:r>
            </a:p>
            <a:p>
              <a:pPr algn="ctr"/>
              <a:r>
                <a:rPr lang="en-US" sz="2200" b="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  <a:sym typeface="Wingdings"/>
                </a:rPr>
                <a:t>“Model-Driven Test Design”</a:t>
              </a:r>
              <a:endParaRPr lang="en-US" sz="2200" b="0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49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View: Colored Boxes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486399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Black-box testing</a:t>
            </a:r>
            <a:endParaRPr lang="en-US" sz="2000" dirty="0"/>
          </a:p>
          <a:p>
            <a:pPr marL="642938" lvl="1" indent="-182563">
              <a:spcBef>
                <a:spcPts val="700"/>
              </a:spcBef>
            </a:pPr>
            <a:r>
              <a:rPr lang="en-US" sz="1800" dirty="0"/>
              <a:t>Derive tests from external descriptions of the software, including specifications, requirements, and design</a:t>
            </a:r>
          </a:p>
          <a:p>
            <a:pPr>
              <a:spcBef>
                <a:spcPts val="2000"/>
              </a:spcBef>
            </a:pPr>
            <a:r>
              <a:rPr lang="en-US" sz="2000" dirty="0">
                <a:solidFill>
                  <a:srgbClr val="FFFF00"/>
                </a:solidFill>
              </a:rPr>
              <a:t>White-box testing</a:t>
            </a:r>
            <a:endParaRPr lang="en-US" sz="2000" dirty="0"/>
          </a:p>
          <a:p>
            <a:pPr marL="642938" lvl="1" indent="-182563">
              <a:spcBef>
                <a:spcPts val="700"/>
              </a:spcBef>
            </a:pPr>
            <a:r>
              <a:rPr lang="en-US" sz="1800" dirty="0"/>
              <a:t>Derive tests from the source code internals of the software, including branches, conditions, and statements</a:t>
            </a:r>
          </a:p>
          <a:p>
            <a:pPr>
              <a:spcBef>
                <a:spcPts val="2000"/>
              </a:spcBef>
            </a:pPr>
            <a:r>
              <a:rPr lang="en-US" sz="2000" dirty="0">
                <a:solidFill>
                  <a:srgbClr val="FFFF00"/>
                </a:solidFill>
              </a:rPr>
              <a:t>Model-based testing (MBT)</a:t>
            </a:r>
          </a:p>
          <a:p>
            <a:pPr marL="642938" lvl="1" indent="-182563">
              <a:spcBef>
                <a:spcPts val="700"/>
              </a:spcBef>
            </a:pPr>
            <a:r>
              <a:rPr lang="en-US" sz="1800" dirty="0"/>
              <a:t>Derive tests from a model of the software (such as a UML diagram)</a:t>
            </a: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304800" y="4648200"/>
            <a:ext cx="8686800" cy="1120832"/>
          </a:xfrm>
          <a:prstGeom prst="rect">
            <a:avLst/>
          </a:prstGeom>
          <a:solidFill>
            <a:srgbClr val="000099"/>
          </a:solidFill>
          <a:ln>
            <a:solidFill>
              <a:schemeClr val="bg2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2000"/>
              </a:spcBef>
            </a:pPr>
            <a:r>
              <a:rPr lang="en-US" sz="2000" b="0" dirty="0">
                <a:solidFill>
                  <a:srgbClr val="FFFF00"/>
                </a:solidFill>
              </a:rPr>
              <a:t>Model-Driven Test Design (MDTD)</a:t>
            </a:r>
            <a:endParaRPr lang="en-US" sz="1800" b="0" dirty="0"/>
          </a:p>
          <a:p>
            <a:pPr marL="642938" lvl="1" indent="-182563" fontAlgn="auto">
              <a:spcBef>
                <a:spcPts val="700"/>
              </a:spcBef>
            </a:pPr>
            <a:r>
              <a:rPr lang="en-US" sz="1800" b="0" dirty="0"/>
              <a:t>Focus on “from what abstraction level do we derive tests?”</a:t>
            </a:r>
          </a:p>
        </p:txBody>
      </p:sp>
    </p:spTree>
    <p:extLst>
      <p:ext uri="{BB962C8B-B14F-4D97-AF65-F5344CB8AC3E}">
        <p14:creationId xmlns:p14="http://schemas.microsoft.com/office/powerpoint/2010/main" val="1466388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Model-Driven Test Design (MDTD)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86399"/>
          </a:xfrm>
        </p:spPr>
        <p:txBody>
          <a:bodyPr>
            <a:noAutofit/>
          </a:bodyPr>
          <a:lstStyle/>
          <a:p>
            <a:pPr marL="238125" indent="-238125">
              <a:spcBef>
                <a:spcPts val="2400"/>
              </a:spcBef>
            </a:pPr>
            <a:r>
              <a:rPr lang="en-US" sz="2000" dirty="0"/>
              <a:t>Break testing into a series of </a:t>
            </a:r>
            <a:r>
              <a:rPr lang="en-US" sz="2000" dirty="0">
                <a:solidFill>
                  <a:srgbClr val="FFFF00"/>
                </a:solidFill>
              </a:rPr>
              <a:t>small tasks </a:t>
            </a:r>
            <a:r>
              <a:rPr lang="en-US" sz="2000" dirty="0"/>
              <a:t>that simplify test generation</a:t>
            </a:r>
          </a:p>
          <a:p>
            <a:pPr marL="238125" indent="-238125">
              <a:spcBef>
                <a:spcPts val="2000"/>
              </a:spcBef>
            </a:pPr>
            <a:r>
              <a:rPr lang="en-US" sz="2000" dirty="0">
                <a:solidFill>
                  <a:srgbClr val="FFFF00"/>
                </a:solidFill>
              </a:rPr>
              <a:t>Isolate</a:t>
            </a:r>
            <a:r>
              <a:rPr lang="en-US" sz="2000" dirty="0"/>
              <a:t> each task</a:t>
            </a:r>
          </a:p>
          <a:p>
            <a:pPr marL="238125" indent="-238125">
              <a:spcBef>
                <a:spcPts val="2000"/>
              </a:spcBef>
            </a:pPr>
            <a:r>
              <a:rPr lang="en-US" sz="2000" dirty="0"/>
              <a:t>Work at a higher level of </a:t>
            </a:r>
            <a:r>
              <a:rPr lang="en-US" sz="2000" dirty="0">
                <a:solidFill>
                  <a:srgbClr val="FFFF00"/>
                </a:solidFill>
              </a:rPr>
              <a:t>abstraction</a:t>
            </a:r>
          </a:p>
          <a:p>
            <a:pPr marL="698500" lvl="1" indent="-239713">
              <a:spcBef>
                <a:spcPts val="800"/>
              </a:spcBef>
            </a:pPr>
            <a:r>
              <a:rPr lang="en-US" sz="1800" dirty="0"/>
              <a:t>Use mathematical structures to design test values independently of the details of software or design artifacts, test automation, and test execution</a:t>
            </a:r>
          </a:p>
          <a:p>
            <a:pPr marL="238125" indent="-238125">
              <a:spcBef>
                <a:spcPts val="2000"/>
              </a:spcBef>
            </a:pPr>
            <a:r>
              <a:rPr lang="en-US" sz="2000" dirty="0"/>
              <a:t>Key intellectual step: </a:t>
            </a:r>
            <a:r>
              <a:rPr lang="en-US" sz="2000" dirty="0">
                <a:solidFill>
                  <a:srgbClr val="FFFF00"/>
                </a:solidFill>
              </a:rPr>
              <a:t>test case design</a:t>
            </a:r>
          </a:p>
          <a:p>
            <a:pPr marL="238125" indent="-238125">
              <a:spcBef>
                <a:spcPts val="2000"/>
              </a:spcBef>
            </a:pPr>
            <a:r>
              <a:rPr lang="en-US" sz="2000" dirty="0"/>
              <a:t>Test case design -- the primary factor determining whether tests successfully find failures in software</a:t>
            </a:r>
          </a:p>
        </p:txBody>
      </p:sp>
    </p:spTree>
    <p:extLst>
      <p:ext uri="{BB962C8B-B14F-4D97-AF65-F5344CB8AC3E}">
        <p14:creationId xmlns:p14="http://schemas.microsoft.com/office/powerpoint/2010/main" val="98016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8016" y="1042416"/>
            <a:ext cx="8887968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Testing Activities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228600" y="2590800"/>
            <a:ext cx="1526212" cy="1371600"/>
            <a:chOff x="535277" y="1504282"/>
            <a:chExt cx="1771529" cy="1442693"/>
          </a:xfrm>
        </p:grpSpPr>
        <p:pic>
          <p:nvPicPr>
            <p:cNvPr id="7" name="Picture 6" descr="mage result for human cartoon image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277" y="1504282"/>
              <a:ext cx="1771529" cy="995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875859" y="2362200"/>
              <a:ext cx="109036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0" dirty="0">
                  <a:latin typeface="Verdana" charset="0"/>
                  <a:ea typeface="Verdana" charset="0"/>
                  <a:cs typeface="Verdana" charset="0"/>
                </a:rPr>
                <a:t>Test </a:t>
              </a:r>
            </a:p>
            <a:p>
              <a:pPr algn="ctr"/>
              <a:r>
                <a:rPr lang="en-US" sz="1600" b="0" dirty="0">
                  <a:latin typeface="Verdana" charset="0"/>
                  <a:ea typeface="Verdana" charset="0"/>
                  <a:cs typeface="Verdana" charset="0"/>
                </a:rPr>
                <a:t>Engineer</a:t>
              </a:r>
            </a:p>
          </p:txBody>
        </p:sp>
      </p:grp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3198188" y="1066800"/>
            <a:ext cx="1526212" cy="1371600"/>
            <a:chOff x="535277" y="1504282"/>
            <a:chExt cx="1771529" cy="1442693"/>
          </a:xfrm>
        </p:grpSpPr>
        <p:pic>
          <p:nvPicPr>
            <p:cNvPr id="11" name="Picture 10" descr="mage result for human cartoon image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277" y="1504282"/>
              <a:ext cx="1771529" cy="995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/>
            <p:cNvSpPr/>
            <p:nvPr/>
          </p:nvSpPr>
          <p:spPr>
            <a:xfrm>
              <a:off x="884676" y="2362200"/>
              <a:ext cx="1072731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0" dirty="0">
                  <a:latin typeface="Verdana" charset="0"/>
                  <a:ea typeface="Verdana" charset="0"/>
                  <a:cs typeface="Verdana" charset="0"/>
                </a:rPr>
                <a:t>Test </a:t>
              </a:r>
            </a:p>
            <a:p>
              <a:pPr algn="ctr"/>
              <a:r>
                <a:rPr lang="en-US" sz="1600" b="0" dirty="0">
                  <a:latin typeface="Verdana" charset="0"/>
                  <a:ea typeface="Verdana" charset="0"/>
                  <a:cs typeface="Verdana" charset="0"/>
                </a:rPr>
                <a:t>Manager</a:t>
              </a:r>
            </a:p>
          </p:txBody>
        </p:sp>
      </p:grpSp>
      <p:grpSp>
        <p:nvGrpSpPr>
          <p:cNvPr id="13" name="Group 12"/>
          <p:cNvGrpSpPr>
            <a:grpSpLocks noChangeAspect="1"/>
          </p:cNvGrpSpPr>
          <p:nvPr/>
        </p:nvGrpSpPr>
        <p:grpSpPr>
          <a:xfrm>
            <a:off x="6169988" y="1066800"/>
            <a:ext cx="1526212" cy="1371600"/>
            <a:chOff x="535277" y="1504282"/>
            <a:chExt cx="1771529" cy="1442693"/>
          </a:xfrm>
        </p:grpSpPr>
        <p:pic>
          <p:nvPicPr>
            <p:cNvPr id="14" name="Picture 13" descr="mage result for human cartoon image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277" y="1504282"/>
              <a:ext cx="1771529" cy="995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 14"/>
            <p:cNvSpPr/>
            <p:nvPr/>
          </p:nvSpPr>
          <p:spPr>
            <a:xfrm>
              <a:off x="875859" y="2362200"/>
              <a:ext cx="109036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0" dirty="0">
                  <a:latin typeface="Verdana" charset="0"/>
                  <a:ea typeface="Verdana" charset="0"/>
                  <a:cs typeface="Verdana" charset="0"/>
                </a:rPr>
                <a:t>Test </a:t>
              </a:r>
            </a:p>
            <a:p>
              <a:pPr algn="ctr"/>
              <a:r>
                <a:rPr lang="en-US" sz="1600" b="0" dirty="0">
                  <a:latin typeface="Verdana" charset="0"/>
                  <a:ea typeface="Verdana" charset="0"/>
                  <a:cs typeface="Verdana" charset="0"/>
                </a:rPr>
                <a:t>Engineer</a:t>
              </a:r>
            </a:p>
          </p:txBody>
        </p:sp>
      </p:grpSp>
      <p:grpSp>
        <p:nvGrpSpPr>
          <p:cNvPr id="16" name="Group 15"/>
          <p:cNvGrpSpPr>
            <a:grpSpLocks noChangeAspect="1"/>
          </p:cNvGrpSpPr>
          <p:nvPr/>
        </p:nvGrpSpPr>
        <p:grpSpPr>
          <a:xfrm>
            <a:off x="2514600" y="4114800"/>
            <a:ext cx="1526212" cy="1371600"/>
            <a:chOff x="535277" y="1504282"/>
            <a:chExt cx="1771529" cy="1442693"/>
          </a:xfrm>
        </p:grpSpPr>
        <p:pic>
          <p:nvPicPr>
            <p:cNvPr id="17" name="Picture 16" descr="mage result for human cartoon image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277" y="1504282"/>
              <a:ext cx="1771529" cy="995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ctangle 17"/>
            <p:cNvSpPr/>
            <p:nvPr/>
          </p:nvSpPr>
          <p:spPr>
            <a:xfrm>
              <a:off x="875859" y="2362200"/>
              <a:ext cx="1090363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0" dirty="0">
                  <a:latin typeface="Verdana" charset="0"/>
                  <a:ea typeface="Verdana" charset="0"/>
                  <a:cs typeface="Verdana" charset="0"/>
                </a:rPr>
                <a:t>Test </a:t>
              </a:r>
            </a:p>
            <a:p>
              <a:pPr algn="ctr"/>
              <a:r>
                <a:rPr lang="en-US" sz="1600" b="0" dirty="0">
                  <a:latin typeface="Verdana" charset="0"/>
                  <a:ea typeface="Verdana" charset="0"/>
                  <a:cs typeface="Verdana" charset="0"/>
                </a:rPr>
                <a:t>Engineer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2341578" y="2835030"/>
            <a:ext cx="886781" cy="58477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1600" b="0" dirty="0">
                <a:latin typeface="Verdana" charset="0"/>
                <a:ea typeface="Verdana" charset="0"/>
                <a:cs typeface="Verdana" charset="0"/>
              </a:rPr>
              <a:t>1. Test</a:t>
            </a:r>
          </a:p>
          <a:p>
            <a:pPr algn="ctr"/>
            <a:r>
              <a:rPr lang="en-US" sz="1600" b="0" dirty="0">
                <a:latin typeface="Verdana" charset="0"/>
                <a:ea typeface="Verdana" charset="0"/>
                <a:cs typeface="Verdana" charset="0"/>
              </a:rPr>
              <a:t>Design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6031" y="2835030"/>
            <a:ext cx="1374864" cy="58477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1600" b="0" dirty="0">
                <a:latin typeface="Verdana" charset="0"/>
                <a:ea typeface="Verdana" charset="0"/>
                <a:cs typeface="Verdana" charset="0"/>
              </a:rPr>
              <a:t>2. Test </a:t>
            </a:r>
          </a:p>
          <a:p>
            <a:pPr algn="ctr"/>
            <a:r>
              <a:rPr lang="en-US" sz="1600" b="0" dirty="0">
                <a:latin typeface="Verdana" charset="0"/>
                <a:ea typeface="Verdana" charset="0"/>
                <a:cs typeface="Verdana" charset="0"/>
              </a:rPr>
              <a:t>Automation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3228359" y="3105250"/>
            <a:ext cx="1307672" cy="307777"/>
            <a:chOff x="3228359" y="3029050"/>
            <a:chExt cx="1307672" cy="307777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3228359" y="3048000"/>
              <a:ext cx="130767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3352800" y="3029050"/>
              <a:ext cx="11384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0" dirty="0">
                  <a:latin typeface="Verdana" charset="0"/>
                  <a:ea typeface="Verdana" charset="0"/>
                  <a:cs typeface="Verdana" charset="0"/>
                </a:rPr>
                <a:t>instantiate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295400" y="3105249"/>
            <a:ext cx="992477" cy="376925"/>
            <a:chOff x="1801072" y="2856932"/>
            <a:chExt cx="1148353" cy="376925"/>
          </a:xfrm>
        </p:grpSpPr>
        <p:sp>
          <p:nvSpPr>
            <p:cNvPr id="31" name="Right Arrow 30"/>
            <p:cNvSpPr/>
            <p:nvPr/>
          </p:nvSpPr>
          <p:spPr>
            <a:xfrm>
              <a:off x="1920468" y="2856932"/>
              <a:ext cx="898932" cy="99627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801072" y="2926080"/>
              <a:ext cx="11483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dirty="0">
                  <a:latin typeface="Verdana" charset="0"/>
                  <a:ea typeface="Verdana" charset="0"/>
                  <a:cs typeface="Verdana" charset="0"/>
                </a:rPr>
                <a:t>design</a:t>
              </a:r>
            </a:p>
          </p:txBody>
        </p:sp>
      </p:grpSp>
      <p:sp>
        <p:nvSpPr>
          <p:cNvPr id="43" name="Left Brace 42"/>
          <p:cNvSpPr/>
          <p:nvPr/>
        </p:nvSpPr>
        <p:spPr>
          <a:xfrm>
            <a:off x="3807788" y="2069592"/>
            <a:ext cx="228600" cy="1097280"/>
          </a:xfrm>
          <a:prstGeom prst="leftBrace">
            <a:avLst/>
          </a:prstGeom>
          <a:ln w="28575"/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6600235" y="4953000"/>
            <a:ext cx="89479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1600" b="0">
                <a:latin typeface="Verdana" charset="0"/>
                <a:ea typeface="Verdana" charset="0"/>
                <a:cs typeface="Verdana" charset="0"/>
              </a:rPr>
              <a:t>Output</a:t>
            </a:r>
            <a:endParaRPr lang="en-US" sz="1600" b="0" dirty="0">
              <a:latin typeface="Verdana" charset="0"/>
              <a:ea typeface="Verdana" charset="0"/>
              <a:cs typeface="Verdana" charset="0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8229600" y="4038600"/>
            <a:ext cx="338554" cy="353568"/>
            <a:chOff x="859536" y="4599432"/>
            <a:chExt cx="338554" cy="353568"/>
          </a:xfrm>
        </p:grpSpPr>
        <p:sp>
          <p:nvSpPr>
            <p:cNvPr id="49" name="Oval 48"/>
            <p:cNvSpPr/>
            <p:nvPr/>
          </p:nvSpPr>
          <p:spPr>
            <a:xfrm>
              <a:off x="859536" y="4599432"/>
              <a:ext cx="338554" cy="33855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86244" y="4614446"/>
              <a:ext cx="308098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0" dirty="0">
                  <a:latin typeface="Verdana" charset="0"/>
                  <a:ea typeface="Verdana" charset="0"/>
                  <a:cs typeface="Verdana" charset="0"/>
                </a:rPr>
                <a:t>P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448697" y="4038600"/>
            <a:ext cx="1200970" cy="353568"/>
            <a:chOff x="1952724" y="4599432"/>
            <a:chExt cx="1200970" cy="353568"/>
          </a:xfrm>
        </p:grpSpPr>
        <p:sp>
          <p:nvSpPr>
            <p:cNvPr id="47" name="Rectangle 46"/>
            <p:cNvSpPr/>
            <p:nvPr/>
          </p:nvSpPr>
          <p:spPr>
            <a:xfrm>
              <a:off x="1952724" y="4614446"/>
              <a:ext cx="120097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0">
                  <a:latin typeface="Verdana" charset="0"/>
                  <a:ea typeface="Verdana" charset="0"/>
                  <a:cs typeface="Verdana" charset="0"/>
                </a:rPr>
                <a:t>Computer</a:t>
              </a:r>
              <a:endParaRPr lang="en-US" sz="1600" b="0" dirty="0"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952724" y="4599432"/>
              <a:ext cx="1200970" cy="3535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7036800" y="4392168"/>
            <a:ext cx="888000" cy="560832"/>
            <a:chOff x="5208000" y="4577870"/>
            <a:chExt cx="888000" cy="560832"/>
          </a:xfrm>
        </p:grpSpPr>
        <p:sp>
          <p:nvSpPr>
            <p:cNvPr id="42" name="Rectangle 41"/>
            <p:cNvSpPr/>
            <p:nvPr/>
          </p:nvSpPr>
          <p:spPr>
            <a:xfrm>
              <a:off x="5208000" y="4690646"/>
              <a:ext cx="8880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0">
                  <a:latin typeface="Verdana" charset="0"/>
                  <a:ea typeface="Verdana" charset="0"/>
                  <a:cs typeface="Verdana" charset="0"/>
                </a:rPr>
                <a:t>execute</a:t>
              </a:r>
              <a:endParaRPr lang="en-US" sz="1400" b="0" dirty="0">
                <a:latin typeface="Verdana" charset="0"/>
                <a:ea typeface="Verdana" charset="0"/>
                <a:cs typeface="Verdana" charset="0"/>
              </a:endParaRPr>
            </a:p>
          </p:txBody>
        </p:sp>
        <p:cxnSp>
          <p:nvCxnSpPr>
            <p:cNvPr id="56" name="Straight Arrow Connector 55"/>
            <p:cNvCxnSpPr>
              <a:stCxn id="51" idx="2"/>
              <a:endCxn id="45" idx="0"/>
            </p:cNvCxnSpPr>
            <p:nvPr/>
          </p:nvCxnSpPr>
          <p:spPr>
            <a:xfrm flipH="1">
              <a:off x="5218834" y="4577870"/>
              <a:ext cx="1548" cy="5608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>
            <a:stCxn id="45" idx="1"/>
            <a:endCxn id="101" idx="3"/>
          </p:cNvCxnSpPr>
          <p:nvPr/>
        </p:nvCxnSpPr>
        <p:spPr>
          <a:xfrm flipH="1">
            <a:off x="5851649" y="5122277"/>
            <a:ext cx="748586" cy="1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9" idx="2"/>
            <a:endCxn id="51" idx="3"/>
          </p:cNvCxnSpPr>
          <p:nvPr/>
        </p:nvCxnSpPr>
        <p:spPr>
          <a:xfrm flipH="1">
            <a:off x="7649667" y="4207877"/>
            <a:ext cx="579933" cy="75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endCxn id="51" idx="0"/>
          </p:cNvCxnSpPr>
          <p:nvPr/>
        </p:nvCxnSpPr>
        <p:spPr>
          <a:xfrm flipH="1">
            <a:off x="7049182" y="3060141"/>
            <a:ext cx="3081" cy="978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/>
          <p:cNvGrpSpPr/>
          <p:nvPr/>
        </p:nvGrpSpPr>
        <p:grpSpPr>
          <a:xfrm rot="19903961">
            <a:off x="5368472" y="2294789"/>
            <a:ext cx="1090666" cy="350070"/>
            <a:chOff x="1863925" y="2856932"/>
            <a:chExt cx="1148353" cy="350070"/>
          </a:xfrm>
        </p:grpSpPr>
        <p:sp>
          <p:nvSpPr>
            <p:cNvPr id="75" name="Right Arrow 74"/>
            <p:cNvSpPr/>
            <p:nvPr/>
          </p:nvSpPr>
          <p:spPr>
            <a:xfrm rot="10721741">
              <a:off x="1920468" y="2856932"/>
              <a:ext cx="898932" cy="99627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863925" y="2899225"/>
              <a:ext cx="11483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dirty="0">
                  <a:latin typeface="Verdana" charset="0"/>
                  <a:ea typeface="Verdana" charset="0"/>
                  <a:cs typeface="Verdana" charset="0"/>
                </a:rPr>
                <a:t>automate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6426862" y="2835030"/>
            <a:ext cx="1184299" cy="58477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1600" b="0" dirty="0">
                <a:latin typeface="Verdana" charset="0"/>
                <a:ea typeface="Verdana" charset="0"/>
                <a:cs typeface="Verdana" charset="0"/>
              </a:rPr>
              <a:t>3. Test</a:t>
            </a:r>
          </a:p>
          <a:p>
            <a:pPr algn="ctr"/>
            <a:r>
              <a:rPr lang="en-US" sz="1600" b="0" dirty="0">
                <a:latin typeface="Verdana" charset="0"/>
                <a:ea typeface="Verdana" charset="0"/>
                <a:cs typeface="Verdana" charset="0"/>
              </a:rPr>
              <a:t>Execution</a:t>
            </a:r>
          </a:p>
        </p:txBody>
      </p:sp>
      <p:cxnSp>
        <p:nvCxnSpPr>
          <p:cNvPr id="85" name="Straight Arrow Connector 84"/>
          <p:cNvCxnSpPr>
            <a:endCxn id="84" idx="1"/>
          </p:cNvCxnSpPr>
          <p:nvPr/>
        </p:nvCxnSpPr>
        <p:spPr>
          <a:xfrm>
            <a:off x="5910895" y="3127418"/>
            <a:ext cx="5159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 rot="1395793">
            <a:off x="3539291" y="4624004"/>
            <a:ext cx="992477" cy="376925"/>
            <a:chOff x="1801072" y="2856932"/>
            <a:chExt cx="1148353" cy="376925"/>
          </a:xfrm>
        </p:grpSpPr>
        <p:sp>
          <p:nvSpPr>
            <p:cNvPr id="98" name="Right Arrow 97"/>
            <p:cNvSpPr/>
            <p:nvPr/>
          </p:nvSpPr>
          <p:spPr>
            <a:xfrm>
              <a:off x="1920468" y="2856932"/>
              <a:ext cx="898932" cy="99627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801072" y="2926080"/>
              <a:ext cx="11483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dirty="0">
                  <a:latin typeface="Verdana" charset="0"/>
                  <a:ea typeface="Verdana" charset="0"/>
                  <a:cs typeface="Verdana" charset="0"/>
                </a:rPr>
                <a:t>analyze</a:t>
              </a:r>
            </a:p>
          </p:txBody>
        </p:sp>
      </p:grpSp>
      <p:sp>
        <p:nvSpPr>
          <p:cNvPr id="101" name="Rectangle 100"/>
          <p:cNvSpPr/>
          <p:nvPr/>
        </p:nvSpPr>
        <p:spPr>
          <a:xfrm>
            <a:off x="4595279" y="4830085"/>
            <a:ext cx="1256370" cy="58477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1600" b="0" dirty="0">
                <a:latin typeface="Verdana" charset="0"/>
                <a:ea typeface="Verdana" charset="0"/>
                <a:cs typeface="Verdana" charset="0"/>
              </a:rPr>
              <a:t>4. Test </a:t>
            </a:r>
          </a:p>
          <a:p>
            <a:pPr algn="ctr"/>
            <a:r>
              <a:rPr lang="en-US" sz="1600" b="0" dirty="0">
                <a:latin typeface="Verdana" charset="0"/>
                <a:ea typeface="Verdana" charset="0"/>
                <a:cs typeface="Verdana" charset="0"/>
              </a:rPr>
              <a:t>Evaluation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958852" y="1295400"/>
            <a:ext cx="1936748" cy="1537557"/>
            <a:chOff x="958852" y="1219200"/>
            <a:chExt cx="1936748" cy="1537557"/>
          </a:xfrm>
        </p:grpSpPr>
        <p:grpSp>
          <p:nvGrpSpPr>
            <p:cNvPr id="6" name="Group 5"/>
            <p:cNvGrpSpPr/>
            <p:nvPr/>
          </p:nvGrpSpPr>
          <p:grpSpPr>
            <a:xfrm>
              <a:off x="958852" y="1219200"/>
              <a:ext cx="1936748" cy="1059100"/>
              <a:chOff x="958852" y="1219200"/>
              <a:chExt cx="1936748" cy="1059100"/>
            </a:xfrm>
          </p:grpSpPr>
          <p:sp>
            <p:nvSpPr>
              <p:cNvPr id="5" name="Folded Corner 4"/>
              <p:cNvSpPr/>
              <p:nvPr/>
            </p:nvSpPr>
            <p:spPr>
              <a:xfrm>
                <a:off x="972473" y="1219200"/>
                <a:ext cx="1909497" cy="1059100"/>
              </a:xfrm>
              <a:prstGeom prst="foldedCorner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958852" y="1274546"/>
                <a:ext cx="1936748" cy="9448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400" b="0" dirty="0">
                    <a:latin typeface="Verdana" charset="0"/>
                    <a:ea typeface="Verdana" charset="0"/>
                    <a:cs typeface="Verdana" charset="0"/>
                  </a:rPr>
                  <a:t>Human-based or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400" b="0" dirty="0">
                    <a:latin typeface="Verdana" charset="0"/>
                    <a:ea typeface="Verdana" charset="0"/>
                    <a:cs typeface="Verdana" charset="0"/>
                  </a:rPr>
                  <a:t>Criteria-based</a:t>
                </a:r>
              </a:p>
              <a:p>
                <a:pPr algn="ctr">
                  <a:lnSpc>
                    <a:spcPct val="90000"/>
                  </a:lnSpc>
                  <a:spcBef>
                    <a:spcPts val="600"/>
                  </a:spcBef>
                </a:pPr>
                <a:r>
                  <a:rPr lang="en-US" sz="1400" b="0" dirty="0">
                    <a:latin typeface="Verdana" charset="0"/>
                    <a:ea typeface="Verdana" charset="0"/>
                    <a:cs typeface="Verdana" charset="0"/>
                  </a:rPr>
                  <a:t>(test requirements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400" b="0" dirty="0">
                    <a:latin typeface="Verdana" charset="0"/>
                    <a:ea typeface="Verdana" charset="0"/>
                    <a:cs typeface="Verdana" charset="0"/>
                  </a:rPr>
                  <a:t>&amp; test cases)</a:t>
                </a:r>
              </a:p>
            </p:txBody>
          </p:sp>
        </p:grpSp>
        <p:cxnSp>
          <p:nvCxnSpPr>
            <p:cNvPr id="23" name="Straight Connector 22"/>
            <p:cNvCxnSpPr>
              <a:cxnSpLocks/>
            </p:cNvCxnSpPr>
            <p:nvPr/>
          </p:nvCxnSpPr>
          <p:spPr>
            <a:xfrm>
              <a:off x="2175501" y="2288568"/>
              <a:ext cx="554714" cy="4681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Content Placeholder 4"/>
          <p:cNvSpPr txBox="1">
            <a:spLocks/>
          </p:cNvSpPr>
          <p:nvPr/>
        </p:nvSpPr>
        <p:spPr>
          <a:xfrm>
            <a:off x="434285" y="5661826"/>
            <a:ext cx="8581699" cy="7389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90000"/>
              </a:lnSpc>
              <a:spcBef>
                <a:spcPts val="2000"/>
              </a:spcBef>
              <a:buNone/>
            </a:pPr>
            <a:r>
              <a:rPr lang="en-US" sz="1800" b="0" dirty="0"/>
              <a:t>Each activity requires different skills, background knowledge, education, and training.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48600" y="3299936"/>
            <a:ext cx="1130438" cy="73866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1400" b="0" dirty="0">
                <a:latin typeface="Verdana" charset="0"/>
                <a:ea typeface="Verdana" charset="0"/>
                <a:cs typeface="Verdana" charset="0"/>
              </a:rPr>
              <a:t>Program</a:t>
            </a:r>
          </a:p>
          <a:p>
            <a:pPr algn="ctr"/>
            <a:r>
              <a:rPr lang="en-US" sz="1400" b="0" dirty="0">
                <a:latin typeface="Verdana" charset="0"/>
                <a:ea typeface="Verdana" charset="0"/>
                <a:cs typeface="Verdana" charset="0"/>
              </a:rPr>
              <a:t>under test</a:t>
            </a:r>
          </a:p>
          <a:p>
            <a:pPr algn="ctr"/>
            <a:r>
              <a:rPr lang="en-US" sz="1400" b="0" dirty="0">
                <a:latin typeface="Verdana" charset="0"/>
                <a:ea typeface="Verdana" charset="0"/>
                <a:cs typeface="Verdana" charset="0"/>
              </a:rPr>
              <a:t>(PUT)</a:t>
            </a:r>
          </a:p>
        </p:txBody>
      </p:sp>
      <p:sp>
        <p:nvSpPr>
          <p:cNvPr id="55" name="Content Placeholder 2"/>
          <p:cNvSpPr txBox="1">
            <a:spLocks/>
          </p:cNvSpPr>
          <p:nvPr/>
        </p:nvSpPr>
        <p:spPr>
          <a:xfrm>
            <a:off x="0" y="6324599"/>
            <a:ext cx="1181100" cy="304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200" b="0" dirty="0"/>
              <a:t>[AO, p.22]</a:t>
            </a:r>
          </a:p>
        </p:txBody>
      </p:sp>
    </p:spTree>
    <p:extLst>
      <p:ext uri="{BB962C8B-B14F-4D97-AF65-F5344CB8AC3E}">
        <p14:creationId xmlns:p14="http://schemas.microsoft.com/office/powerpoint/2010/main" val="191442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495800" y="982779"/>
            <a:ext cx="4588625" cy="5722821"/>
          </a:xfrm>
          <a:prstGeom prst="roundRect">
            <a:avLst/>
          </a:prstGeom>
          <a:solidFill>
            <a:srgbClr val="0000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1. Test Design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28600" y="1524000"/>
            <a:ext cx="4267200" cy="4876800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</a:pPr>
            <a:r>
              <a:rPr lang="en-US" sz="2000" dirty="0"/>
              <a:t>Design test values based on </a:t>
            </a:r>
          </a:p>
          <a:p>
            <a:pPr lvl="1">
              <a:spcBef>
                <a:spcPts val="1000"/>
              </a:spcBef>
            </a:pPr>
            <a:r>
              <a:rPr lang="en-US" sz="1600" dirty="0">
                <a:solidFill>
                  <a:srgbClr val="FFFF00"/>
                </a:solidFill>
              </a:rPr>
              <a:t>Domain knowledge </a:t>
            </a:r>
            <a:r>
              <a:rPr lang="en-US" sz="1600" dirty="0"/>
              <a:t>of the program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Human knowledge of </a:t>
            </a:r>
            <a:r>
              <a:rPr lang="en-US" sz="1600" dirty="0">
                <a:solidFill>
                  <a:srgbClr val="FFFF00"/>
                </a:solidFill>
              </a:rPr>
              <a:t>testing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Knowledge of </a:t>
            </a:r>
            <a:r>
              <a:rPr lang="en-US" sz="1600" dirty="0">
                <a:solidFill>
                  <a:srgbClr val="FFFF00"/>
                </a:solidFill>
              </a:rPr>
              <a:t>user interface</a:t>
            </a:r>
          </a:p>
          <a:p>
            <a:pPr>
              <a:spcBef>
                <a:spcPts val="1500"/>
              </a:spcBef>
            </a:pPr>
            <a:r>
              <a:rPr lang="en-US" sz="2000" dirty="0"/>
              <a:t>Require almost no traditional CS degree</a:t>
            </a:r>
          </a:p>
          <a:p>
            <a:pPr lvl="1">
              <a:spcBef>
                <a:spcPts val="1000"/>
              </a:spcBef>
            </a:pPr>
            <a:r>
              <a:rPr lang="en-US" sz="1600" dirty="0"/>
              <a:t>Essential </a:t>
            </a:r>
            <a:r>
              <a:rPr lang="mr-IN" sz="1600" dirty="0"/>
              <a:t>–</a:t>
            </a:r>
            <a:r>
              <a:rPr lang="en-US" sz="1600" dirty="0"/>
              <a:t> background in the </a:t>
            </a:r>
            <a:r>
              <a:rPr lang="en-US" sz="1600" dirty="0">
                <a:solidFill>
                  <a:srgbClr val="FFFF00"/>
                </a:solidFill>
              </a:rPr>
              <a:t>software domain</a:t>
            </a:r>
            <a:endParaRPr lang="en-US" sz="1600" dirty="0"/>
          </a:p>
          <a:p>
            <a:pPr lvl="1">
              <a:spcBef>
                <a:spcPts val="1000"/>
              </a:spcBef>
            </a:pPr>
            <a:r>
              <a:rPr lang="en-US" sz="1600" dirty="0"/>
              <a:t>Helpful </a:t>
            </a:r>
            <a:r>
              <a:rPr lang="mr-IN" sz="1600" dirty="0"/>
              <a:t>–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FF00"/>
                </a:solidFill>
              </a:rPr>
              <a:t>empirical background </a:t>
            </a:r>
            <a:r>
              <a:rPr lang="en-US" sz="1600" dirty="0"/>
              <a:t>(biology, psychology, </a:t>
            </a:r>
            <a:r>
              <a:rPr lang="is-IS" sz="1600" dirty="0"/>
              <a:t>…)</a:t>
            </a:r>
          </a:p>
          <a:p>
            <a:pPr lvl="1">
              <a:spcBef>
                <a:spcPts val="1000"/>
              </a:spcBef>
            </a:pPr>
            <a:r>
              <a:rPr lang="en-US" sz="1600" dirty="0"/>
              <a:t>Helpful </a:t>
            </a:r>
            <a:r>
              <a:rPr lang="mr-IN" sz="1600" dirty="0"/>
              <a:t>–</a:t>
            </a:r>
            <a:r>
              <a:rPr lang="en-US" sz="1600" dirty="0"/>
              <a:t> </a:t>
            </a:r>
            <a:r>
              <a:rPr lang="is-IS" sz="1600" dirty="0">
                <a:solidFill>
                  <a:srgbClr val="FFFF00"/>
                </a:solidFill>
              </a:rPr>
              <a:t>logic background </a:t>
            </a:r>
            <a:r>
              <a:rPr lang="is-IS" sz="1600" dirty="0"/>
              <a:t>(law, philosophy, math, ...)</a:t>
            </a:r>
            <a:endParaRPr lang="en-US" sz="1600" dirty="0"/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4648200" y="1524000"/>
            <a:ext cx="4426528" cy="487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000"/>
              </a:spcBef>
            </a:pPr>
            <a:r>
              <a:rPr lang="en-US" sz="2000" b="0" dirty="0">
                <a:solidFill>
                  <a:srgbClr val="FFFF00"/>
                </a:solidFill>
              </a:rPr>
              <a:t>Design</a:t>
            </a:r>
            <a:r>
              <a:rPr lang="en-US" sz="2000" b="0" dirty="0"/>
              <a:t> test values to </a:t>
            </a:r>
            <a:r>
              <a:rPr lang="en-US" sz="2000" b="0" dirty="0">
                <a:solidFill>
                  <a:srgbClr val="FFFF00"/>
                </a:solidFill>
              </a:rPr>
              <a:t>satisfy</a:t>
            </a:r>
            <a:r>
              <a:rPr lang="en-US" sz="2000" b="0" dirty="0"/>
              <a:t> coverage criteria </a:t>
            </a:r>
          </a:p>
          <a:p>
            <a:pPr fontAlgn="auto">
              <a:spcBef>
                <a:spcPts val="1500"/>
              </a:spcBef>
            </a:pPr>
            <a:r>
              <a:rPr lang="en-US" sz="2000" b="0" dirty="0">
                <a:solidFill>
                  <a:srgbClr val="FFFF00"/>
                </a:solidFill>
              </a:rPr>
              <a:t>The most technical </a:t>
            </a:r>
            <a:r>
              <a:rPr lang="en-US" sz="2000" b="0" dirty="0"/>
              <a:t>job in software testing</a:t>
            </a:r>
          </a:p>
          <a:p>
            <a:pPr fontAlgn="auto">
              <a:spcBef>
                <a:spcPts val="1500"/>
              </a:spcBef>
            </a:pPr>
            <a:r>
              <a:rPr lang="en-US" sz="2000" b="0" dirty="0"/>
              <a:t>Require knowledge of </a:t>
            </a:r>
          </a:p>
          <a:p>
            <a:pPr lvl="1" fontAlgn="auto"/>
            <a:r>
              <a:rPr lang="en-US" sz="1600" b="0" dirty="0">
                <a:solidFill>
                  <a:srgbClr val="FFFF00"/>
                </a:solidFill>
              </a:rPr>
              <a:t>Discrete math</a:t>
            </a:r>
          </a:p>
          <a:p>
            <a:pPr lvl="1" fontAlgn="auto">
              <a:spcBef>
                <a:spcPts val="0"/>
              </a:spcBef>
            </a:pPr>
            <a:r>
              <a:rPr lang="en-US" sz="1600" b="0" dirty="0">
                <a:solidFill>
                  <a:srgbClr val="FFFF00"/>
                </a:solidFill>
              </a:rPr>
              <a:t>Programming</a:t>
            </a:r>
          </a:p>
          <a:p>
            <a:pPr lvl="1" fontAlgn="auto">
              <a:spcBef>
                <a:spcPts val="0"/>
              </a:spcBef>
            </a:pPr>
            <a:r>
              <a:rPr lang="en-US" sz="1600" b="0" dirty="0">
                <a:solidFill>
                  <a:srgbClr val="FFFF00"/>
                </a:solidFill>
              </a:rPr>
              <a:t>Testing</a:t>
            </a:r>
          </a:p>
          <a:p>
            <a:pPr fontAlgn="auto">
              <a:spcBef>
                <a:spcPts val="1500"/>
              </a:spcBef>
            </a:pPr>
            <a:r>
              <a:rPr lang="en-US" sz="2000" b="0" dirty="0"/>
              <a:t>Require a traditional CS degree</a:t>
            </a:r>
          </a:p>
          <a:p>
            <a:pPr fontAlgn="auto">
              <a:spcBef>
                <a:spcPts val="1500"/>
              </a:spcBef>
            </a:pPr>
            <a:r>
              <a:rPr lang="en-US" sz="2000" b="0" dirty="0"/>
              <a:t>Using people who are not qualified to design tests will result in ineffective tests</a:t>
            </a:r>
          </a:p>
          <a:p>
            <a:pPr lvl="1" fontAlgn="auto">
              <a:spcBef>
                <a:spcPts val="1000"/>
              </a:spcBef>
            </a:pPr>
            <a:endParaRPr lang="en-US" sz="1600" b="0" dirty="0"/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228600" y="1015538"/>
            <a:ext cx="4267200" cy="660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1000"/>
              </a:spcBef>
              <a:buNone/>
            </a:pPr>
            <a:r>
              <a:rPr lang="en-US" sz="2200" dirty="0">
                <a:solidFill>
                  <a:srgbClr val="FFFF00"/>
                </a:solidFill>
              </a:rPr>
              <a:t>Human-based approach</a:t>
            </a: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4817225" y="1015538"/>
            <a:ext cx="4267200" cy="660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1000"/>
              </a:spcBef>
              <a:buNone/>
            </a:pPr>
            <a:r>
              <a:rPr lang="en-US" sz="2200" dirty="0">
                <a:solidFill>
                  <a:srgbClr val="FFFF00"/>
                </a:solidFill>
              </a:rPr>
              <a:t>Criteria-based approach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572000" y="1015538"/>
            <a:ext cx="0" cy="53852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1440" y="1481328"/>
            <a:ext cx="896112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059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 Criteria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86399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</a:pPr>
            <a:r>
              <a:rPr lang="en-US" sz="2000" dirty="0"/>
              <a:t>Testers </a:t>
            </a:r>
            <a:r>
              <a:rPr lang="en-US" sz="2000" dirty="0">
                <a:solidFill>
                  <a:srgbClr val="FFFF00"/>
                </a:solidFill>
              </a:rPr>
              <a:t>search a huge input space</a:t>
            </a:r>
            <a:r>
              <a:rPr lang="en-US" sz="2000" dirty="0"/>
              <a:t> -- to find the </a:t>
            </a:r>
            <a:r>
              <a:rPr lang="en-US" sz="2000" dirty="0">
                <a:solidFill>
                  <a:srgbClr val="FFFF00"/>
                </a:solidFill>
              </a:rPr>
              <a:t>fewest inputs </a:t>
            </a:r>
            <a:r>
              <a:rPr lang="en-US" sz="2000" dirty="0"/>
              <a:t>that will reveal the </a:t>
            </a:r>
            <a:r>
              <a:rPr lang="en-US" sz="2000" dirty="0">
                <a:solidFill>
                  <a:srgbClr val="FFFF00"/>
                </a:solidFill>
              </a:rPr>
              <a:t>most problems</a:t>
            </a:r>
          </a:p>
          <a:p>
            <a:pPr>
              <a:spcBef>
                <a:spcPts val="7800"/>
              </a:spcBef>
            </a:pPr>
            <a:r>
              <a:rPr lang="en-US" sz="2000" dirty="0"/>
              <a:t>Coverage criteria give structured, practical ways to search the input space</a:t>
            </a:r>
          </a:p>
          <a:p>
            <a:pPr>
              <a:spcBef>
                <a:spcPts val="2400"/>
              </a:spcBef>
            </a:pPr>
            <a:r>
              <a:rPr lang="en-US" sz="2000" dirty="0">
                <a:solidFill>
                  <a:srgbClr val="FFFF00"/>
                </a:solidFill>
              </a:rPr>
              <a:t>Advantages</a:t>
            </a:r>
            <a:r>
              <a:rPr lang="en-US" sz="2000" dirty="0"/>
              <a:t> of coverage criteria</a:t>
            </a:r>
          </a:p>
          <a:p>
            <a:pPr lvl="1">
              <a:spcBef>
                <a:spcPts val="500"/>
              </a:spcBef>
            </a:pPr>
            <a:r>
              <a:rPr lang="en-US" sz="1800" dirty="0">
                <a:solidFill>
                  <a:srgbClr val="FFFF00"/>
                </a:solidFill>
              </a:rPr>
              <a:t>Search</a:t>
            </a:r>
            <a:r>
              <a:rPr lang="en-US" sz="1800" dirty="0"/>
              <a:t> the input space thoroughly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Not much </a:t>
            </a:r>
            <a:r>
              <a:rPr lang="en-US" sz="1800" dirty="0">
                <a:solidFill>
                  <a:srgbClr val="FFFF00"/>
                </a:solidFill>
              </a:rPr>
              <a:t>overlap</a:t>
            </a:r>
            <a:r>
              <a:rPr lang="en-US" sz="1800" dirty="0"/>
              <a:t> in the tests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Maximize the “</a:t>
            </a:r>
            <a:r>
              <a:rPr lang="en-US" sz="1800" dirty="0">
                <a:solidFill>
                  <a:srgbClr val="FFFF00"/>
                </a:solidFill>
              </a:rPr>
              <a:t>bang for the buck</a:t>
            </a:r>
            <a:r>
              <a:rPr lang="en-US" sz="1800" dirty="0"/>
              <a:t>”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Provide </a:t>
            </a:r>
            <a:r>
              <a:rPr lang="en-US" sz="1800" dirty="0">
                <a:solidFill>
                  <a:srgbClr val="FFFF00"/>
                </a:solidFill>
              </a:rPr>
              <a:t>traceability</a:t>
            </a:r>
            <a:r>
              <a:rPr lang="en-US" sz="1800" dirty="0"/>
              <a:t> from software artifacts to tests 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Make </a:t>
            </a:r>
            <a:r>
              <a:rPr lang="en-US" sz="1800" dirty="0">
                <a:solidFill>
                  <a:srgbClr val="FFFF00"/>
                </a:solidFill>
              </a:rPr>
              <a:t>regression testing</a:t>
            </a:r>
            <a:r>
              <a:rPr lang="en-US" sz="1800" dirty="0"/>
              <a:t> easier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Provide a “</a:t>
            </a:r>
            <a:r>
              <a:rPr lang="en-US" sz="1800" dirty="0">
                <a:solidFill>
                  <a:srgbClr val="FFFF00"/>
                </a:solidFill>
              </a:rPr>
              <a:t>stopping rule</a:t>
            </a:r>
            <a:r>
              <a:rPr lang="en-US" sz="1800" dirty="0"/>
              <a:t>”</a:t>
            </a:r>
            <a:endParaRPr lang="is-IS" sz="1800" dirty="0"/>
          </a:p>
          <a:p>
            <a:pPr lvl="1">
              <a:spcBef>
                <a:spcPts val="0"/>
              </a:spcBef>
            </a:pPr>
            <a:r>
              <a:rPr lang="is-IS" sz="1800" dirty="0"/>
              <a:t>Can be well supported with </a:t>
            </a:r>
            <a:r>
              <a:rPr lang="is-IS" sz="1800" dirty="0">
                <a:solidFill>
                  <a:srgbClr val="FFFF00"/>
                </a:solidFill>
              </a:rPr>
              <a:t>tools</a:t>
            </a:r>
            <a:endParaRPr lang="en-US" sz="1800" dirty="0">
              <a:solidFill>
                <a:srgbClr val="FFFF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52600" y="1824335"/>
            <a:ext cx="5749610" cy="430887"/>
          </a:xfrm>
          <a:prstGeom prst="rect">
            <a:avLst/>
          </a:prstGeom>
          <a:solidFill>
            <a:srgbClr val="000099"/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200" b="0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  <a:t>How to search</a:t>
            </a:r>
            <a:r>
              <a:rPr lang="en-US" sz="2200" b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  <a:t>, when </a:t>
            </a:r>
            <a:r>
              <a:rPr lang="en-US" sz="2200" b="0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  <a:t>to stop</a:t>
            </a:r>
          </a:p>
        </p:txBody>
      </p:sp>
    </p:spTree>
    <p:extLst>
      <p:ext uri="{BB962C8B-B14F-4D97-AF65-F5344CB8AC3E}">
        <p14:creationId xmlns:p14="http://schemas.microsoft.com/office/powerpoint/2010/main" val="1471298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Criteria and Requirements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1"/>
            <a:ext cx="8839200" cy="3581399"/>
          </a:xfrm>
        </p:spPr>
        <p:txBody>
          <a:bodyPr>
            <a:noAutofit/>
          </a:bodyPr>
          <a:lstStyle/>
          <a:p>
            <a:pPr marL="290513" indent="-276225"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solidFill>
                  <a:srgbClr val="FFFF00"/>
                </a:solidFill>
              </a:rPr>
              <a:t>Test criterion</a:t>
            </a:r>
            <a:r>
              <a:rPr lang="en-US" sz="2000" dirty="0"/>
              <a:t>: A collection of rules and a process that define </a:t>
            </a:r>
          </a:p>
          <a:p>
            <a:pPr marL="22415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test requirements</a:t>
            </a:r>
          </a:p>
          <a:p>
            <a:pPr marL="1949450" lvl="1" indent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dirty="0"/>
              <a:t>Cover every statement</a:t>
            </a:r>
          </a:p>
          <a:p>
            <a:pPr marL="194945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Cover every functional requirement</a:t>
            </a:r>
            <a:endParaRPr lang="en-US" sz="1600" dirty="0"/>
          </a:p>
          <a:p>
            <a:pPr marL="290513" indent="-276225">
              <a:spcBef>
                <a:spcPts val="4000"/>
              </a:spcBef>
              <a:spcAft>
                <a:spcPts val="0"/>
              </a:spcAft>
            </a:pPr>
            <a:r>
              <a:rPr lang="en-US" sz="2000" dirty="0">
                <a:solidFill>
                  <a:srgbClr val="FFFF00"/>
                </a:solidFill>
              </a:rPr>
              <a:t>Test requirements</a:t>
            </a:r>
            <a:r>
              <a:rPr lang="en-US" sz="2000" dirty="0"/>
              <a:t>: Specific things that must be satisfied or </a:t>
            </a:r>
          </a:p>
          <a:p>
            <a:pPr marL="22923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covered during testing</a:t>
            </a:r>
          </a:p>
          <a:p>
            <a:pPr marL="1949450" lvl="1" indent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dirty="0"/>
              <a:t>Each statement</a:t>
            </a:r>
          </a:p>
          <a:p>
            <a:pPr marL="194945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Each functional requirement</a:t>
            </a:r>
          </a:p>
          <a:p>
            <a:pPr marL="229235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533400" y="4800600"/>
            <a:ext cx="4572000" cy="152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/>
              <a:t>Many criteria have been defined. They can be categorized into</a:t>
            </a:r>
          </a:p>
          <a:p>
            <a:pPr marL="14288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/>
              <a:t>four types of structures.</a:t>
            </a:r>
            <a:endParaRPr lang="en-US" sz="1800" b="0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5105400" y="4645152"/>
            <a:ext cx="3352800" cy="1645920"/>
          </a:xfrm>
          <a:prstGeom prst="rect">
            <a:avLst/>
          </a:prstGeom>
          <a:solidFill>
            <a:srgbClr val="000099"/>
          </a:solidFill>
          <a:ln>
            <a:solidFill>
              <a:schemeClr val="bg2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indent="-339725" fontAlgn="auto"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+mj-lt"/>
              <a:buAutoNum type="arabicPeriod"/>
            </a:pPr>
            <a:r>
              <a:rPr lang="en-US" sz="2000" b="0" dirty="0">
                <a:solidFill>
                  <a:srgbClr val="FFFF00"/>
                </a:solidFill>
              </a:rPr>
              <a:t>Input domains</a:t>
            </a:r>
          </a:p>
          <a:p>
            <a:pPr marL="463550" indent="-339725" fontAlgn="auto"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+mj-lt"/>
              <a:buAutoNum type="arabicPeriod"/>
            </a:pPr>
            <a:r>
              <a:rPr lang="en-US" sz="2000" b="0" dirty="0">
                <a:solidFill>
                  <a:srgbClr val="FFFF00"/>
                </a:solidFill>
              </a:rPr>
              <a:t>Graphs</a:t>
            </a:r>
          </a:p>
          <a:p>
            <a:pPr marL="463550" indent="-339725" fontAlgn="auto"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+mj-lt"/>
              <a:buAutoNum type="arabicPeriod"/>
            </a:pPr>
            <a:r>
              <a:rPr lang="en-US" sz="2000" b="0" dirty="0">
                <a:solidFill>
                  <a:srgbClr val="FFFF00"/>
                </a:solidFill>
              </a:rPr>
              <a:t>Logic expressions</a:t>
            </a:r>
          </a:p>
          <a:p>
            <a:pPr marL="463550" indent="-339725" fontAlgn="auto"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+mj-lt"/>
              <a:buAutoNum type="arabicPeriod"/>
            </a:pPr>
            <a:r>
              <a:rPr lang="en-US" sz="2000" b="0" dirty="0">
                <a:solidFill>
                  <a:srgbClr val="FFFF00"/>
                </a:solidFill>
              </a:rPr>
              <a:t>Syntax descriptions</a:t>
            </a: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762000" y="1719072"/>
            <a:ext cx="1676400" cy="4527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indent="0" fontAlgn="auto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0" dirty="0"/>
              <a:t>Examples: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762000" y="3509682"/>
            <a:ext cx="1676400" cy="4527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indent="0" fontAlgn="auto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0" dirty="0"/>
              <a:t>Examples: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176272" y="1773936"/>
            <a:ext cx="4572000" cy="2067620"/>
            <a:chOff x="2176272" y="1773936"/>
            <a:chExt cx="4572000" cy="2067620"/>
          </a:xfrm>
        </p:grpSpPr>
        <p:sp>
          <p:nvSpPr>
            <p:cNvPr id="11" name="Rounded Rectangle 10"/>
            <p:cNvSpPr/>
            <p:nvPr/>
          </p:nvSpPr>
          <p:spPr>
            <a:xfrm>
              <a:off x="2176272" y="1773936"/>
              <a:ext cx="4572000" cy="27432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176272" y="3567236"/>
              <a:ext cx="4572000" cy="27432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176272" y="2057400"/>
            <a:ext cx="4572000" cy="2071027"/>
            <a:chOff x="2176272" y="1770529"/>
            <a:chExt cx="4572000" cy="2071027"/>
          </a:xfrm>
        </p:grpSpPr>
        <p:sp>
          <p:nvSpPr>
            <p:cNvPr id="15" name="Rounded Rectangle 14"/>
            <p:cNvSpPr/>
            <p:nvPr/>
          </p:nvSpPr>
          <p:spPr>
            <a:xfrm>
              <a:off x="2176272" y="1770529"/>
              <a:ext cx="4572000" cy="27432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176272" y="3567236"/>
              <a:ext cx="4572000" cy="27432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9870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Good Tests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66801"/>
            <a:ext cx="8686800" cy="4648199"/>
          </a:xfrm>
        </p:spPr>
        <p:txBody>
          <a:bodyPr>
            <a:noAutofit/>
          </a:bodyPr>
          <a:lstStyle/>
          <a:p>
            <a:pPr marL="14288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</a:rPr>
              <a:t>Each test case: </a:t>
            </a:r>
          </a:p>
          <a:p>
            <a:pPr marL="754063" indent="-276225"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solidFill>
                  <a:srgbClr val="FFFFFF"/>
                </a:solidFill>
              </a:rPr>
              <a:t>Test one thing </a:t>
            </a:r>
          </a:p>
          <a:p>
            <a:pPr marL="1214438" lvl="1" indent="-276225">
              <a:spcBef>
                <a:spcPts val="1200"/>
              </a:spcBef>
              <a:spcAft>
                <a:spcPts val="0"/>
              </a:spcAft>
            </a:pPr>
            <a:r>
              <a:rPr lang="en-US" sz="1800" dirty="0">
                <a:solidFill>
                  <a:srgbClr val="FFFFFF"/>
                </a:solidFill>
              </a:rPr>
              <a:t>Have accurate purpose</a:t>
            </a:r>
          </a:p>
          <a:p>
            <a:pPr marL="1214438" lvl="1" indent="-276225">
              <a:spcBef>
                <a:spcPts val="400"/>
              </a:spcBef>
              <a:spcAft>
                <a:spcPts val="0"/>
              </a:spcAft>
            </a:pPr>
            <a:r>
              <a:rPr lang="en-US" sz="1800" dirty="0">
                <a:solidFill>
                  <a:srgbClr val="FFFFFF"/>
                </a:solidFill>
              </a:rPr>
              <a:t>Traceable to requirement or design</a:t>
            </a:r>
          </a:p>
          <a:p>
            <a:pPr marL="754063" indent="-276225">
              <a:spcBef>
                <a:spcPts val="2000"/>
              </a:spcBef>
              <a:spcAft>
                <a:spcPts val="0"/>
              </a:spcAft>
            </a:pPr>
            <a:r>
              <a:rPr lang="en-US" sz="2000" dirty="0">
                <a:solidFill>
                  <a:srgbClr val="FFFFFF"/>
                </a:solidFill>
              </a:rPr>
              <a:t>Clear and easy to understand</a:t>
            </a:r>
          </a:p>
          <a:p>
            <a:pPr marL="754063" indent="-276225">
              <a:spcBef>
                <a:spcPts val="1600"/>
              </a:spcBef>
              <a:spcAft>
                <a:spcPts val="0"/>
              </a:spcAft>
            </a:pPr>
            <a:r>
              <a:rPr lang="en-US" sz="2000" dirty="0">
                <a:solidFill>
                  <a:srgbClr val="FFFFFF"/>
                </a:solidFill>
              </a:rPr>
              <a:t>Relatively small</a:t>
            </a:r>
          </a:p>
          <a:p>
            <a:pPr marL="754063" indent="-276225">
              <a:spcBef>
                <a:spcPts val="1600"/>
              </a:spcBef>
              <a:spcAft>
                <a:spcPts val="0"/>
              </a:spcAft>
            </a:pPr>
            <a:r>
              <a:rPr lang="en-US" sz="2000" dirty="0">
                <a:solidFill>
                  <a:srgbClr val="FFFFFF"/>
                </a:solidFill>
              </a:rPr>
              <a:t>Independent</a:t>
            </a:r>
          </a:p>
          <a:p>
            <a:pPr marL="754063" indent="-276225">
              <a:spcBef>
                <a:spcPts val="1600"/>
              </a:spcBef>
              <a:spcAft>
                <a:spcPts val="0"/>
              </a:spcAft>
            </a:pPr>
            <a:r>
              <a:rPr lang="en-US" sz="2000" dirty="0">
                <a:solidFill>
                  <a:srgbClr val="FFFFFF"/>
                </a:solidFill>
              </a:rPr>
              <a:t>Precise and concise</a:t>
            </a:r>
          </a:p>
          <a:p>
            <a:pPr marL="754063" indent="-276225">
              <a:spcBef>
                <a:spcPts val="1600"/>
              </a:spcBef>
              <a:spcAft>
                <a:spcPts val="0"/>
              </a:spcAft>
            </a:pPr>
            <a:r>
              <a:rPr lang="en-US" sz="2000" dirty="0">
                <a:solidFill>
                  <a:srgbClr val="FFFFFF"/>
                </a:solidFill>
              </a:rPr>
              <a:t>Repeatable</a:t>
            </a:r>
          </a:p>
          <a:p>
            <a:pPr marL="290513" indent="-276225">
              <a:spcBef>
                <a:spcPts val="1200"/>
              </a:spcBef>
              <a:spcAft>
                <a:spcPts val="0"/>
              </a:spcAft>
            </a:pP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029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Test Automation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304800" y="990600"/>
            <a:ext cx="8839200" cy="5486399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000" dirty="0"/>
              <a:t>Embed </a:t>
            </a:r>
            <a:r>
              <a:rPr lang="en-US" sz="2000" dirty="0">
                <a:solidFill>
                  <a:srgbClr val="FFFF00"/>
                </a:solidFill>
              </a:rPr>
              <a:t>test values </a:t>
            </a:r>
            <a:r>
              <a:rPr lang="en-US" sz="2000" dirty="0"/>
              <a:t>into </a:t>
            </a:r>
            <a:r>
              <a:rPr lang="en-US" sz="2000" dirty="0">
                <a:solidFill>
                  <a:srgbClr val="FFFF00"/>
                </a:solidFill>
              </a:rPr>
              <a:t>executable scripts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Slightly </a:t>
            </a:r>
            <a:r>
              <a:rPr lang="en-US" sz="2000" dirty="0">
                <a:solidFill>
                  <a:srgbClr val="FFFF00"/>
                </a:solidFill>
              </a:rPr>
              <a:t>less technical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Require knowledge of </a:t>
            </a:r>
            <a:r>
              <a:rPr lang="en-US" sz="2000" dirty="0">
                <a:solidFill>
                  <a:srgbClr val="FFFF00"/>
                </a:solidFill>
              </a:rPr>
              <a:t>programming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Require very </a:t>
            </a:r>
            <a:r>
              <a:rPr lang="en-US" sz="2000" dirty="0">
                <a:solidFill>
                  <a:srgbClr val="FFFF00"/>
                </a:solidFill>
              </a:rPr>
              <a:t>little theory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Often involve </a:t>
            </a:r>
            <a:r>
              <a:rPr lang="en-US" sz="2000" dirty="0">
                <a:solidFill>
                  <a:srgbClr val="FFFF00"/>
                </a:solidFill>
              </a:rPr>
              <a:t>observability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FF00"/>
                </a:solidFill>
              </a:rPr>
              <a:t>controllability</a:t>
            </a:r>
            <a:r>
              <a:rPr lang="en-US" sz="2000" dirty="0"/>
              <a:t> issues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Can be </a:t>
            </a:r>
            <a:r>
              <a:rPr lang="en-US" sz="2000" dirty="0">
                <a:solidFill>
                  <a:srgbClr val="FFFF00"/>
                </a:solidFill>
              </a:rPr>
              <a:t>boring</a:t>
            </a:r>
            <a:r>
              <a:rPr lang="en-US" sz="2000" dirty="0"/>
              <a:t> for test designers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Programming is out of reach for many </a:t>
            </a:r>
            <a:r>
              <a:rPr lang="en-US" sz="2000" dirty="0">
                <a:solidFill>
                  <a:srgbClr val="FFFF00"/>
                </a:solidFill>
              </a:rPr>
              <a:t>domain experts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Who should determine and embed the </a:t>
            </a:r>
            <a:r>
              <a:rPr lang="en-US" sz="2000" dirty="0">
                <a:solidFill>
                  <a:srgbClr val="FFFF00"/>
                </a:solidFill>
              </a:rPr>
              <a:t>expected outputs</a:t>
            </a:r>
            <a:r>
              <a:rPr lang="en-US" sz="2000" dirty="0"/>
              <a:t>? </a:t>
            </a:r>
          </a:p>
          <a:p>
            <a:pPr marL="642938" lvl="1" indent="-182563">
              <a:spcBef>
                <a:spcPts val="600"/>
              </a:spcBef>
            </a:pPr>
            <a:r>
              <a:rPr lang="en-US" sz="1800" dirty="0">
                <a:solidFill>
                  <a:srgbClr val="FFFF00"/>
                </a:solidFill>
              </a:rPr>
              <a:t>Test designers </a:t>
            </a:r>
            <a:r>
              <a:rPr lang="en-US" sz="1800" dirty="0"/>
              <a:t>may not always know the expected outputs</a:t>
            </a:r>
          </a:p>
          <a:p>
            <a:pPr marL="642938" lvl="1" indent="-182563">
              <a:spcBef>
                <a:spcPts val="200"/>
              </a:spcBef>
            </a:pPr>
            <a:r>
              <a:rPr lang="en-US" sz="1800" dirty="0">
                <a:solidFill>
                  <a:srgbClr val="FFFF00"/>
                </a:solidFill>
              </a:rPr>
              <a:t>Test evaluators </a:t>
            </a:r>
            <a:r>
              <a:rPr lang="en-US" sz="1800" dirty="0"/>
              <a:t>need to get involved early to help with this</a:t>
            </a:r>
          </a:p>
        </p:txBody>
      </p:sp>
    </p:spTree>
    <p:extLst>
      <p:ext uri="{BB962C8B-B14F-4D97-AF65-F5344CB8AC3E}">
        <p14:creationId xmlns:p14="http://schemas.microsoft.com/office/powerpoint/2010/main" val="384649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Test Execution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486399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FFFF00"/>
                </a:solidFill>
              </a:rPr>
              <a:t>Run tests </a:t>
            </a:r>
            <a:r>
              <a:rPr lang="en-US" sz="2000" dirty="0"/>
              <a:t>on the software and </a:t>
            </a:r>
            <a:r>
              <a:rPr lang="en-US" sz="2000" dirty="0">
                <a:solidFill>
                  <a:srgbClr val="FFFF00"/>
                </a:solidFill>
              </a:rPr>
              <a:t>record the results</a:t>
            </a:r>
          </a:p>
          <a:p>
            <a:pPr>
              <a:spcBef>
                <a:spcPts val="2000"/>
              </a:spcBef>
            </a:pPr>
            <a:r>
              <a:rPr lang="en-US" sz="2000" dirty="0">
                <a:solidFill>
                  <a:srgbClr val="FFFF00"/>
                </a:solidFill>
              </a:rPr>
              <a:t>Easy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FF00"/>
                </a:solidFill>
              </a:rPr>
              <a:t>trivial</a:t>
            </a:r>
            <a:r>
              <a:rPr lang="en-US" sz="2000" dirty="0"/>
              <a:t> if the tests are well automated</a:t>
            </a:r>
          </a:p>
          <a:p>
            <a:pPr>
              <a:spcBef>
                <a:spcPts val="2000"/>
              </a:spcBef>
            </a:pPr>
            <a:r>
              <a:rPr lang="en-US" sz="2000" dirty="0"/>
              <a:t>Requires </a:t>
            </a:r>
            <a:r>
              <a:rPr lang="en-US" sz="2000" dirty="0">
                <a:solidFill>
                  <a:srgbClr val="FFFF00"/>
                </a:solidFill>
              </a:rPr>
              <a:t>basic computer skills</a:t>
            </a:r>
          </a:p>
          <a:p>
            <a:pPr marL="642938" lvl="1" indent="-182563">
              <a:spcBef>
                <a:spcPts val="1000"/>
              </a:spcBef>
            </a:pPr>
            <a:r>
              <a:rPr lang="en-US" sz="1800" dirty="0"/>
              <a:t>Interns</a:t>
            </a:r>
          </a:p>
          <a:p>
            <a:pPr marL="642938" lvl="1" indent="-182563">
              <a:spcBef>
                <a:spcPts val="400"/>
              </a:spcBef>
            </a:pPr>
            <a:r>
              <a:rPr lang="en-US" sz="1800" dirty="0"/>
              <a:t>Employees with no technical background</a:t>
            </a:r>
            <a:endParaRPr lang="en-US" sz="2000" dirty="0"/>
          </a:p>
          <a:p>
            <a:pPr>
              <a:spcBef>
                <a:spcPts val="2000"/>
              </a:spcBef>
            </a:pPr>
            <a:r>
              <a:rPr lang="en-US" sz="2000" dirty="0"/>
              <a:t>Can be boring for test designers</a:t>
            </a:r>
          </a:p>
          <a:p>
            <a:pPr marL="642938" lvl="1" indent="-182563">
              <a:spcBef>
                <a:spcPts val="1000"/>
              </a:spcBef>
            </a:pPr>
            <a:r>
              <a:rPr lang="en-US" sz="1800" dirty="0"/>
              <a:t>Asking qualified test designers to execute tests is a sure way to convince them to look for a development job</a:t>
            </a:r>
            <a:endParaRPr lang="en-US" sz="1600" dirty="0"/>
          </a:p>
          <a:p>
            <a:pPr>
              <a:spcBef>
                <a:spcPts val="2000"/>
              </a:spcBef>
            </a:pPr>
            <a:r>
              <a:rPr lang="en-US" sz="2000" dirty="0"/>
              <a:t>Test executors have to be very </a:t>
            </a:r>
            <a:r>
              <a:rPr lang="en-US" sz="2000" dirty="0">
                <a:solidFill>
                  <a:srgbClr val="FFFF00"/>
                </a:solidFill>
              </a:rPr>
              <a:t>careful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FF00"/>
                </a:solidFill>
              </a:rPr>
              <a:t>meticulous</a:t>
            </a:r>
            <a:r>
              <a:rPr lang="en-US" sz="2000" dirty="0"/>
              <a:t> with bookkeeping</a:t>
            </a:r>
          </a:p>
        </p:txBody>
      </p:sp>
    </p:spTree>
    <p:extLst>
      <p:ext uri="{BB962C8B-B14F-4D97-AF65-F5344CB8AC3E}">
        <p14:creationId xmlns:p14="http://schemas.microsoft.com/office/powerpoint/2010/main" val="1724876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Test Evaluation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486399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FFFF00"/>
                </a:solidFill>
              </a:rPr>
              <a:t>Evaluate results </a:t>
            </a:r>
            <a:r>
              <a:rPr lang="en-US" sz="2000" dirty="0"/>
              <a:t>of testing, </a:t>
            </a:r>
            <a:r>
              <a:rPr lang="en-US" sz="2000" dirty="0">
                <a:solidFill>
                  <a:srgbClr val="FFFF00"/>
                </a:solidFill>
              </a:rPr>
              <a:t>report</a:t>
            </a:r>
            <a:r>
              <a:rPr lang="en-US" sz="2000" dirty="0"/>
              <a:t> to developers</a:t>
            </a:r>
          </a:p>
          <a:p>
            <a:pPr>
              <a:spcBef>
                <a:spcPts val="2000"/>
              </a:spcBef>
            </a:pPr>
            <a:r>
              <a:rPr lang="en-US" sz="2000" dirty="0"/>
              <a:t>This is much harder than it may seem</a:t>
            </a:r>
          </a:p>
          <a:p>
            <a:pPr>
              <a:spcBef>
                <a:spcPts val="2000"/>
              </a:spcBef>
            </a:pPr>
            <a:r>
              <a:rPr lang="en-US" sz="2000" dirty="0"/>
              <a:t>Requires knowledge of </a:t>
            </a:r>
          </a:p>
          <a:p>
            <a:pPr marL="642938" lvl="1" indent="-182563">
              <a:spcBef>
                <a:spcPts val="1000"/>
              </a:spcBef>
            </a:pPr>
            <a:r>
              <a:rPr lang="en-US" sz="1800" dirty="0">
                <a:solidFill>
                  <a:srgbClr val="FFFF00"/>
                </a:solidFill>
              </a:rPr>
              <a:t>Domain</a:t>
            </a:r>
          </a:p>
          <a:p>
            <a:pPr marL="642938" lvl="1" indent="-182563">
              <a:spcBef>
                <a:spcPts val="400"/>
              </a:spcBef>
            </a:pPr>
            <a:r>
              <a:rPr lang="en-US" sz="1800" dirty="0">
                <a:solidFill>
                  <a:srgbClr val="FFFF00"/>
                </a:solidFill>
              </a:rPr>
              <a:t>Testing</a:t>
            </a:r>
          </a:p>
          <a:p>
            <a:pPr marL="642938" lvl="1" indent="-182563">
              <a:spcBef>
                <a:spcPts val="400"/>
              </a:spcBef>
            </a:pPr>
            <a:r>
              <a:rPr lang="en-US" sz="1800" dirty="0">
                <a:solidFill>
                  <a:srgbClr val="FFFF00"/>
                </a:solidFill>
              </a:rPr>
              <a:t>User interfaces </a:t>
            </a:r>
            <a:r>
              <a:rPr lang="en-US" sz="1800" dirty="0"/>
              <a:t>and</a:t>
            </a:r>
            <a:r>
              <a:rPr lang="en-US" sz="1800" dirty="0">
                <a:solidFill>
                  <a:srgbClr val="FFFF00"/>
                </a:solidFill>
              </a:rPr>
              <a:t> psychology</a:t>
            </a:r>
            <a:endParaRPr lang="en-US" sz="2000" dirty="0">
              <a:solidFill>
                <a:srgbClr val="FFFF00"/>
              </a:solidFill>
            </a:endParaRPr>
          </a:p>
          <a:p>
            <a:pPr>
              <a:spcBef>
                <a:spcPts val="2000"/>
              </a:spcBef>
            </a:pPr>
            <a:r>
              <a:rPr lang="en-US" sz="2000" dirty="0"/>
              <a:t>Usually requires almost no traditional CS</a:t>
            </a:r>
          </a:p>
          <a:p>
            <a:pPr marL="642938" lvl="1" indent="-182563">
              <a:spcBef>
                <a:spcPts val="1000"/>
              </a:spcBef>
            </a:pPr>
            <a:r>
              <a:rPr lang="en-US" sz="1800" dirty="0"/>
              <a:t>Background in the </a:t>
            </a:r>
            <a:r>
              <a:rPr lang="en-US" sz="1800" dirty="0">
                <a:solidFill>
                  <a:srgbClr val="FFFF00"/>
                </a:solidFill>
              </a:rPr>
              <a:t>software domain </a:t>
            </a:r>
            <a:r>
              <a:rPr lang="en-US" sz="1800" dirty="0"/>
              <a:t>is essential</a:t>
            </a:r>
          </a:p>
          <a:p>
            <a:pPr marL="642938" lvl="1" indent="-182563">
              <a:spcBef>
                <a:spcPts val="500"/>
              </a:spcBef>
            </a:pPr>
            <a:r>
              <a:rPr lang="en-US" sz="1800" dirty="0">
                <a:solidFill>
                  <a:srgbClr val="FFFF00"/>
                </a:solidFill>
              </a:rPr>
              <a:t>Empirical background </a:t>
            </a:r>
            <a:r>
              <a:rPr lang="en-US" sz="1800" dirty="0"/>
              <a:t>is very helpful (biology, psychology, </a:t>
            </a:r>
            <a:r>
              <a:rPr lang="is-IS" sz="1800" dirty="0"/>
              <a:t>…)</a:t>
            </a:r>
          </a:p>
          <a:p>
            <a:pPr marL="642938" lvl="1" indent="-182563">
              <a:spcBef>
                <a:spcPts val="500"/>
              </a:spcBef>
            </a:pPr>
            <a:r>
              <a:rPr lang="is-IS" sz="1800" dirty="0">
                <a:solidFill>
                  <a:srgbClr val="FFFF00"/>
                </a:solidFill>
              </a:rPr>
              <a:t>Logic background </a:t>
            </a:r>
            <a:r>
              <a:rPr lang="is-IS" sz="1800" dirty="0"/>
              <a:t>is very helpful (law, philosophy, math, ...)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59874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9144000" cy="914400"/>
          </a:xfrm>
        </p:spPr>
        <p:txBody>
          <a:bodyPr/>
          <a:lstStyle/>
          <a:p>
            <a:r>
              <a:rPr lang="en-US" dirty="0"/>
              <a:t>Other Activities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486399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FFFF00"/>
                </a:solidFill>
              </a:rPr>
              <a:t>Test management</a:t>
            </a:r>
          </a:p>
          <a:p>
            <a:pPr marL="642938" lvl="1" indent="-182563">
              <a:spcBef>
                <a:spcPts val="400"/>
              </a:spcBef>
            </a:pPr>
            <a:r>
              <a:rPr lang="en-US" sz="1800" dirty="0"/>
              <a:t>Sets policy, organizes team, interfaces with development, chooses criteria, decides how much automation is needed, </a:t>
            </a:r>
            <a:r>
              <a:rPr lang="is-IS" sz="1800" dirty="0"/>
              <a:t>…</a:t>
            </a:r>
            <a:endParaRPr lang="en-US" sz="1800" dirty="0"/>
          </a:p>
          <a:p>
            <a:pPr>
              <a:spcBef>
                <a:spcPts val="2000"/>
              </a:spcBef>
            </a:pPr>
            <a:r>
              <a:rPr lang="en-US" sz="2000" dirty="0">
                <a:solidFill>
                  <a:srgbClr val="FFFF00"/>
                </a:solidFill>
              </a:rPr>
              <a:t>Test maintenance</a:t>
            </a:r>
          </a:p>
          <a:p>
            <a:pPr marL="642938" lvl="1" indent="-165100">
              <a:spcBef>
                <a:spcPts val="400"/>
              </a:spcBef>
              <a:spcAft>
                <a:spcPts val="200"/>
              </a:spcAft>
              <a:buSzPct val="80000"/>
              <a:buFont typeface="Arial" pitchFamily="34" charset="0"/>
              <a:buChar char="•"/>
            </a:pPr>
            <a:r>
              <a:rPr lang="en-US" sz="1800" dirty="0"/>
              <a:t>Save tests</a:t>
            </a:r>
          </a:p>
          <a:p>
            <a:pPr marL="642938" lvl="1" indent="-165100">
              <a:spcBef>
                <a:spcPts val="400"/>
              </a:spcBef>
              <a:spcAft>
                <a:spcPts val="200"/>
              </a:spcAft>
              <a:buSzPct val="80000"/>
              <a:buFont typeface="Arial" pitchFamily="34" charset="0"/>
              <a:buChar char="•"/>
            </a:pPr>
            <a:r>
              <a:rPr lang="en-US" sz="1800" dirty="0"/>
              <a:t>Requires cooperation of test designers and test </a:t>
            </a:r>
            <a:r>
              <a:rPr lang="en-US" sz="1800" dirty="0" err="1"/>
              <a:t>automators</a:t>
            </a:r>
            <a:endParaRPr lang="en-US" sz="1800" dirty="0"/>
          </a:p>
          <a:p>
            <a:pPr marL="642938" lvl="1" indent="-165100">
              <a:spcBef>
                <a:spcPts val="400"/>
              </a:spcBef>
              <a:spcAft>
                <a:spcPts val="200"/>
              </a:spcAft>
              <a:buSzPct val="80000"/>
              <a:buFont typeface="Arial" pitchFamily="34" charset="0"/>
              <a:buChar char="•"/>
            </a:pPr>
            <a:r>
              <a:rPr lang="en-US" sz="1800" dirty="0"/>
              <a:t>Partly policy and partly technical</a:t>
            </a:r>
            <a:endParaRPr lang="en-US" sz="2000" dirty="0"/>
          </a:p>
          <a:p>
            <a:pPr>
              <a:spcBef>
                <a:spcPts val="2000"/>
              </a:spcBef>
            </a:pPr>
            <a:r>
              <a:rPr lang="en-US" sz="2000" dirty="0">
                <a:solidFill>
                  <a:srgbClr val="FFFF00"/>
                </a:solidFill>
              </a:rPr>
              <a:t>Test documentation</a:t>
            </a:r>
          </a:p>
          <a:p>
            <a:pPr marL="642938" lvl="1" indent="-165100">
              <a:spcBef>
                <a:spcPts val="400"/>
              </a:spcBef>
              <a:spcAft>
                <a:spcPts val="200"/>
              </a:spcAft>
              <a:buSzPct val="80000"/>
              <a:buFont typeface="Arial" pitchFamily="34" charset="0"/>
              <a:buChar char="•"/>
            </a:pPr>
            <a:r>
              <a:rPr lang="en-US" sz="1800" dirty="0"/>
              <a:t>All parties participate</a:t>
            </a:r>
          </a:p>
          <a:p>
            <a:pPr marL="642938" lvl="1" indent="-165100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Arial" pitchFamily="34" charset="0"/>
              <a:buChar char="•"/>
            </a:pPr>
            <a:r>
              <a:rPr lang="en-US" sz="1800" dirty="0"/>
              <a:t>Each test must document “why” – criterion and test requirement satisfied or a rationale for human-designed test</a:t>
            </a:r>
          </a:p>
          <a:p>
            <a:pPr marL="642938" lvl="1" indent="-165100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Arial" pitchFamily="34" charset="0"/>
              <a:buChar char="•"/>
            </a:pPr>
            <a:r>
              <a:rPr lang="en-US" sz="1800" dirty="0"/>
              <a:t>Ensure traceability throughout the process</a:t>
            </a:r>
          </a:p>
          <a:p>
            <a:pPr marL="642938" lvl="1" indent="-165100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SzPct val="80000"/>
              <a:buFont typeface="Arial" pitchFamily="34" charset="0"/>
              <a:buChar char="•"/>
            </a:pPr>
            <a:r>
              <a:rPr lang="en-US" sz="1800" dirty="0"/>
              <a:t>Keep documentation in the automated tests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95007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9144000" cy="914400"/>
          </a:xfrm>
        </p:spPr>
        <p:txBody>
          <a:bodyPr/>
          <a:lstStyle/>
          <a:p>
            <a:r>
              <a:rPr lang="en-US" dirty="0"/>
              <a:t>Organizing the Team</a:t>
            </a: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86399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000" dirty="0"/>
              <a:t>A mature test organization needs only one test designer to work with several test </a:t>
            </a:r>
            <a:r>
              <a:rPr lang="en-US" sz="2000" dirty="0" err="1"/>
              <a:t>automators</a:t>
            </a:r>
            <a:r>
              <a:rPr lang="en-US" sz="2000" dirty="0"/>
              <a:t>, executors, and evaluators</a:t>
            </a:r>
          </a:p>
          <a:p>
            <a:pPr>
              <a:spcBef>
                <a:spcPts val="1800"/>
              </a:spcBef>
            </a:pPr>
            <a:r>
              <a:rPr lang="en-US" sz="2000" dirty="0"/>
              <a:t>Improved automation will reduce the number of test executors</a:t>
            </a:r>
          </a:p>
          <a:p>
            <a:pPr>
              <a:spcBef>
                <a:spcPts val="1800"/>
              </a:spcBef>
            </a:pPr>
            <a:r>
              <a:rPr lang="en-US" sz="2000" dirty="0"/>
              <a:t>Putting the wrong people on the wrong tasks leads to inefficiency, low job satisfaction and low job performance</a:t>
            </a:r>
          </a:p>
          <a:p>
            <a:pPr marL="642938" lvl="1" indent="-179388">
              <a:spcBef>
                <a:spcPts val="800"/>
              </a:spcBef>
            </a:pPr>
            <a:r>
              <a:rPr lang="en-US" sz="1800" dirty="0"/>
              <a:t>A qualified test designer will be bored with other tasks and look for a job in development</a:t>
            </a:r>
          </a:p>
          <a:p>
            <a:pPr marL="642938" lvl="1" indent="-179388">
              <a:spcBef>
                <a:spcPts val="800"/>
              </a:spcBef>
            </a:pPr>
            <a:r>
              <a:rPr lang="en-US" sz="1800" dirty="0"/>
              <a:t>A qualified test evaluator will not understand the benefits of test criteria</a:t>
            </a:r>
          </a:p>
          <a:p>
            <a:pPr>
              <a:spcBef>
                <a:spcPts val="1800"/>
              </a:spcBef>
            </a:pPr>
            <a:r>
              <a:rPr lang="en-US" sz="2000" dirty="0"/>
              <a:t>Test evaluators have the domain knowledge, so they must be free to add tests that “blind” engineering processes will not think of</a:t>
            </a:r>
          </a:p>
        </p:txBody>
      </p:sp>
    </p:spTree>
    <p:extLst>
      <p:ext uri="{BB962C8B-B14F-4D97-AF65-F5344CB8AC3E}">
        <p14:creationId xmlns:p14="http://schemas.microsoft.com/office/powerpoint/2010/main" val="77645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MDTD in Practice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990601"/>
            <a:ext cx="8686800" cy="5486399"/>
          </a:xfrm>
        </p:spPr>
        <p:txBody>
          <a:bodyPr>
            <a:noAutofit/>
          </a:bodyPr>
          <a:lstStyle/>
          <a:p>
            <a:r>
              <a:rPr lang="en-US" sz="2000" dirty="0"/>
              <a:t>This approach lets one test designer do the math</a:t>
            </a:r>
          </a:p>
          <a:p>
            <a:pPr>
              <a:spcBef>
                <a:spcPts val="2000"/>
              </a:spcBef>
            </a:pPr>
            <a:r>
              <a:rPr lang="en-US" sz="2000" dirty="0"/>
              <a:t>Then traditional testers and programmers can do their parts</a:t>
            </a:r>
          </a:p>
          <a:p>
            <a:pPr marL="642938" lvl="1" indent="-182563">
              <a:spcBef>
                <a:spcPts val="700"/>
              </a:spcBef>
            </a:pPr>
            <a:r>
              <a:rPr lang="en-US" sz="1800" dirty="0"/>
              <a:t>Find values</a:t>
            </a:r>
          </a:p>
          <a:p>
            <a:pPr marL="642938" lvl="1" indent="-182563"/>
            <a:r>
              <a:rPr lang="en-US" sz="1800" dirty="0"/>
              <a:t>Automate the tests</a:t>
            </a:r>
          </a:p>
          <a:p>
            <a:pPr marL="642938" lvl="1" indent="-182563"/>
            <a:r>
              <a:rPr lang="en-US" sz="1800" dirty="0"/>
              <a:t>Run the tests</a:t>
            </a:r>
          </a:p>
          <a:p>
            <a:pPr marL="642938" lvl="1" indent="-182563"/>
            <a:r>
              <a:rPr lang="en-US" sz="1800" dirty="0"/>
              <a:t>Evaluate the tests</a:t>
            </a:r>
          </a:p>
          <a:p>
            <a:pPr>
              <a:spcBef>
                <a:spcPts val="2000"/>
              </a:spcBef>
            </a:pPr>
            <a:r>
              <a:rPr lang="en-US" sz="2000" dirty="0"/>
              <a:t>Test designers become technical experts</a:t>
            </a:r>
          </a:p>
          <a:p>
            <a:pPr>
              <a:spcBef>
                <a:spcPts val="2000"/>
              </a:spcBef>
            </a:pPr>
            <a:r>
              <a:rPr lang="en-US" sz="2000" dirty="0"/>
              <a:t>Many test designers get involved in crowd testing</a:t>
            </a:r>
          </a:p>
        </p:txBody>
      </p:sp>
    </p:spTree>
    <p:extLst>
      <p:ext uri="{BB962C8B-B14F-4D97-AF65-F5344CB8AC3E}">
        <p14:creationId xmlns:p14="http://schemas.microsoft.com/office/powerpoint/2010/main" val="2062089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Model-Driven </a:t>
            </a:r>
            <a:r>
              <a:rPr lang="en-US" sz="3800"/>
              <a:t>Test Design - Steps</a:t>
            </a:r>
            <a:endParaRPr lang="en-US" sz="3800" dirty="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67640" y="3790731"/>
            <a:ext cx="1280160" cy="5909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software artifact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066800" y="1206147"/>
            <a:ext cx="1316736" cy="5909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model / structure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657600" y="1233847"/>
            <a:ext cx="1737360" cy="5909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requirements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327648" y="1068161"/>
            <a:ext cx="1901952" cy="84023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refined requirements / test specs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894320" y="3886200"/>
            <a:ext cx="1097280" cy="5909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input values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583680" y="5068670"/>
            <a:ext cx="914400" cy="590931"/>
          </a:xfrm>
          <a:prstGeom prst="rect">
            <a:avLst/>
          </a:prstGeom>
          <a:noFill/>
          <a:ln w="31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cases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242816" y="5068670"/>
            <a:ext cx="987552" cy="590931"/>
          </a:xfrm>
          <a:prstGeom prst="rect">
            <a:avLst/>
          </a:prstGeom>
          <a:noFill/>
          <a:ln w="31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scripts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81785" y="5068670"/>
            <a:ext cx="1042415" cy="590931"/>
          </a:xfrm>
          <a:prstGeom prst="rect">
            <a:avLst/>
          </a:prstGeom>
          <a:noFill/>
          <a:ln w="31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results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52400" y="5068670"/>
            <a:ext cx="987552" cy="590931"/>
          </a:xfrm>
          <a:prstGeom prst="rect">
            <a:avLst/>
          </a:prstGeom>
          <a:noFill/>
          <a:ln w="31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pass / fail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2103120" y="3493008"/>
            <a:ext cx="2468880" cy="762000"/>
            <a:chOff x="2267790" y="3639145"/>
            <a:chExt cx="2468880" cy="762000"/>
          </a:xfrm>
        </p:grpSpPr>
        <p:sp>
          <p:nvSpPr>
            <p:cNvPr id="22" name="Parallelogram 21"/>
            <p:cNvSpPr/>
            <p:nvPr/>
          </p:nvSpPr>
          <p:spPr>
            <a:xfrm>
              <a:off x="2267790" y="3639145"/>
              <a:ext cx="2468880" cy="762000"/>
            </a:xfrm>
            <a:prstGeom prst="parallelogram">
              <a:avLst/>
            </a:prstGeom>
            <a:solidFill>
              <a:srgbClr val="00009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1700">
                <a:solidFill>
                  <a:schemeClr val="bg1"/>
                </a:solidFill>
              </a:endParaRPr>
            </a:p>
          </p:txBody>
        </p:sp>
        <p:sp>
          <p:nvSpPr>
            <p:cNvPr id="67" name="TextBox 66"/>
            <p:cNvSpPr txBox="1">
              <a:spLocks noChangeArrowheads="1"/>
            </p:cNvSpPr>
            <p:nvPr/>
          </p:nvSpPr>
          <p:spPr bwMode="auto">
            <a:xfrm>
              <a:off x="2462663" y="3747864"/>
              <a:ext cx="2071401" cy="563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700" b="0" i="1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Implementation</a:t>
              </a:r>
            </a:p>
            <a:p>
              <a:pPr algn="ctr">
                <a:lnSpc>
                  <a:spcPct val="90000"/>
                </a:lnSpc>
              </a:pPr>
              <a:r>
                <a:rPr lang="en-US" sz="1700" b="0" i="1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Abstraction Level</a:t>
              </a:r>
            </a:p>
          </p:txBody>
        </p:sp>
      </p:grpSp>
      <p:cxnSp>
        <p:nvCxnSpPr>
          <p:cNvPr id="63" name="Straight Connector 62"/>
          <p:cNvCxnSpPr>
            <a:cxnSpLocks noChangeShapeType="1"/>
          </p:cNvCxnSpPr>
          <p:nvPr/>
        </p:nvCxnSpPr>
        <p:spPr bwMode="auto">
          <a:xfrm>
            <a:off x="149225" y="3352800"/>
            <a:ext cx="8845550" cy="1588"/>
          </a:xfrm>
          <a:prstGeom prst="line">
            <a:avLst/>
          </a:prstGeom>
          <a:noFill/>
          <a:ln w="57150" algn="ctr">
            <a:solidFill>
              <a:srgbClr val="FF0066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3222625" y="2158647"/>
            <a:ext cx="1801813" cy="5909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requirements</a:t>
            </a:r>
          </a:p>
        </p:txBody>
      </p:sp>
      <p:sp>
        <p:nvSpPr>
          <p:cNvPr id="31" name="Date Placeholder 3"/>
          <p:cNvSpPr txBox="1">
            <a:spLocks/>
          </p:cNvSpPr>
          <p:nvPr/>
        </p:nvSpPr>
        <p:spPr>
          <a:xfrm>
            <a:off x="7799388" y="6248399"/>
            <a:ext cx="1268412" cy="2778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14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[AO, p.30]</a:t>
            </a:r>
            <a:endParaRPr lang="en-US" sz="1400" b="0" u="sng" dirty="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cxnSp>
        <p:nvCxnSpPr>
          <p:cNvPr id="5" name="Elbow Connector 4"/>
          <p:cNvCxnSpPr>
            <a:stCxn id="10" idx="3"/>
            <a:endCxn id="11" idx="0"/>
          </p:cNvCxnSpPr>
          <p:nvPr/>
        </p:nvCxnSpPr>
        <p:spPr>
          <a:xfrm>
            <a:off x="8229600" y="1488276"/>
            <a:ext cx="213360" cy="2397924"/>
          </a:xfrm>
          <a:prstGeom prst="bentConnector2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9" idx="1"/>
          </p:cNvCxnSpPr>
          <p:nvPr/>
        </p:nvCxnSpPr>
        <p:spPr>
          <a:xfrm>
            <a:off x="2383536" y="1501613"/>
            <a:ext cx="1274064" cy="27700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3"/>
            <a:endCxn id="10" idx="1"/>
          </p:cNvCxnSpPr>
          <p:nvPr/>
        </p:nvCxnSpPr>
        <p:spPr>
          <a:xfrm flipV="1">
            <a:off x="5394960" y="1488276"/>
            <a:ext cx="932688" cy="41037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7" idx="0"/>
            <a:endCxn id="8" idx="1"/>
          </p:cNvCxnSpPr>
          <p:nvPr/>
        </p:nvCxnSpPr>
        <p:spPr>
          <a:xfrm rot="5400000" flipH="1" flipV="1">
            <a:off x="-207299" y="2516632"/>
            <a:ext cx="2289118" cy="259080"/>
          </a:xfrm>
          <a:prstGeom prst="bentConnector2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7" idx="3"/>
            <a:endCxn id="28" idx="1"/>
          </p:cNvCxnSpPr>
          <p:nvPr/>
        </p:nvCxnSpPr>
        <p:spPr>
          <a:xfrm flipV="1">
            <a:off x="1447800" y="2454113"/>
            <a:ext cx="1774825" cy="1632084"/>
          </a:xfrm>
          <a:prstGeom prst="bentConnector3">
            <a:avLst>
              <a:gd name="adj1" fmla="val 15653"/>
            </a:avLst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5452872" y="2468880"/>
            <a:ext cx="2395728" cy="731520"/>
            <a:chOff x="2537494" y="3639145"/>
            <a:chExt cx="2395728" cy="731520"/>
          </a:xfrm>
        </p:grpSpPr>
        <p:sp>
          <p:nvSpPr>
            <p:cNvPr id="49" name="Parallelogram 48"/>
            <p:cNvSpPr/>
            <p:nvPr/>
          </p:nvSpPr>
          <p:spPr>
            <a:xfrm>
              <a:off x="2537494" y="3639145"/>
              <a:ext cx="2395728" cy="731520"/>
            </a:xfrm>
            <a:prstGeom prst="parallelogram">
              <a:avLst/>
            </a:prstGeom>
            <a:solidFill>
              <a:srgbClr val="00009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1700">
                <a:solidFill>
                  <a:schemeClr val="bg1"/>
                </a:solidFill>
              </a:endParaRPr>
            </a:p>
          </p:txBody>
        </p:sp>
        <p:sp>
          <p:nvSpPr>
            <p:cNvPr id="51" name="TextBox 50"/>
            <p:cNvSpPr txBox="1">
              <a:spLocks noChangeArrowheads="1"/>
            </p:cNvSpPr>
            <p:nvPr/>
          </p:nvSpPr>
          <p:spPr bwMode="auto">
            <a:xfrm>
              <a:off x="2668196" y="3744435"/>
              <a:ext cx="2071401" cy="563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700" b="0" i="1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Design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1700" b="0" i="1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Abstraction Level</a:t>
              </a:r>
            </a:p>
          </p:txBody>
        </p:sp>
      </p:grpSp>
      <p:cxnSp>
        <p:nvCxnSpPr>
          <p:cNvPr id="52" name="Elbow Connector 51"/>
          <p:cNvCxnSpPr>
            <a:stCxn id="11" idx="2"/>
            <a:endCxn id="12" idx="3"/>
          </p:cNvCxnSpPr>
          <p:nvPr/>
        </p:nvCxnSpPr>
        <p:spPr>
          <a:xfrm rot="5400000">
            <a:off x="7527018" y="4448193"/>
            <a:ext cx="887005" cy="944880"/>
          </a:xfrm>
          <a:prstGeom prst="bentConnector2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2" idx="1"/>
            <a:endCxn id="13" idx="3"/>
          </p:cNvCxnSpPr>
          <p:nvPr/>
        </p:nvCxnSpPr>
        <p:spPr>
          <a:xfrm flipH="1">
            <a:off x="5230368" y="5364136"/>
            <a:ext cx="1353312" cy="0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13" idx="1"/>
            <a:endCxn id="14" idx="3"/>
          </p:cNvCxnSpPr>
          <p:nvPr/>
        </p:nvCxnSpPr>
        <p:spPr>
          <a:xfrm flipH="1">
            <a:off x="3124200" y="5364136"/>
            <a:ext cx="1118616" cy="0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14" idx="1"/>
            <a:endCxn id="26" idx="3"/>
          </p:cNvCxnSpPr>
          <p:nvPr/>
        </p:nvCxnSpPr>
        <p:spPr>
          <a:xfrm flipH="1">
            <a:off x="1139952" y="5364136"/>
            <a:ext cx="941833" cy="0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28" idx="3"/>
          </p:cNvCxnSpPr>
          <p:nvPr/>
        </p:nvCxnSpPr>
        <p:spPr>
          <a:xfrm flipV="1">
            <a:off x="5024438" y="1676401"/>
            <a:ext cx="1322546" cy="777712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2400" y="2057400"/>
            <a:ext cx="1010213" cy="338554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7648" y="1074186"/>
            <a:ext cx="987552" cy="338554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criterion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3372" y="1066800"/>
            <a:ext cx="731520" cy="338554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refine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3260" y="2133600"/>
            <a:ext cx="1042415" cy="338554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generate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9200" y="2615184"/>
            <a:ext cx="1097280" cy="535531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anchor="ctr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16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domain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75589" y="4990487"/>
            <a:ext cx="1116010" cy="75713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none" anchor="ctr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16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prefix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16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postfix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16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expected</a:t>
            </a:r>
          </a:p>
        </p:txBody>
      </p:sp>
      <p:sp>
        <p:nvSpPr>
          <p:cNvPr id="41" name="TextBox 40"/>
          <p:cNvSpPr txBox="1"/>
          <p:nvPr/>
        </p:nvSpPr>
        <p:spPr>
          <a:xfrm rot="19221983">
            <a:off x="5235464" y="5656720"/>
            <a:ext cx="1133856" cy="338554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automate</a:t>
            </a:r>
          </a:p>
        </p:txBody>
      </p:sp>
      <p:sp>
        <p:nvSpPr>
          <p:cNvPr id="43" name="TextBox 42"/>
          <p:cNvSpPr txBox="1"/>
          <p:nvPr/>
        </p:nvSpPr>
        <p:spPr>
          <a:xfrm rot="19258356">
            <a:off x="3148591" y="5593238"/>
            <a:ext cx="914400" cy="338554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execute</a:t>
            </a:r>
          </a:p>
        </p:txBody>
      </p:sp>
      <p:sp>
        <p:nvSpPr>
          <p:cNvPr id="44" name="TextBox 43"/>
          <p:cNvSpPr txBox="1"/>
          <p:nvPr/>
        </p:nvSpPr>
        <p:spPr>
          <a:xfrm rot="19257782">
            <a:off x="974589" y="5612959"/>
            <a:ext cx="1005840" cy="338554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evaluate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1900518" y="3137401"/>
            <a:ext cx="6131858" cy="1811117"/>
            <a:chOff x="1900518" y="3137401"/>
            <a:chExt cx="6131858" cy="1811117"/>
          </a:xfrm>
        </p:grpSpPr>
        <p:cxnSp>
          <p:nvCxnSpPr>
            <p:cNvPr id="61" name="Curved Connector 60"/>
            <p:cNvCxnSpPr>
              <a:cxnSpLocks/>
            </p:cNvCxnSpPr>
            <p:nvPr/>
          </p:nvCxnSpPr>
          <p:spPr>
            <a:xfrm rot="16200000" flipV="1">
              <a:off x="4512914" y="3348887"/>
              <a:ext cx="1500968" cy="107799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Freeform 82"/>
            <p:cNvSpPr/>
            <p:nvPr/>
          </p:nvSpPr>
          <p:spPr>
            <a:xfrm>
              <a:off x="1900518" y="3674095"/>
              <a:ext cx="6131858" cy="1274423"/>
            </a:xfrm>
            <a:custGeom>
              <a:avLst/>
              <a:gdLst>
                <a:gd name="connsiteX0" fmla="*/ 0 w 6131858"/>
                <a:gd name="connsiteY0" fmla="*/ 1274423 h 1274423"/>
                <a:gd name="connsiteX1" fmla="*/ 663388 w 6131858"/>
                <a:gd name="connsiteY1" fmla="*/ 1077199 h 1274423"/>
                <a:gd name="connsiteX2" fmla="*/ 1990164 w 6131858"/>
                <a:gd name="connsiteY2" fmla="*/ 1023411 h 1274423"/>
                <a:gd name="connsiteX3" fmla="*/ 3245223 w 6131858"/>
                <a:gd name="connsiteY3" fmla="*/ 1023411 h 1274423"/>
                <a:gd name="connsiteX4" fmla="*/ 4482353 w 6131858"/>
                <a:gd name="connsiteY4" fmla="*/ 862046 h 1274423"/>
                <a:gd name="connsiteX5" fmla="*/ 5271247 w 6131858"/>
                <a:gd name="connsiteY5" fmla="*/ 449670 h 1274423"/>
                <a:gd name="connsiteX6" fmla="*/ 5809129 w 6131858"/>
                <a:gd name="connsiteY6" fmla="*/ 37293 h 1274423"/>
                <a:gd name="connsiteX7" fmla="*/ 6131858 w 6131858"/>
                <a:gd name="connsiteY7" fmla="*/ 19364 h 1274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31858" h="1274423">
                  <a:moveTo>
                    <a:pt x="0" y="1274423"/>
                  </a:moveTo>
                  <a:cubicBezTo>
                    <a:pt x="165847" y="1196728"/>
                    <a:pt x="331694" y="1119034"/>
                    <a:pt x="663388" y="1077199"/>
                  </a:cubicBezTo>
                  <a:cubicBezTo>
                    <a:pt x="995082" y="1035364"/>
                    <a:pt x="1559858" y="1032376"/>
                    <a:pt x="1990164" y="1023411"/>
                  </a:cubicBezTo>
                  <a:cubicBezTo>
                    <a:pt x="2420470" y="1014446"/>
                    <a:pt x="2829858" y="1050305"/>
                    <a:pt x="3245223" y="1023411"/>
                  </a:cubicBezTo>
                  <a:cubicBezTo>
                    <a:pt x="3660588" y="996517"/>
                    <a:pt x="4144682" y="957669"/>
                    <a:pt x="4482353" y="862046"/>
                  </a:cubicBezTo>
                  <a:cubicBezTo>
                    <a:pt x="4820024" y="766422"/>
                    <a:pt x="5050118" y="587129"/>
                    <a:pt x="5271247" y="449670"/>
                  </a:cubicBezTo>
                  <a:cubicBezTo>
                    <a:pt x="5492376" y="312211"/>
                    <a:pt x="5665694" y="109011"/>
                    <a:pt x="5809129" y="37293"/>
                  </a:cubicBezTo>
                  <a:cubicBezTo>
                    <a:pt x="5952564" y="-34425"/>
                    <a:pt x="6131858" y="19364"/>
                    <a:pt x="6131858" y="19364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206468" y="4446494"/>
              <a:ext cx="1109599" cy="338554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600" b="0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feedback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3609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24542" y="4898051"/>
            <a:ext cx="1880458" cy="1570855"/>
            <a:chOff x="24542" y="4829945"/>
            <a:chExt cx="1880458" cy="1570855"/>
          </a:xfrm>
        </p:grpSpPr>
        <p:sp>
          <p:nvSpPr>
            <p:cNvPr id="35" name="Freeform 34"/>
            <p:cNvSpPr/>
            <p:nvPr/>
          </p:nvSpPr>
          <p:spPr>
            <a:xfrm>
              <a:off x="24542" y="4829945"/>
              <a:ext cx="1867821" cy="1570855"/>
            </a:xfrm>
            <a:custGeom>
              <a:avLst/>
              <a:gdLst>
                <a:gd name="connsiteX0" fmla="*/ 137726 w 1702772"/>
                <a:gd name="connsiteY0" fmla="*/ 1384549 h 1570855"/>
                <a:gd name="connsiteX1" fmla="*/ 209443 w 1702772"/>
                <a:gd name="connsiteY1" fmla="*/ 254996 h 1570855"/>
                <a:gd name="connsiteX2" fmla="*/ 1482432 w 1702772"/>
                <a:gd name="connsiteY2" fmla="*/ 93631 h 1570855"/>
                <a:gd name="connsiteX3" fmla="*/ 1572079 w 1702772"/>
                <a:gd name="connsiteY3" fmla="*/ 1438337 h 1570855"/>
                <a:gd name="connsiteX4" fmla="*/ 137726 w 1702772"/>
                <a:gd name="connsiteY4" fmla="*/ 1384549 h 1570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2772" h="1570855">
                  <a:moveTo>
                    <a:pt x="137726" y="1384549"/>
                  </a:moveTo>
                  <a:cubicBezTo>
                    <a:pt x="-89380" y="1187326"/>
                    <a:pt x="-14675" y="470149"/>
                    <a:pt x="209443" y="254996"/>
                  </a:cubicBezTo>
                  <a:cubicBezTo>
                    <a:pt x="433561" y="39843"/>
                    <a:pt x="1255326" y="-103592"/>
                    <a:pt x="1482432" y="93631"/>
                  </a:cubicBezTo>
                  <a:cubicBezTo>
                    <a:pt x="1709538" y="290854"/>
                    <a:pt x="1796197" y="1220196"/>
                    <a:pt x="1572079" y="1438337"/>
                  </a:cubicBezTo>
                  <a:cubicBezTo>
                    <a:pt x="1347961" y="1656478"/>
                    <a:pt x="364832" y="1581772"/>
                    <a:pt x="137726" y="1384549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/>
            <p:cNvSpPr txBox="1">
              <a:spLocks noChangeArrowheads="1"/>
            </p:cNvSpPr>
            <p:nvPr/>
          </p:nvSpPr>
          <p:spPr bwMode="auto">
            <a:xfrm>
              <a:off x="103187" y="5760720"/>
              <a:ext cx="1801813" cy="563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sz="180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</a:rPr>
                <a:t>Test Evaluation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018379" y="4851196"/>
            <a:ext cx="1917034" cy="1570855"/>
            <a:chOff x="2018379" y="4829945"/>
            <a:chExt cx="1917034" cy="1570855"/>
          </a:xfrm>
        </p:grpSpPr>
        <p:sp>
          <p:nvSpPr>
            <p:cNvPr id="19" name="Freeform 18"/>
            <p:cNvSpPr/>
            <p:nvPr/>
          </p:nvSpPr>
          <p:spPr>
            <a:xfrm>
              <a:off x="2018379" y="4829945"/>
              <a:ext cx="1867821" cy="1570855"/>
            </a:xfrm>
            <a:custGeom>
              <a:avLst/>
              <a:gdLst>
                <a:gd name="connsiteX0" fmla="*/ 137726 w 1702772"/>
                <a:gd name="connsiteY0" fmla="*/ 1384549 h 1570855"/>
                <a:gd name="connsiteX1" fmla="*/ 209443 w 1702772"/>
                <a:gd name="connsiteY1" fmla="*/ 254996 h 1570855"/>
                <a:gd name="connsiteX2" fmla="*/ 1482432 w 1702772"/>
                <a:gd name="connsiteY2" fmla="*/ 93631 h 1570855"/>
                <a:gd name="connsiteX3" fmla="*/ 1572079 w 1702772"/>
                <a:gd name="connsiteY3" fmla="*/ 1438337 h 1570855"/>
                <a:gd name="connsiteX4" fmla="*/ 137726 w 1702772"/>
                <a:gd name="connsiteY4" fmla="*/ 1384549 h 1570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2772" h="1570855">
                  <a:moveTo>
                    <a:pt x="137726" y="1384549"/>
                  </a:moveTo>
                  <a:cubicBezTo>
                    <a:pt x="-89380" y="1187326"/>
                    <a:pt x="-14675" y="470149"/>
                    <a:pt x="209443" y="254996"/>
                  </a:cubicBezTo>
                  <a:cubicBezTo>
                    <a:pt x="433561" y="39843"/>
                    <a:pt x="1255326" y="-103592"/>
                    <a:pt x="1482432" y="93631"/>
                  </a:cubicBezTo>
                  <a:cubicBezTo>
                    <a:pt x="1709538" y="290854"/>
                    <a:pt x="1796197" y="1220196"/>
                    <a:pt x="1572079" y="1438337"/>
                  </a:cubicBezTo>
                  <a:cubicBezTo>
                    <a:pt x="1347961" y="1656478"/>
                    <a:pt x="364832" y="1581772"/>
                    <a:pt x="137726" y="1384549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>
              <a:spLocks noChangeArrowheads="1"/>
            </p:cNvSpPr>
            <p:nvPr/>
          </p:nvSpPr>
          <p:spPr bwMode="auto">
            <a:xfrm>
              <a:off x="2133600" y="5760720"/>
              <a:ext cx="1801813" cy="563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sz="180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</a:rPr>
                <a:t>Test Execution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962400" y="3755051"/>
            <a:ext cx="5131784" cy="2220150"/>
            <a:chOff x="3962400" y="3733800"/>
            <a:chExt cx="5131784" cy="2220150"/>
          </a:xfrm>
        </p:grpSpPr>
        <p:sp>
          <p:nvSpPr>
            <p:cNvPr id="17" name="Freeform 16"/>
            <p:cNvSpPr/>
            <p:nvPr/>
          </p:nvSpPr>
          <p:spPr>
            <a:xfrm>
              <a:off x="3962400" y="3733800"/>
              <a:ext cx="5131784" cy="2220150"/>
            </a:xfrm>
            <a:custGeom>
              <a:avLst/>
              <a:gdLst>
                <a:gd name="connsiteX0" fmla="*/ 78408 w 5257155"/>
                <a:gd name="connsiteY0" fmla="*/ 1818863 h 2220150"/>
                <a:gd name="connsiteX1" fmla="*/ 150126 w 5257155"/>
                <a:gd name="connsiteY1" fmla="*/ 1263051 h 2220150"/>
                <a:gd name="connsiteX2" fmla="*/ 1154173 w 5257155"/>
                <a:gd name="connsiteY2" fmla="*/ 1029969 h 2220150"/>
                <a:gd name="connsiteX3" fmla="*/ 3126408 w 5257155"/>
                <a:gd name="connsiteY3" fmla="*/ 456228 h 2220150"/>
                <a:gd name="connsiteX4" fmla="*/ 3807726 w 5257155"/>
                <a:gd name="connsiteY4" fmla="*/ 61781 h 2220150"/>
                <a:gd name="connsiteX5" fmla="*/ 4757984 w 5257155"/>
                <a:gd name="connsiteY5" fmla="*/ 7993 h 2220150"/>
                <a:gd name="connsiteX6" fmla="*/ 5188290 w 5257155"/>
                <a:gd name="connsiteY6" fmla="*/ 133499 h 2220150"/>
                <a:gd name="connsiteX7" fmla="*/ 5224149 w 5257155"/>
                <a:gd name="connsiteY7" fmla="*/ 868604 h 2220150"/>
                <a:gd name="connsiteX8" fmla="*/ 4865561 w 5257155"/>
                <a:gd name="connsiteY8" fmla="*/ 1872651 h 2220150"/>
                <a:gd name="connsiteX9" fmla="*/ 3413279 w 5257155"/>
                <a:gd name="connsiteY9" fmla="*/ 2177451 h 2220150"/>
                <a:gd name="connsiteX10" fmla="*/ 867302 w 5257155"/>
                <a:gd name="connsiteY10" fmla="*/ 2177451 h 2220150"/>
                <a:gd name="connsiteX11" fmla="*/ 78408 w 5257155"/>
                <a:gd name="connsiteY11" fmla="*/ 1818863 h 222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57155" h="2220150">
                  <a:moveTo>
                    <a:pt x="78408" y="1818863"/>
                  </a:moveTo>
                  <a:cubicBezTo>
                    <a:pt x="-41121" y="1666463"/>
                    <a:pt x="-29168" y="1394533"/>
                    <a:pt x="150126" y="1263051"/>
                  </a:cubicBezTo>
                  <a:cubicBezTo>
                    <a:pt x="329420" y="1131569"/>
                    <a:pt x="658126" y="1164439"/>
                    <a:pt x="1154173" y="1029969"/>
                  </a:cubicBezTo>
                  <a:cubicBezTo>
                    <a:pt x="1650220" y="895498"/>
                    <a:pt x="2684149" y="617593"/>
                    <a:pt x="3126408" y="456228"/>
                  </a:cubicBezTo>
                  <a:cubicBezTo>
                    <a:pt x="3568667" y="294863"/>
                    <a:pt x="3535797" y="136487"/>
                    <a:pt x="3807726" y="61781"/>
                  </a:cubicBezTo>
                  <a:cubicBezTo>
                    <a:pt x="4079655" y="-12925"/>
                    <a:pt x="4527890" y="-3960"/>
                    <a:pt x="4757984" y="7993"/>
                  </a:cubicBezTo>
                  <a:cubicBezTo>
                    <a:pt x="4988078" y="19946"/>
                    <a:pt x="5110596" y="-9936"/>
                    <a:pt x="5188290" y="133499"/>
                  </a:cubicBezTo>
                  <a:cubicBezTo>
                    <a:pt x="5265984" y="276934"/>
                    <a:pt x="5277937" y="578745"/>
                    <a:pt x="5224149" y="868604"/>
                  </a:cubicBezTo>
                  <a:cubicBezTo>
                    <a:pt x="5170361" y="1158463"/>
                    <a:pt x="5167373" y="1654510"/>
                    <a:pt x="4865561" y="1872651"/>
                  </a:cubicBezTo>
                  <a:cubicBezTo>
                    <a:pt x="4563749" y="2090792"/>
                    <a:pt x="4079656" y="2126651"/>
                    <a:pt x="3413279" y="2177451"/>
                  </a:cubicBezTo>
                  <a:cubicBezTo>
                    <a:pt x="2746902" y="2228251"/>
                    <a:pt x="1429090" y="2240204"/>
                    <a:pt x="867302" y="2177451"/>
                  </a:cubicBezTo>
                  <a:cubicBezTo>
                    <a:pt x="305514" y="2114698"/>
                    <a:pt x="197937" y="1971263"/>
                    <a:pt x="78408" y="1818863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>
              <a:spLocks noChangeArrowheads="1"/>
            </p:cNvSpPr>
            <p:nvPr/>
          </p:nvSpPr>
          <p:spPr bwMode="auto">
            <a:xfrm rot="20681685">
              <a:off x="5169307" y="4441223"/>
              <a:ext cx="252288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sz="180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</a:rPr>
                <a:t>Test Automation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09600" y="914400"/>
            <a:ext cx="8131292" cy="1469051"/>
            <a:chOff x="609600" y="893149"/>
            <a:chExt cx="8131292" cy="1469051"/>
          </a:xfrm>
        </p:grpSpPr>
        <p:sp>
          <p:nvSpPr>
            <p:cNvPr id="18" name="Freeform 17"/>
            <p:cNvSpPr/>
            <p:nvPr/>
          </p:nvSpPr>
          <p:spPr>
            <a:xfrm>
              <a:off x="609600" y="893149"/>
              <a:ext cx="8131292" cy="1469051"/>
            </a:xfrm>
            <a:custGeom>
              <a:avLst/>
              <a:gdLst>
                <a:gd name="connsiteX0" fmla="*/ 83006 w 8131292"/>
                <a:gd name="connsiteY0" fmla="*/ 988358 h 1366686"/>
                <a:gd name="connsiteX1" fmla="*/ 100935 w 8131292"/>
                <a:gd name="connsiteY1" fmla="*/ 217394 h 1366686"/>
                <a:gd name="connsiteX2" fmla="*/ 1087053 w 8131292"/>
                <a:gd name="connsiteY2" fmla="*/ 109817 h 1366686"/>
                <a:gd name="connsiteX3" fmla="*/ 3489594 w 8131292"/>
                <a:gd name="connsiteY3" fmla="*/ 127747 h 1366686"/>
                <a:gd name="connsiteX4" fmla="*/ 4888088 w 8131292"/>
                <a:gd name="connsiteY4" fmla="*/ 109817 h 1366686"/>
                <a:gd name="connsiteX5" fmla="*/ 6161076 w 8131292"/>
                <a:gd name="connsiteY5" fmla="*/ 20170 h 1366686"/>
                <a:gd name="connsiteX6" fmla="*/ 7756794 w 8131292"/>
                <a:gd name="connsiteY6" fmla="*/ 91888 h 1366686"/>
                <a:gd name="connsiteX7" fmla="*/ 8115382 w 8131292"/>
                <a:gd name="connsiteY7" fmla="*/ 898711 h 1366686"/>
                <a:gd name="connsiteX8" fmla="*/ 7416135 w 8131292"/>
                <a:gd name="connsiteY8" fmla="*/ 1346947 h 1366686"/>
                <a:gd name="connsiteX9" fmla="*/ 4906017 w 8131292"/>
                <a:gd name="connsiteY9" fmla="*/ 1293158 h 1366686"/>
                <a:gd name="connsiteX10" fmla="*/ 2933782 w 8131292"/>
                <a:gd name="connsiteY10" fmla="*/ 1311088 h 1366686"/>
                <a:gd name="connsiteX11" fmla="*/ 1266347 w 8131292"/>
                <a:gd name="connsiteY11" fmla="*/ 1329017 h 1366686"/>
                <a:gd name="connsiteX12" fmla="*/ 549170 w 8131292"/>
                <a:gd name="connsiteY12" fmla="*/ 1275229 h 1366686"/>
                <a:gd name="connsiteX13" fmla="*/ 83006 w 8131292"/>
                <a:gd name="connsiteY13" fmla="*/ 988358 h 1366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131292" h="1366686">
                  <a:moveTo>
                    <a:pt x="83006" y="988358"/>
                  </a:moveTo>
                  <a:cubicBezTo>
                    <a:pt x="8300" y="812052"/>
                    <a:pt x="-66406" y="363817"/>
                    <a:pt x="100935" y="217394"/>
                  </a:cubicBezTo>
                  <a:cubicBezTo>
                    <a:pt x="268276" y="70971"/>
                    <a:pt x="522277" y="124758"/>
                    <a:pt x="1087053" y="109817"/>
                  </a:cubicBezTo>
                  <a:cubicBezTo>
                    <a:pt x="1651829" y="94876"/>
                    <a:pt x="2856088" y="127747"/>
                    <a:pt x="3489594" y="127747"/>
                  </a:cubicBezTo>
                  <a:cubicBezTo>
                    <a:pt x="4123100" y="127747"/>
                    <a:pt x="4442841" y="127746"/>
                    <a:pt x="4888088" y="109817"/>
                  </a:cubicBezTo>
                  <a:cubicBezTo>
                    <a:pt x="5333335" y="91887"/>
                    <a:pt x="5682958" y="23158"/>
                    <a:pt x="6161076" y="20170"/>
                  </a:cubicBezTo>
                  <a:cubicBezTo>
                    <a:pt x="6639194" y="17182"/>
                    <a:pt x="7431076" y="-54536"/>
                    <a:pt x="7756794" y="91888"/>
                  </a:cubicBezTo>
                  <a:cubicBezTo>
                    <a:pt x="8082512" y="238311"/>
                    <a:pt x="8172159" y="689534"/>
                    <a:pt x="8115382" y="898711"/>
                  </a:cubicBezTo>
                  <a:cubicBezTo>
                    <a:pt x="8058605" y="1107888"/>
                    <a:pt x="7951029" y="1281206"/>
                    <a:pt x="7416135" y="1346947"/>
                  </a:cubicBezTo>
                  <a:cubicBezTo>
                    <a:pt x="6881241" y="1412688"/>
                    <a:pt x="4906017" y="1293158"/>
                    <a:pt x="4906017" y="1293158"/>
                  </a:cubicBezTo>
                  <a:lnTo>
                    <a:pt x="2933782" y="1311088"/>
                  </a:lnTo>
                  <a:lnTo>
                    <a:pt x="1266347" y="1329017"/>
                  </a:lnTo>
                  <a:cubicBezTo>
                    <a:pt x="868912" y="1323041"/>
                    <a:pt x="743405" y="1332006"/>
                    <a:pt x="549170" y="1275229"/>
                  </a:cubicBezTo>
                  <a:cubicBezTo>
                    <a:pt x="354935" y="1218453"/>
                    <a:pt x="157712" y="1164664"/>
                    <a:pt x="83006" y="988358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>
              <a:spLocks noChangeArrowheads="1"/>
            </p:cNvSpPr>
            <p:nvPr/>
          </p:nvSpPr>
          <p:spPr bwMode="auto">
            <a:xfrm>
              <a:off x="2286000" y="1865376"/>
              <a:ext cx="180181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sz="180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</a:rPr>
                <a:t>Test Design</a:t>
              </a:r>
            </a:p>
          </p:txBody>
        </p:sp>
      </p:grpSp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Model-Driven Test Design </a:t>
            </a:r>
            <a:r>
              <a:rPr lang="en-US" sz="3400"/>
              <a:t>- Activities</a:t>
            </a:r>
            <a:endParaRPr lang="en-US" sz="3400" dirty="0"/>
          </a:p>
        </p:txBody>
      </p: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167640" y="3811982"/>
            <a:ext cx="1280160" cy="5909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software artifact</a:t>
            </a: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1066800" y="1227398"/>
            <a:ext cx="1316736" cy="5909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model / structure</a:t>
            </a: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3657600" y="1225296"/>
            <a:ext cx="1737360" cy="5909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requirements</a:t>
            </a: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6327648" y="1097280"/>
            <a:ext cx="1901952" cy="84023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refined requirements / test specs</a:t>
            </a: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7848600" y="3907451"/>
            <a:ext cx="1097280" cy="5909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input values</a:t>
            </a: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6553200" y="5089921"/>
            <a:ext cx="914400" cy="590931"/>
          </a:xfrm>
          <a:prstGeom prst="rect">
            <a:avLst/>
          </a:prstGeom>
          <a:noFill/>
          <a:ln w="31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cases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4346448" y="5089921"/>
            <a:ext cx="987552" cy="590931"/>
          </a:xfrm>
          <a:prstGeom prst="rect">
            <a:avLst/>
          </a:prstGeom>
          <a:noFill/>
          <a:ln w="31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scripts</a:t>
            </a:r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2450148" y="5089921"/>
            <a:ext cx="1042415" cy="590931"/>
          </a:xfrm>
          <a:prstGeom prst="rect">
            <a:avLst/>
          </a:prstGeom>
          <a:noFill/>
          <a:ln w="31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results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2103120" y="3493008"/>
            <a:ext cx="2468880" cy="762000"/>
            <a:chOff x="2267790" y="3639145"/>
            <a:chExt cx="2468880" cy="762000"/>
          </a:xfrm>
        </p:grpSpPr>
        <p:sp>
          <p:nvSpPr>
            <p:cNvPr id="80" name="Parallelogram 79"/>
            <p:cNvSpPr/>
            <p:nvPr/>
          </p:nvSpPr>
          <p:spPr>
            <a:xfrm>
              <a:off x="2267790" y="3639145"/>
              <a:ext cx="2468880" cy="762000"/>
            </a:xfrm>
            <a:prstGeom prst="parallelogram">
              <a:avLst/>
            </a:prstGeom>
            <a:solidFill>
              <a:srgbClr val="00009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1700">
                <a:solidFill>
                  <a:schemeClr val="bg1"/>
                </a:solidFill>
              </a:endParaRPr>
            </a:p>
          </p:txBody>
        </p:sp>
        <p:sp>
          <p:nvSpPr>
            <p:cNvPr id="81" name="TextBox 80"/>
            <p:cNvSpPr txBox="1">
              <a:spLocks noChangeArrowheads="1"/>
            </p:cNvSpPr>
            <p:nvPr/>
          </p:nvSpPr>
          <p:spPr bwMode="auto">
            <a:xfrm>
              <a:off x="2462662" y="3725364"/>
              <a:ext cx="2071401" cy="563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700" b="0" i="1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Implementation</a:t>
              </a:r>
            </a:p>
            <a:p>
              <a:pPr algn="ctr">
                <a:lnSpc>
                  <a:spcPct val="90000"/>
                </a:lnSpc>
              </a:pPr>
              <a:r>
                <a:rPr lang="en-US" sz="1700" b="0" i="1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Abstraction Level</a:t>
              </a:r>
            </a:p>
          </p:txBody>
        </p:sp>
      </p:grpSp>
      <p:cxnSp>
        <p:nvCxnSpPr>
          <p:cNvPr id="82" name="Straight Connector 81"/>
          <p:cNvCxnSpPr>
            <a:cxnSpLocks noChangeShapeType="1"/>
          </p:cNvCxnSpPr>
          <p:nvPr/>
        </p:nvCxnSpPr>
        <p:spPr bwMode="auto">
          <a:xfrm>
            <a:off x="149225" y="3374051"/>
            <a:ext cx="8845550" cy="1588"/>
          </a:xfrm>
          <a:prstGeom prst="line">
            <a:avLst/>
          </a:prstGeom>
          <a:noFill/>
          <a:ln w="57150" algn="ctr">
            <a:solidFill>
              <a:srgbClr val="FF0066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3200400" y="2422920"/>
            <a:ext cx="1801813" cy="5909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requirements</a:t>
            </a:r>
          </a:p>
        </p:txBody>
      </p:sp>
      <p:sp>
        <p:nvSpPr>
          <p:cNvPr id="84" name="Date Placeholder 3"/>
          <p:cNvSpPr txBox="1">
            <a:spLocks/>
          </p:cNvSpPr>
          <p:nvPr/>
        </p:nvSpPr>
        <p:spPr>
          <a:xfrm>
            <a:off x="7799388" y="6248399"/>
            <a:ext cx="1268412" cy="2778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FAFD00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n-US" sz="14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[AO, p.30]</a:t>
            </a:r>
            <a:endParaRPr lang="en-US" sz="1400" b="0" u="sng" dirty="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cxnSp>
        <p:nvCxnSpPr>
          <p:cNvPr id="85" name="Elbow Connector 84"/>
          <p:cNvCxnSpPr/>
          <p:nvPr/>
        </p:nvCxnSpPr>
        <p:spPr>
          <a:xfrm>
            <a:off x="8229600" y="1551077"/>
            <a:ext cx="213360" cy="2356374"/>
          </a:xfrm>
          <a:prstGeom prst="bentConnector2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>
            <a:stCxn id="70" idx="3"/>
            <a:endCxn id="83" idx="1"/>
          </p:cNvCxnSpPr>
          <p:nvPr/>
        </p:nvCxnSpPr>
        <p:spPr>
          <a:xfrm flipV="1">
            <a:off x="1447800" y="2718386"/>
            <a:ext cx="1752600" cy="1389062"/>
          </a:xfrm>
          <a:prstGeom prst="bentConnector3">
            <a:avLst>
              <a:gd name="adj1" fmla="val 17264"/>
            </a:avLst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/>
          <p:cNvGrpSpPr/>
          <p:nvPr/>
        </p:nvGrpSpPr>
        <p:grpSpPr>
          <a:xfrm>
            <a:off x="5452872" y="2490131"/>
            <a:ext cx="2395728" cy="731520"/>
            <a:chOff x="2537494" y="3639145"/>
            <a:chExt cx="2395728" cy="731520"/>
          </a:xfrm>
        </p:grpSpPr>
        <p:sp>
          <p:nvSpPr>
            <p:cNvPr id="91" name="Parallelogram 90"/>
            <p:cNvSpPr/>
            <p:nvPr/>
          </p:nvSpPr>
          <p:spPr>
            <a:xfrm>
              <a:off x="2537494" y="3639145"/>
              <a:ext cx="2395728" cy="731520"/>
            </a:xfrm>
            <a:prstGeom prst="parallelogram">
              <a:avLst/>
            </a:prstGeom>
            <a:solidFill>
              <a:srgbClr val="00009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1700">
                <a:solidFill>
                  <a:schemeClr val="bg1"/>
                </a:solidFill>
              </a:endParaRPr>
            </a:p>
          </p:txBody>
        </p:sp>
        <p:sp>
          <p:nvSpPr>
            <p:cNvPr id="92" name="TextBox 91"/>
            <p:cNvSpPr txBox="1">
              <a:spLocks noChangeArrowheads="1"/>
            </p:cNvSpPr>
            <p:nvPr/>
          </p:nvSpPr>
          <p:spPr bwMode="auto">
            <a:xfrm>
              <a:off x="2668196" y="3725364"/>
              <a:ext cx="2071401" cy="563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700" b="0" i="1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Design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1700" b="0" i="1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Abstraction Level</a:t>
              </a:r>
            </a:p>
          </p:txBody>
        </p:sp>
      </p:grpSp>
      <p:cxnSp>
        <p:nvCxnSpPr>
          <p:cNvPr id="93" name="Elbow Connector 92"/>
          <p:cNvCxnSpPr>
            <a:stCxn id="74" idx="2"/>
            <a:endCxn id="75" idx="3"/>
          </p:cNvCxnSpPr>
          <p:nvPr/>
        </p:nvCxnSpPr>
        <p:spPr>
          <a:xfrm rot="5400000">
            <a:off x="7488918" y="4477064"/>
            <a:ext cx="887005" cy="929640"/>
          </a:xfrm>
          <a:prstGeom prst="bentConnector2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75" idx="1"/>
            <a:endCxn id="76" idx="3"/>
          </p:cNvCxnSpPr>
          <p:nvPr/>
        </p:nvCxnSpPr>
        <p:spPr>
          <a:xfrm flipH="1">
            <a:off x="5334000" y="5385387"/>
            <a:ext cx="1219200" cy="0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76" idx="1"/>
            <a:endCxn id="77" idx="3"/>
          </p:cNvCxnSpPr>
          <p:nvPr/>
        </p:nvCxnSpPr>
        <p:spPr>
          <a:xfrm flipH="1">
            <a:off x="3492563" y="5385387"/>
            <a:ext cx="853885" cy="0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77" idx="1"/>
            <a:endCxn id="41" idx="3"/>
          </p:cNvCxnSpPr>
          <p:nvPr/>
        </p:nvCxnSpPr>
        <p:spPr>
          <a:xfrm flipH="1">
            <a:off x="1392313" y="5385387"/>
            <a:ext cx="1057835" cy="0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83" idx="3"/>
          </p:cNvCxnSpPr>
          <p:nvPr/>
        </p:nvCxnSpPr>
        <p:spPr>
          <a:xfrm flipV="1">
            <a:off x="5002213" y="1813322"/>
            <a:ext cx="1322546" cy="905064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477913" y="5089921"/>
            <a:ext cx="914400" cy="590931"/>
          </a:xfrm>
          <a:prstGeom prst="rect">
            <a:avLst/>
          </a:prstGeom>
          <a:noFill/>
          <a:ln w="31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pass / fail</a:t>
            </a:r>
          </a:p>
        </p:txBody>
      </p:sp>
      <p:cxnSp>
        <p:nvCxnSpPr>
          <p:cNvPr id="44" name="Straight Arrow Connector 43"/>
          <p:cNvCxnSpPr>
            <a:stCxn id="72" idx="3"/>
            <a:endCxn id="73" idx="1"/>
          </p:cNvCxnSpPr>
          <p:nvPr/>
        </p:nvCxnSpPr>
        <p:spPr>
          <a:xfrm flipV="1">
            <a:off x="5394960" y="1517395"/>
            <a:ext cx="932688" cy="3367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71" idx="3"/>
            <a:endCxn id="72" idx="1"/>
          </p:cNvCxnSpPr>
          <p:nvPr/>
        </p:nvCxnSpPr>
        <p:spPr>
          <a:xfrm flipV="1">
            <a:off x="2383536" y="1520762"/>
            <a:ext cx="1274064" cy="2102"/>
          </a:xfrm>
          <a:prstGeom prst="straightConnector1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/>
          <p:nvPr/>
        </p:nvCxnSpPr>
        <p:spPr>
          <a:xfrm rot="5400000" flipH="1" flipV="1">
            <a:off x="-193449" y="2560320"/>
            <a:ext cx="2261418" cy="259080"/>
          </a:xfrm>
          <a:prstGeom prst="bentConnector2">
            <a:avLst/>
          </a:prstGeom>
          <a:ln w="12700">
            <a:solidFill>
              <a:srgbClr val="FFFED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838200" y="990600"/>
            <a:ext cx="1676400" cy="12192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14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562600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en-US" sz="2200" dirty="0"/>
              <a:t>This course focuses on test design with criteria-based approach </a:t>
            </a:r>
          </a:p>
          <a:p>
            <a:pPr>
              <a:spcBef>
                <a:spcPts val="2000"/>
              </a:spcBef>
            </a:pPr>
            <a:r>
              <a:rPr lang="en-US" sz="2200" dirty="0"/>
              <a:t>Testing activities</a:t>
            </a:r>
          </a:p>
          <a:p>
            <a:pPr lvl="1">
              <a:spcBef>
                <a:spcPts val="700"/>
              </a:spcBef>
            </a:pPr>
            <a:r>
              <a:rPr lang="en-US" sz="1800" dirty="0"/>
              <a:t>Design tests: model software + apply test coverage criteria</a:t>
            </a:r>
          </a:p>
          <a:p>
            <a:pPr marL="857250" lvl="2" indent="-177800">
              <a:spcBef>
                <a:spcPts val="700"/>
              </a:spcBef>
            </a:pPr>
            <a:r>
              <a:rPr lang="en-US" sz="1800" dirty="0"/>
              <a:t>Characteristics of good test cases</a:t>
            </a:r>
          </a:p>
          <a:p>
            <a:pPr lvl="1">
              <a:spcBef>
                <a:spcPts val="700"/>
              </a:spcBef>
            </a:pPr>
            <a:r>
              <a:rPr lang="en-US" sz="1800" dirty="0"/>
              <a:t>Automate tests</a:t>
            </a:r>
          </a:p>
          <a:p>
            <a:pPr lvl="1">
              <a:spcBef>
                <a:spcPts val="700"/>
              </a:spcBef>
            </a:pPr>
            <a:r>
              <a:rPr lang="en-US" sz="1800" dirty="0"/>
              <a:t>Execute tests</a:t>
            </a:r>
          </a:p>
          <a:p>
            <a:pPr lvl="1">
              <a:spcBef>
                <a:spcPts val="700"/>
              </a:spcBef>
            </a:pPr>
            <a:r>
              <a:rPr lang="en-US" sz="1800" dirty="0"/>
              <a:t>Evaluate tests</a:t>
            </a:r>
          </a:p>
          <a:p>
            <a:pPr marL="0" indent="0">
              <a:spcBef>
                <a:spcPts val="3400"/>
              </a:spcBef>
              <a:buNone/>
            </a:pPr>
            <a:r>
              <a:rPr lang="en-US" sz="2200" b="1" dirty="0">
                <a:solidFill>
                  <a:srgbClr val="FFFF00"/>
                </a:solidFill>
              </a:rPr>
              <a:t>What’s Next? </a:t>
            </a:r>
          </a:p>
          <a:p>
            <a:pPr marL="471488" indent="-228600">
              <a:spcBef>
                <a:spcPts val="1200"/>
              </a:spcBef>
            </a:pPr>
            <a:r>
              <a:rPr lang="en-US" sz="2000" dirty="0"/>
              <a:t>Coverage-based test design</a:t>
            </a:r>
          </a:p>
        </p:txBody>
      </p:sp>
    </p:spTree>
    <p:extLst>
      <p:ext uri="{BB962C8B-B14F-4D97-AF65-F5344CB8AC3E}">
        <p14:creationId xmlns:p14="http://schemas.microsoft.com/office/powerpoint/2010/main" val="571076342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urseOverview.pptx" id="{9D25B8C4-ABAA-E743-A409-02AE843250EE}" vid="{C7ABAC5F-4A0E-2945-8E91-432D26F03F04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urseOverview.pptx" id="{9D25B8C4-ABAA-E743-A409-02AE843250EE}" vid="{B387DAE7-F204-0A40-B45D-254ADC6404E4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urseOverview.pptx" id="{9D25B8C4-ABAA-E743-A409-02AE843250EE}" vid="{9A2F069E-738A-A64D-AEE1-F63CFCD9A603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urseOverview.pptx" id="{9D25B8C4-ABAA-E743-A409-02AE843250EE}" vid="{B885DFEA-43E3-0B48-8D74-E587D3CD9401}"/>
    </a:ext>
  </a:extLst>
</a:theme>
</file>

<file path=ppt/theme/theme5.xml><?xml version="1.0" encoding="utf-8"?>
<a:theme xmlns:a="http://schemas.openxmlformats.org/drawingml/2006/main" name="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3175">
          <a:solidFill>
            <a:schemeClr val="bg1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>
        <a:spAutoFit/>
      </a:bodyPr>
      <a:lstStyle>
        <a:defPPr algn="ctr">
          <a:defRPr sz="1800" b="0" dirty="0">
            <a:solidFill>
              <a:schemeClr val="bg1"/>
            </a:solidFill>
            <a:latin typeface="Verdana" charset="0"/>
            <a:ea typeface="Verdana" charset="0"/>
            <a:cs typeface="Verdana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urseOverview.pptx" id="{9D25B8C4-ABAA-E743-A409-02AE843250EE}" vid="{151CCBC9-1AC2-E444-A635-887FFDF05CC4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swtest-template</Template>
  <TotalTime>19982</TotalTime>
  <Words>1190</Words>
  <Application>Microsoft Macintosh PowerPoint</Application>
  <PresentationFormat>On-screen Show (4:3)</PresentationFormat>
  <Paragraphs>252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Apple Braille</vt:lpstr>
      <vt:lpstr>Arial</vt:lpstr>
      <vt:lpstr>Calibri</vt:lpstr>
      <vt:lpstr>Century</vt:lpstr>
      <vt:lpstr>Century Schoolbook</vt:lpstr>
      <vt:lpstr>Times New Roman</vt:lpstr>
      <vt:lpstr>Verdana</vt:lpstr>
      <vt:lpstr>Wingdings 2</vt:lpstr>
      <vt:lpstr>3_Custom Design</vt:lpstr>
      <vt:lpstr>2_Custom Design</vt:lpstr>
      <vt:lpstr>1_Custom Design</vt:lpstr>
      <vt:lpstr>Custom Design</vt:lpstr>
      <vt:lpstr>View</vt:lpstr>
      <vt:lpstr>Model-Driven  Test Design  CS 3250 Software Testing</vt:lpstr>
      <vt:lpstr>Complexity of Testing Software</vt:lpstr>
      <vt:lpstr>Old View: Colored Boxes</vt:lpstr>
      <vt:lpstr>Model-Driven Test Design (MDTD)</vt:lpstr>
      <vt:lpstr>Software Testing Activities</vt:lpstr>
      <vt:lpstr>1. Test Design</vt:lpstr>
      <vt:lpstr>Coverage Criteria</vt:lpstr>
      <vt:lpstr>Test Criteria and Requirements </vt:lpstr>
      <vt:lpstr>Characteristics of Good Tests</vt:lpstr>
      <vt:lpstr>2. Test Automation</vt:lpstr>
      <vt:lpstr>3. Test Execution</vt:lpstr>
      <vt:lpstr>4. Test Evaluation</vt:lpstr>
      <vt:lpstr>Other Activities</vt:lpstr>
      <vt:lpstr>Organizing the Team</vt:lpstr>
      <vt:lpstr>Using MDTD in Practice</vt:lpstr>
      <vt:lpstr>Model-Driven Test Design - Steps</vt:lpstr>
      <vt:lpstr>Model-Driven Test Design - Activities</vt:lpstr>
      <vt:lpstr>Wrap-up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CS 4501 / 6501  Software Testing</dc:title>
  <dc:subject/>
  <dc:creator>Microsoft Office User</dc:creator>
  <cp:keywords/>
  <dc:description/>
  <cp:lastModifiedBy>Praphamontripong, Upsorn (up3f)</cp:lastModifiedBy>
  <cp:revision>1138</cp:revision>
  <cp:lastPrinted>2026-08-31T02:14:56Z</cp:lastPrinted>
  <dcterms:created xsi:type="dcterms:W3CDTF">2017-07-01T01:04:54Z</dcterms:created>
  <dcterms:modified xsi:type="dcterms:W3CDTF">2026-08-31T02:34:02Z</dcterms:modified>
  <cp:category/>
</cp:coreProperties>
</file>