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6.xml"/>
  <Override ContentType="application/vnd.openxmlformats-officedocument.presentationml.slideMaster+xml" PartName="/ppt/slideMasters/slideMaster5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7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  <p:sldMasterId id="2147483650" r:id="rId5"/>
    <p:sldMasterId id="2147483662" r:id="rId6"/>
    <p:sldMasterId id="2147483674" r:id="rId7"/>
    <p:sldMasterId id="2147483686" r:id="rId8"/>
    <p:sldMasterId id="2147483698" r:id="rId9"/>
  </p:sldMasterIdLst>
  <p:notesMasterIdLst>
    <p:notesMasterId r:id="rId10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</p:sldIdLst>
  <p:sldSz cy="6858000" cx="9144000"/>
  <p:notesSz cx="9236075" cy="7010400"/>
  <p:embeddedFontLst>
    <p:embeddedFont>
      <p:font typeface="Century Schoolbook"/>
      <p:regular r:id="rId28"/>
      <p:bold r:id="rId29"/>
      <p:italic r:id="rId30"/>
      <p:boldItalic r:id="rId31"/>
    </p:embeddedFont>
    <p:embeddedFont>
      <p:font typeface="Short Stack"/>
      <p:regular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688">
          <p15:clr>
            <a:srgbClr val="A4A3A4"/>
          </p15:clr>
        </p15:guide>
        <p15:guide id="2" pos="192">
          <p15:clr>
            <a:srgbClr val="A4A3A4"/>
          </p15:clr>
        </p15:guide>
      </p15:sldGuideLst>
    </p:ext>
    <p:ext uri="{2D200454-40CA-4A62-9FC3-DE9A4176ACB9}">
      <p15:notesGuideLst>
        <p15:guide id="1" orient="horz" pos="2208">
          <p15:clr>
            <a:srgbClr val="A4A3A4"/>
          </p15:clr>
        </p15:guide>
        <p15:guide id="2" pos="2909">
          <p15:clr>
            <a:srgbClr val="A4A3A4"/>
          </p15:clr>
        </p15:guide>
      </p15:notesGuideLst>
    </p:ext>
    <p:ext uri="GoogleSlidesCustomDataVersion2">
      <go:slidesCustomData xmlns:go="http://customooxmlschemas.google.com/" r:id="rId33" roundtripDataSignature="AMtx7mhdn9myNh+WDUdp8hKj1/EUCtkLN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688" orient="horz"/>
        <p:guide pos="192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208" orient="horz"/>
        <p:guide pos="2909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0.xml"/><Relationship Id="rId22" Type="http://schemas.openxmlformats.org/officeDocument/2006/relationships/slide" Target="slides/slide12.xml"/><Relationship Id="rId21" Type="http://schemas.openxmlformats.org/officeDocument/2006/relationships/slide" Target="slides/slide11.xml"/><Relationship Id="rId24" Type="http://schemas.openxmlformats.org/officeDocument/2006/relationships/slide" Target="slides/slide14.xml"/><Relationship Id="rId23" Type="http://schemas.openxmlformats.org/officeDocument/2006/relationships/slide" Target="slides/slide13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26" Type="http://schemas.openxmlformats.org/officeDocument/2006/relationships/slide" Target="slides/slide16.xml"/><Relationship Id="rId25" Type="http://schemas.openxmlformats.org/officeDocument/2006/relationships/slide" Target="slides/slide15.xml"/><Relationship Id="rId28" Type="http://schemas.openxmlformats.org/officeDocument/2006/relationships/font" Target="fonts/CenturySchoolbook-regular.fntdata"/><Relationship Id="rId27" Type="http://schemas.openxmlformats.org/officeDocument/2006/relationships/slide" Target="slides/slide17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font" Target="fonts/CenturySchoolbook-bold.fntdata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Relationship Id="rId31" Type="http://schemas.openxmlformats.org/officeDocument/2006/relationships/font" Target="fonts/CenturySchoolbook-boldItalic.fntdata"/><Relationship Id="rId30" Type="http://schemas.openxmlformats.org/officeDocument/2006/relationships/font" Target="fonts/CenturySchoolbook-italic.fntdata"/><Relationship Id="rId11" Type="http://schemas.openxmlformats.org/officeDocument/2006/relationships/slide" Target="slides/slide1.xml"/><Relationship Id="rId33" Type="http://customschemas.google.com/relationships/presentationmetadata" Target="metadata"/><Relationship Id="rId10" Type="http://schemas.openxmlformats.org/officeDocument/2006/relationships/notesMaster" Target="notesMasters/notesMaster1.xml"/><Relationship Id="rId32" Type="http://schemas.openxmlformats.org/officeDocument/2006/relationships/font" Target="fonts/ShortStack-regular.fntdata"/><Relationship Id="rId13" Type="http://schemas.openxmlformats.org/officeDocument/2006/relationships/slide" Target="slides/slide3.xml"/><Relationship Id="rId12" Type="http://schemas.openxmlformats.org/officeDocument/2006/relationships/slide" Target="slides/slide2.xml"/><Relationship Id="rId15" Type="http://schemas.openxmlformats.org/officeDocument/2006/relationships/slide" Target="slides/slide5.xml"/><Relationship Id="rId14" Type="http://schemas.openxmlformats.org/officeDocument/2006/relationships/slide" Target="slides/slide4.xml"/><Relationship Id="rId17" Type="http://schemas.openxmlformats.org/officeDocument/2006/relationships/slide" Target="slides/slide7.xml"/><Relationship Id="rId16" Type="http://schemas.openxmlformats.org/officeDocument/2006/relationships/slide" Target="slides/slide6.xml"/><Relationship Id="rId19" Type="http://schemas.openxmlformats.org/officeDocument/2006/relationships/slide" Target="slides/slide9.xml"/><Relationship Id="rId18" Type="http://schemas.openxmlformats.org/officeDocument/2006/relationships/slide" Target="slides/slide8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2" y="1"/>
            <a:ext cx="4003136" cy="350641"/>
          </a:xfrm>
          <a:prstGeom prst="rect">
            <a:avLst/>
          </a:prstGeom>
          <a:noFill/>
          <a:ln>
            <a:noFill/>
          </a:ln>
        </p:spPr>
        <p:txBody>
          <a:bodyPr anchorCtr="0" anchor="t" bIns="46400" lIns="92800" spcFirstLastPara="1" rIns="92800" wrap="square" tIns="464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232941" y="1"/>
            <a:ext cx="4003136" cy="350641"/>
          </a:xfrm>
          <a:prstGeom prst="rect">
            <a:avLst/>
          </a:prstGeom>
          <a:noFill/>
          <a:ln>
            <a:noFill/>
          </a:ln>
        </p:spPr>
        <p:txBody>
          <a:bodyPr anchorCtr="0" anchor="t" bIns="46400" lIns="92800" spcFirstLastPara="1" rIns="92800" wrap="square" tIns="464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867025" y="527050"/>
            <a:ext cx="3502025" cy="26273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1229804" y="3330482"/>
            <a:ext cx="6776468" cy="3153355"/>
          </a:xfrm>
          <a:prstGeom prst="rect">
            <a:avLst/>
          </a:prstGeom>
          <a:noFill/>
          <a:ln>
            <a:noFill/>
          </a:ln>
        </p:spPr>
        <p:txBody>
          <a:bodyPr anchorCtr="0" anchor="t" bIns="46400" lIns="92800" spcFirstLastPara="1" rIns="92800" wrap="square" tIns="464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2" y="6659760"/>
            <a:ext cx="4003136" cy="350640"/>
          </a:xfrm>
          <a:prstGeom prst="rect">
            <a:avLst/>
          </a:prstGeom>
          <a:noFill/>
          <a:ln>
            <a:noFill/>
          </a:ln>
        </p:spPr>
        <p:txBody>
          <a:bodyPr anchorCtr="0" anchor="b" bIns="46400" lIns="92800" spcFirstLastPara="1" rIns="92800" wrap="square" tIns="464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232941" y="6659760"/>
            <a:ext cx="4003136" cy="350640"/>
          </a:xfrm>
          <a:prstGeom prst="rect">
            <a:avLst/>
          </a:prstGeom>
          <a:noFill/>
          <a:ln>
            <a:noFill/>
          </a:ln>
        </p:spPr>
        <p:txBody>
          <a:bodyPr anchorCtr="0" anchor="b" bIns="46400" lIns="92800" spcFirstLastPara="1" rIns="92800" wrap="square" tIns="46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:notes"/>
          <p:cNvSpPr/>
          <p:nvPr>
            <p:ph idx="2" type="sldImg"/>
          </p:nvPr>
        </p:nvSpPr>
        <p:spPr>
          <a:xfrm>
            <a:off x="2867025" y="527050"/>
            <a:ext cx="3502025" cy="26273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1" name="Google Shape;391;p1:notes"/>
          <p:cNvSpPr txBox="1"/>
          <p:nvPr>
            <p:ph idx="1" type="body"/>
          </p:nvPr>
        </p:nvSpPr>
        <p:spPr>
          <a:xfrm>
            <a:off x="1229804" y="3330482"/>
            <a:ext cx="6776468" cy="3153355"/>
          </a:xfrm>
          <a:prstGeom prst="rect">
            <a:avLst/>
          </a:prstGeom>
          <a:noFill/>
          <a:ln>
            <a:noFill/>
          </a:ln>
        </p:spPr>
        <p:txBody>
          <a:bodyPr anchorCtr="0" anchor="t" bIns="46400" lIns="92800" spcFirstLastPara="1" rIns="92800" wrap="square" tIns="46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2:notes"/>
          <p:cNvSpPr/>
          <p:nvPr>
            <p:ph idx="2" type="sldImg"/>
          </p:nvPr>
        </p:nvSpPr>
        <p:spPr>
          <a:xfrm>
            <a:off x="2867025" y="527050"/>
            <a:ext cx="3502025" cy="26273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397" name="Google Shape;397;p2:notes"/>
          <p:cNvSpPr txBox="1"/>
          <p:nvPr>
            <p:ph idx="1" type="body"/>
          </p:nvPr>
        </p:nvSpPr>
        <p:spPr>
          <a:xfrm>
            <a:off x="1229804" y="3330482"/>
            <a:ext cx="6776468" cy="3153355"/>
          </a:xfrm>
          <a:prstGeom prst="rect">
            <a:avLst/>
          </a:prstGeom>
          <a:noFill/>
          <a:ln>
            <a:noFill/>
          </a:ln>
        </p:spPr>
        <p:txBody>
          <a:bodyPr anchorCtr="0" anchor="t" bIns="46400" lIns="92800" spcFirstLastPara="1" rIns="92800" wrap="square" tIns="46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2:notes"/>
          <p:cNvSpPr txBox="1"/>
          <p:nvPr>
            <p:ph idx="12" type="sldNum"/>
          </p:nvPr>
        </p:nvSpPr>
        <p:spPr>
          <a:xfrm>
            <a:off x="5232941" y="6659760"/>
            <a:ext cx="4003136" cy="350640"/>
          </a:xfrm>
          <a:prstGeom prst="rect">
            <a:avLst/>
          </a:prstGeom>
          <a:noFill/>
          <a:ln>
            <a:noFill/>
          </a:ln>
        </p:spPr>
        <p:txBody>
          <a:bodyPr anchorCtr="0" anchor="b" bIns="46400" lIns="92800" spcFirstLastPara="1" rIns="92800" wrap="square" tIns="464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3:notes"/>
          <p:cNvSpPr/>
          <p:nvPr>
            <p:ph idx="2" type="sldImg"/>
          </p:nvPr>
        </p:nvSpPr>
        <p:spPr>
          <a:xfrm>
            <a:off x="2867025" y="527050"/>
            <a:ext cx="3502025" cy="26273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405" name="Google Shape;405;p3:notes"/>
          <p:cNvSpPr txBox="1"/>
          <p:nvPr>
            <p:ph idx="1" type="body"/>
          </p:nvPr>
        </p:nvSpPr>
        <p:spPr>
          <a:xfrm>
            <a:off x="1229804" y="3330482"/>
            <a:ext cx="6776468" cy="3153355"/>
          </a:xfrm>
          <a:prstGeom prst="rect">
            <a:avLst/>
          </a:prstGeom>
          <a:noFill/>
          <a:ln>
            <a:noFill/>
          </a:ln>
        </p:spPr>
        <p:txBody>
          <a:bodyPr anchorCtr="0" anchor="t" bIns="46400" lIns="92800" spcFirstLastPara="1" rIns="92800" wrap="square" tIns="46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3:notes"/>
          <p:cNvSpPr txBox="1"/>
          <p:nvPr>
            <p:ph idx="12" type="sldNum"/>
          </p:nvPr>
        </p:nvSpPr>
        <p:spPr>
          <a:xfrm>
            <a:off x="5232941" y="6659760"/>
            <a:ext cx="4003136" cy="350640"/>
          </a:xfrm>
          <a:prstGeom prst="rect">
            <a:avLst/>
          </a:prstGeom>
          <a:noFill/>
          <a:ln>
            <a:noFill/>
          </a:ln>
        </p:spPr>
        <p:txBody>
          <a:bodyPr anchorCtr="0" anchor="b" bIns="46400" lIns="92800" spcFirstLastPara="1" rIns="92800" wrap="square" tIns="464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:notes"/>
          <p:cNvSpPr/>
          <p:nvPr>
            <p:ph idx="2" type="sldImg"/>
          </p:nvPr>
        </p:nvSpPr>
        <p:spPr>
          <a:xfrm>
            <a:off x="2867025" y="527050"/>
            <a:ext cx="3502025" cy="26273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413" name="Google Shape;413;p4:notes"/>
          <p:cNvSpPr txBox="1"/>
          <p:nvPr>
            <p:ph idx="1" type="body"/>
          </p:nvPr>
        </p:nvSpPr>
        <p:spPr>
          <a:xfrm>
            <a:off x="1229804" y="3330482"/>
            <a:ext cx="6776468" cy="3153355"/>
          </a:xfrm>
          <a:prstGeom prst="rect">
            <a:avLst/>
          </a:prstGeom>
          <a:noFill/>
          <a:ln>
            <a:noFill/>
          </a:ln>
        </p:spPr>
        <p:txBody>
          <a:bodyPr anchorCtr="0" anchor="t" bIns="46400" lIns="92800" spcFirstLastPara="1" rIns="92800" wrap="square" tIns="46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4:notes"/>
          <p:cNvSpPr txBox="1"/>
          <p:nvPr>
            <p:ph idx="12" type="sldNum"/>
          </p:nvPr>
        </p:nvSpPr>
        <p:spPr>
          <a:xfrm>
            <a:off x="5232941" y="6659760"/>
            <a:ext cx="4003136" cy="350640"/>
          </a:xfrm>
          <a:prstGeom prst="rect">
            <a:avLst/>
          </a:prstGeom>
          <a:noFill/>
          <a:ln>
            <a:noFill/>
          </a:ln>
        </p:spPr>
        <p:txBody>
          <a:bodyPr anchorCtr="0" anchor="b" bIns="46400" lIns="92800" spcFirstLastPara="1" rIns="92800" wrap="square" tIns="464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5:notes"/>
          <p:cNvSpPr/>
          <p:nvPr>
            <p:ph idx="2" type="sldImg"/>
          </p:nvPr>
        </p:nvSpPr>
        <p:spPr>
          <a:xfrm>
            <a:off x="2867025" y="527050"/>
            <a:ext cx="3502025" cy="26273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421" name="Google Shape;421;p5:notes"/>
          <p:cNvSpPr txBox="1"/>
          <p:nvPr>
            <p:ph idx="1" type="body"/>
          </p:nvPr>
        </p:nvSpPr>
        <p:spPr>
          <a:xfrm>
            <a:off x="1229804" y="3330482"/>
            <a:ext cx="6776468" cy="3153355"/>
          </a:xfrm>
          <a:prstGeom prst="rect">
            <a:avLst/>
          </a:prstGeom>
          <a:noFill/>
          <a:ln>
            <a:noFill/>
          </a:ln>
        </p:spPr>
        <p:txBody>
          <a:bodyPr anchorCtr="0" anchor="t" bIns="46400" lIns="92800" spcFirstLastPara="1" rIns="92800" wrap="square" tIns="46400">
            <a:noAutofit/>
          </a:bodyPr>
          <a:lstStyle/>
          <a:p>
            <a:pPr indent="0" lvl="0" marL="1587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r>
              <a:t/>
            </a:r>
            <a:endParaRPr b="0" sz="1200">
              <a:solidFill>
                <a:schemeClr val="dk1"/>
              </a:solidFill>
            </a:endParaRPr>
          </a:p>
        </p:txBody>
      </p:sp>
      <p:sp>
        <p:nvSpPr>
          <p:cNvPr id="422" name="Google Shape;422;p5:notes"/>
          <p:cNvSpPr txBox="1"/>
          <p:nvPr>
            <p:ph idx="12" type="sldNum"/>
          </p:nvPr>
        </p:nvSpPr>
        <p:spPr>
          <a:xfrm>
            <a:off x="5232941" y="6659760"/>
            <a:ext cx="4003136" cy="350640"/>
          </a:xfrm>
          <a:prstGeom prst="rect">
            <a:avLst/>
          </a:prstGeom>
          <a:noFill/>
          <a:ln>
            <a:noFill/>
          </a:ln>
        </p:spPr>
        <p:txBody>
          <a:bodyPr anchorCtr="0" anchor="b" bIns="46400" lIns="92800" spcFirstLastPara="1" rIns="92800" wrap="square" tIns="464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6:notes"/>
          <p:cNvSpPr txBox="1"/>
          <p:nvPr>
            <p:ph idx="1" type="body"/>
          </p:nvPr>
        </p:nvSpPr>
        <p:spPr>
          <a:xfrm>
            <a:off x="1229804" y="3330482"/>
            <a:ext cx="6776468" cy="3153355"/>
          </a:xfrm>
          <a:prstGeom prst="rect">
            <a:avLst/>
          </a:prstGeom>
        </p:spPr>
        <p:txBody>
          <a:bodyPr anchorCtr="0" anchor="t" bIns="46400" lIns="92800" spcFirstLastPara="1" rIns="92800" wrap="square" tIns="464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6:notes"/>
          <p:cNvSpPr/>
          <p:nvPr>
            <p:ph idx="2" type="sldImg"/>
          </p:nvPr>
        </p:nvSpPr>
        <p:spPr>
          <a:xfrm>
            <a:off x="2867025" y="527050"/>
            <a:ext cx="3502025" cy="26273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7:notes"/>
          <p:cNvSpPr/>
          <p:nvPr>
            <p:ph idx="2" type="sldImg"/>
          </p:nvPr>
        </p:nvSpPr>
        <p:spPr>
          <a:xfrm>
            <a:off x="2867025" y="527050"/>
            <a:ext cx="3502025" cy="26273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441" name="Google Shape;441;p7:notes"/>
          <p:cNvSpPr txBox="1"/>
          <p:nvPr>
            <p:ph idx="1" type="body"/>
          </p:nvPr>
        </p:nvSpPr>
        <p:spPr>
          <a:xfrm>
            <a:off x="1229804" y="3330482"/>
            <a:ext cx="6776468" cy="3153355"/>
          </a:xfrm>
          <a:prstGeom prst="rect">
            <a:avLst/>
          </a:prstGeom>
          <a:noFill/>
          <a:ln>
            <a:noFill/>
          </a:ln>
        </p:spPr>
        <p:txBody>
          <a:bodyPr anchorCtr="0" anchor="t" bIns="46400" lIns="92800" spcFirstLastPara="1" rIns="92800" wrap="square" tIns="46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7:notes"/>
          <p:cNvSpPr txBox="1"/>
          <p:nvPr>
            <p:ph idx="12" type="sldNum"/>
          </p:nvPr>
        </p:nvSpPr>
        <p:spPr>
          <a:xfrm>
            <a:off x="5232941" y="6659760"/>
            <a:ext cx="4003136" cy="350640"/>
          </a:xfrm>
          <a:prstGeom prst="rect">
            <a:avLst/>
          </a:prstGeom>
          <a:noFill/>
          <a:ln>
            <a:noFill/>
          </a:ln>
        </p:spPr>
        <p:txBody>
          <a:bodyPr anchorCtr="0" anchor="b" bIns="46400" lIns="92800" spcFirstLastPara="1" rIns="92800" wrap="square" tIns="464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8:notes"/>
          <p:cNvSpPr txBox="1"/>
          <p:nvPr>
            <p:ph idx="1" type="body"/>
          </p:nvPr>
        </p:nvSpPr>
        <p:spPr>
          <a:xfrm>
            <a:off x="1229804" y="3330482"/>
            <a:ext cx="6776468" cy="3153355"/>
          </a:xfrm>
          <a:prstGeom prst="rect">
            <a:avLst/>
          </a:prstGeom>
        </p:spPr>
        <p:txBody>
          <a:bodyPr anchorCtr="0" anchor="t" bIns="46400" lIns="92800" spcFirstLastPara="1" rIns="92800" wrap="square" tIns="464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8:notes"/>
          <p:cNvSpPr/>
          <p:nvPr>
            <p:ph idx="2" type="sldImg"/>
          </p:nvPr>
        </p:nvSpPr>
        <p:spPr>
          <a:xfrm>
            <a:off x="2867025" y="527050"/>
            <a:ext cx="3502025" cy="26273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9:notes"/>
          <p:cNvSpPr txBox="1"/>
          <p:nvPr>
            <p:ph idx="1" type="body"/>
          </p:nvPr>
        </p:nvSpPr>
        <p:spPr>
          <a:xfrm>
            <a:off x="1229804" y="3330482"/>
            <a:ext cx="6776468" cy="3153355"/>
          </a:xfrm>
          <a:prstGeom prst="rect">
            <a:avLst/>
          </a:prstGeom>
        </p:spPr>
        <p:txBody>
          <a:bodyPr anchorCtr="0" anchor="t" bIns="46400" lIns="92800" spcFirstLastPara="1" rIns="92800" wrap="square" tIns="464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9:notes"/>
          <p:cNvSpPr/>
          <p:nvPr>
            <p:ph idx="2" type="sldImg"/>
          </p:nvPr>
        </p:nvSpPr>
        <p:spPr>
          <a:xfrm>
            <a:off x="2867025" y="527050"/>
            <a:ext cx="3502025" cy="26273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10:notes"/>
          <p:cNvSpPr/>
          <p:nvPr>
            <p:ph idx="2" type="sldImg"/>
          </p:nvPr>
        </p:nvSpPr>
        <p:spPr>
          <a:xfrm>
            <a:off x="2867025" y="527050"/>
            <a:ext cx="3502025" cy="26273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494" name="Google Shape;494;p10:notes"/>
          <p:cNvSpPr txBox="1"/>
          <p:nvPr>
            <p:ph idx="1" type="body"/>
          </p:nvPr>
        </p:nvSpPr>
        <p:spPr>
          <a:xfrm>
            <a:off x="1229804" y="3330482"/>
            <a:ext cx="6776468" cy="3153355"/>
          </a:xfrm>
          <a:prstGeom prst="rect">
            <a:avLst/>
          </a:prstGeom>
          <a:noFill/>
          <a:ln>
            <a:noFill/>
          </a:ln>
        </p:spPr>
        <p:txBody>
          <a:bodyPr anchorCtr="0" anchor="t" bIns="46400" lIns="92800" spcFirstLastPara="1" rIns="92800" wrap="square" tIns="46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10:notes"/>
          <p:cNvSpPr txBox="1"/>
          <p:nvPr>
            <p:ph idx="12" type="sldNum"/>
          </p:nvPr>
        </p:nvSpPr>
        <p:spPr>
          <a:xfrm>
            <a:off x="5232941" y="6659760"/>
            <a:ext cx="4003136" cy="350640"/>
          </a:xfrm>
          <a:prstGeom prst="rect">
            <a:avLst/>
          </a:prstGeom>
          <a:noFill/>
          <a:ln>
            <a:noFill/>
          </a:ln>
        </p:spPr>
        <p:txBody>
          <a:bodyPr anchorCtr="0" anchor="b" bIns="46400" lIns="92800" spcFirstLastPara="1" rIns="92800" wrap="square" tIns="464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11:notes"/>
          <p:cNvSpPr txBox="1"/>
          <p:nvPr>
            <p:ph idx="1" type="body"/>
          </p:nvPr>
        </p:nvSpPr>
        <p:spPr>
          <a:xfrm>
            <a:off x="1229804" y="3330482"/>
            <a:ext cx="6776468" cy="3153355"/>
          </a:xfrm>
          <a:prstGeom prst="rect">
            <a:avLst/>
          </a:prstGeom>
        </p:spPr>
        <p:txBody>
          <a:bodyPr anchorCtr="0" anchor="t" bIns="46400" lIns="92800" spcFirstLastPara="1" rIns="92800" wrap="square" tIns="464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11:notes"/>
          <p:cNvSpPr/>
          <p:nvPr>
            <p:ph idx="2" type="sldImg"/>
          </p:nvPr>
        </p:nvSpPr>
        <p:spPr>
          <a:xfrm>
            <a:off x="2867025" y="527050"/>
            <a:ext cx="3502025" cy="26273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12:notes"/>
          <p:cNvSpPr txBox="1"/>
          <p:nvPr>
            <p:ph idx="1" type="body"/>
          </p:nvPr>
        </p:nvSpPr>
        <p:spPr>
          <a:xfrm>
            <a:off x="1229804" y="3330482"/>
            <a:ext cx="6776468" cy="3153355"/>
          </a:xfrm>
          <a:prstGeom prst="rect">
            <a:avLst/>
          </a:prstGeom>
        </p:spPr>
        <p:txBody>
          <a:bodyPr anchorCtr="0" anchor="t" bIns="46400" lIns="92800" spcFirstLastPara="1" rIns="92800" wrap="square" tIns="464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12:notes"/>
          <p:cNvSpPr/>
          <p:nvPr>
            <p:ph idx="2" type="sldImg"/>
          </p:nvPr>
        </p:nvSpPr>
        <p:spPr>
          <a:xfrm>
            <a:off x="2867025" y="527050"/>
            <a:ext cx="3502025" cy="26273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13:notes"/>
          <p:cNvSpPr/>
          <p:nvPr>
            <p:ph idx="2" type="sldImg"/>
          </p:nvPr>
        </p:nvSpPr>
        <p:spPr>
          <a:xfrm>
            <a:off x="2867025" y="527050"/>
            <a:ext cx="3502025" cy="26273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544" name="Google Shape;544;p13:notes"/>
          <p:cNvSpPr txBox="1"/>
          <p:nvPr>
            <p:ph idx="1" type="body"/>
          </p:nvPr>
        </p:nvSpPr>
        <p:spPr>
          <a:xfrm>
            <a:off x="1229804" y="3330482"/>
            <a:ext cx="6776468" cy="3153355"/>
          </a:xfrm>
          <a:prstGeom prst="rect">
            <a:avLst/>
          </a:prstGeom>
          <a:noFill/>
          <a:ln>
            <a:noFill/>
          </a:ln>
        </p:spPr>
        <p:txBody>
          <a:bodyPr anchorCtr="0" anchor="t" bIns="46400" lIns="92800" spcFirstLastPara="1" rIns="92800" wrap="square" tIns="46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13:notes"/>
          <p:cNvSpPr txBox="1"/>
          <p:nvPr>
            <p:ph idx="12" type="sldNum"/>
          </p:nvPr>
        </p:nvSpPr>
        <p:spPr>
          <a:xfrm>
            <a:off x="5232941" y="6659760"/>
            <a:ext cx="4003136" cy="350640"/>
          </a:xfrm>
          <a:prstGeom prst="rect">
            <a:avLst/>
          </a:prstGeom>
          <a:noFill/>
          <a:ln>
            <a:noFill/>
          </a:ln>
        </p:spPr>
        <p:txBody>
          <a:bodyPr anchorCtr="0" anchor="b" bIns="46400" lIns="92800" spcFirstLastPara="1" rIns="92800" wrap="square" tIns="464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14:notes"/>
          <p:cNvSpPr/>
          <p:nvPr>
            <p:ph idx="2" type="sldImg"/>
          </p:nvPr>
        </p:nvSpPr>
        <p:spPr>
          <a:xfrm>
            <a:off x="2867025" y="527050"/>
            <a:ext cx="3502025" cy="26273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585" name="Google Shape;585;p14:notes"/>
          <p:cNvSpPr txBox="1"/>
          <p:nvPr>
            <p:ph idx="1" type="body"/>
          </p:nvPr>
        </p:nvSpPr>
        <p:spPr>
          <a:xfrm>
            <a:off x="1229804" y="3330482"/>
            <a:ext cx="6776468" cy="3153355"/>
          </a:xfrm>
          <a:prstGeom prst="rect">
            <a:avLst/>
          </a:prstGeom>
          <a:noFill/>
          <a:ln>
            <a:noFill/>
          </a:ln>
        </p:spPr>
        <p:txBody>
          <a:bodyPr anchorCtr="0" anchor="t" bIns="46400" lIns="92800" spcFirstLastPara="1" rIns="92800" wrap="square" tIns="46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14:notes"/>
          <p:cNvSpPr txBox="1"/>
          <p:nvPr>
            <p:ph idx="12" type="sldNum"/>
          </p:nvPr>
        </p:nvSpPr>
        <p:spPr>
          <a:xfrm>
            <a:off x="5232941" y="6659760"/>
            <a:ext cx="4003136" cy="350640"/>
          </a:xfrm>
          <a:prstGeom prst="rect">
            <a:avLst/>
          </a:prstGeom>
          <a:noFill/>
          <a:ln>
            <a:noFill/>
          </a:ln>
        </p:spPr>
        <p:txBody>
          <a:bodyPr anchorCtr="0" anchor="b" bIns="46400" lIns="92800" spcFirstLastPara="1" rIns="92800" wrap="square" tIns="464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15:notes"/>
          <p:cNvSpPr/>
          <p:nvPr>
            <p:ph idx="2" type="sldImg"/>
          </p:nvPr>
        </p:nvSpPr>
        <p:spPr>
          <a:xfrm>
            <a:off x="2867025" y="527050"/>
            <a:ext cx="3502025" cy="26273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27" name="Google Shape;627;p15:notes"/>
          <p:cNvSpPr txBox="1"/>
          <p:nvPr>
            <p:ph idx="1" type="body"/>
          </p:nvPr>
        </p:nvSpPr>
        <p:spPr>
          <a:xfrm>
            <a:off x="1229804" y="3330482"/>
            <a:ext cx="6776468" cy="3153355"/>
          </a:xfrm>
          <a:prstGeom prst="rect">
            <a:avLst/>
          </a:prstGeom>
          <a:noFill/>
          <a:ln>
            <a:noFill/>
          </a:ln>
        </p:spPr>
        <p:txBody>
          <a:bodyPr anchorCtr="0" anchor="t" bIns="46400" lIns="92800" spcFirstLastPara="1" rIns="92800" wrap="square" tIns="46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r>
              <a:t/>
            </a:r>
            <a:endParaRPr/>
          </a:p>
        </p:txBody>
      </p:sp>
      <p:sp>
        <p:nvSpPr>
          <p:cNvPr id="628" name="Google Shape;628;p15:notes"/>
          <p:cNvSpPr txBox="1"/>
          <p:nvPr>
            <p:ph idx="12" type="sldNum"/>
          </p:nvPr>
        </p:nvSpPr>
        <p:spPr>
          <a:xfrm>
            <a:off x="5232941" y="6659760"/>
            <a:ext cx="4003136" cy="350640"/>
          </a:xfrm>
          <a:prstGeom prst="rect">
            <a:avLst/>
          </a:prstGeom>
          <a:noFill/>
          <a:ln>
            <a:noFill/>
          </a:ln>
        </p:spPr>
        <p:txBody>
          <a:bodyPr anchorCtr="0" anchor="b" bIns="46400" lIns="92800" spcFirstLastPara="1" rIns="92800" wrap="square" tIns="464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16:notes"/>
          <p:cNvSpPr/>
          <p:nvPr>
            <p:ph idx="2" type="sldImg"/>
          </p:nvPr>
        </p:nvSpPr>
        <p:spPr>
          <a:xfrm>
            <a:off x="2867025" y="527050"/>
            <a:ext cx="3502025" cy="26273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35" name="Google Shape;635;p16:notes"/>
          <p:cNvSpPr txBox="1"/>
          <p:nvPr>
            <p:ph idx="1" type="body"/>
          </p:nvPr>
        </p:nvSpPr>
        <p:spPr>
          <a:xfrm>
            <a:off x="1229804" y="3330482"/>
            <a:ext cx="6776468" cy="3153355"/>
          </a:xfrm>
          <a:prstGeom prst="rect">
            <a:avLst/>
          </a:prstGeom>
          <a:noFill/>
          <a:ln>
            <a:noFill/>
          </a:ln>
        </p:spPr>
        <p:txBody>
          <a:bodyPr anchorCtr="0" anchor="t" bIns="46400" lIns="92800" spcFirstLastPara="1" rIns="92800" wrap="square" tIns="46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r>
              <a:t/>
            </a:r>
            <a:endParaRPr/>
          </a:p>
        </p:txBody>
      </p:sp>
      <p:sp>
        <p:nvSpPr>
          <p:cNvPr id="636" name="Google Shape;636;p16:notes"/>
          <p:cNvSpPr txBox="1"/>
          <p:nvPr>
            <p:ph idx="12" type="sldNum"/>
          </p:nvPr>
        </p:nvSpPr>
        <p:spPr>
          <a:xfrm>
            <a:off x="5232941" y="6659760"/>
            <a:ext cx="4003136" cy="350640"/>
          </a:xfrm>
          <a:prstGeom prst="rect">
            <a:avLst/>
          </a:prstGeom>
          <a:noFill/>
          <a:ln>
            <a:noFill/>
          </a:ln>
        </p:spPr>
        <p:txBody>
          <a:bodyPr anchorCtr="0" anchor="b" bIns="46400" lIns="92800" spcFirstLastPara="1" rIns="92800" wrap="square" tIns="464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17:notes"/>
          <p:cNvSpPr txBox="1"/>
          <p:nvPr>
            <p:ph idx="1" type="body"/>
          </p:nvPr>
        </p:nvSpPr>
        <p:spPr>
          <a:xfrm>
            <a:off x="1229804" y="3330482"/>
            <a:ext cx="6776468" cy="3153355"/>
          </a:xfrm>
          <a:prstGeom prst="rect">
            <a:avLst/>
          </a:prstGeom>
        </p:spPr>
        <p:txBody>
          <a:bodyPr anchorCtr="0" anchor="t" bIns="46400" lIns="92800" spcFirstLastPara="1" rIns="92800" wrap="square" tIns="464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17:notes"/>
          <p:cNvSpPr/>
          <p:nvPr>
            <p:ph idx="2" type="sldImg"/>
          </p:nvPr>
        </p:nvSpPr>
        <p:spPr>
          <a:xfrm>
            <a:off x="2867025" y="527050"/>
            <a:ext cx="3502025" cy="26273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bg>
      <p:bgPr>
        <a:solidFill>
          <a:srgbClr val="0C0C0C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1"/>
          <p:cNvSpPr txBox="1"/>
          <p:nvPr>
            <p:ph type="ctrTitle"/>
          </p:nvPr>
        </p:nvSpPr>
        <p:spPr>
          <a:xfrm>
            <a:off x="1066800" y="377952"/>
            <a:ext cx="7063740" cy="40416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Verdana"/>
              <a:buNone/>
              <a:defRPr sz="66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1"/>
          <p:cNvSpPr txBox="1"/>
          <p:nvPr>
            <p:ph idx="1" type="subTitle"/>
          </p:nvPr>
        </p:nvSpPr>
        <p:spPr>
          <a:xfrm>
            <a:off x="1066800" y="4495800"/>
            <a:ext cx="706374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2240"/>
              <a:buNone/>
              <a:defRPr sz="2800">
                <a:solidFill>
                  <a:srgbClr val="D8D8D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2000"/>
              <a:buNone/>
              <a:defRPr sz="2000"/>
            </a:lvl9pPr>
          </a:lstStyle>
          <a:p/>
        </p:txBody>
      </p:sp>
      <p:cxnSp>
        <p:nvCxnSpPr>
          <p:cNvPr id="20" name="Google Shape;20;p21"/>
          <p:cNvCxnSpPr/>
          <p:nvPr/>
        </p:nvCxnSpPr>
        <p:spPr>
          <a:xfrm>
            <a:off x="609600" y="3200400"/>
            <a:ext cx="7924800" cy="0"/>
          </a:xfrm>
          <a:prstGeom prst="straightConnector1">
            <a:avLst/>
          </a:prstGeom>
          <a:noFill/>
          <a:ln cap="flat" cmpd="sng" w="38100">
            <a:solidFill>
              <a:srgbClr val="FF4C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" name="Google Shape;21;p21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072B6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21"/>
          <p:cNvSpPr txBox="1"/>
          <p:nvPr/>
        </p:nvSpPr>
        <p:spPr>
          <a:xfrm>
            <a:off x="76200" y="6584156"/>
            <a:ext cx="2286000" cy="304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BD9DE"/>
                </a:solidFill>
                <a:latin typeface="Arial"/>
                <a:ea typeface="Arial"/>
                <a:cs typeface="Arial"/>
                <a:sym typeface="Arial"/>
              </a:rPr>
              <a:t>Summer 2026 – University of Virginia</a:t>
            </a:r>
            <a:endParaRPr b="0" i="0" sz="1000" u="none" cap="none" strike="noStrike">
              <a:solidFill>
                <a:srgbClr val="BBD9D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21"/>
          <p:cNvSpPr txBox="1"/>
          <p:nvPr/>
        </p:nvSpPr>
        <p:spPr>
          <a:xfrm>
            <a:off x="8686800" y="6553200"/>
            <a:ext cx="457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BBD9DE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BBD9D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21"/>
          <p:cNvSpPr txBox="1"/>
          <p:nvPr/>
        </p:nvSpPr>
        <p:spPr>
          <a:xfrm>
            <a:off x="3352800" y="6584156"/>
            <a:ext cx="2438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BD9DE"/>
                </a:solidFill>
                <a:latin typeface="Arial"/>
                <a:ea typeface="Arial"/>
                <a:cs typeface="Arial"/>
                <a:sym typeface="Arial"/>
              </a:rPr>
              <a:t>© Praphamontripong</a:t>
            </a:r>
            <a:endParaRPr b="0" i="0" sz="1000" u="none" cap="none" strike="noStrike">
              <a:solidFill>
                <a:srgbClr val="BBD9DE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solidFill>
          <a:srgbClr val="0C0C0C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2"/>
          <p:cNvSpPr txBox="1"/>
          <p:nvPr>
            <p:ph type="title"/>
          </p:nvPr>
        </p:nvSpPr>
        <p:spPr>
          <a:xfrm>
            <a:off x="0" y="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000"/>
              <a:buFont typeface="Verdana"/>
              <a:buNone/>
              <a:defRPr b="1" sz="4000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2"/>
          <p:cNvSpPr txBox="1"/>
          <p:nvPr>
            <p:ph idx="1" type="body"/>
          </p:nvPr>
        </p:nvSpPr>
        <p:spPr>
          <a:xfrm>
            <a:off x="457200" y="1066801"/>
            <a:ext cx="7955280" cy="5113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0840" lvl="0" marL="45720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2240"/>
              <a:buChar char="•"/>
              <a:defRPr sz="2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810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  <a:defRPr sz="24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55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  <a:defRPr sz="20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3556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  <a:defRPr sz="20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55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  <a:defRPr sz="20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-3429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800"/>
              <a:buChar char="●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bg>
      <p:bgPr>
        <a:solidFill>
          <a:srgbClr val="0C0C0C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0"/>
          <p:cNvSpPr txBox="1"/>
          <p:nvPr>
            <p:ph type="ctrTitle"/>
          </p:nvPr>
        </p:nvSpPr>
        <p:spPr>
          <a:xfrm>
            <a:off x="1066800" y="377952"/>
            <a:ext cx="7063740" cy="40416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Verdana"/>
              <a:buNone/>
              <a:defRPr sz="66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1" type="subTitle"/>
          </p:nvPr>
        </p:nvSpPr>
        <p:spPr>
          <a:xfrm>
            <a:off x="1066800" y="4495800"/>
            <a:ext cx="706374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2240"/>
              <a:buNone/>
              <a:defRPr sz="2800">
                <a:solidFill>
                  <a:srgbClr val="D8D8D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2000"/>
              <a:buNone/>
              <a:defRPr sz="2000"/>
            </a:lvl9pPr>
          </a:lstStyle>
          <a:p/>
        </p:txBody>
      </p:sp>
      <p:cxnSp>
        <p:nvCxnSpPr>
          <p:cNvPr id="39" name="Google Shape;39;p20"/>
          <p:cNvCxnSpPr/>
          <p:nvPr/>
        </p:nvCxnSpPr>
        <p:spPr>
          <a:xfrm>
            <a:off x="609600" y="3200400"/>
            <a:ext cx="7924800" cy="0"/>
          </a:xfrm>
          <a:prstGeom prst="straightConnector1">
            <a:avLst/>
          </a:prstGeom>
          <a:noFill/>
          <a:ln cap="flat" cmpd="sng" w="38100">
            <a:solidFill>
              <a:srgbClr val="FF4C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" name="Google Shape;40;p20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072B6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0"/>
          <p:cNvSpPr txBox="1"/>
          <p:nvPr/>
        </p:nvSpPr>
        <p:spPr>
          <a:xfrm>
            <a:off x="76200" y="6584156"/>
            <a:ext cx="2286000" cy="304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>
                <a:solidFill>
                  <a:srgbClr val="BBD9DE"/>
                </a:solidFill>
                <a:latin typeface="Arial"/>
                <a:ea typeface="Arial"/>
                <a:cs typeface="Arial"/>
                <a:sym typeface="Arial"/>
              </a:rPr>
              <a:t>Summer 2026 – University of Virginia</a:t>
            </a:r>
            <a:endParaRPr b="0" sz="1000" u="none">
              <a:solidFill>
                <a:srgbClr val="BBD9D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20"/>
          <p:cNvSpPr txBox="1"/>
          <p:nvPr/>
        </p:nvSpPr>
        <p:spPr>
          <a:xfrm>
            <a:off x="8686800" y="6553200"/>
            <a:ext cx="457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000" u="none">
                <a:solidFill>
                  <a:srgbClr val="BBD9DE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000" u="none">
              <a:solidFill>
                <a:srgbClr val="BBD9D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0"/>
          <p:cNvSpPr txBox="1"/>
          <p:nvPr/>
        </p:nvSpPr>
        <p:spPr>
          <a:xfrm>
            <a:off x="3352800" y="6584156"/>
            <a:ext cx="2438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>
                <a:solidFill>
                  <a:srgbClr val="BBD9DE"/>
                </a:solidFill>
                <a:latin typeface="Arial"/>
                <a:ea typeface="Arial"/>
                <a:cs typeface="Arial"/>
                <a:sym typeface="Arial"/>
              </a:rPr>
              <a:t>© Praphamontripong</a:t>
            </a:r>
            <a:endParaRPr b="0" sz="1000" u="none">
              <a:solidFill>
                <a:srgbClr val="BBD9DE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0C0C0C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3"/>
          <p:cNvSpPr txBox="1"/>
          <p:nvPr>
            <p:ph type="title"/>
          </p:nvPr>
        </p:nvSpPr>
        <p:spPr>
          <a:xfrm>
            <a:off x="946404" y="758952"/>
            <a:ext cx="7063740" cy="40416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Century Schoolbook"/>
              <a:buNone/>
              <a:defRPr b="0" sz="6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3"/>
          <p:cNvSpPr txBox="1"/>
          <p:nvPr>
            <p:ph idx="1" type="body"/>
          </p:nvPr>
        </p:nvSpPr>
        <p:spPr>
          <a:xfrm>
            <a:off x="946404" y="4800600"/>
            <a:ext cx="706374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600"/>
              <a:buNone/>
              <a:defRPr sz="2000">
                <a:solidFill>
                  <a:srgbClr val="3F3F3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bg>
      <p:bgPr>
        <a:solidFill>
          <a:srgbClr val="0C0C0C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4"/>
          <p:cNvSpPr txBox="1"/>
          <p:nvPr>
            <p:ph type="title"/>
          </p:nvPr>
        </p:nvSpPr>
        <p:spPr>
          <a:xfrm>
            <a:off x="974539" y="365760"/>
            <a:ext cx="726948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entury Schoolbook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4"/>
          <p:cNvSpPr txBox="1"/>
          <p:nvPr>
            <p:ph idx="1" type="body"/>
          </p:nvPr>
        </p:nvSpPr>
        <p:spPr>
          <a:xfrm>
            <a:off x="974539" y="1828801"/>
            <a:ext cx="336042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 sz="1800">
                <a:solidFill>
                  <a:schemeClr val="lt1"/>
                </a:solidFill>
              </a:defRPr>
            </a:lvl1pPr>
            <a:lvl2pPr indent="-3302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Char char="●"/>
              <a:defRPr sz="1400"/>
            </a:lvl9pPr>
          </a:lstStyle>
          <a:p/>
        </p:txBody>
      </p:sp>
      <p:sp>
        <p:nvSpPr>
          <p:cNvPr id="50" name="Google Shape;50;p24"/>
          <p:cNvSpPr txBox="1"/>
          <p:nvPr>
            <p:ph idx="2" type="body"/>
          </p:nvPr>
        </p:nvSpPr>
        <p:spPr>
          <a:xfrm>
            <a:off x="4622995" y="1828801"/>
            <a:ext cx="336042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 sz="1800">
                <a:solidFill>
                  <a:schemeClr val="lt1"/>
                </a:solidFill>
              </a:defRPr>
            </a:lvl1pPr>
            <a:lvl2pPr indent="-3302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Char char="●"/>
              <a:defRPr sz="1400"/>
            </a:lvl9pPr>
          </a:lstStyle>
          <a:p/>
        </p:txBody>
      </p:sp>
      <p:sp>
        <p:nvSpPr>
          <p:cNvPr id="51" name="Google Shape;51;p24"/>
          <p:cNvSpPr txBox="1"/>
          <p:nvPr>
            <p:ph idx="11" type="ftr"/>
          </p:nvPr>
        </p:nvSpPr>
        <p:spPr>
          <a:xfrm>
            <a:off x="3124200" y="6455811"/>
            <a:ext cx="3581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200">
                <a:solidFill>
                  <a:srgbClr val="BBD9DE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2" name="Google Shape;52;p24"/>
          <p:cNvSpPr txBox="1"/>
          <p:nvPr>
            <p:ph idx="12" type="sldNum"/>
          </p:nvPr>
        </p:nvSpPr>
        <p:spPr>
          <a:xfrm>
            <a:off x="8077200" y="62484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None/>
              <a:defRPr b="1" sz="1600">
                <a:solidFill>
                  <a:srgbClr val="BBD9D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None/>
              <a:defRPr b="1" sz="1600">
                <a:solidFill>
                  <a:srgbClr val="BBD9D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None/>
              <a:defRPr b="1" sz="1600">
                <a:solidFill>
                  <a:srgbClr val="BBD9D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None/>
              <a:defRPr b="1" sz="1600">
                <a:solidFill>
                  <a:srgbClr val="BBD9D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None/>
              <a:defRPr b="1" sz="1600">
                <a:solidFill>
                  <a:srgbClr val="BBD9D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spcAft>
                <a:spcPts val="0"/>
              </a:spcAft>
              <a:buNone/>
              <a:defRPr b="1" sz="1600">
                <a:solidFill>
                  <a:srgbClr val="BBD9D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spcAft>
                <a:spcPts val="0"/>
              </a:spcAft>
              <a:buNone/>
              <a:defRPr b="1" sz="1600">
                <a:solidFill>
                  <a:srgbClr val="BBD9D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spcAft>
                <a:spcPts val="0"/>
              </a:spcAft>
              <a:buNone/>
              <a:defRPr b="1" sz="1600">
                <a:solidFill>
                  <a:srgbClr val="BBD9D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spcAft>
                <a:spcPts val="0"/>
              </a:spcAft>
              <a:buNone/>
              <a:defRPr b="1" sz="1600">
                <a:solidFill>
                  <a:srgbClr val="BBD9D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5"/>
          <p:cNvSpPr txBox="1"/>
          <p:nvPr>
            <p:ph type="title"/>
          </p:nvPr>
        </p:nvSpPr>
        <p:spPr>
          <a:xfrm>
            <a:off x="946404" y="365760"/>
            <a:ext cx="726948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5"/>
          <p:cNvSpPr txBox="1"/>
          <p:nvPr>
            <p:ph idx="1" type="body"/>
          </p:nvPr>
        </p:nvSpPr>
        <p:spPr>
          <a:xfrm>
            <a:off x="946404" y="1717185"/>
            <a:ext cx="33604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40"/>
              <a:buNone/>
              <a:defRPr b="0" sz="18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 b="1" sz="1800"/>
            </a:lvl2pPr>
            <a:lvl3pPr indent="-2286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6" name="Google Shape;56;p25"/>
          <p:cNvSpPr txBox="1"/>
          <p:nvPr>
            <p:ph idx="2" type="body"/>
          </p:nvPr>
        </p:nvSpPr>
        <p:spPr>
          <a:xfrm>
            <a:off x="946404" y="2507550"/>
            <a:ext cx="3360420" cy="3664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 sz="1800"/>
            </a:lvl1pPr>
            <a:lvl2pPr indent="-3302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2pPr>
            <a:lvl3pPr indent="-3175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Char char="●"/>
              <a:defRPr sz="1400"/>
            </a:lvl9pPr>
          </a:lstStyle>
          <a:p/>
        </p:txBody>
      </p:sp>
      <p:sp>
        <p:nvSpPr>
          <p:cNvPr id="57" name="Google Shape;57;p25"/>
          <p:cNvSpPr txBox="1"/>
          <p:nvPr>
            <p:ph idx="3" type="body"/>
          </p:nvPr>
        </p:nvSpPr>
        <p:spPr>
          <a:xfrm>
            <a:off x="4599432" y="1717185"/>
            <a:ext cx="3364992" cy="7315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Font typeface="Century Schoolbook"/>
              <a:buNone/>
              <a:defRPr b="0" sz="1800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indent="-3429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58" name="Google Shape;58;p25"/>
          <p:cNvSpPr txBox="1"/>
          <p:nvPr>
            <p:ph idx="4" type="body"/>
          </p:nvPr>
        </p:nvSpPr>
        <p:spPr>
          <a:xfrm>
            <a:off x="4594860" y="2507550"/>
            <a:ext cx="3360420" cy="3664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 sz="1800"/>
            </a:lvl1pPr>
            <a:lvl2pPr indent="-3302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2pPr>
            <a:lvl3pPr indent="-3175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Char char="●"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6"/>
          <p:cNvSpPr txBox="1"/>
          <p:nvPr>
            <p:ph type="title"/>
          </p:nvPr>
        </p:nvSpPr>
        <p:spPr>
          <a:xfrm>
            <a:off x="946404" y="365760"/>
            <a:ext cx="726948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8"/>
          <p:cNvSpPr txBox="1"/>
          <p:nvPr>
            <p:ph type="title"/>
          </p:nvPr>
        </p:nvSpPr>
        <p:spPr>
          <a:xfrm>
            <a:off x="630936" y="457201"/>
            <a:ext cx="2400300" cy="160019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entury Schoolbook"/>
              <a:buNone/>
              <a:defRPr b="0"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8"/>
          <p:cNvSpPr txBox="1"/>
          <p:nvPr>
            <p:ph idx="1" type="body"/>
          </p:nvPr>
        </p:nvSpPr>
        <p:spPr>
          <a:xfrm>
            <a:off x="3378200" y="685800"/>
            <a:ext cx="45593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 sz="1800"/>
            </a:lvl1pPr>
            <a:lvl2pPr indent="-3302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2pPr>
            <a:lvl3pPr indent="-3175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Char char="●"/>
              <a:defRPr sz="1400"/>
            </a:lvl9pPr>
          </a:lstStyle>
          <a:p/>
        </p:txBody>
      </p:sp>
      <p:sp>
        <p:nvSpPr>
          <p:cNvPr id="65" name="Google Shape;65;p28"/>
          <p:cNvSpPr txBox="1"/>
          <p:nvPr>
            <p:ph idx="2" type="body"/>
          </p:nvPr>
        </p:nvSpPr>
        <p:spPr>
          <a:xfrm>
            <a:off x="630936" y="2099735"/>
            <a:ext cx="2400300" cy="3810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SzPts val="1040"/>
              <a:buNone/>
              <a:defRPr sz="1300"/>
            </a:lvl1pPr>
            <a:lvl2pPr indent="-2286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66" name="Google Shape;66;p28"/>
          <p:cNvSpPr txBox="1"/>
          <p:nvPr>
            <p:ph idx="10" type="dt"/>
          </p:nvPr>
        </p:nvSpPr>
        <p:spPr>
          <a:xfrm rot="-5400000">
            <a:off x="7831456" y="1044178"/>
            <a:ext cx="19049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67" name="Google Shape;67;p28"/>
          <p:cNvSpPr txBox="1"/>
          <p:nvPr>
            <p:ph idx="11" type="ftr"/>
          </p:nvPr>
        </p:nvSpPr>
        <p:spPr>
          <a:xfrm rot="-5400000">
            <a:off x="6993255" y="4092178"/>
            <a:ext cx="3581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68" name="Google Shape;68;p28"/>
          <p:cNvSpPr txBox="1"/>
          <p:nvPr>
            <p:ph idx="12" type="sldNum"/>
          </p:nvPr>
        </p:nvSpPr>
        <p:spPr>
          <a:xfrm>
            <a:off x="8441055" y="6172201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None/>
              <a:defRPr b="1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None/>
              <a:defRPr b="1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None/>
              <a:defRPr b="1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None/>
              <a:defRPr b="1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None/>
              <a:defRPr b="1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l">
              <a:spcBef>
                <a:spcPts val="0"/>
              </a:spcBef>
              <a:spcAft>
                <a:spcPts val="0"/>
              </a:spcAft>
              <a:buNone/>
              <a:defRPr b="1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l">
              <a:spcBef>
                <a:spcPts val="0"/>
              </a:spcBef>
              <a:spcAft>
                <a:spcPts val="0"/>
              </a:spcAft>
              <a:buNone/>
              <a:defRPr b="1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l">
              <a:spcBef>
                <a:spcPts val="0"/>
              </a:spcBef>
              <a:spcAft>
                <a:spcPts val="0"/>
              </a:spcAft>
              <a:buNone/>
              <a:defRPr b="1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l">
              <a:spcBef>
                <a:spcPts val="0"/>
              </a:spcBef>
              <a:spcAft>
                <a:spcPts val="0"/>
              </a:spcAft>
              <a:buNone/>
              <a:defRPr b="1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9"/>
          <p:cNvSpPr/>
          <p:nvPr/>
        </p:nvSpPr>
        <p:spPr>
          <a:xfrm>
            <a:off x="0" y="5105400"/>
            <a:ext cx="846963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29"/>
          <p:cNvSpPr txBox="1"/>
          <p:nvPr>
            <p:ph type="title"/>
          </p:nvPr>
        </p:nvSpPr>
        <p:spPr>
          <a:xfrm>
            <a:off x="685800" y="5257800"/>
            <a:ext cx="74866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Schoolbook"/>
              <a:buNone/>
              <a:defRPr b="0" sz="2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2" name="Google Shape;72;p29"/>
          <p:cNvPicPr preferRelativeResize="0"/>
          <p:nvPr>
            <p:ph idx="2" type="pic"/>
          </p:nvPr>
        </p:nvPicPr>
        <p:blipFill/>
        <p:spPr>
          <a:xfrm>
            <a:off x="0" y="1"/>
            <a:ext cx="8469630" cy="5128923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73" name="Google Shape;73;p29"/>
          <p:cNvSpPr txBox="1"/>
          <p:nvPr>
            <p:ph idx="1" type="body"/>
          </p:nvPr>
        </p:nvSpPr>
        <p:spPr>
          <a:xfrm>
            <a:off x="685800" y="6108590"/>
            <a:ext cx="7486650" cy="5970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40"/>
              <a:buNone/>
              <a:defRPr sz="1300">
                <a:solidFill>
                  <a:srgbClr val="D8D8D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74" name="Google Shape;74;p29"/>
          <p:cNvSpPr txBox="1"/>
          <p:nvPr>
            <p:ph idx="10" type="dt"/>
          </p:nvPr>
        </p:nvSpPr>
        <p:spPr>
          <a:xfrm rot="-5400000">
            <a:off x="7831456" y="1044178"/>
            <a:ext cx="19049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75" name="Google Shape;75;p29"/>
          <p:cNvSpPr txBox="1"/>
          <p:nvPr>
            <p:ph idx="11" type="ftr"/>
          </p:nvPr>
        </p:nvSpPr>
        <p:spPr>
          <a:xfrm rot="-5400000">
            <a:off x="6993255" y="4092178"/>
            <a:ext cx="3581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76" name="Google Shape;76;p29"/>
          <p:cNvSpPr txBox="1"/>
          <p:nvPr>
            <p:ph idx="12" type="sldNum"/>
          </p:nvPr>
        </p:nvSpPr>
        <p:spPr>
          <a:xfrm>
            <a:off x="8441055" y="6172201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None/>
              <a:defRPr b="1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None/>
              <a:defRPr b="1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None/>
              <a:defRPr b="1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None/>
              <a:defRPr b="1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None/>
              <a:defRPr b="1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l">
              <a:spcBef>
                <a:spcPts val="0"/>
              </a:spcBef>
              <a:spcAft>
                <a:spcPts val="0"/>
              </a:spcAft>
              <a:buNone/>
              <a:defRPr b="1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l">
              <a:spcBef>
                <a:spcPts val="0"/>
              </a:spcBef>
              <a:spcAft>
                <a:spcPts val="0"/>
              </a:spcAft>
              <a:buNone/>
              <a:defRPr b="1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l">
              <a:spcBef>
                <a:spcPts val="0"/>
              </a:spcBef>
              <a:spcAft>
                <a:spcPts val="0"/>
              </a:spcAft>
              <a:buNone/>
              <a:defRPr b="1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l">
              <a:spcBef>
                <a:spcPts val="0"/>
              </a:spcBef>
              <a:spcAft>
                <a:spcPts val="0"/>
              </a:spcAft>
              <a:buNone/>
              <a:defRPr b="1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0"/>
          <p:cNvSpPr txBox="1"/>
          <p:nvPr>
            <p:ph type="title"/>
          </p:nvPr>
        </p:nvSpPr>
        <p:spPr>
          <a:xfrm>
            <a:off x="946404" y="365760"/>
            <a:ext cx="726948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0"/>
          <p:cNvSpPr txBox="1"/>
          <p:nvPr>
            <p:ph idx="1" type="body"/>
          </p:nvPr>
        </p:nvSpPr>
        <p:spPr>
          <a:xfrm rot="5400000">
            <a:off x="1993995" y="781210"/>
            <a:ext cx="4351337" cy="6446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80" name="Google Shape;80;p30"/>
          <p:cNvSpPr txBox="1"/>
          <p:nvPr>
            <p:ph idx="10" type="dt"/>
          </p:nvPr>
        </p:nvSpPr>
        <p:spPr>
          <a:xfrm rot="-5400000">
            <a:off x="7831456" y="1044178"/>
            <a:ext cx="19049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1" name="Google Shape;81;p30"/>
          <p:cNvSpPr txBox="1"/>
          <p:nvPr>
            <p:ph idx="11" type="ftr"/>
          </p:nvPr>
        </p:nvSpPr>
        <p:spPr>
          <a:xfrm rot="-5400000">
            <a:off x="6993255" y="4092178"/>
            <a:ext cx="3581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2" name="Google Shape;82;p30"/>
          <p:cNvSpPr txBox="1"/>
          <p:nvPr>
            <p:ph idx="12" type="sldNum"/>
          </p:nvPr>
        </p:nvSpPr>
        <p:spPr>
          <a:xfrm>
            <a:off x="8441055" y="6172201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None/>
              <a:defRPr b="1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None/>
              <a:defRPr b="1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None/>
              <a:defRPr b="1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None/>
              <a:defRPr b="1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None/>
              <a:defRPr b="1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l">
              <a:spcBef>
                <a:spcPts val="0"/>
              </a:spcBef>
              <a:spcAft>
                <a:spcPts val="0"/>
              </a:spcAft>
              <a:buNone/>
              <a:defRPr b="1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l">
              <a:spcBef>
                <a:spcPts val="0"/>
              </a:spcBef>
              <a:spcAft>
                <a:spcPts val="0"/>
              </a:spcAft>
              <a:buNone/>
              <a:defRPr b="1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l">
              <a:spcBef>
                <a:spcPts val="0"/>
              </a:spcBef>
              <a:spcAft>
                <a:spcPts val="0"/>
              </a:spcAft>
              <a:buNone/>
              <a:defRPr b="1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l">
              <a:spcBef>
                <a:spcPts val="0"/>
              </a:spcBef>
              <a:spcAft>
                <a:spcPts val="0"/>
              </a:spcAft>
              <a:buNone/>
              <a:defRPr b="1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1"/>
          <p:cNvSpPr txBox="1"/>
          <p:nvPr>
            <p:ph type="title"/>
          </p:nvPr>
        </p:nvSpPr>
        <p:spPr>
          <a:xfrm rot="5400000">
            <a:off x="4466432" y="2401093"/>
            <a:ext cx="5897562" cy="18573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31"/>
          <p:cNvSpPr txBox="1"/>
          <p:nvPr>
            <p:ph idx="1" type="body"/>
          </p:nvPr>
        </p:nvSpPr>
        <p:spPr>
          <a:xfrm rot="5400000">
            <a:off x="523081" y="429418"/>
            <a:ext cx="5897562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86" name="Google Shape;86;p31"/>
          <p:cNvSpPr txBox="1"/>
          <p:nvPr>
            <p:ph idx="10" type="dt"/>
          </p:nvPr>
        </p:nvSpPr>
        <p:spPr>
          <a:xfrm rot="-5400000">
            <a:off x="7831456" y="1044178"/>
            <a:ext cx="19049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7" name="Google Shape;87;p31"/>
          <p:cNvSpPr txBox="1"/>
          <p:nvPr>
            <p:ph idx="11" type="ftr"/>
          </p:nvPr>
        </p:nvSpPr>
        <p:spPr>
          <a:xfrm rot="-5400000">
            <a:off x="6993255" y="4092178"/>
            <a:ext cx="3581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8" name="Google Shape;88;p31"/>
          <p:cNvSpPr txBox="1"/>
          <p:nvPr>
            <p:ph idx="12" type="sldNum"/>
          </p:nvPr>
        </p:nvSpPr>
        <p:spPr>
          <a:xfrm>
            <a:off x="8441055" y="6172201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None/>
              <a:defRPr b="1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None/>
              <a:defRPr b="1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None/>
              <a:defRPr b="1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None/>
              <a:defRPr b="1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None/>
              <a:defRPr b="1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l">
              <a:spcBef>
                <a:spcPts val="0"/>
              </a:spcBef>
              <a:spcAft>
                <a:spcPts val="0"/>
              </a:spcAft>
              <a:buNone/>
              <a:defRPr b="1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l">
              <a:spcBef>
                <a:spcPts val="0"/>
              </a:spcBef>
              <a:spcAft>
                <a:spcPts val="0"/>
              </a:spcAft>
              <a:buNone/>
              <a:defRPr b="1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l">
              <a:spcBef>
                <a:spcPts val="0"/>
              </a:spcBef>
              <a:spcAft>
                <a:spcPts val="0"/>
              </a:spcAft>
              <a:buNone/>
              <a:defRPr b="1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l">
              <a:spcBef>
                <a:spcPts val="0"/>
              </a:spcBef>
              <a:spcAft>
                <a:spcPts val="0"/>
              </a:spcAft>
              <a:buNone/>
              <a:defRPr b="1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3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8" name="Google Shape;98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3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4" name="Google Shape;104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3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0" name="Google Shape;110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3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16" name="Google Shape;116;p3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17" name="Google Shape;117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3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3" name="Google Shape;123;p3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24" name="Google Shape;124;p3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5" name="Google Shape;125;p3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26" name="Google Shape;126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4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41" name="Google Shape;141;p4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42" name="Google Shape;142;p4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4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4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4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4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48" name="Google Shape;148;p4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49" name="Google Shape;149;p4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4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4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4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4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5" name="Google Shape;155;p4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4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4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4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1" name="Google Shape;161;p4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4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4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4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4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73" name="Google Shape;173;p4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4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4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4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4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9" name="Google Shape;179;p4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4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4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4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" name="Google Shape;184;p4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5" name="Google Shape;185;p4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4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4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4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" name="Google Shape;190;p4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91" name="Google Shape;191;p4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92" name="Google Shape;192;p4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4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4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4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98" name="Google Shape;198;p4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99" name="Google Shape;199;p4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00" name="Google Shape;200;p4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201" name="Google Shape;201;p4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4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4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5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5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p5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5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5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1" name="Google Shape;211;p5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5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5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5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216" name="Google Shape;216;p5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217" name="Google Shape;217;p5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8" name="Google Shape;218;p5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5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5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5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223" name="Google Shape;223;p5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224" name="Google Shape;224;p5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5" name="Google Shape;225;p5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5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5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54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0" name="Google Shape;230;p5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5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2" name="Google Shape;232;p5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55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5" name="Google Shape;235;p55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6" name="Google Shape;236;p5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p5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p5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5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7" name="Google Shape;247;p5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8" name="Google Shape;248;p5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9" name="Google Shape;249;p5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5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5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3" name="Google Shape;253;p5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4" name="Google Shape;254;p5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5" name="Google Shape;255;p5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6" name="Google Shape;256;p5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59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9" name="Google Shape;259;p59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0" name="Google Shape;260;p5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1" name="Google Shape;261;p5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2" name="Google Shape;262;p5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6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5" name="Google Shape;265;p6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266" name="Google Shape;266;p6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267" name="Google Shape;267;p6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8" name="Google Shape;268;p6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9" name="Google Shape;269;p6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6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2" name="Google Shape;272;p6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73" name="Google Shape;273;p6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274" name="Google Shape;274;p6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75" name="Google Shape;275;p6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276" name="Google Shape;276;p6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7" name="Google Shape;277;p6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8" name="Google Shape;278;p6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6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1" name="Google Shape;281;p6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2" name="Google Shape;282;p6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3" name="Google Shape;283;p6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6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6" name="Google Shape;286;p6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7" name="Google Shape;287;p6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6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0" name="Google Shape;290;p6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291" name="Google Shape;291;p6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292" name="Google Shape;292;p6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3" name="Google Shape;293;p6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4" name="Google Shape;294;p6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6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7" name="Google Shape;297;p6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298" name="Google Shape;298;p6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299" name="Google Shape;299;p6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0" name="Google Shape;300;p6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1" name="Google Shape;301;p6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6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4" name="Google Shape;304;p6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5" name="Google Shape;305;p6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6" name="Google Shape;306;p6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7" name="Google Shape;307;p6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6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0" name="Google Shape;310;p6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1" name="Google Shape;311;p6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2" name="Google Shape;312;p6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3" name="Google Shape;313;p6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6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2" name="Google Shape;322;p6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3" name="Google Shape;323;p6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4" name="Google Shape;324;p6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5" name="Google Shape;325;p6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7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8" name="Google Shape;328;p7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9" name="Google Shape;329;p7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0" name="Google Shape;330;p7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1" name="Google Shape;331;p7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7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4" name="Google Shape;334;p7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35" name="Google Shape;335;p7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6" name="Google Shape;336;p7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7" name="Google Shape;337;p7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7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0" name="Google Shape;340;p72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41" name="Google Shape;341;p72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42" name="Google Shape;342;p7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3" name="Google Shape;343;p7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4" name="Google Shape;344;p7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7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7" name="Google Shape;347;p73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48" name="Google Shape;348;p7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349" name="Google Shape;349;p73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50" name="Google Shape;350;p73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351" name="Google Shape;351;p7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2" name="Google Shape;352;p7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3" name="Google Shape;353;p7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7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6" name="Google Shape;356;p7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7" name="Google Shape;357;p7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8" name="Google Shape;358;p7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7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1" name="Google Shape;361;p7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2" name="Google Shape;362;p7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7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5" name="Google Shape;365;p7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366" name="Google Shape;366;p7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367" name="Google Shape;367;p7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8" name="Google Shape;368;p7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9" name="Google Shape;369;p7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7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2" name="Google Shape;372;p7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373" name="Google Shape;373;p7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374" name="Google Shape;374;p7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5" name="Google Shape;375;p7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6" name="Google Shape;376;p7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7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9" name="Google Shape;379;p78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0" name="Google Shape;380;p7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1" name="Google Shape;381;p7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2" name="Google Shape;382;p7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7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5" name="Google Shape;385;p7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6" name="Google Shape;386;p7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7" name="Google Shape;387;p7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8" name="Google Shape;388;p7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11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10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2" Type="http://schemas.openxmlformats.org/officeDocument/2006/relationships/theme" Target="../theme/theme5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3.xml"/><Relationship Id="rId12" Type="http://schemas.openxmlformats.org/officeDocument/2006/relationships/theme" Target="../theme/theme6.xml"/><Relationship Id="rId9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/Relationships>
</file>

<file path=ppt/slideMasters/_rels/slideMaster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44.xml"/><Relationship Id="rId12" Type="http://schemas.openxmlformats.org/officeDocument/2006/relationships/theme" Target="../theme/theme7.xml"/><Relationship Id="rId9" Type="http://schemas.openxmlformats.org/officeDocument/2006/relationships/slideLayout" Target="../slideLayouts/slideLayout43.xml"/><Relationship Id="rId5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/Relationships>
</file>

<file path=ppt/slideMasters/_rels/slideMaster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slideLayout" Target="../slideLayouts/slideLayout47.xml"/><Relationship Id="rId3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9.xml"/><Relationship Id="rId11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55.xml"/><Relationship Id="rId12" Type="http://schemas.openxmlformats.org/officeDocument/2006/relationships/theme" Target="../theme/theme4.xml"/><Relationship Id="rId9" Type="http://schemas.openxmlformats.org/officeDocument/2006/relationships/slideLayout" Target="../slideLayouts/slideLayout54.xml"/><Relationship Id="rId5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2.xml"/><Relationship Id="rId8" Type="http://schemas.openxmlformats.org/officeDocument/2006/relationships/slideLayout" Target="../slideLayouts/slideLayout5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19"/>
          <p:cNvCxnSpPr/>
          <p:nvPr/>
        </p:nvCxnSpPr>
        <p:spPr>
          <a:xfrm>
            <a:off x="0" y="914400"/>
            <a:ext cx="9144000" cy="0"/>
          </a:xfrm>
          <a:prstGeom prst="straightConnector1">
            <a:avLst/>
          </a:prstGeom>
          <a:noFill/>
          <a:ln cap="flat" cmpd="sng" w="57150">
            <a:solidFill>
              <a:srgbClr val="FF4C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" name="Google Shape;11;p19"/>
          <p:cNvSpPr txBox="1"/>
          <p:nvPr>
            <p:ph type="title"/>
          </p:nvPr>
        </p:nvSpPr>
        <p:spPr>
          <a:xfrm>
            <a:off x="946404" y="365760"/>
            <a:ext cx="726948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entury Schoolbook"/>
              <a:buNone/>
              <a:defRPr b="0" i="0" sz="40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" name="Google Shape;12;p19"/>
          <p:cNvSpPr txBox="1"/>
          <p:nvPr>
            <p:ph idx="1" type="body"/>
          </p:nvPr>
        </p:nvSpPr>
        <p:spPr>
          <a:xfrm>
            <a:off x="946404" y="1828801"/>
            <a:ext cx="644652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marR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●"/>
              <a:defRPr b="0" i="0" sz="1600" u="none" cap="none" strike="noStrik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/>
        </p:txBody>
      </p:sp>
      <p:sp>
        <p:nvSpPr>
          <p:cNvPr id="13" name="Google Shape;13;p19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498D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9"/>
          <p:cNvSpPr txBox="1"/>
          <p:nvPr/>
        </p:nvSpPr>
        <p:spPr>
          <a:xfrm>
            <a:off x="76200" y="6584156"/>
            <a:ext cx="2286000" cy="304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BD9DE"/>
                </a:solidFill>
                <a:latin typeface="Arial"/>
                <a:ea typeface="Arial"/>
                <a:cs typeface="Arial"/>
                <a:sym typeface="Arial"/>
              </a:rPr>
              <a:t>Fall 2026 – University of Virginia</a:t>
            </a:r>
            <a:endParaRPr b="0" i="0" sz="1000" u="none" cap="none" strike="noStrike">
              <a:solidFill>
                <a:srgbClr val="BBD9D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19"/>
          <p:cNvSpPr txBox="1"/>
          <p:nvPr/>
        </p:nvSpPr>
        <p:spPr>
          <a:xfrm>
            <a:off x="8686800" y="6553200"/>
            <a:ext cx="457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BBD9DE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BBD9D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19"/>
          <p:cNvSpPr txBox="1"/>
          <p:nvPr/>
        </p:nvSpPr>
        <p:spPr>
          <a:xfrm>
            <a:off x="3352800" y="6584156"/>
            <a:ext cx="2438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BD9DE"/>
                </a:solidFill>
                <a:latin typeface="Arial"/>
                <a:ea typeface="Arial"/>
                <a:cs typeface="Arial"/>
                <a:sym typeface="Arial"/>
              </a:rPr>
              <a:t>© Praphamontripong</a:t>
            </a:r>
            <a:endParaRPr b="0" i="0" sz="1000" u="none" cap="none" strike="noStrike">
              <a:solidFill>
                <a:srgbClr val="BBD9DE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18"/>
          <p:cNvCxnSpPr/>
          <p:nvPr/>
        </p:nvCxnSpPr>
        <p:spPr>
          <a:xfrm>
            <a:off x="0" y="914400"/>
            <a:ext cx="9144000" cy="0"/>
          </a:xfrm>
          <a:prstGeom prst="straightConnector1">
            <a:avLst/>
          </a:prstGeom>
          <a:noFill/>
          <a:ln cap="flat" cmpd="sng" w="57150">
            <a:solidFill>
              <a:srgbClr val="FF4C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" name="Google Shape;27;p18"/>
          <p:cNvSpPr txBox="1"/>
          <p:nvPr>
            <p:ph type="title"/>
          </p:nvPr>
        </p:nvSpPr>
        <p:spPr>
          <a:xfrm>
            <a:off x="946404" y="365760"/>
            <a:ext cx="726948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Schoolbook"/>
              <a:buNone/>
              <a:defRPr b="0" i="0" sz="40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8" name="Google Shape;28;p18"/>
          <p:cNvSpPr txBox="1"/>
          <p:nvPr>
            <p:ph idx="1" type="body"/>
          </p:nvPr>
        </p:nvSpPr>
        <p:spPr>
          <a:xfrm>
            <a:off x="946404" y="1828801"/>
            <a:ext cx="644652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marR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●"/>
              <a:defRPr b="0" i="0" sz="16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/>
        </p:txBody>
      </p:sp>
      <p:sp>
        <p:nvSpPr>
          <p:cNvPr id="29" name="Google Shape;29;p18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1D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8"/>
          <p:cNvSpPr txBox="1"/>
          <p:nvPr/>
        </p:nvSpPr>
        <p:spPr>
          <a:xfrm>
            <a:off x="76200" y="6584156"/>
            <a:ext cx="2286000" cy="304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BD9DE"/>
                </a:solidFill>
                <a:latin typeface="Arial"/>
                <a:ea typeface="Arial"/>
                <a:cs typeface="Arial"/>
                <a:sym typeface="Arial"/>
              </a:rPr>
              <a:t>Fall 2026 – University of Virginia</a:t>
            </a:r>
            <a:endParaRPr b="0" i="0" sz="1000" u="none" cap="none" strike="noStrike">
              <a:solidFill>
                <a:srgbClr val="BBD9D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18"/>
          <p:cNvSpPr txBox="1"/>
          <p:nvPr/>
        </p:nvSpPr>
        <p:spPr>
          <a:xfrm>
            <a:off x="8686800" y="6553200"/>
            <a:ext cx="457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BBD9DE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BBD9D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18"/>
          <p:cNvSpPr txBox="1"/>
          <p:nvPr/>
        </p:nvSpPr>
        <p:spPr>
          <a:xfrm>
            <a:off x="3352800" y="6584156"/>
            <a:ext cx="2438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BD9DE"/>
                </a:solidFill>
                <a:latin typeface="Arial"/>
                <a:ea typeface="Arial"/>
                <a:cs typeface="Arial"/>
                <a:sym typeface="Arial"/>
              </a:rPr>
              <a:t>© Praphamontripong</a:t>
            </a:r>
            <a:endParaRPr b="0" i="0" sz="1000" u="none" cap="none" strike="noStrike">
              <a:solidFill>
                <a:srgbClr val="BBD9DE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1" name="Google Shape;91;p3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2" name="Google Shape;92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93" name="Google Shape;93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94" name="Google Shape;94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4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66" name="Google Shape;166;p4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7" name="Google Shape;167;p4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68" name="Google Shape;168;p4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69" name="Google Shape;169;p4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5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41" name="Google Shape;241;p5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2" name="Google Shape;242;p5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43" name="Google Shape;243;p5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44" name="Google Shape;244;p5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6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16" name="Google Shape;316;p6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7" name="Google Shape;317;p6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318" name="Google Shape;318;p6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319" name="Google Shape;319;p6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cs.virginia.edu/~up3f/cs3250/inclass/activity-how-do-you-test.html" TargetMode="External"/><Relationship Id="rId4" Type="http://schemas.openxmlformats.org/officeDocument/2006/relationships/hyperlink" Target="https://www.cs.virginia.edu/~up3f/cs3250/inclass/activity-how-do-you-test.html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hyperlink" Target="http://www.cs.virginia.edu/~up3f/cs3250/inclass/activity-debugging.html" TargetMode="External"/><Relationship Id="rId5" Type="http://schemas.openxmlformats.org/officeDocument/2006/relationships/hyperlink" Target="http://www.cs.virginia.edu/~up3f/cs3250/inclass/activity-debugging.html" TargetMode="External"/><Relationship Id="rId6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www.tldraw.com/f/xypCRh5ufr799rrrbDJsK?d=v-299.-30.1179.823.page" TargetMode="External"/><Relationship Id="rId4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"/>
          <p:cNvSpPr txBox="1"/>
          <p:nvPr>
            <p:ph type="ctrTitle"/>
          </p:nvPr>
        </p:nvSpPr>
        <p:spPr>
          <a:xfrm>
            <a:off x="685800" y="762000"/>
            <a:ext cx="77724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5000"/>
              <a:buFont typeface="Verdana"/>
              <a:buNone/>
            </a:pPr>
            <a:r>
              <a:rPr b="1" lang="en-US" sz="5000">
                <a:solidFill>
                  <a:srgbClr val="FFFF00"/>
                </a:solidFill>
              </a:rPr>
              <a:t>Introduction to </a:t>
            </a:r>
            <a:br>
              <a:rPr b="1" lang="en-US" sz="5000">
                <a:solidFill>
                  <a:srgbClr val="FFFF00"/>
                </a:solidFill>
              </a:rPr>
            </a:br>
            <a:r>
              <a:rPr b="1" lang="en-US" sz="5000">
                <a:solidFill>
                  <a:srgbClr val="FFFF00"/>
                </a:solidFill>
              </a:rPr>
              <a:t>Software Testing</a:t>
            </a:r>
            <a:br>
              <a:rPr b="1" lang="en-US" sz="5000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b="1" lang="en-US" sz="3000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1" lang="en-US" sz="40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CS </a:t>
            </a:r>
            <a:r>
              <a:rPr b="1" lang="en-US" sz="4000">
                <a:solidFill>
                  <a:srgbClr val="FFFFFF"/>
                </a:solidFill>
              </a:rPr>
              <a:t>3250</a:t>
            </a:r>
            <a:br>
              <a:rPr b="1" lang="en-US" sz="40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1" lang="en-US" sz="40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Software Testing</a:t>
            </a:r>
            <a:endParaRPr/>
          </a:p>
        </p:txBody>
      </p:sp>
      <p:sp>
        <p:nvSpPr>
          <p:cNvPr id="394" name="Google Shape;394;p1"/>
          <p:cNvSpPr/>
          <p:nvPr/>
        </p:nvSpPr>
        <p:spPr>
          <a:xfrm>
            <a:off x="1903938" y="6225418"/>
            <a:ext cx="7163862" cy="2754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[Ammann and Offutt, “Introduction to Software Testing,” Ch. 1, Ch. 2.1]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2"/>
          <p:cNvSpPr txBox="1"/>
          <p:nvPr>
            <p:ph type="title"/>
          </p:nvPr>
        </p:nvSpPr>
        <p:spPr>
          <a:xfrm>
            <a:off x="0" y="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000"/>
              <a:buFont typeface="Verdana"/>
              <a:buNone/>
            </a:pPr>
            <a:r>
              <a:rPr lang="en-US"/>
              <a:t>How Do You Test?</a:t>
            </a:r>
            <a:endParaRPr/>
          </a:p>
        </p:txBody>
      </p:sp>
      <p:sp>
        <p:nvSpPr>
          <p:cNvPr id="401" name="Google Shape;401;p2"/>
          <p:cNvSpPr txBox="1"/>
          <p:nvPr>
            <p:ph idx="1" type="body"/>
          </p:nvPr>
        </p:nvSpPr>
        <p:spPr>
          <a:xfrm>
            <a:off x="152400" y="990601"/>
            <a:ext cx="8915400" cy="28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6225" lvl="0" marL="290513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40"/>
              <a:buChar char="•"/>
            </a:pPr>
            <a:r>
              <a:rPr lang="en-US" sz="1800"/>
              <a:t>Imagine we are testing a typical “add” functionality of a calculator program</a:t>
            </a:r>
            <a:endParaRPr/>
          </a:p>
          <a:p>
            <a:pPr indent="-276225" lvl="0" marL="290513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1440"/>
              <a:buChar char="•"/>
            </a:pPr>
            <a:r>
              <a:rPr lang="en-US" sz="1800"/>
              <a:t>The adder() function takes 2 numbers that a user enters and returns the sum of the 2 numbers. </a:t>
            </a:r>
            <a:endParaRPr/>
          </a:p>
          <a:p>
            <a:pPr indent="-276225" lvl="0" marL="290513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1440"/>
              <a:buChar char="•"/>
            </a:pPr>
            <a:r>
              <a:rPr lang="en-US" sz="1800"/>
              <a:t>The program displays the result of the adder() and then lets the user decide when the program should terminate.</a:t>
            </a:r>
            <a:endParaRPr/>
          </a:p>
          <a:p>
            <a:pPr indent="-276225" lvl="0" marL="290513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1440"/>
              <a:buChar char="•"/>
            </a:pPr>
            <a:r>
              <a:rPr lang="en-US" sz="1800"/>
              <a:t>How would you </a:t>
            </a:r>
            <a:r>
              <a:rPr lang="en-US" sz="1800">
                <a:solidFill>
                  <a:srgbClr val="FFFF00"/>
                </a:solidFill>
              </a:rPr>
              <a:t>test the adder() </a:t>
            </a:r>
            <a:r>
              <a:rPr lang="en-US" sz="1800"/>
              <a:t>function? What are test cases? How many test cases do we need? How do you know? </a:t>
            </a:r>
            <a:endParaRPr/>
          </a:p>
        </p:txBody>
      </p:sp>
      <p:sp>
        <p:nvSpPr>
          <p:cNvPr id="402" name="Google Shape;402;p2"/>
          <p:cNvSpPr txBox="1"/>
          <p:nvPr/>
        </p:nvSpPr>
        <p:spPr>
          <a:xfrm>
            <a:off x="457200" y="3810000"/>
            <a:ext cx="8229600" cy="2514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E57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2223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def adder():</a:t>
            </a:r>
            <a:br>
              <a:rPr b="0" i="0" lang="en-US" sz="20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</a:br>
            <a:r>
              <a:rPr b="0" i="0" lang="en-US" sz="20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   n1 = int(input('Enter number1: '))</a:t>
            </a:r>
            <a:br>
              <a:rPr b="0" i="0" lang="en-US" sz="20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</a:br>
            <a:r>
              <a:rPr b="0" i="0" lang="en-US" sz="20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   n2 = int(input('Enter number2: '))</a:t>
            </a:r>
            <a:br>
              <a:rPr b="0" i="0" lang="en-US" sz="20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</a:br>
            <a:r>
              <a:rPr b="0" i="0" lang="en-US" sz="20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   return n1 + n2</a:t>
            </a:r>
            <a:br>
              <a:rPr b="0" i="0" lang="en-US" sz="20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</a:br>
            <a:br>
              <a:rPr b="0" i="0" lang="en-US" sz="20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</a:br>
            <a:r>
              <a:rPr b="0" i="0" lang="en-US" sz="20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end = 'n'</a:t>
            </a:r>
            <a:br>
              <a:rPr b="0" i="0" lang="en-US" sz="20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</a:br>
            <a:r>
              <a:rPr b="0" i="0" lang="en-US" sz="20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while end != 'y':</a:t>
            </a:r>
            <a:br>
              <a:rPr b="0" i="0" lang="en-US" sz="20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</a:br>
            <a:r>
              <a:rPr b="0" i="0" lang="en-US" sz="20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   print('sum =', adder())</a:t>
            </a:r>
            <a:br>
              <a:rPr b="0" i="0" lang="en-US" sz="20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</a:br>
            <a:r>
              <a:rPr b="0" i="0" lang="en-US" sz="20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   end = input('Enter \'y\' to end the program: ')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"/>
          <p:cNvSpPr txBox="1"/>
          <p:nvPr>
            <p:ph type="title"/>
          </p:nvPr>
        </p:nvSpPr>
        <p:spPr>
          <a:xfrm>
            <a:off x="0" y="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000"/>
              <a:buFont typeface="Verdana"/>
              <a:buNone/>
            </a:pPr>
            <a:r>
              <a:rPr lang="en-US"/>
              <a:t>More Testing &amp; AI Tests</a:t>
            </a:r>
            <a:endParaRPr/>
          </a:p>
        </p:txBody>
      </p:sp>
      <p:sp>
        <p:nvSpPr>
          <p:cNvPr id="409" name="Google Shape;409;p3"/>
          <p:cNvSpPr txBox="1"/>
          <p:nvPr>
            <p:ph idx="1" type="body"/>
          </p:nvPr>
        </p:nvSpPr>
        <p:spPr>
          <a:xfrm>
            <a:off x="228600" y="1143000"/>
            <a:ext cx="8763000" cy="4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428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2000"/>
          </a:p>
          <a:p>
            <a:pPr indent="0" lvl="0" marL="14288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rPr lang="en-US" sz="2000"/>
              <a:t>Refer to “</a:t>
            </a:r>
            <a:r>
              <a:rPr lang="en-US" sz="2000" u="sng">
                <a:solidFill>
                  <a:srgbClr val="73FEFF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do you test?</a:t>
            </a:r>
            <a:r>
              <a:rPr lang="en-US" sz="2000"/>
              <a:t>” Activity, SUT 2: Prime numbers</a:t>
            </a:r>
            <a:endParaRPr/>
          </a:p>
          <a:p>
            <a:pPr indent="0" lvl="0" marL="14288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rPr lang="en-US" sz="2000"/>
              <a:t>Design tests for the </a:t>
            </a:r>
            <a:r>
              <a:rPr lang="en-US" sz="2200">
                <a:latin typeface="Courier New"/>
                <a:ea typeface="Courier New"/>
                <a:cs typeface="Courier New"/>
                <a:sym typeface="Courier New"/>
              </a:rPr>
              <a:t>computePrimes</a:t>
            </a:r>
            <a:r>
              <a:rPr lang="en-US" sz="2000"/>
              <a:t> method</a:t>
            </a:r>
            <a:endParaRPr/>
          </a:p>
          <a:p>
            <a:pPr indent="0" lvl="0" marL="14288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2000"/>
          </a:p>
          <a:p>
            <a:pPr indent="0" lvl="0" marL="14288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</a:pPr>
            <a:r>
              <a:rPr lang="en-US" sz="2000"/>
              <a:t>Consider the tests you created and the tests AI generated. </a:t>
            </a:r>
            <a:endParaRPr/>
          </a:p>
          <a:p>
            <a:pPr indent="0" lvl="0" marL="14288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</a:pPr>
            <a:r>
              <a:rPr lang="en-US" sz="2000"/>
              <a:t>What are in common? </a:t>
            </a:r>
            <a:endParaRPr/>
          </a:p>
          <a:p>
            <a:pPr indent="0" lvl="0" marL="14288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</a:pPr>
            <a:r>
              <a:rPr lang="en-US" sz="2000"/>
              <a:t>What are different? </a:t>
            </a:r>
            <a:endParaRPr/>
          </a:p>
          <a:p>
            <a:pPr indent="0" lvl="0" marL="14288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</a:pPr>
            <a:r>
              <a:rPr lang="en-US" sz="2000"/>
              <a:t>Is there anything missing?</a:t>
            </a:r>
            <a:endParaRPr sz="2000">
              <a:latin typeface="Verdana"/>
              <a:ea typeface="Verdana"/>
              <a:cs typeface="Verdana"/>
              <a:sym typeface="Verdana"/>
            </a:endParaRPr>
          </a:p>
          <a:p>
            <a:pPr indent="0" lvl="0" marL="14288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2000"/>
          </a:p>
        </p:txBody>
      </p:sp>
      <p:sp>
        <p:nvSpPr>
          <p:cNvPr id="410" name="Google Shape;410;p3"/>
          <p:cNvSpPr txBox="1"/>
          <p:nvPr/>
        </p:nvSpPr>
        <p:spPr>
          <a:xfrm>
            <a:off x="152401" y="5952755"/>
            <a:ext cx="8839199" cy="3139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5875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Verdana"/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b="0" i="0" lang="en-US" sz="1600" u="sng" cap="none" strike="noStrike">
                <a:solidFill>
                  <a:srgbClr val="A7FEFF"/>
                </a:solidFill>
                <a:latin typeface="Verdana"/>
                <a:ea typeface="Verdana"/>
                <a:cs typeface="Verdana"/>
                <a:sym typeface="Verdana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https://www.cs.virginia.edu/~up3f/cs3250/inclass/activity-how-do-you-test.html</a:t>
            </a:r>
            <a:r>
              <a:rPr b="0" i="0" lang="en-US" sz="16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"/>
          <p:cNvSpPr txBox="1"/>
          <p:nvPr>
            <p:ph type="title"/>
          </p:nvPr>
        </p:nvSpPr>
        <p:spPr>
          <a:xfrm>
            <a:off x="0" y="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000"/>
              <a:buFont typeface="Verdana"/>
              <a:buNone/>
            </a:pPr>
            <a:r>
              <a:rPr lang="en-US"/>
              <a:t>How Do You Debug?</a:t>
            </a:r>
            <a:endParaRPr/>
          </a:p>
        </p:txBody>
      </p:sp>
      <p:sp>
        <p:nvSpPr>
          <p:cNvPr id="417" name="Google Shape;417;p4"/>
          <p:cNvSpPr txBox="1"/>
          <p:nvPr>
            <p:ph idx="1" type="body"/>
          </p:nvPr>
        </p:nvSpPr>
        <p:spPr>
          <a:xfrm>
            <a:off x="152400" y="990601"/>
            <a:ext cx="8686800" cy="28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6225" lvl="0" marL="290513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40"/>
              <a:buChar char="•"/>
            </a:pPr>
            <a:r>
              <a:rPr lang="en-US" sz="1800"/>
              <a:t>Something is not right about the adder() function below.</a:t>
            </a:r>
            <a:endParaRPr/>
          </a:p>
          <a:p>
            <a:pPr indent="-276225" lvl="0" marL="290513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1440"/>
              <a:buChar char="•"/>
            </a:pPr>
            <a:r>
              <a:rPr lang="en-US" sz="1800"/>
              <a:t>The “add” functionality takes 2 numbers that the user enters and then displays the sum of the 2 numbers. It also allows the user to decide whether the program terminates. </a:t>
            </a:r>
            <a:endParaRPr/>
          </a:p>
          <a:p>
            <a:pPr indent="-276225" lvl="0" marL="290513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1440"/>
              <a:buChar char="•"/>
            </a:pPr>
            <a:r>
              <a:rPr lang="en-US" sz="1800"/>
              <a:t>When the user enters 5 and 5, the program displays 10 as expected. </a:t>
            </a:r>
            <a:endParaRPr/>
          </a:p>
          <a:p>
            <a:pPr indent="-276225" lvl="0" marL="290513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1440"/>
              <a:buChar char="•"/>
            </a:pPr>
            <a:r>
              <a:rPr lang="en-US" sz="1800"/>
              <a:t>However, when the user enters 5 and -3, the program displays 10 instead of 2.  </a:t>
            </a:r>
            <a:endParaRPr/>
          </a:p>
          <a:p>
            <a:pPr indent="-276225" lvl="0" marL="290513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1440"/>
              <a:buChar char="•"/>
            </a:pPr>
            <a:r>
              <a:rPr lang="en-US" sz="1800"/>
              <a:t>How would you </a:t>
            </a:r>
            <a:r>
              <a:rPr lang="en-US" sz="1800">
                <a:solidFill>
                  <a:srgbClr val="FFFF00"/>
                </a:solidFill>
              </a:rPr>
              <a:t>debug the adder() </a:t>
            </a:r>
            <a:r>
              <a:rPr lang="en-US" sz="1800"/>
              <a:t>function? What/how to fix? </a:t>
            </a:r>
            <a:endParaRPr/>
          </a:p>
        </p:txBody>
      </p:sp>
      <p:sp>
        <p:nvSpPr>
          <p:cNvPr id="418" name="Google Shape;418;p4"/>
          <p:cNvSpPr txBox="1"/>
          <p:nvPr/>
        </p:nvSpPr>
        <p:spPr>
          <a:xfrm>
            <a:off x="457200" y="3810000"/>
            <a:ext cx="8229600" cy="2514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E57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2223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def adder():</a:t>
            </a:r>
            <a:br>
              <a:rPr b="0" i="0" lang="en-US" sz="20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</a:br>
            <a:r>
              <a:rPr b="0" i="0" lang="en-US" sz="20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   n1 = int(input('Enter number1: '))</a:t>
            </a:r>
            <a:br>
              <a:rPr b="0" i="0" lang="en-US" sz="20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</a:br>
            <a:r>
              <a:rPr b="0" i="0" lang="en-US" sz="20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   n2 = int(input('Enter number2: '))</a:t>
            </a:r>
            <a:br>
              <a:rPr b="0" i="0" lang="en-US" sz="20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</a:br>
            <a:r>
              <a:rPr b="0" i="0" lang="en-US" sz="20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   return n1 + n1</a:t>
            </a:r>
            <a:br>
              <a:rPr b="0" i="0" lang="en-US" sz="20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</a:br>
            <a:br>
              <a:rPr b="0" i="0" lang="en-US" sz="20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</a:br>
            <a:r>
              <a:rPr b="0" i="0" lang="en-US" sz="20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end = 'n'</a:t>
            </a:r>
            <a:br>
              <a:rPr b="0" i="0" lang="en-US" sz="20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</a:br>
            <a:r>
              <a:rPr b="0" i="0" lang="en-US" sz="20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while end != 'y':</a:t>
            </a:r>
            <a:br>
              <a:rPr b="0" i="0" lang="en-US" sz="20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</a:br>
            <a:r>
              <a:rPr b="0" i="0" lang="en-US" sz="20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   print('sum =', adder())</a:t>
            </a:r>
            <a:br>
              <a:rPr b="0" i="0" lang="en-US" sz="20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</a:br>
            <a:r>
              <a:rPr b="0" i="0" lang="en-US" sz="20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   end = input('Enter \'y\' to end the program: ')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5"/>
          <p:cNvSpPr txBox="1"/>
          <p:nvPr>
            <p:ph idx="1" type="body"/>
          </p:nvPr>
        </p:nvSpPr>
        <p:spPr>
          <a:xfrm>
            <a:off x="228600" y="1143000"/>
            <a:ext cx="8915400" cy="15331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4288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2000"/>
              <a:t>Refer to “Rubber Duck Debugging” Activity on the schedule page</a:t>
            </a:r>
            <a:endParaRPr/>
          </a:p>
          <a:p>
            <a:pPr indent="0" lvl="0" marL="14288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rPr lang="en-US" sz="2000"/>
              <a:t>There is a problem with </a:t>
            </a:r>
            <a:r>
              <a:rPr lang="en-US" sz="2000">
                <a:latin typeface="Courier"/>
                <a:ea typeface="Courier"/>
                <a:cs typeface="Courier"/>
                <a:sym typeface="Courier"/>
              </a:rPr>
              <a:t>patternIndex.java</a:t>
            </a:r>
            <a:r>
              <a:rPr lang="en-US" sz="2000"/>
              <a:t>. It fails to produce the expected output. </a:t>
            </a:r>
            <a:endParaRPr/>
          </a:p>
          <a:p>
            <a:pPr indent="0" lvl="0" marL="14288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2000"/>
          </a:p>
        </p:txBody>
      </p:sp>
      <p:sp>
        <p:nvSpPr>
          <p:cNvPr id="425" name="Google Shape;425;p5"/>
          <p:cNvSpPr txBox="1"/>
          <p:nvPr/>
        </p:nvSpPr>
        <p:spPr>
          <a:xfrm>
            <a:off x="457200" y="2819400"/>
            <a:ext cx="8229600" cy="914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E57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5875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40"/>
              <a:buFont typeface="Arial"/>
              <a:buNone/>
            </a:pPr>
            <a:r>
              <a:rPr b="1" i="0" lang="en-US" sz="3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Rubber duck debugging</a:t>
            </a:r>
            <a:endParaRPr/>
          </a:p>
        </p:txBody>
      </p:sp>
      <p:pic>
        <p:nvPicPr>
          <p:cNvPr id="426" name="Google Shape;42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05600" y="3715511"/>
            <a:ext cx="1447800" cy="1447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27" name="Google Shape;427;p5"/>
          <p:cNvGrpSpPr/>
          <p:nvPr/>
        </p:nvGrpSpPr>
        <p:grpSpPr>
          <a:xfrm>
            <a:off x="4495800" y="4325113"/>
            <a:ext cx="1905000" cy="457198"/>
            <a:chOff x="4876800" y="5219702"/>
            <a:chExt cx="1905000" cy="685800"/>
          </a:xfrm>
        </p:grpSpPr>
        <p:sp>
          <p:nvSpPr>
            <p:cNvPr id="428" name="Google Shape;428;p5"/>
            <p:cNvSpPr/>
            <p:nvPr/>
          </p:nvSpPr>
          <p:spPr>
            <a:xfrm>
              <a:off x="4876800" y="5219702"/>
              <a:ext cx="1905000" cy="685800"/>
            </a:xfrm>
            <a:prstGeom prst="wedgeRoundRectCallout">
              <a:avLst>
                <a:gd fmla="val 72398" name="adj1"/>
                <a:gd fmla="val -46103" name="adj2"/>
                <a:gd fmla="val 16667" name="adj3"/>
              </a:avLst>
            </a:prstGeom>
            <a:solidFill>
              <a:schemeClr val="lt2"/>
            </a:solidFill>
            <a:ln cap="flat" cmpd="sng" w="139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0" sz="2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429" name="Google Shape;429;p5"/>
            <p:cNvSpPr txBox="1"/>
            <p:nvPr/>
          </p:nvSpPr>
          <p:spPr>
            <a:xfrm>
              <a:off x="5105400" y="5334003"/>
              <a:ext cx="1676400" cy="4571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14288" marR="0" rtl="0" algn="l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4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Talk to me</a:t>
              </a:r>
              <a:endParaRPr/>
            </a:p>
          </p:txBody>
        </p:sp>
      </p:grpSp>
      <p:sp>
        <p:nvSpPr>
          <p:cNvPr id="430" name="Google Shape;430;p5"/>
          <p:cNvSpPr txBox="1"/>
          <p:nvPr>
            <p:ph type="title"/>
          </p:nvPr>
        </p:nvSpPr>
        <p:spPr>
          <a:xfrm>
            <a:off x="0" y="7620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600"/>
              <a:buFont typeface="Verdana"/>
              <a:buNone/>
            </a:pPr>
            <a:r>
              <a:rPr lang="en-US" sz="3600"/>
              <a:t>Let’s Debug a (bit) Bigger Program </a:t>
            </a:r>
            <a:endParaRPr/>
          </a:p>
        </p:txBody>
      </p:sp>
      <p:sp>
        <p:nvSpPr>
          <p:cNvPr id="431" name="Google Shape;431;p5"/>
          <p:cNvSpPr txBox="1"/>
          <p:nvPr/>
        </p:nvSpPr>
        <p:spPr>
          <a:xfrm>
            <a:off x="264694" y="5952755"/>
            <a:ext cx="8574505" cy="3139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5875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Verdana"/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b="0" i="0" lang="en-US" sz="1600" u="sng" cap="none" strike="noStrike">
                <a:solidFill>
                  <a:srgbClr val="A7FEFF"/>
                </a:solidFill>
                <a:latin typeface="Verdana"/>
                <a:ea typeface="Verdana"/>
                <a:cs typeface="Verdana"/>
                <a:sym typeface="Verdana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http://www.cs.virginia.edu/~up3f/cs3250/inclass/activity-debugging.html</a:t>
            </a:r>
            <a:r>
              <a:rPr b="0" i="0" lang="en-US" sz="16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)</a:t>
            </a:r>
            <a:endParaRPr/>
          </a:p>
        </p:txBody>
      </p:sp>
      <p:pic>
        <p:nvPicPr>
          <p:cNvPr descr="A qr code on a white background&#10;&#10;Description automatically generated" id="432" name="Google Shape;432;p5">
            <a:hlinkClick r:id="rId5"/>
          </p:cNvPr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4400" y="4419600"/>
            <a:ext cx="1447800" cy="144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6"/>
          <p:cNvSpPr txBox="1"/>
          <p:nvPr>
            <p:ph type="title"/>
          </p:nvPr>
        </p:nvSpPr>
        <p:spPr>
          <a:xfrm>
            <a:off x="0" y="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000"/>
              <a:buFont typeface="Verdana"/>
              <a:buNone/>
            </a:pPr>
            <a:r>
              <a:t/>
            </a:r>
            <a:endParaRPr/>
          </a:p>
        </p:txBody>
      </p:sp>
      <p:sp>
        <p:nvSpPr>
          <p:cNvPr id="438" name="Google Shape;438;p6"/>
          <p:cNvSpPr txBox="1"/>
          <p:nvPr>
            <p:ph idx="1" type="body"/>
          </p:nvPr>
        </p:nvSpPr>
        <p:spPr>
          <a:xfrm>
            <a:off x="0" y="990600"/>
            <a:ext cx="9144000" cy="548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Verdana"/>
              <a:buNone/>
            </a:pPr>
            <a:r>
              <a:t/>
            </a:r>
            <a:endParaRPr b="1" sz="3000">
              <a:solidFill>
                <a:srgbClr val="FFFED6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ED6"/>
              </a:buClr>
              <a:buSzPts val="3000"/>
              <a:buFont typeface="Verdana"/>
              <a:buNone/>
            </a:pPr>
            <a:r>
              <a:rPr b="1" lang="en-US" sz="3000">
                <a:solidFill>
                  <a:srgbClr val="FFFED6"/>
                </a:solidFill>
              </a:rPr>
              <a:t>Think about your experience.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Verdana"/>
              <a:buNone/>
            </a:pPr>
            <a:r>
              <a:t/>
            </a:r>
            <a:endParaRPr b="1" sz="3000">
              <a:solidFill>
                <a:srgbClr val="FFFED6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ED6"/>
              </a:buClr>
              <a:buSzPts val="3000"/>
              <a:buFont typeface="Verdana"/>
              <a:buNone/>
            </a:pPr>
            <a:r>
              <a:rPr b="1" lang="en-US" sz="3000">
                <a:solidFill>
                  <a:srgbClr val="FFFED6"/>
                </a:solidFill>
              </a:rPr>
              <a:t>What exactly is testing?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ED6"/>
              </a:buClr>
              <a:buSzPts val="3000"/>
              <a:buFont typeface="Verdana"/>
              <a:buNone/>
            </a:pPr>
            <a:r>
              <a:rPr b="1" lang="en-US" sz="3000">
                <a:solidFill>
                  <a:srgbClr val="FFFED6"/>
                </a:solidFill>
              </a:rPr>
              <a:t>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ED6"/>
              </a:buClr>
              <a:buSzPts val="3000"/>
              <a:buFont typeface="Verdana"/>
              <a:buNone/>
            </a:pPr>
            <a:r>
              <a:rPr b="1" lang="en-US" sz="3000">
                <a:solidFill>
                  <a:srgbClr val="FFFED6"/>
                </a:solidFill>
              </a:rPr>
              <a:t>Is testing the same as debugging?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ED6"/>
              </a:buClr>
              <a:buSzPts val="3000"/>
              <a:buFont typeface="Verdana"/>
              <a:buNone/>
            </a:pPr>
            <a:r>
              <a:rPr b="1" lang="en-US" sz="3000">
                <a:solidFill>
                  <a:srgbClr val="FFFED6"/>
                </a:solidFill>
              </a:rPr>
              <a:t>Is debugging a testing activity?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ED6"/>
              </a:buClr>
              <a:buSzPts val="3000"/>
              <a:buFont typeface="Verdana"/>
              <a:buNone/>
            </a:pPr>
            <a:r>
              <a:rPr b="1" lang="en-US" sz="3000">
                <a:solidFill>
                  <a:srgbClr val="FFFED6"/>
                </a:solidFill>
              </a:rPr>
              <a:t>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Verdana"/>
              <a:buNone/>
            </a:pPr>
            <a:r>
              <a:t/>
            </a:r>
            <a:endParaRPr b="1" sz="3000">
              <a:solidFill>
                <a:srgbClr val="FFFED6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Verdana"/>
              <a:buNone/>
            </a:pPr>
            <a:r>
              <a:t/>
            </a:r>
            <a:endParaRPr b="1" sz="3000">
              <a:solidFill>
                <a:srgbClr val="FFFED6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7"/>
          <p:cNvSpPr txBox="1"/>
          <p:nvPr>
            <p:ph type="title"/>
          </p:nvPr>
        </p:nvSpPr>
        <p:spPr>
          <a:xfrm>
            <a:off x="0" y="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000"/>
              <a:buFont typeface="Verdana"/>
              <a:buNone/>
            </a:pPr>
            <a:r>
              <a:rPr lang="en-US"/>
              <a:t>What is Software Testing? </a:t>
            </a:r>
            <a:endParaRPr/>
          </a:p>
        </p:txBody>
      </p:sp>
      <p:sp>
        <p:nvSpPr>
          <p:cNvPr id="445" name="Google Shape;445;p7"/>
          <p:cNvSpPr txBox="1"/>
          <p:nvPr>
            <p:ph idx="1" type="body"/>
          </p:nvPr>
        </p:nvSpPr>
        <p:spPr>
          <a:xfrm>
            <a:off x="511126" y="990600"/>
            <a:ext cx="8191162" cy="1724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Char char="•"/>
            </a:pPr>
            <a:r>
              <a:rPr lang="en-US" sz="2100">
                <a:solidFill>
                  <a:srgbClr val="FFFF00"/>
                </a:solidFill>
              </a:rPr>
              <a:t>Testing </a:t>
            </a:r>
            <a:r>
              <a:rPr lang="en-US" sz="2100"/>
              <a:t>= process of </a:t>
            </a:r>
            <a:r>
              <a:rPr lang="en-US" sz="2100">
                <a:solidFill>
                  <a:srgbClr val="FFFF00"/>
                </a:solidFill>
              </a:rPr>
              <a:t>finding input </a:t>
            </a:r>
            <a:r>
              <a:rPr lang="en-US" sz="2100"/>
              <a:t>values to check against a software </a:t>
            </a:r>
            <a:r>
              <a:rPr i="1" lang="en-US" sz="2100">
                <a:solidFill>
                  <a:srgbClr val="A7FEFF"/>
                </a:solidFill>
              </a:rPr>
              <a:t>(focus of this course)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 sz="2100"/>
          </a:p>
          <a:p>
            <a:pPr indent="0" lvl="0" marL="0" rtl="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 sz="2100"/>
          </a:p>
          <a:p>
            <a:pPr indent="-49530" lvl="1" marL="457200" rtl="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2100"/>
          </a:p>
        </p:txBody>
      </p:sp>
      <p:sp>
        <p:nvSpPr>
          <p:cNvPr id="446" name="Google Shape;446;p7"/>
          <p:cNvSpPr/>
          <p:nvPr/>
        </p:nvSpPr>
        <p:spPr>
          <a:xfrm>
            <a:off x="1295400" y="1810512"/>
            <a:ext cx="729283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Test case </a:t>
            </a:r>
            <a:r>
              <a:rPr b="0" i="0" lang="en-US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consists of </a:t>
            </a:r>
            <a:r>
              <a:rPr b="0" i="0" lang="en-US" sz="2000" u="none" cap="none" strike="noStrike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test values </a:t>
            </a:r>
            <a:r>
              <a:rPr b="0" i="0" lang="en-US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and </a:t>
            </a:r>
            <a:r>
              <a:rPr b="0" i="0" lang="en-US" sz="2000" u="none" cap="none" strike="noStrike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expected results</a:t>
            </a:r>
            <a:endParaRPr/>
          </a:p>
        </p:txBody>
      </p:sp>
      <p:sp>
        <p:nvSpPr>
          <p:cNvPr id="447" name="Google Shape;447;p7"/>
          <p:cNvSpPr/>
          <p:nvPr/>
        </p:nvSpPr>
        <p:spPr>
          <a:xfrm>
            <a:off x="5065776" y="2674668"/>
            <a:ext cx="3684027" cy="950976"/>
          </a:xfrm>
          <a:prstGeom prst="ellipse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5400000" dist="15240">
              <a:srgbClr val="000000">
                <a:alpha val="7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48" name="Google Shape;448;p7"/>
          <p:cNvCxnSpPr/>
          <p:nvPr/>
        </p:nvCxnSpPr>
        <p:spPr>
          <a:xfrm>
            <a:off x="2013521" y="3120612"/>
            <a:ext cx="82296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49" name="Google Shape;449;p7"/>
          <p:cNvCxnSpPr/>
          <p:nvPr/>
        </p:nvCxnSpPr>
        <p:spPr>
          <a:xfrm>
            <a:off x="4542872" y="3120612"/>
            <a:ext cx="82296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450" name="Google Shape;450;p7"/>
          <p:cNvSpPr/>
          <p:nvPr/>
        </p:nvSpPr>
        <p:spPr>
          <a:xfrm>
            <a:off x="453528" y="2793569"/>
            <a:ext cx="170085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D5FC79"/>
                </a:solidFill>
                <a:latin typeface="Verdana"/>
                <a:ea typeface="Verdana"/>
                <a:cs typeface="Verdana"/>
                <a:sym typeface="Verdana"/>
              </a:rPr>
              <a:t>Test values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D5FC79"/>
                </a:solidFill>
                <a:latin typeface="Verdana"/>
                <a:ea typeface="Verdana"/>
                <a:cs typeface="Verdana"/>
                <a:sym typeface="Verdana"/>
              </a:rPr>
              <a:t>(inputs)</a:t>
            </a:r>
            <a:endParaRPr/>
          </a:p>
        </p:txBody>
      </p:sp>
      <p:sp>
        <p:nvSpPr>
          <p:cNvPr id="451" name="Google Shape;451;p7"/>
          <p:cNvSpPr/>
          <p:nvPr/>
        </p:nvSpPr>
        <p:spPr>
          <a:xfrm>
            <a:off x="5245373" y="2809058"/>
            <a:ext cx="1104928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Actual results</a:t>
            </a:r>
            <a:endParaRPr/>
          </a:p>
        </p:txBody>
      </p:sp>
      <p:grpSp>
        <p:nvGrpSpPr>
          <p:cNvPr id="452" name="Google Shape;452;p7"/>
          <p:cNvGrpSpPr/>
          <p:nvPr/>
        </p:nvGrpSpPr>
        <p:grpSpPr>
          <a:xfrm>
            <a:off x="2826208" y="2850930"/>
            <a:ext cx="1711927" cy="539364"/>
            <a:chOff x="2965600" y="5669177"/>
            <a:chExt cx="1711927" cy="539364"/>
          </a:xfrm>
        </p:grpSpPr>
        <p:sp>
          <p:nvSpPr>
            <p:cNvPr id="453" name="Google Shape;453;p7"/>
            <p:cNvSpPr/>
            <p:nvPr/>
          </p:nvSpPr>
          <p:spPr>
            <a:xfrm>
              <a:off x="3091667" y="5727397"/>
              <a:ext cx="1459791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rPr>
                <a:t>Program</a:t>
              </a:r>
              <a:endParaRPr/>
            </a:p>
          </p:txBody>
        </p:sp>
        <p:sp>
          <p:nvSpPr>
            <p:cNvPr id="454" name="Google Shape;454;p7"/>
            <p:cNvSpPr/>
            <p:nvPr/>
          </p:nvSpPr>
          <p:spPr>
            <a:xfrm>
              <a:off x="2965600" y="5669177"/>
              <a:ext cx="1711927" cy="539364"/>
            </a:xfrm>
            <a:prstGeom prst="rect">
              <a:avLst/>
            </a:prstGeom>
            <a:noFill/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sp>
        <p:nvSpPr>
          <p:cNvPr id="455" name="Google Shape;455;p7"/>
          <p:cNvSpPr/>
          <p:nvPr/>
        </p:nvSpPr>
        <p:spPr>
          <a:xfrm>
            <a:off x="7163695" y="2809058"/>
            <a:ext cx="1401432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D5FC79"/>
                </a:solidFill>
                <a:latin typeface="Verdana"/>
                <a:ea typeface="Verdana"/>
                <a:cs typeface="Verdana"/>
                <a:sym typeface="Verdana"/>
              </a:rPr>
              <a:t>Expected results</a:t>
            </a:r>
            <a:endParaRPr/>
          </a:p>
        </p:txBody>
      </p:sp>
      <p:sp>
        <p:nvSpPr>
          <p:cNvPr id="456" name="Google Shape;456;p7"/>
          <p:cNvSpPr/>
          <p:nvPr/>
        </p:nvSpPr>
        <p:spPr>
          <a:xfrm>
            <a:off x="6044576" y="2901998"/>
            <a:ext cx="140143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vs</a:t>
            </a:r>
            <a:endParaRPr b="0" i="0" sz="2000" u="none" cap="none" strike="noStrik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57" name="Google Shape;457;p7"/>
          <p:cNvSpPr/>
          <p:nvPr/>
        </p:nvSpPr>
        <p:spPr>
          <a:xfrm>
            <a:off x="425368" y="2667000"/>
            <a:ext cx="1708232" cy="915136"/>
          </a:xfrm>
          <a:prstGeom prst="ellipse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5400000" dist="15240">
              <a:srgbClr val="000000">
                <a:alpha val="7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58" name="Google Shape;458;p7"/>
          <p:cNvSpPr/>
          <p:nvPr/>
        </p:nvSpPr>
        <p:spPr>
          <a:xfrm>
            <a:off x="347472" y="3930444"/>
            <a:ext cx="8467344" cy="676656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Schoolbook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Testing is fundamentally about choosing finite sets of values from the input domain of the software being tested</a:t>
            </a:r>
            <a:endParaRPr/>
          </a:p>
        </p:txBody>
      </p:sp>
      <p:sp>
        <p:nvSpPr>
          <p:cNvPr id="459" name="Google Shape;459;p7"/>
          <p:cNvSpPr/>
          <p:nvPr/>
        </p:nvSpPr>
        <p:spPr>
          <a:xfrm>
            <a:off x="347472" y="4762548"/>
            <a:ext cx="8467344" cy="676656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Schoolbook"/>
              <a:buAutoNum type="arabicPeriod" startAt="2"/>
            </a:pPr>
            <a:r>
              <a:rPr b="0" i="0" lang="en-US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Given the test inputs, compare the actual results with the expected results</a:t>
            </a:r>
            <a:endParaRPr/>
          </a:p>
        </p:txBody>
      </p:sp>
      <p:sp>
        <p:nvSpPr>
          <p:cNvPr id="460" name="Google Shape;460;p7"/>
          <p:cNvSpPr/>
          <p:nvPr/>
        </p:nvSpPr>
        <p:spPr>
          <a:xfrm>
            <a:off x="1447800" y="2133600"/>
            <a:ext cx="706423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Goal –</a:t>
            </a:r>
            <a:r>
              <a:rPr b="0" i="0" lang="en-US" sz="2000" u="none" cap="none" strike="noStrike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 reveal faults</a:t>
            </a:r>
            <a:endParaRPr/>
          </a:p>
        </p:txBody>
      </p:sp>
      <p:sp>
        <p:nvSpPr>
          <p:cNvPr id="461" name="Google Shape;461;p7"/>
          <p:cNvSpPr/>
          <p:nvPr/>
        </p:nvSpPr>
        <p:spPr>
          <a:xfrm>
            <a:off x="4267200" y="3842657"/>
            <a:ext cx="3788229" cy="621187"/>
          </a:xfrm>
          <a:prstGeom prst="ellipse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5400000" dist="15240">
              <a:srgbClr val="000000">
                <a:alpha val="7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62" name="Google Shape;462;p7"/>
          <p:cNvSpPr txBox="1"/>
          <p:nvPr/>
        </p:nvSpPr>
        <p:spPr>
          <a:xfrm>
            <a:off x="511126" y="5715000"/>
            <a:ext cx="8191162" cy="5314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8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Debugging</a:t>
            </a:r>
            <a:r>
              <a:rPr b="0" i="0" lang="en-US" sz="2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= process of </a:t>
            </a:r>
            <a:r>
              <a:rPr b="0" i="0" lang="en-US" sz="2100" u="none" cap="none" strike="noStrike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finding a fault </a:t>
            </a:r>
            <a:r>
              <a:rPr b="0" i="0" lang="en-US" sz="2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given a failure</a:t>
            </a:r>
            <a:endParaRPr/>
          </a:p>
          <a:p>
            <a:pPr indent="-49530" lvl="1" marL="457200" marR="0" rtl="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8"/>
          <p:cNvSpPr txBox="1"/>
          <p:nvPr>
            <p:ph type="title"/>
          </p:nvPr>
        </p:nvSpPr>
        <p:spPr>
          <a:xfrm>
            <a:off x="0" y="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000"/>
              <a:buFont typeface="Verdana"/>
              <a:buNone/>
            </a:pPr>
            <a:r>
              <a:rPr lang="en-US"/>
              <a:t>Testing Categories</a:t>
            </a:r>
            <a:endParaRPr/>
          </a:p>
        </p:txBody>
      </p:sp>
      <p:sp>
        <p:nvSpPr>
          <p:cNvPr id="468" name="Google Shape;468;p8"/>
          <p:cNvSpPr txBox="1"/>
          <p:nvPr>
            <p:ph idx="1" type="body"/>
          </p:nvPr>
        </p:nvSpPr>
        <p:spPr>
          <a:xfrm>
            <a:off x="289248" y="1066800"/>
            <a:ext cx="4206552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60"/>
              <a:buNone/>
            </a:pPr>
            <a:r>
              <a:rPr b="1" lang="en-US" sz="2200">
                <a:solidFill>
                  <a:srgbClr val="FFFF00"/>
                </a:solidFill>
              </a:rPr>
              <a:t>Static testing</a:t>
            </a:r>
            <a:endParaRPr/>
          </a:p>
          <a:p>
            <a:pPr indent="-182880" lvl="0" marL="182880" rtl="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600"/>
              <a:buChar char="•"/>
            </a:pPr>
            <a:r>
              <a:rPr lang="en-US" sz="2000"/>
              <a:t>Testing without executing the program</a:t>
            </a:r>
            <a:endParaRPr sz="2000">
              <a:solidFill>
                <a:srgbClr val="FFFF00"/>
              </a:solidFill>
            </a:endParaRPr>
          </a:p>
          <a:p>
            <a:pPr indent="-187325" lvl="1" marL="64135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Software inspection and some forms of analysis</a:t>
            </a:r>
            <a:endParaRPr/>
          </a:p>
          <a:p>
            <a:pPr indent="-187325" lvl="1" marL="641350" rtl="0" algn="l">
              <a:lnSpc>
                <a:spcPct val="100000"/>
              </a:lnSpc>
              <a:spcBef>
                <a:spcPts val="190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Effective at finding certain kinds of problems such as problems that can lead to faults when the program is modified</a:t>
            </a:r>
            <a:endParaRPr/>
          </a:p>
          <a:p>
            <a:pPr indent="-182880" lvl="0" marL="182880" rtl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SzPts val="1600"/>
              <a:buChar char="•"/>
            </a:pPr>
            <a:r>
              <a:rPr lang="en-US" sz="2000"/>
              <a:t>Inspection, walkthrough, code review, informal review, …</a:t>
            </a:r>
            <a:endParaRPr sz="2000">
              <a:solidFill>
                <a:srgbClr val="FFFF00"/>
              </a:solidFill>
            </a:endParaRPr>
          </a:p>
        </p:txBody>
      </p:sp>
      <p:sp>
        <p:nvSpPr>
          <p:cNvPr id="469" name="Google Shape;469;p8"/>
          <p:cNvSpPr txBox="1"/>
          <p:nvPr/>
        </p:nvSpPr>
        <p:spPr>
          <a:xfrm>
            <a:off x="4708849" y="1066800"/>
            <a:ext cx="43434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60"/>
              <a:buFont typeface="Arial"/>
              <a:buNone/>
            </a:pPr>
            <a:r>
              <a:rPr b="1" i="0" lang="en-US" sz="2200" u="none" cap="none" strike="noStrike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Dynamic testing</a:t>
            </a:r>
            <a:endParaRPr/>
          </a:p>
          <a:p>
            <a:pPr indent="-182880" lvl="0" marL="182880" marR="0" rtl="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Testing by executing the program with real inputs</a:t>
            </a:r>
            <a:endParaRPr/>
          </a:p>
          <a:p>
            <a:pPr indent="-182880" lvl="0" marL="182880" marR="0" rtl="0" algn="l">
              <a:lnSpc>
                <a:spcPct val="100000"/>
              </a:lnSpc>
              <a:spcBef>
                <a:spcPts val="2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Unit testing, integration testing, system testing, acceptance testing, …</a:t>
            </a:r>
            <a:endParaRPr b="0" i="0" sz="2000" u="none" cap="none" strike="noStrik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470" name="Google Shape;470;p8"/>
          <p:cNvCxnSpPr/>
          <p:nvPr/>
        </p:nvCxnSpPr>
        <p:spPr>
          <a:xfrm>
            <a:off x="4572000" y="1143000"/>
            <a:ext cx="0" cy="5181600"/>
          </a:xfrm>
          <a:prstGeom prst="straightConnector1">
            <a:avLst/>
          </a:prstGeom>
          <a:noFill/>
          <a:ln cap="flat" cmpd="sng" w="9525">
            <a:solidFill>
              <a:srgbClr val="DEEAF5"/>
            </a:solidFill>
            <a:prstDash val="dot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9"/>
          <p:cNvSpPr txBox="1"/>
          <p:nvPr>
            <p:ph type="title"/>
          </p:nvPr>
        </p:nvSpPr>
        <p:spPr>
          <a:xfrm>
            <a:off x="0" y="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000"/>
              <a:buFont typeface="Verdana"/>
              <a:buNone/>
            </a:pPr>
            <a:r>
              <a:rPr lang="en-US"/>
              <a:t>Testing Categories (2)</a:t>
            </a:r>
            <a:endParaRPr/>
          </a:p>
        </p:txBody>
      </p:sp>
      <p:grpSp>
        <p:nvGrpSpPr>
          <p:cNvPr id="476" name="Google Shape;476;p9"/>
          <p:cNvGrpSpPr/>
          <p:nvPr/>
        </p:nvGrpSpPr>
        <p:grpSpPr>
          <a:xfrm>
            <a:off x="76200" y="1143000"/>
            <a:ext cx="8953195" cy="4818888"/>
            <a:chOff x="76200" y="1219200"/>
            <a:chExt cx="8953195" cy="4818888"/>
          </a:xfrm>
        </p:grpSpPr>
        <p:grpSp>
          <p:nvGrpSpPr>
            <p:cNvPr id="477" name="Google Shape;477;p9"/>
            <p:cNvGrpSpPr/>
            <p:nvPr/>
          </p:nvGrpSpPr>
          <p:grpSpPr>
            <a:xfrm>
              <a:off x="76200" y="1219200"/>
              <a:ext cx="3433216" cy="4815840"/>
              <a:chOff x="254918" y="1584960"/>
              <a:chExt cx="3433216" cy="4815840"/>
            </a:xfrm>
          </p:grpSpPr>
          <p:sp>
            <p:nvSpPr>
              <p:cNvPr id="478" name="Google Shape;478;p9"/>
              <p:cNvSpPr/>
              <p:nvPr/>
            </p:nvSpPr>
            <p:spPr>
              <a:xfrm>
                <a:off x="254918" y="1584960"/>
                <a:ext cx="3433216" cy="4815840"/>
              </a:xfrm>
              <a:prstGeom prst="cube">
                <a:avLst>
                  <a:gd fmla="val 21069" name="adj"/>
                </a:avLst>
              </a:prstGeom>
              <a:solidFill>
                <a:schemeClr val="lt1"/>
              </a:solidFill>
              <a:ln cap="flat" cmpd="sng" w="139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22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479" name="Google Shape;479;p9"/>
              <p:cNvSpPr txBox="1"/>
              <p:nvPr/>
            </p:nvSpPr>
            <p:spPr>
              <a:xfrm>
                <a:off x="304800" y="3438144"/>
                <a:ext cx="2506154" cy="2263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9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28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Test with </a:t>
                </a:r>
                <a:endParaRPr/>
              </a:p>
              <a:p>
                <a:pPr indent="0" lvl="0" marL="0" marR="0" rtl="0" algn="ctr">
                  <a:lnSpc>
                    <a:spcPct val="9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28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D81E00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complete information </a:t>
                </a:r>
                <a:endParaRPr/>
              </a:p>
              <a:p>
                <a:pPr indent="0" lvl="0" marL="0" marR="0" rtl="0" algn="ctr">
                  <a:lnSpc>
                    <a:spcPct val="9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28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of the software (architecture, how components interact, functions and operations, code, rationale, …) </a:t>
                </a:r>
                <a:endParaRPr/>
              </a:p>
            </p:txBody>
          </p:sp>
          <p:sp>
            <p:nvSpPr>
              <p:cNvPr id="480" name="Google Shape;480;p9"/>
              <p:cNvSpPr txBox="1"/>
              <p:nvPr/>
            </p:nvSpPr>
            <p:spPr>
              <a:xfrm>
                <a:off x="493776" y="2487168"/>
                <a:ext cx="2199553" cy="13521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9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760"/>
                  <a:buFont typeface="Arial"/>
                  <a:buNone/>
                </a:pPr>
                <a:r>
                  <a:rPr b="1" i="0" lang="en-US" sz="2200" u="none" cap="none" strike="noStrike">
                    <a:solidFill>
                      <a:schemeClr val="dk1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White-box </a:t>
                </a:r>
                <a:endParaRPr/>
              </a:p>
              <a:p>
                <a:pPr indent="0" lvl="0" marL="0" marR="0" rtl="0" algn="ctr">
                  <a:lnSpc>
                    <a:spcPct val="9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760"/>
                  <a:buFont typeface="Arial"/>
                  <a:buNone/>
                </a:pPr>
                <a:r>
                  <a:rPr b="1" i="0" lang="en-US" sz="2200" u="none" cap="none" strike="noStrike">
                    <a:solidFill>
                      <a:schemeClr val="dk1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testing</a:t>
                </a:r>
                <a:endParaRPr/>
              </a:p>
            </p:txBody>
          </p:sp>
          <p:cxnSp>
            <p:nvCxnSpPr>
              <p:cNvPr id="481" name="Google Shape;481;p9"/>
              <p:cNvCxnSpPr/>
              <p:nvPr/>
            </p:nvCxnSpPr>
            <p:spPr>
              <a:xfrm>
                <a:off x="304800" y="3337560"/>
                <a:ext cx="265176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dot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482" name="Google Shape;482;p9"/>
            <p:cNvGrpSpPr/>
            <p:nvPr/>
          </p:nvGrpSpPr>
          <p:grpSpPr>
            <a:xfrm>
              <a:off x="2895600" y="1219200"/>
              <a:ext cx="3474720" cy="4815840"/>
              <a:chOff x="2980890" y="1584960"/>
              <a:chExt cx="3474720" cy="4815840"/>
            </a:xfrm>
          </p:grpSpPr>
          <p:sp>
            <p:nvSpPr>
              <p:cNvPr id="483" name="Google Shape;483;p9"/>
              <p:cNvSpPr/>
              <p:nvPr/>
            </p:nvSpPr>
            <p:spPr>
              <a:xfrm>
                <a:off x="2980890" y="1584960"/>
                <a:ext cx="3474720" cy="4815840"/>
              </a:xfrm>
              <a:prstGeom prst="cube">
                <a:avLst>
                  <a:gd fmla="val 21039" name="adj"/>
                </a:avLst>
              </a:prstGeom>
              <a:solidFill>
                <a:srgbClr val="CDCDCD"/>
              </a:solidFill>
              <a:ln cap="flat" cmpd="sng" w="139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22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484" name="Google Shape;484;p9"/>
              <p:cNvSpPr txBox="1"/>
              <p:nvPr/>
            </p:nvSpPr>
            <p:spPr>
              <a:xfrm>
                <a:off x="2980944" y="3438144"/>
                <a:ext cx="2689321" cy="28620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9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28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Test with </a:t>
                </a:r>
                <a:endParaRPr/>
              </a:p>
              <a:p>
                <a:pPr indent="0" lvl="0" marL="0" marR="0" rtl="0" algn="ctr">
                  <a:lnSpc>
                    <a:spcPct val="9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28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D81E00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incomplete information</a:t>
                </a:r>
                <a:endParaRPr/>
              </a:p>
              <a:p>
                <a:pPr indent="0" lvl="0" marL="0" marR="0" rtl="0" algn="ctr">
                  <a:lnSpc>
                    <a:spcPct val="9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28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of the software or </a:t>
                </a:r>
                <a:r>
                  <a:rPr b="0" i="0" lang="en-US" sz="1600" u="none" cap="none" strike="noStrike">
                    <a:solidFill>
                      <a:srgbClr val="D81E00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limited knowledge of internal details </a:t>
                </a:r>
                <a:endParaRPr b="0" i="0" sz="16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  <a:p>
                <a:pPr indent="0" lvl="0" marL="0" marR="0" rtl="0" algn="ctr">
                  <a:lnSpc>
                    <a:spcPct val="9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28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(may know how components interact  but not have detailed knowledge about internal program functions, source code, rationale, …) </a:t>
                </a:r>
                <a:endParaRPr/>
              </a:p>
            </p:txBody>
          </p:sp>
          <p:sp>
            <p:nvSpPr>
              <p:cNvPr id="485" name="Google Shape;485;p9"/>
              <p:cNvSpPr txBox="1"/>
              <p:nvPr/>
            </p:nvSpPr>
            <p:spPr>
              <a:xfrm>
                <a:off x="3136641" y="2487168"/>
                <a:ext cx="2425959" cy="13521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9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760"/>
                  <a:buFont typeface="Arial"/>
                  <a:buNone/>
                </a:pPr>
                <a:r>
                  <a:rPr b="1" i="0" lang="en-US" sz="2200" u="none" cap="none" strike="noStrike">
                    <a:solidFill>
                      <a:schemeClr val="dk1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Gray-box </a:t>
                </a:r>
                <a:endParaRPr/>
              </a:p>
              <a:p>
                <a:pPr indent="0" lvl="0" marL="0" marR="0" rtl="0" algn="ctr">
                  <a:lnSpc>
                    <a:spcPct val="9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760"/>
                  <a:buFont typeface="Arial"/>
                  <a:buNone/>
                </a:pPr>
                <a:r>
                  <a:rPr b="1" i="0" lang="en-US" sz="2200" u="none" cap="none" strike="noStrike">
                    <a:solidFill>
                      <a:schemeClr val="dk1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testing</a:t>
                </a:r>
                <a:endParaRPr/>
              </a:p>
            </p:txBody>
          </p:sp>
          <p:cxnSp>
            <p:nvCxnSpPr>
              <p:cNvPr id="486" name="Google Shape;486;p9"/>
              <p:cNvCxnSpPr/>
              <p:nvPr/>
            </p:nvCxnSpPr>
            <p:spPr>
              <a:xfrm>
                <a:off x="3017520" y="3337560"/>
                <a:ext cx="265176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dot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487" name="Google Shape;487;p9"/>
            <p:cNvGrpSpPr/>
            <p:nvPr/>
          </p:nvGrpSpPr>
          <p:grpSpPr>
            <a:xfrm>
              <a:off x="5721150" y="1222248"/>
              <a:ext cx="3308245" cy="4815840"/>
              <a:chOff x="5806440" y="1588008"/>
              <a:chExt cx="3308245" cy="4815840"/>
            </a:xfrm>
          </p:grpSpPr>
          <p:sp>
            <p:nvSpPr>
              <p:cNvPr id="488" name="Google Shape;488;p9"/>
              <p:cNvSpPr/>
              <p:nvPr/>
            </p:nvSpPr>
            <p:spPr>
              <a:xfrm>
                <a:off x="5816569" y="1588008"/>
                <a:ext cx="3298116" cy="4815840"/>
              </a:xfrm>
              <a:prstGeom prst="cube">
                <a:avLst>
                  <a:gd fmla="val 22059" name="adj"/>
                </a:avLst>
              </a:prstGeom>
              <a:solidFill>
                <a:schemeClr val="dk1"/>
              </a:solidFill>
              <a:ln cap="flat" cmpd="sng" w="13950">
                <a:solidFill>
                  <a:srgbClr val="7F7F7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2200" u="none" cap="none" strike="noStrike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489" name="Google Shape;489;p9"/>
              <p:cNvSpPr txBox="1"/>
              <p:nvPr/>
            </p:nvSpPr>
            <p:spPr>
              <a:xfrm>
                <a:off x="5825962" y="3438144"/>
                <a:ext cx="2572317" cy="207330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9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28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chemeClr val="lt1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Test from the outside (functionality and behavior). </a:t>
                </a:r>
                <a:endParaRPr/>
              </a:p>
              <a:p>
                <a:pPr indent="0" lvl="0" marL="0" marR="0" rtl="0" algn="ctr">
                  <a:lnSpc>
                    <a:spcPct val="9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28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FF0000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Not require</a:t>
                </a:r>
                <a:endParaRPr/>
              </a:p>
              <a:p>
                <a:pPr indent="0" lvl="0" marL="0" marR="0" rtl="0" algn="ctr">
                  <a:lnSpc>
                    <a:spcPct val="9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28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chemeClr val="lt1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source code, architecture, detailed knowledge about internal program functions,</a:t>
                </a:r>
                <a:endParaRPr/>
              </a:p>
              <a:p>
                <a:pPr indent="0" lvl="0" marL="0" marR="0" rtl="0" algn="ctr">
                  <a:lnSpc>
                    <a:spcPct val="9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28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chemeClr val="lt1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rationale, …) </a:t>
                </a:r>
                <a:endParaRPr/>
              </a:p>
            </p:txBody>
          </p:sp>
          <p:cxnSp>
            <p:nvCxnSpPr>
              <p:cNvPr id="490" name="Google Shape;490;p9"/>
              <p:cNvCxnSpPr/>
              <p:nvPr/>
            </p:nvCxnSpPr>
            <p:spPr>
              <a:xfrm>
                <a:off x="5806440" y="3337560"/>
                <a:ext cx="2578608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8CAEE"/>
                </a:solidFill>
                <a:prstDash val="dot"/>
                <a:round/>
                <a:headEnd len="sm" w="sm" type="none"/>
                <a:tailEnd len="sm" w="sm" type="none"/>
              </a:ln>
            </p:spPr>
          </p:cxnSp>
          <p:sp>
            <p:nvSpPr>
              <p:cNvPr id="491" name="Google Shape;491;p9"/>
              <p:cNvSpPr txBox="1"/>
              <p:nvPr/>
            </p:nvSpPr>
            <p:spPr>
              <a:xfrm>
                <a:off x="6001744" y="2487168"/>
                <a:ext cx="2304056" cy="13521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9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760"/>
                  <a:buFont typeface="Arial"/>
                  <a:buNone/>
                </a:pPr>
                <a:r>
                  <a:rPr b="1" i="0" lang="en-US" sz="2200" u="none" cap="none" strike="noStrike">
                    <a:solidFill>
                      <a:schemeClr val="lt1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Black-box </a:t>
                </a:r>
                <a:endParaRPr/>
              </a:p>
              <a:p>
                <a:pPr indent="0" lvl="0" marL="0" marR="0" rtl="0" algn="ctr">
                  <a:lnSpc>
                    <a:spcPct val="9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760"/>
                  <a:buFont typeface="Arial"/>
                  <a:buNone/>
                </a:pPr>
                <a:r>
                  <a:rPr b="1" i="0" lang="en-US" sz="2200" u="none" cap="none" strike="noStrike">
                    <a:solidFill>
                      <a:schemeClr val="lt1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testing</a:t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10"/>
          <p:cNvSpPr txBox="1"/>
          <p:nvPr/>
        </p:nvSpPr>
        <p:spPr>
          <a:xfrm>
            <a:off x="381000" y="1143000"/>
            <a:ext cx="8686800" cy="4495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6225" lvl="0" marL="290513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Which one should we use?</a:t>
            </a:r>
            <a:endParaRPr/>
          </a:p>
          <a:p>
            <a:pPr indent="-273050" lvl="0" marL="754063" marR="0" rtl="0" algn="l">
              <a:lnSpc>
                <a:spcPct val="95000"/>
              </a:lnSpc>
              <a:spcBef>
                <a:spcPts val="3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Each technique has its strengths – use both</a:t>
            </a:r>
            <a:endParaRPr/>
          </a:p>
          <a:p>
            <a:pPr indent="-288925" lvl="1" marL="1204913" marR="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oto Sans Symbols"/>
              <a:buChar char="●"/>
            </a:pPr>
            <a:r>
              <a:rPr b="0" i="0" lang="en-US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Generally, first use </a:t>
            </a:r>
            <a:r>
              <a:rPr b="0" i="0" lang="en-US" sz="2000" u="none" cap="none" strike="noStrike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black-box</a:t>
            </a:r>
            <a:endParaRPr/>
          </a:p>
          <a:p>
            <a:pPr indent="-288925" lvl="1" marL="1204913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oto Sans Symbols"/>
              <a:buChar char="●"/>
            </a:pPr>
            <a:r>
              <a:rPr b="0" i="0" lang="en-US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Then, </a:t>
            </a:r>
            <a:r>
              <a:rPr b="0" i="0" lang="en-US" sz="2000" u="none" cap="none" strike="noStrike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white-box</a:t>
            </a:r>
            <a:r>
              <a:rPr b="0" i="0" lang="en-US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for missed code</a:t>
            </a:r>
            <a:endParaRPr/>
          </a:p>
          <a:p>
            <a:pPr indent="-276225" lvl="0" marL="290513" marR="0" rtl="0" algn="l">
              <a:lnSpc>
                <a:spcPct val="95000"/>
              </a:lnSpc>
              <a:spcBef>
                <a:spcPts val="34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Accept that we may not be able to detect all faults</a:t>
            </a:r>
            <a:endParaRPr/>
          </a:p>
          <a:p>
            <a:pPr indent="-288925" lvl="1" marL="288925" marR="0" rtl="0" algn="l">
              <a:lnSpc>
                <a:spcPct val="95000"/>
              </a:lnSpc>
              <a:spcBef>
                <a:spcPts val="3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oto Sans Symbols"/>
              <a:buChar char="●"/>
            </a:pPr>
            <a:r>
              <a:rPr b="0" i="0" lang="en-US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When to stop?? </a:t>
            </a:r>
            <a:endParaRPr/>
          </a:p>
          <a:p>
            <a:pPr indent="-288925" lvl="1" marL="754063" marR="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oto Sans Symbols"/>
              <a:buChar char="●"/>
            </a:pPr>
            <a:r>
              <a:rPr b="0" i="0" lang="en-US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Adequacy 🡪 Coverage level</a:t>
            </a:r>
            <a:endParaRPr/>
          </a:p>
          <a:p>
            <a:pPr indent="-288925" lvl="1" marL="754063" marR="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oto Sans Symbols"/>
              <a:buChar char="●"/>
            </a:pPr>
            <a:r>
              <a:rPr b="0" i="0" lang="en-US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Coverage criteria provides “</a:t>
            </a:r>
            <a:r>
              <a:rPr b="0" i="0" lang="en-US" sz="2000" u="none" cap="none" strike="noStrike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stopping rule</a:t>
            </a:r>
            <a:r>
              <a:rPr b="0" i="0" lang="en-US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”</a:t>
            </a:r>
            <a:endParaRPr/>
          </a:p>
          <a:p>
            <a:pPr indent="-161925" lvl="1" marL="288925" marR="0" rtl="0" algn="l">
              <a:lnSpc>
                <a:spcPct val="95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98" name="Google Shape;498;p10"/>
          <p:cNvSpPr/>
          <p:nvPr/>
        </p:nvSpPr>
        <p:spPr>
          <a:xfrm>
            <a:off x="381000" y="4572000"/>
            <a:ext cx="8686800" cy="16002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2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99" name="Google Shape;499;p10"/>
          <p:cNvSpPr/>
          <p:nvPr/>
        </p:nvSpPr>
        <p:spPr>
          <a:xfrm>
            <a:off x="228600" y="3112827"/>
            <a:ext cx="8686800" cy="16002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2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00" name="Google Shape;500;p10"/>
          <p:cNvSpPr txBox="1"/>
          <p:nvPr>
            <p:ph type="title"/>
          </p:nvPr>
        </p:nvSpPr>
        <p:spPr>
          <a:xfrm>
            <a:off x="0" y="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000"/>
              <a:buFont typeface="Verdana"/>
              <a:buNone/>
            </a:pPr>
            <a:r>
              <a:rPr lang="en-US"/>
              <a:t>White-box vs. Black-box</a:t>
            </a:r>
            <a:endParaRPr/>
          </a:p>
        </p:txBody>
      </p:sp>
      <p:sp>
        <p:nvSpPr>
          <p:cNvPr id="501" name="Google Shape;501;p10"/>
          <p:cNvSpPr/>
          <p:nvPr/>
        </p:nvSpPr>
        <p:spPr>
          <a:xfrm>
            <a:off x="228600" y="4419600"/>
            <a:ext cx="8686800" cy="16002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2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02" name="Google Shape;502;p10"/>
          <p:cNvSpPr/>
          <p:nvPr/>
        </p:nvSpPr>
        <p:spPr>
          <a:xfrm>
            <a:off x="228600" y="1447800"/>
            <a:ext cx="8686800" cy="16002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2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503" name="Google Shape;503;p10"/>
          <p:cNvGrpSpPr/>
          <p:nvPr/>
        </p:nvGrpSpPr>
        <p:grpSpPr>
          <a:xfrm>
            <a:off x="381000" y="1828800"/>
            <a:ext cx="8610600" cy="4724400"/>
            <a:chOff x="381000" y="1828800"/>
            <a:chExt cx="8610600" cy="4724400"/>
          </a:xfrm>
        </p:grpSpPr>
        <p:sp>
          <p:nvSpPr>
            <p:cNvPr id="504" name="Google Shape;504;p10"/>
            <p:cNvSpPr/>
            <p:nvPr/>
          </p:nvSpPr>
          <p:spPr>
            <a:xfrm>
              <a:off x="381000" y="6122313"/>
              <a:ext cx="8610600" cy="4308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00" u="none" cap="none" strike="noStrike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rPr>
                <a:t>[images: 	Left fist https://unsplash.com/photos/ODzSyS5WsSo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rPr>
                <a:t>	Right hand https://www.juicyseo.co.uk/jg/wp-content/uploads/2016/02/Right-Hand.jpg]</a:t>
              </a:r>
              <a:endParaRPr/>
            </a:p>
          </p:txBody>
        </p:sp>
        <p:grpSp>
          <p:nvGrpSpPr>
            <p:cNvPr id="505" name="Google Shape;505;p10"/>
            <p:cNvGrpSpPr/>
            <p:nvPr/>
          </p:nvGrpSpPr>
          <p:grpSpPr>
            <a:xfrm>
              <a:off x="712573" y="1828800"/>
              <a:ext cx="8088968" cy="2590800"/>
              <a:chOff x="712573" y="1828800"/>
              <a:chExt cx="8088968" cy="2590800"/>
            </a:xfrm>
          </p:grpSpPr>
          <p:grpSp>
            <p:nvGrpSpPr>
              <p:cNvPr id="506" name="Google Shape;506;p10"/>
              <p:cNvGrpSpPr/>
              <p:nvPr/>
            </p:nvGrpSpPr>
            <p:grpSpPr>
              <a:xfrm>
                <a:off x="712573" y="1828800"/>
                <a:ext cx="2183027" cy="2590800"/>
                <a:chOff x="712573" y="1447800"/>
                <a:chExt cx="2183027" cy="2590800"/>
              </a:xfrm>
            </p:grpSpPr>
            <p:grpSp>
              <p:nvGrpSpPr>
                <p:cNvPr id="507" name="Google Shape;507;p10"/>
                <p:cNvGrpSpPr/>
                <p:nvPr/>
              </p:nvGrpSpPr>
              <p:grpSpPr>
                <a:xfrm>
                  <a:off x="712573" y="1654460"/>
                  <a:ext cx="2183027" cy="2094103"/>
                  <a:chOff x="1343944" y="1654460"/>
                  <a:chExt cx="2183027" cy="2094103"/>
                </a:xfrm>
              </p:grpSpPr>
              <p:sp>
                <p:nvSpPr>
                  <p:cNvPr id="508" name="Google Shape;508;p10"/>
                  <p:cNvSpPr/>
                  <p:nvPr/>
                </p:nvSpPr>
                <p:spPr>
                  <a:xfrm>
                    <a:off x="1343944" y="1654460"/>
                    <a:ext cx="2183027" cy="40011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0" lang="en-US" sz="2000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rPr>
                      <a:t>White-box?</a:t>
                    </a:r>
                    <a:endParaRPr/>
                  </a:p>
                </p:txBody>
              </p:sp>
              <p:pic>
                <p:nvPicPr>
                  <p:cNvPr id="509" name="Google Shape;509;p10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>
                    <a:off x="1626973" y="2130770"/>
                    <a:ext cx="1617793" cy="161779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sp>
              <p:nvSpPr>
                <p:cNvPr id="510" name="Google Shape;510;p10"/>
                <p:cNvSpPr/>
                <p:nvPr/>
              </p:nvSpPr>
              <p:spPr>
                <a:xfrm>
                  <a:off x="712573" y="1447800"/>
                  <a:ext cx="2183027" cy="2590800"/>
                </a:xfrm>
                <a:prstGeom prst="roundRect">
                  <a:avLst>
                    <a:gd fmla="val 16667" name="adj"/>
                  </a:avLst>
                </a:prstGeom>
                <a:noFill/>
                <a:ln cap="flat" cmpd="sng" w="13950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2200">
                    <a:solidFill>
                      <a:schemeClr val="dk1"/>
                    </a:solidFill>
                    <a:latin typeface="Verdana"/>
                    <a:ea typeface="Verdana"/>
                    <a:cs typeface="Verdana"/>
                    <a:sym typeface="Verdana"/>
                  </a:endParaRPr>
                </a:p>
              </p:txBody>
            </p:sp>
          </p:grpSp>
          <p:grpSp>
            <p:nvGrpSpPr>
              <p:cNvPr id="511" name="Google Shape;511;p10"/>
              <p:cNvGrpSpPr/>
              <p:nvPr/>
            </p:nvGrpSpPr>
            <p:grpSpPr>
              <a:xfrm>
                <a:off x="3354684" y="1828800"/>
                <a:ext cx="2741316" cy="2590800"/>
                <a:chOff x="3354684" y="1447800"/>
                <a:chExt cx="2741316" cy="2590800"/>
              </a:xfrm>
            </p:grpSpPr>
            <p:grpSp>
              <p:nvGrpSpPr>
                <p:cNvPr id="512" name="Google Shape;512;p10"/>
                <p:cNvGrpSpPr/>
                <p:nvPr/>
              </p:nvGrpSpPr>
              <p:grpSpPr>
                <a:xfrm>
                  <a:off x="3354684" y="1654460"/>
                  <a:ext cx="2638343" cy="2231740"/>
                  <a:chOff x="3305257" y="1654460"/>
                  <a:chExt cx="2638343" cy="2231740"/>
                </a:xfrm>
              </p:grpSpPr>
              <p:sp>
                <p:nvSpPr>
                  <p:cNvPr id="513" name="Google Shape;513;p10"/>
                  <p:cNvSpPr/>
                  <p:nvPr/>
                </p:nvSpPr>
                <p:spPr>
                  <a:xfrm>
                    <a:off x="3558746" y="1654460"/>
                    <a:ext cx="2183027" cy="40011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0" lang="en-US" sz="2000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rPr>
                      <a:t>Both?</a:t>
                    </a:r>
                    <a:endParaRPr/>
                  </a:p>
                </p:txBody>
              </p:sp>
              <p:pic>
                <p:nvPicPr>
                  <p:cNvPr id="514" name="Google Shape;514;p10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>
                    <a:off x="3305257" y="2239103"/>
                    <a:ext cx="1617793" cy="161779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515" name="Google Shape;515;p10"/>
                  <p:cNvPicPr preferRelativeResize="0"/>
                  <p:nvPr/>
                </p:nvPicPr>
                <p:blipFill rotWithShape="1">
                  <a:blip r:embed="rId4">
                    <a:alphaModFix/>
                  </a:blip>
                  <a:srcRect b="0" l="0" r="0" t="0"/>
                  <a:stretch/>
                </p:blipFill>
                <p:spPr>
                  <a:xfrm>
                    <a:off x="4724401" y="2594092"/>
                    <a:ext cx="1219199" cy="129210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sp>
              <p:nvSpPr>
                <p:cNvPr id="516" name="Google Shape;516;p10"/>
                <p:cNvSpPr/>
                <p:nvPr/>
              </p:nvSpPr>
              <p:spPr>
                <a:xfrm>
                  <a:off x="3407228" y="1447800"/>
                  <a:ext cx="2688772" cy="2590800"/>
                </a:xfrm>
                <a:prstGeom prst="roundRect">
                  <a:avLst>
                    <a:gd fmla="val 16667" name="adj"/>
                  </a:avLst>
                </a:prstGeom>
                <a:noFill/>
                <a:ln cap="flat" cmpd="sng" w="13950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2200">
                    <a:solidFill>
                      <a:schemeClr val="dk1"/>
                    </a:solidFill>
                    <a:latin typeface="Verdana"/>
                    <a:ea typeface="Verdana"/>
                    <a:cs typeface="Verdana"/>
                    <a:sym typeface="Verdana"/>
                  </a:endParaRPr>
                </a:p>
              </p:txBody>
            </p:sp>
          </p:grpSp>
          <p:grpSp>
            <p:nvGrpSpPr>
              <p:cNvPr id="517" name="Google Shape;517;p10"/>
              <p:cNvGrpSpPr/>
              <p:nvPr/>
            </p:nvGrpSpPr>
            <p:grpSpPr>
              <a:xfrm>
                <a:off x="6602627" y="1828800"/>
                <a:ext cx="2198914" cy="2590800"/>
                <a:chOff x="6602627" y="1447800"/>
                <a:chExt cx="2198914" cy="2590800"/>
              </a:xfrm>
            </p:grpSpPr>
            <p:grpSp>
              <p:nvGrpSpPr>
                <p:cNvPr id="518" name="Google Shape;518;p10"/>
                <p:cNvGrpSpPr/>
                <p:nvPr/>
              </p:nvGrpSpPr>
              <p:grpSpPr>
                <a:xfrm>
                  <a:off x="6602627" y="1654460"/>
                  <a:ext cx="2183027" cy="1934886"/>
                  <a:chOff x="5584371" y="1654460"/>
                  <a:chExt cx="2183027" cy="1934886"/>
                </a:xfrm>
              </p:grpSpPr>
              <p:sp>
                <p:nvSpPr>
                  <p:cNvPr id="519" name="Google Shape;519;p10"/>
                  <p:cNvSpPr/>
                  <p:nvPr/>
                </p:nvSpPr>
                <p:spPr>
                  <a:xfrm>
                    <a:off x="5584371" y="1654460"/>
                    <a:ext cx="2183027" cy="40011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0" lang="en-US" sz="2000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rPr>
                      <a:t>Black-box?</a:t>
                    </a:r>
                    <a:endParaRPr b="0" sz="2000">
                      <a:solidFill>
                        <a:schemeClr val="lt1"/>
                      </a:solidFill>
                      <a:latin typeface="Verdana"/>
                      <a:ea typeface="Verdana"/>
                      <a:cs typeface="Verdana"/>
                      <a:sym typeface="Verdana"/>
                    </a:endParaRPr>
                  </a:p>
                </p:txBody>
              </p:sp>
              <p:pic>
                <p:nvPicPr>
                  <p:cNvPr id="520" name="Google Shape;520;p10"/>
                  <p:cNvPicPr preferRelativeResize="0"/>
                  <p:nvPr/>
                </p:nvPicPr>
                <p:blipFill rotWithShape="1">
                  <a:blip r:embed="rId4">
                    <a:alphaModFix/>
                  </a:blip>
                  <a:srcRect b="0" l="0" r="0" t="0"/>
                  <a:stretch/>
                </p:blipFill>
                <p:spPr>
                  <a:xfrm>
                    <a:off x="6066284" y="2297238"/>
                    <a:ext cx="1219199" cy="129210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sp>
              <p:nvSpPr>
                <p:cNvPr id="521" name="Google Shape;521;p10"/>
                <p:cNvSpPr/>
                <p:nvPr/>
              </p:nvSpPr>
              <p:spPr>
                <a:xfrm>
                  <a:off x="6618514" y="1447800"/>
                  <a:ext cx="2183027" cy="2590800"/>
                </a:xfrm>
                <a:prstGeom prst="roundRect">
                  <a:avLst>
                    <a:gd fmla="val 16667" name="adj"/>
                  </a:avLst>
                </a:prstGeom>
                <a:noFill/>
                <a:ln cap="flat" cmpd="sng" w="13950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2200">
                    <a:solidFill>
                      <a:schemeClr val="dk1"/>
                    </a:solidFill>
                    <a:latin typeface="Verdana"/>
                    <a:ea typeface="Verdana"/>
                    <a:cs typeface="Verdana"/>
                    <a:sym typeface="Verdana"/>
                  </a:endParaRPr>
                </a:p>
              </p:txBody>
            </p:sp>
          </p:grp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11"/>
          <p:cNvSpPr txBox="1"/>
          <p:nvPr>
            <p:ph type="title"/>
          </p:nvPr>
        </p:nvSpPr>
        <p:spPr>
          <a:xfrm>
            <a:off x="0" y="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000"/>
              <a:buFont typeface="Verdana"/>
              <a:buNone/>
            </a:pPr>
            <a:r>
              <a:rPr lang="en-US"/>
              <a:t>Testing Categories (3)</a:t>
            </a:r>
            <a:endParaRPr/>
          </a:p>
        </p:txBody>
      </p:sp>
      <p:sp>
        <p:nvSpPr>
          <p:cNvPr id="527" name="Google Shape;527;p11"/>
          <p:cNvSpPr txBox="1"/>
          <p:nvPr>
            <p:ph idx="1" type="body"/>
          </p:nvPr>
        </p:nvSpPr>
        <p:spPr>
          <a:xfrm>
            <a:off x="304800" y="990601"/>
            <a:ext cx="43434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60"/>
              <a:buNone/>
            </a:pPr>
            <a:r>
              <a:rPr b="1" lang="en-US" sz="2200">
                <a:solidFill>
                  <a:srgbClr val="FFFF00"/>
                </a:solidFill>
              </a:rPr>
              <a:t>Functional testing</a:t>
            </a:r>
            <a:endParaRPr/>
          </a:p>
          <a:p>
            <a:pPr indent="-276225" lvl="0" marL="458788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20"/>
              <a:buChar char="•"/>
            </a:pPr>
            <a:r>
              <a:rPr lang="en-US" sz="1900"/>
              <a:t>Unit testing</a:t>
            </a:r>
            <a:endParaRPr/>
          </a:p>
          <a:p>
            <a:pPr indent="-276225" lvl="0" marL="45878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20"/>
              <a:buChar char="•"/>
            </a:pPr>
            <a:r>
              <a:rPr lang="en-US" sz="1900"/>
              <a:t>Integration testing</a:t>
            </a:r>
            <a:endParaRPr/>
          </a:p>
          <a:p>
            <a:pPr indent="-276225" lvl="0" marL="45878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20"/>
              <a:buChar char="•"/>
            </a:pPr>
            <a:r>
              <a:rPr lang="en-US" sz="1900"/>
              <a:t>System testing</a:t>
            </a:r>
            <a:endParaRPr/>
          </a:p>
          <a:p>
            <a:pPr indent="-276225" lvl="0" marL="45878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20"/>
              <a:buChar char="•"/>
            </a:pPr>
            <a:r>
              <a:rPr lang="en-US" sz="1900"/>
              <a:t>Smoke testing</a:t>
            </a:r>
            <a:endParaRPr/>
          </a:p>
          <a:p>
            <a:pPr indent="-276225" lvl="0" marL="45878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20"/>
              <a:buChar char="•"/>
            </a:pPr>
            <a:r>
              <a:rPr lang="en-US" sz="1900"/>
              <a:t>Acceptance testing (Alpha / Beta</a:t>
            </a:r>
            <a:endParaRPr/>
          </a:p>
          <a:p>
            <a:pPr indent="-276225" lvl="0" marL="45878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20"/>
              <a:buChar char="•"/>
            </a:pPr>
            <a:r>
              <a:rPr lang="en-US" sz="1900"/>
              <a:t>Agile testing</a:t>
            </a:r>
            <a:endParaRPr/>
          </a:p>
          <a:p>
            <a:pPr indent="-276225" lvl="0" marL="45878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20"/>
              <a:buChar char="•"/>
            </a:pPr>
            <a:r>
              <a:rPr lang="en-US" sz="1900"/>
              <a:t>Regression testing</a:t>
            </a:r>
            <a:endParaRPr/>
          </a:p>
          <a:p>
            <a:pPr indent="-276225" lvl="0" marL="45878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20"/>
              <a:buChar char="•"/>
            </a:pPr>
            <a:r>
              <a:rPr lang="en-US" sz="1900"/>
              <a:t>Continuous integration testing</a:t>
            </a:r>
            <a:endParaRPr/>
          </a:p>
          <a:p>
            <a:pPr indent="0" lvl="0" marL="182563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20"/>
              <a:buNone/>
            </a:pPr>
            <a:r>
              <a:rPr lang="en-US" sz="1900"/>
              <a:t>… and many more …</a:t>
            </a:r>
            <a:endParaRPr sz="1900"/>
          </a:p>
        </p:txBody>
      </p:sp>
      <p:sp>
        <p:nvSpPr>
          <p:cNvPr id="528" name="Google Shape;528;p11"/>
          <p:cNvSpPr txBox="1"/>
          <p:nvPr/>
        </p:nvSpPr>
        <p:spPr>
          <a:xfrm>
            <a:off x="4708849" y="990601"/>
            <a:ext cx="43434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60"/>
              <a:buFont typeface="Arial"/>
              <a:buNone/>
            </a:pPr>
            <a:r>
              <a:rPr b="1" lang="en-US" sz="2200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Non-functional testing</a:t>
            </a:r>
            <a:endParaRPr/>
          </a:p>
          <a:p>
            <a:pPr indent="-276225" lvl="0" marL="458788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520"/>
              <a:buFont typeface="Arial"/>
              <a:buChar char="•"/>
            </a:pPr>
            <a:r>
              <a:rPr b="0" lang="en-US" sz="19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Performance testing</a:t>
            </a:r>
            <a:endParaRPr/>
          </a:p>
          <a:p>
            <a:pPr indent="-276225" lvl="0" marL="4587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20"/>
              <a:buFont typeface="Arial"/>
              <a:buChar char="•"/>
            </a:pPr>
            <a:r>
              <a:rPr b="0" lang="en-US" sz="19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Load testing</a:t>
            </a:r>
            <a:endParaRPr/>
          </a:p>
          <a:p>
            <a:pPr indent="-276225" lvl="0" marL="4587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20"/>
              <a:buFont typeface="Arial"/>
              <a:buChar char="•"/>
            </a:pPr>
            <a:r>
              <a:rPr b="0" lang="en-US" sz="19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Stress testing</a:t>
            </a:r>
            <a:endParaRPr/>
          </a:p>
          <a:p>
            <a:pPr indent="-276225" lvl="0" marL="4587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20"/>
              <a:buFont typeface="Arial"/>
              <a:buChar char="•"/>
            </a:pPr>
            <a:r>
              <a:rPr b="0" lang="en-US" sz="19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Security testing</a:t>
            </a:r>
            <a:endParaRPr/>
          </a:p>
          <a:p>
            <a:pPr indent="-276225" lvl="0" marL="4587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20"/>
              <a:buFont typeface="Arial"/>
              <a:buChar char="•"/>
            </a:pPr>
            <a:r>
              <a:rPr b="0" lang="en-US" sz="19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Compatibility testing</a:t>
            </a:r>
            <a:endParaRPr/>
          </a:p>
          <a:p>
            <a:pPr indent="-276225" lvl="0" marL="4587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20"/>
              <a:buFont typeface="Arial"/>
              <a:buChar char="•"/>
            </a:pPr>
            <a:r>
              <a:rPr b="0" lang="en-US" sz="19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Reliability testing</a:t>
            </a:r>
            <a:endParaRPr/>
          </a:p>
          <a:p>
            <a:pPr indent="-276225" lvl="0" marL="4587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20"/>
              <a:buFont typeface="Arial"/>
              <a:buChar char="•"/>
            </a:pPr>
            <a:r>
              <a:rPr b="0" lang="en-US" sz="19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Usability testing</a:t>
            </a:r>
            <a:endParaRPr/>
          </a:p>
          <a:p>
            <a:pPr indent="-276225" lvl="0" marL="4587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20"/>
              <a:buFont typeface="Arial"/>
              <a:buChar char="•"/>
            </a:pPr>
            <a:r>
              <a:rPr b="0" lang="en-US" sz="19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Compliance testing</a:t>
            </a:r>
            <a:endParaRPr/>
          </a:p>
          <a:p>
            <a:pPr indent="-276225" lvl="0" marL="4587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20"/>
              <a:buFont typeface="Arial"/>
              <a:buChar char="•"/>
            </a:pPr>
            <a:r>
              <a:rPr b="0" lang="en-US" sz="19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Conformance testing</a:t>
            </a:r>
            <a:endParaRPr/>
          </a:p>
          <a:p>
            <a:pPr indent="0" lvl="0" marL="182563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520"/>
              <a:buFont typeface="Arial"/>
              <a:buNone/>
            </a:pPr>
            <a:r>
              <a:rPr b="0" lang="en-US" sz="19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… and many more …</a:t>
            </a:r>
            <a:endParaRPr b="0" sz="19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529" name="Google Shape;529;p11"/>
          <p:cNvCxnSpPr/>
          <p:nvPr/>
        </p:nvCxnSpPr>
        <p:spPr>
          <a:xfrm>
            <a:off x="4572000" y="1066800"/>
            <a:ext cx="0" cy="3886200"/>
          </a:xfrm>
          <a:prstGeom prst="straightConnector1">
            <a:avLst/>
          </a:prstGeom>
          <a:noFill/>
          <a:ln cap="flat" cmpd="sng" w="12700">
            <a:solidFill>
              <a:srgbClr val="DEEAF5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530" name="Google Shape;530;p11"/>
          <p:cNvSpPr txBox="1"/>
          <p:nvPr/>
        </p:nvSpPr>
        <p:spPr>
          <a:xfrm>
            <a:off x="152400" y="5235635"/>
            <a:ext cx="7620000" cy="1179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Explore &amp; share your thoughts/ideas/examples/experience/concerns on </a:t>
            </a:r>
            <a:endParaRPr/>
          </a:p>
          <a:p>
            <a:pPr indent="0" lvl="0" marL="46355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600" u="sng">
                <a:solidFill>
                  <a:srgbClr val="A7FEFF"/>
                </a:solidFill>
                <a:latin typeface="Verdana"/>
                <a:ea typeface="Verdana"/>
                <a:cs typeface="Verdana"/>
                <a:sym typeface="Verdana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https://www.tldraw.com/f/xypCRh5ufr799rrrbDJsK?d=v-299.-30.1179.823.page</a:t>
            </a:r>
            <a:r>
              <a:rPr b="0" lang="en-US" sz="16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(link to the tldraw also on our schedule page)		  	  </a:t>
            </a:r>
            <a:endParaRPr/>
          </a:p>
        </p:txBody>
      </p:sp>
      <p:cxnSp>
        <p:nvCxnSpPr>
          <p:cNvPr id="531" name="Google Shape;531;p11"/>
          <p:cNvCxnSpPr/>
          <p:nvPr/>
        </p:nvCxnSpPr>
        <p:spPr>
          <a:xfrm rot="10800000">
            <a:off x="304800" y="5029200"/>
            <a:ext cx="86106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dot"/>
            <a:round/>
            <a:headEnd len="sm" w="sm" type="none"/>
            <a:tailEnd len="sm" w="sm" type="none"/>
          </a:ln>
        </p:spPr>
      </p:cxnSp>
      <p:pic>
        <p:nvPicPr>
          <p:cNvPr id="532" name="Google Shape;532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72400" y="5257800"/>
            <a:ext cx="1097280" cy="1097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12"/>
          <p:cNvSpPr txBox="1"/>
          <p:nvPr>
            <p:ph type="title"/>
          </p:nvPr>
        </p:nvSpPr>
        <p:spPr>
          <a:xfrm>
            <a:off x="0" y="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700"/>
              <a:buFont typeface="Verdana"/>
              <a:buNone/>
            </a:pPr>
            <a:r>
              <a:rPr lang="en-US" sz="3700"/>
              <a:t>Validation and Verification (IEEE)</a:t>
            </a:r>
            <a:endParaRPr/>
          </a:p>
        </p:txBody>
      </p:sp>
      <p:sp>
        <p:nvSpPr>
          <p:cNvPr id="538" name="Google Shape;538;p12"/>
          <p:cNvSpPr txBox="1"/>
          <p:nvPr>
            <p:ph idx="1" type="body"/>
          </p:nvPr>
        </p:nvSpPr>
        <p:spPr>
          <a:xfrm>
            <a:off x="195942" y="1042416"/>
            <a:ext cx="4223658" cy="54863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60"/>
              <a:buNone/>
            </a:pPr>
            <a:r>
              <a:rPr b="1" lang="en-US" sz="2200">
                <a:solidFill>
                  <a:srgbClr val="FFFF00"/>
                </a:solidFill>
              </a:rPr>
              <a:t>Validation</a:t>
            </a:r>
            <a:endParaRPr sz="2100"/>
          </a:p>
          <a:p>
            <a:pPr indent="-225425" lvl="0" marL="288925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520"/>
              <a:buChar char="•"/>
            </a:pPr>
            <a:r>
              <a:rPr lang="en-US" sz="1900"/>
              <a:t>Evaluate software </a:t>
            </a:r>
            <a:r>
              <a:rPr lang="en-US" sz="1900">
                <a:solidFill>
                  <a:srgbClr val="FFFF00"/>
                </a:solidFill>
              </a:rPr>
              <a:t>at the end</a:t>
            </a:r>
            <a:r>
              <a:rPr lang="en-US" sz="1900"/>
              <a:t> of software development </a:t>
            </a:r>
            <a:endParaRPr/>
          </a:p>
          <a:p>
            <a:pPr indent="-225425" lvl="0" marL="288925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520"/>
              <a:buChar char="•"/>
            </a:pPr>
            <a:r>
              <a:rPr lang="en-US" sz="1900"/>
              <a:t>Ensure </a:t>
            </a:r>
            <a:r>
              <a:rPr lang="en-US" sz="1900">
                <a:solidFill>
                  <a:srgbClr val="FFFF00"/>
                </a:solidFill>
              </a:rPr>
              <a:t>compliance with</a:t>
            </a:r>
            <a:r>
              <a:rPr lang="en-US" sz="1900"/>
              <a:t> </a:t>
            </a:r>
            <a:r>
              <a:rPr lang="en-US" sz="1900">
                <a:solidFill>
                  <a:srgbClr val="FFFF00"/>
                </a:solidFill>
              </a:rPr>
              <a:t>the</a:t>
            </a:r>
            <a:r>
              <a:rPr lang="en-US" sz="1900"/>
              <a:t> </a:t>
            </a:r>
            <a:r>
              <a:rPr lang="en-US" sz="1900">
                <a:solidFill>
                  <a:srgbClr val="FFFF00"/>
                </a:solidFill>
              </a:rPr>
              <a:t>intended usage</a:t>
            </a:r>
            <a:endParaRPr/>
          </a:p>
          <a:p>
            <a:pPr indent="-225425" lvl="0" marL="288925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520"/>
              <a:buChar char="•"/>
            </a:pPr>
            <a:r>
              <a:rPr lang="en-US" sz="1900"/>
              <a:t>Done by experts in the intended usage of the software, not developers</a:t>
            </a:r>
            <a:endParaRPr/>
          </a:p>
        </p:txBody>
      </p:sp>
      <p:sp>
        <p:nvSpPr>
          <p:cNvPr id="539" name="Google Shape;539;p12"/>
          <p:cNvSpPr txBox="1"/>
          <p:nvPr/>
        </p:nvSpPr>
        <p:spPr>
          <a:xfrm>
            <a:off x="4724400" y="1042417"/>
            <a:ext cx="4223658" cy="5282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60"/>
              <a:buFont typeface="Arial"/>
              <a:buNone/>
            </a:pPr>
            <a:r>
              <a:rPr b="1" lang="en-US" sz="2200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Verification</a:t>
            </a:r>
            <a:endParaRPr b="0" sz="21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23838" lvl="0" marL="239713" marR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520"/>
              <a:buFont typeface="Arial"/>
              <a:buChar char="•"/>
            </a:pPr>
            <a:r>
              <a:rPr b="0" lang="en-US" sz="19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Evaluate software </a:t>
            </a:r>
            <a:r>
              <a:rPr b="0" lang="en-US" sz="1900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at a given phase </a:t>
            </a:r>
            <a:r>
              <a:rPr b="0" lang="en-US" sz="19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of the development process</a:t>
            </a:r>
            <a:endParaRPr/>
          </a:p>
          <a:p>
            <a:pPr indent="-223838" lvl="0" marL="239713" marR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520"/>
              <a:buFont typeface="Arial"/>
              <a:buChar char="•"/>
            </a:pPr>
            <a:r>
              <a:rPr b="0" lang="en-US" sz="1900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Fulfill the requirements</a:t>
            </a:r>
            <a:r>
              <a:rPr b="0" lang="en-US" sz="19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established during the previous phase</a:t>
            </a:r>
            <a:endParaRPr/>
          </a:p>
          <a:p>
            <a:pPr indent="-223838" lvl="0" marL="239713" marR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520"/>
              <a:buFont typeface="Arial"/>
              <a:buChar char="•"/>
            </a:pPr>
            <a:r>
              <a:rPr b="0" lang="en-US" sz="19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Requires technical background on the software</a:t>
            </a:r>
            <a:endParaRPr/>
          </a:p>
          <a:p>
            <a:pPr indent="-223838" lvl="0" marL="239713" marR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520"/>
              <a:buFont typeface="Arial"/>
              <a:buChar char="•"/>
            </a:pPr>
            <a:r>
              <a:rPr b="0" lang="en-US" sz="19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Done by developers at the various stages of development</a:t>
            </a:r>
            <a:endParaRPr/>
          </a:p>
        </p:txBody>
      </p:sp>
      <p:sp>
        <p:nvSpPr>
          <p:cNvPr id="540" name="Google Shape;540;p12"/>
          <p:cNvSpPr txBox="1"/>
          <p:nvPr/>
        </p:nvSpPr>
        <p:spPr>
          <a:xfrm>
            <a:off x="475488" y="5943600"/>
            <a:ext cx="8207829" cy="5303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b="0" lang="en-US" sz="20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IV&amp;V stands for “</a:t>
            </a:r>
            <a:r>
              <a:rPr b="0" i="1" lang="en-US" sz="20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independent verification and validation</a:t>
            </a:r>
            <a:r>
              <a:rPr b="0" lang="en-US" sz="20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”</a:t>
            </a:r>
            <a:endParaRPr/>
          </a:p>
        </p:txBody>
      </p:sp>
      <p:cxnSp>
        <p:nvCxnSpPr>
          <p:cNvPr id="541" name="Google Shape;541;p12"/>
          <p:cNvCxnSpPr/>
          <p:nvPr/>
        </p:nvCxnSpPr>
        <p:spPr>
          <a:xfrm>
            <a:off x="4572000" y="1143000"/>
            <a:ext cx="0" cy="4572000"/>
          </a:xfrm>
          <a:prstGeom prst="straightConnector1">
            <a:avLst/>
          </a:prstGeom>
          <a:noFill/>
          <a:ln cap="flat" cmpd="sng" w="9525">
            <a:solidFill>
              <a:srgbClr val="DEEAF5"/>
            </a:solidFill>
            <a:prstDash val="dot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7" name="Google Shape;547;p13"/>
          <p:cNvGrpSpPr/>
          <p:nvPr/>
        </p:nvGrpSpPr>
        <p:grpSpPr>
          <a:xfrm>
            <a:off x="7086600" y="1143000"/>
            <a:ext cx="1920240" cy="4870179"/>
            <a:chOff x="7147560" y="1066800"/>
            <a:chExt cx="1920240" cy="4870179"/>
          </a:xfrm>
        </p:grpSpPr>
        <p:sp>
          <p:nvSpPr>
            <p:cNvPr id="548" name="Google Shape;548;p13"/>
            <p:cNvSpPr/>
            <p:nvPr/>
          </p:nvSpPr>
          <p:spPr>
            <a:xfrm>
              <a:off x="7147560" y="1066800"/>
              <a:ext cx="1920240" cy="738664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rPr>
                <a:t>Check if software does what the user needs</a:t>
              </a:r>
              <a:endParaRPr/>
            </a:p>
          </p:txBody>
        </p:sp>
        <p:sp>
          <p:nvSpPr>
            <p:cNvPr id="549" name="Google Shape;549;p13"/>
            <p:cNvSpPr/>
            <p:nvPr/>
          </p:nvSpPr>
          <p:spPr>
            <a:xfrm>
              <a:off x="7147560" y="2034064"/>
              <a:ext cx="1920240" cy="738664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rPr>
                <a:t>Check overall behavior w.r.t. specs</a:t>
              </a:r>
              <a:endParaRPr/>
            </a:p>
          </p:txBody>
        </p:sp>
        <p:sp>
          <p:nvSpPr>
            <p:cNvPr id="550" name="Google Shape;550;p13"/>
            <p:cNvSpPr/>
            <p:nvPr/>
          </p:nvSpPr>
          <p:spPr>
            <a:xfrm>
              <a:off x="7147560" y="3001328"/>
              <a:ext cx="1920240" cy="954107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rPr>
                <a:t>Check interface between modules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rPr>
                <a:t>in the same subsystem</a:t>
              </a:r>
              <a:endParaRPr/>
            </a:p>
          </p:txBody>
        </p:sp>
        <p:sp>
          <p:nvSpPr>
            <p:cNvPr id="551" name="Google Shape;551;p13"/>
            <p:cNvSpPr/>
            <p:nvPr/>
          </p:nvSpPr>
          <p:spPr>
            <a:xfrm>
              <a:off x="7147560" y="4104621"/>
              <a:ext cx="1920240" cy="1169551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rPr>
                <a:t>Check interactions of units and associated data structures</a:t>
              </a:r>
              <a:endParaRPr/>
            </a:p>
          </p:txBody>
        </p:sp>
        <p:sp>
          <p:nvSpPr>
            <p:cNvPr id="552" name="Google Shape;552;p13"/>
            <p:cNvSpPr/>
            <p:nvPr/>
          </p:nvSpPr>
          <p:spPr>
            <a:xfrm>
              <a:off x="7147560" y="5198315"/>
              <a:ext cx="1920240" cy="738664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rPr>
                <a:t>Check each unit (method) individually</a:t>
              </a:r>
              <a:endParaRPr/>
            </a:p>
          </p:txBody>
        </p:sp>
      </p:grpSp>
      <p:sp>
        <p:nvSpPr>
          <p:cNvPr id="553" name="Google Shape;553;p13"/>
          <p:cNvSpPr txBox="1"/>
          <p:nvPr>
            <p:ph type="title"/>
          </p:nvPr>
        </p:nvSpPr>
        <p:spPr>
          <a:xfrm>
            <a:off x="0" y="54864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600"/>
              <a:buFont typeface="Verdana"/>
              <a:buNone/>
            </a:pPr>
            <a:r>
              <a:rPr lang="en-US" sz="3600"/>
              <a:t>Testing and </a:t>
            </a:r>
            <a:br>
              <a:rPr lang="en-US" sz="3600"/>
            </a:br>
            <a:r>
              <a:rPr lang="en-US" sz="3600"/>
              <a:t>SW Development Lifecycle</a:t>
            </a:r>
            <a:endParaRPr/>
          </a:p>
        </p:txBody>
      </p:sp>
      <p:grpSp>
        <p:nvGrpSpPr>
          <p:cNvPr id="554" name="Google Shape;554;p13"/>
          <p:cNvGrpSpPr/>
          <p:nvPr/>
        </p:nvGrpSpPr>
        <p:grpSpPr>
          <a:xfrm>
            <a:off x="152400" y="1172528"/>
            <a:ext cx="6781800" cy="4876800"/>
            <a:chOff x="152400" y="2020826"/>
            <a:chExt cx="5038778" cy="3355846"/>
          </a:xfrm>
        </p:grpSpPr>
        <p:grpSp>
          <p:nvGrpSpPr>
            <p:cNvPr id="555" name="Google Shape;555;p13"/>
            <p:cNvGrpSpPr/>
            <p:nvPr/>
          </p:nvGrpSpPr>
          <p:grpSpPr>
            <a:xfrm>
              <a:off x="152400" y="2020826"/>
              <a:ext cx="5038778" cy="3355846"/>
              <a:chOff x="152400" y="2020826"/>
              <a:chExt cx="5038778" cy="3355846"/>
            </a:xfrm>
          </p:grpSpPr>
          <p:sp>
            <p:nvSpPr>
              <p:cNvPr id="556" name="Google Shape;556;p13"/>
              <p:cNvSpPr txBox="1"/>
              <p:nvPr/>
            </p:nvSpPr>
            <p:spPr>
              <a:xfrm>
                <a:off x="152400" y="2020826"/>
                <a:ext cx="1280160" cy="4572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600">
                    <a:solidFill>
                      <a:schemeClr val="dk1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Requirements </a:t>
                </a:r>
                <a:endParaRPr/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600">
                    <a:solidFill>
                      <a:schemeClr val="dk1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Analysis</a:t>
                </a:r>
                <a:endParaRPr/>
              </a:p>
            </p:txBody>
          </p:sp>
          <p:sp>
            <p:nvSpPr>
              <p:cNvPr id="557" name="Google Shape;557;p13"/>
              <p:cNvSpPr txBox="1"/>
              <p:nvPr/>
            </p:nvSpPr>
            <p:spPr>
              <a:xfrm>
                <a:off x="401902" y="2740152"/>
                <a:ext cx="1280160" cy="4572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600">
                    <a:solidFill>
                      <a:schemeClr val="dk1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Architectural</a:t>
                </a:r>
                <a:endParaRPr/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600">
                    <a:solidFill>
                      <a:schemeClr val="dk1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Design</a:t>
                </a:r>
                <a:endParaRPr/>
              </a:p>
            </p:txBody>
          </p:sp>
          <p:sp>
            <p:nvSpPr>
              <p:cNvPr id="558" name="Google Shape;558;p13"/>
              <p:cNvSpPr txBox="1"/>
              <p:nvPr/>
            </p:nvSpPr>
            <p:spPr>
              <a:xfrm>
                <a:off x="706702" y="3456432"/>
                <a:ext cx="1280160" cy="4572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600">
                    <a:solidFill>
                      <a:schemeClr val="dk1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Subsystem</a:t>
                </a:r>
                <a:endParaRPr/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600">
                    <a:solidFill>
                      <a:schemeClr val="dk1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Design</a:t>
                </a:r>
                <a:endParaRPr/>
              </a:p>
            </p:txBody>
          </p:sp>
          <p:sp>
            <p:nvSpPr>
              <p:cNvPr id="559" name="Google Shape;559;p13"/>
              <p:cNvSpPr txBox="1"/>
              <p:nvPr/>
            </p:nvSpPr>
            <p:spPr>
              <a:xfrm>
                <a:off x="1011502" y="4178808"/>
                <a:ext cx="1280160" cy="4572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600">
                    <a:solidFill>
                      <a:schemeClr val="dk1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Detailed</a:t>
                </a:r>
                <a:endParaRPr/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600">
                    <a:solidFill>
                      <a:schemeClr val="dk1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Design</a:t>
                </a:r>
                <a:endParaRPr/>
              </a:p>
            </p:txBody>
          </p:sp>
          <p:sp>
            <p:nvSpPr>
              <p:cNvPr id="560" name="Google Shape;560;p13"/>
              <p:cNvSpPr txBox="1"/>
              <p:nvPr/>
            </p:nvSpPr>
            <p:spPr>
              <a:xfrm>
                <a:off x="1316302" y="4919472"/>
                <a:ext cx="1328908" cy="4572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600">
                    <a:solidFill>
                      <a:schemeClr val="dk1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Implementation</a:t>
                </a:r>
                <a:endParaRPr/>
              </a:p>
            </p:txBody>
          </p:sp>
          <p:sp>
            <p:nvSpPr>
              <p:cNvPr id="561" name="Google Shape;561;p13"/>
              <p:cNvSpPr txBox="1"/>
              <p:nvPr/>
            </p:nvSpPr>
            <p:spPr>
              <a:xfrm>
                <a:off x="4093898" y="2020826"/>
                <a:ext cx="1097280" cy="457200"/>
              </a:xfrm>
              <a:prstGeom prst="rect">
                <a:avLst/>
              </a:prstGeom>
              <a:solidFill>
                <a:srgbClr val="73FBA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600">
                    <a:solidFill>
                      <a:schemeClr val="dk1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Acceptance</a:t>
                </a:r>
                <a:endParaRPr/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600">
                    <a:solidFill>
                      <a:schemeClr val="dk1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Test</a:t>
                </a:r>
                <a:endParaRPr/>
              </a:p>
            </p:txBody>
          </p:sp>
          <p:sp>
            <p:nvSpPr>
              <p:cNvPr id="562" name="Google Shape;562;p13"/>
              <p:cNvSpPr txBox="1"/>
              <p:nvPr/>
            </p:nvSpPr>
            <p:spPr>
              <a:xfrm>
                <a:off x="3789098" y="2740152"/>
                <a:ext cx="1097280" cy="457200"/>
              </a:xfrm>
              <a:prstGeom prst="rect">
                <a:avLst/>
              </a:prstGeom>
              <a:solidFill>
                <a:srgbClr val="73FBA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600">
                    <a:solidFill>
                      <a:schemeClr val="dk1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System</a:t>
                </a:r>
                <a:endParaRPr/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600">
                    <a:solidFill>
                      <a:schemeClr val="dk1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Test</a:t>
                </a:r>
                <a:endParaRPr/>
              </a:p>
            </p:txBody>
          </p:sp>
          <p:sp>
            <p:nvSpPr>
              <p:cNvPr id="563" name="Google Shape;563;p13"/>
              <p:cNvSpPr txBox="1"/>
              <p:nvPr/>
            </p:nvSpPr>
            <p:spPr>
              <a:xfrm>
                <a:off x="3484298" y="3456432"/>
                <a:ext cx="1097280" cy="457200"/>
              </a:xfrm>
              <a:prstGeom prst="rect">
                <a:avLst/>
              </a:prstGeom>
              <a:solidFill>
                <a:srgbClr val="73FBA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600">
                    <a:solidFill>
                      <a:schemeClr val="dk1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Integration</a:t>
                </a:r>
                <a:endParaRPr/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600">
                    <a:solidFill>
                      <a:schemeClr val="dk1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Test</a:t>
                </a:r>
                <a:endParaRPr/>
              </a:p>
            </p:txBody>
          </p:sp>
          <p:sp>
            <p:nvSpPr>
              <p:cNvPr id="564" name="Google Shape;564;p13"/>
              <p:cNvSpPr txBox="1"/>
              <p:nvPr/>
            </p:nvSpPr>
            <p:spPr>
              <a:xfrm>
                <a:off x="3179498" y="4178808"/>
                <a:ext cx="1097280" cy="457200"/>
              </a:xfrm>
              <a:prstGeom prst="rect">
                <a:avLst/>
              </a:prstGeom>
              <a:solidFill>
                <a:srgbClr val="73FBA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600">
                    <a:solidFill>
                      <a:schemeClr val="dk1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Module</a:t>
                </a:r>
                <a:endParaRPr/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600">
                    <a:solidFill>
                      <a:schemeClr val="dk1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Test</a:t>
                </a:r>
                <a:endParaRPr/>
              </a:p>
            </p:txBody>
          </p:sp>
          <p:sp>
            <p:nvSpPr>
              <p:cNvPr id="565" name="Google Shape;565;p13"/>
              <p:cNvSpPr txBox="1"/>
              <p:nvPr/>
            </p:nvSpPr>
            <p:spPr>
              <a:xfrm>
                <a:off x="2895600" y="4919472"/>
                <a:ext cx="1097280" cy="457200"/>
              </a:xfrm>
              <a:prstGeom prst="rect">
                <a:avLst/>
              </a:prstGeom>
              <a:solidFill>
                <a:srgbClr val="73FBA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600">
                    <a:solidFill>
                      <a:schemeClr val="dk1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Unit</a:t>
                </a:r>
                <a:endParaRPr/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600">
                    <a:solidFill>
                      <a:schemeClr val="dk1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Test</a:t>
                </a:r>
                <a:endParaRPr/>
              </a:p>
            </p:txBody>
          </p:sp>
        </p:grpSp>
        <p:grpSp>
          <p:nvGrpSpPr>
            <p:cNvPr id="566" name="Google Shape;566;p13"/>
            <p:cNvGrpSpPr/>
            <p:nvPr/>
          </p:nvGrpSpPr>
          <p:grpSpPr>
            <a:xfrm>
              <a:off x="242316" y="2464308"/>
              <a:ext cx="1060704" cy="2651760"/>
              <a:chOff x="242316" y="2464308"/>
              <a:chExt cx="1060704" cy="2651760"/>
            </a:xfrm>
          </p:grpSpPr>
          <p:cxnSp>
            <p:nvCxnSpPr>
              <p:cNvPr id="567" name="Google Shape;567;p13"/>
              <p:cNvCxnSpPr/>
              <p:nvPr/>
            </p:nvCxnSpPr>
            <p:spPr>
              <a:xfrm flipH="1" rot="-5400000">
                <a:off x="73152" y="2633472"/>
                <a:ext cx="493776" cy="155448"/>
              </a:xfrm>
              <a:prstGeom prst="bentConnector2">
                <a:avLst/>
              </a:prstGeom>
              <a:noFill/>
              <a:ln cap="flat" cmpd="sng" w="19050">
                <a:solidFill>
                  <a:srgbClr val="FFFFFF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568" name="Google Shape;568;p13"/>
              <p:cNvCxnSpPr/>
              <p:nvPr/>
            </p:nvCxnSpPr>
            <p:spPr>
              <a:xfrm flipH="1" rot="-5400000">
                <a:off x="387373" y="3346704"/>
                <a:ext cx="493776" cy="155448"/>
              </a:xfrm>
              <a:prstGeom prst="bentConnector2">
                <a:avLst/>
              </a:prstGeom>
              <a:noFill/>
              <a:ln cap="flat" cmpd="sng" w="19050">
                <a:solidFill>
                  <a:srgbClr val="FFFFFF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569" name="Google Shape;569;p13"/>
              <p:cNvCxnSpPr/>
              <p:nvPr/>
            </p:nvCxnSpPr>
            <p:spPr>
              <a:xfrm flipH="1" rot="-5400000">
                <a:off x="676656" y="4069080"/>
                <a:ext cx="493776" cy="155448"/>
              </a:xfrm>
              <a:prstGeom prst="bentConnector2">
                <a:avLst/>
              </a:prstGeom>
              <a:noFill/>
              <a:ln cap="flat" cmpd="sng" w="19050">
                <a:solidFill>
                  <a:srgbClr val="FFFFFF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570" name="Google Shape;570;p13"/>
              <p:cNvCxnSpPr/>
              <p:nvPr/>
            </p:nvCxnSpPr>
            <p:spPr>
              <a:xfrm flipH="1" rot="-5400000">
                <a:off x="978408" y="4791456"/>
                <a:ext cx="493776" cy="155448"/>
              </a:xfrm>
              <a:prstGeom prst="bentConnector2">
                <a:avLst/>
              </a:prstGeom>
              <a:noFill/>
              <a:ln cap="flat" cmpd="sng" w="19050">
                <a:solidFill>
                  <a:srgbClr val="FFFFFF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</p:grpSp>
        <p:grpSp>
          <p:nvGrpSpPr>
            <p:cNvPr id="571" name="Google Shape;571;p13"/>
            <p:cNvGrpSpPr/>
            <p:nvPr/>
          </p:nvGrpSpPr>
          <p:grpSpPr>
            <a:xfrm flipH="1">
              <a:off x="3962400" y="2464308"/>
              <a:ext cx="1060704" cy="2651760"/>
              <a:chOff x="440436" y="2464308"/>
              <a:chExt cx="1060704" cy="2651760"/>
            </a:xfrm>
          </p:grpSpPr>
          <p:cxnSp>
            <p:nvCxnSpPr>
              <p:cNvPr id="572" name="Google Shape;572;p13"/>
              <p:cNvCxnSpPr/>
              <p:nvPr/>
            </p:nvCxnSpPr>
            <p:spPr>
              <a:xfrm flipH="1" rot="-5400000">
                <a:off x="271272" y="2633472"/>
                <a:ext cx="493776" cy="155448"/>
              </a:xfrm>
              <a:prstGeom prst="bentConnector2">
                <a:avLst/>
              </a:prstGeom>
              <a:noFill/>
              <a:ln cap="flat" cmpd="sng" w="19050">
                <a:solidFill>
                  <a:srgbClr val="FFFFFF"/>
                </a:solidFill>
                <a:prstDash val="solid"/>
                <a:round/>
                <a:headEnd len="med" w="med" type="triangle"/>
                <a:tailEnd len="sm" w="sm" type="none"/>
              </a:ln>
            </p:spPr>
          </p:cxnSp>
          <p:cxnSp>
            <p:nvCxnSpPr>
              <p:cNvPr id="573" name="Google Shape;573;p13"/>
              <p:cNvCxnSpPr/>
              <p:nvPr/>
            </p:nvCxnSpPr>
            <p:spPr>
              <a:xfrm flipH="1" rot="-5400000">
                <a:off x="585493" y="3346704"/>
                <a:ext cx="493776" cy="155448"/>
              </a:xfrm>
              <a:prstGeom prst="bentConnector2">
                <a:avLst/>
              </a:prstGeom>
              <a:noFill/>
              <a:ln cap="flat" cmpd="sng" w="19050">
                <a:solidFill>
                  <a:srgbClr val="FFFFFF"/>
                </a:solidFill>
                <a:prstDash val="solid"/>
                <a:round/>
                <a:headEnd len="med" w="med" type="triangle"/>
                <a:tailEnd len="sm" w="sm" type="none"/>
              </a:ln>
            </p:spPr>
          </p:cxnSp>
          <p:cxnSp>
            <p:nvCxnSpPr>
              <p:cNvPr id="574" name="Google Shape;574;p13"/>
              <p:cNvCxnSpPr/>
              <p:nvPr/>
            </p:nvCxnSpPr>
            <p:spPr>
              <a:xfrm flipH="1" rot="-5400000">
                <a:off x="874776" y="4069080"/>
                <a:ext cx="493776" cy="155448"/>
              </a:xfrm>
              <a:prstGeom prst="bentConnector2">
                <a:avLst/>
              </a:prstGeom>
              <a:noFill/>
              <a:ln cap="flat" cmpd="sng" w="19050">
                <a:solidFill>
                  <a:srgbClr val="FFFFFF"/>
                </a:solidFill>
                <a:prstDash val="solid"/>
                <a:round/>
                <a:headEnd len="med" w="med" type="triangle"/>
                <a:tailEnd len="sm" w="sm" type="none"/>
              </a:ln>
            </p:spPr>
          </p:cxnSp>
          <p:cxnSp>
            <p:nvCxnSpPr>
              <p:cNvPr id="575" name="Google Shape;575;p13"/>
              <p:cNvCxnSpPr/>
              <p:nvPr/>
            </p:nvCxnSpPr>
            <p:spPr>
              <a:xfrm flipH="1" rot="-5400000">
                <a:off x="1176528" y="4791456"/>
                <a:ext cx="493776" cy="155448"/>
              </a:xfrm>
              <a:prstGeom prst="bentConnector2">
                <a:avLst/>
              </a:prstGeom>
              <a:noFill/>
              <a:ln cap="flat" cmpd="sng" w="19050">
                <a:solidFill>
                  <a:srgbClr val="FFFFFF"/>
                </a:solidFill>
                <a:prstDash val="solid"/>
                <a:round/>
                <a:headEnd len="med" w="med" type="triangle"/>
                <a:tailEnd len="sm" w="sm" type="none"/>
              </a:ln>
            </p:spPr>
          </p:cxnSp>
        </p:grpSp>
        <p:cxnSp>
          <p:nvCxnSpPr>
            <p:cNvPr id="576" name="Google Shape;576;p13"/>
            <p:cNvCxnSpPr/>
            <p:nvPr/>
          </p:nvCxnSpPr>
          <p:spPr>
            <a:xfrm>
              <a:off x="2438400" y="4406879"/>
              <a:ext cx="583036" cy="529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dash"/>
              <a:round/>
              <a:headEnd len="sm" w="sm" type="none"/>
              <a:tailEnd len="med" w="med" type="triangle"/>
            </a:ln>
          </p:spPr>
        </p:cxnSp>
        <p:cxnSp>
          <p:nvCxnSpPr>
            <p:cNvPr id="577" name="Google Shape;577;p13"/>
            <p:cNvCxnSpPr/>
            <p:nvPr/>
          </p:nvCxnSpPr>
          <p:spPr>
            <a:xfrm>
              <a:off x="2136934" y="3659262"/>
              <a:ext cx="1215866" cy="0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dash"/>
              <a:round/>
              <a:headEnd len="sm" w="sm" type="none"/>
              <a:tailEnd len="med" w="med" type="triangle"/>
            </a:ln>
          </p:spPr>
        </p:cxnSp>
        <p:cxnSp>
          <p:nvCxnSpPr>
            <p:cNvPr id="578" name="Google Shape;578;p13"/>
            <p:cNvCxnSpPr/>
            <p:nvPr/>
          </p:nvCxnSpPr>
          <p:spPr>
            <a:xfrm>
              <a:off x="1834462" y="2953512"/>
              <a:ext cx="1810512" cy="0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dash"/>
              <a:round/>
              <a:headEnd len="sm" w="sm" type="none"/>
              <a:tailEnd len="med" w="med" type="triangle"/>
            </a:ln>
          </p:spPr>
        </p:cxnSp>
        <p:cxnSp>
          <p:nvCxnSpPr>
            <p:cNvPr id="579" name="Google Shape;579;p13"/>
            <p:cNvCxnSpPr/>
            <p:nvPr/>
          </p:nvCxnSpPr>
          <p:spPr>
            <a:xfrm>
              <a:off x="1572768" y="2240280"/>
              <a:ext cx="2377440" cy="0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dash"/>
              <a:round/>
              <a:headEnd len="sm" w="sm" type="none"/>
              <a:tailEnd len="med" w="med" type="triangle"/>
            </a:ln>
          </p:spPr>
        </p:cxnSp>
      </p:grpSp>
      <p:cxnSp>
        <p:nvCxnSpPr>
          <p:cNvPr id="580" name="Google Shape;580;p13"/>
          <p:cNvCxnSpPr>
            <a:stCxn id="560" idx="3"/>
            <a:endCxn id="565" idx="1"/>
          </p:cNvCxnSpPr>
          <p:nvPr/>
        </p:nvCxnSpPr>
        <p:spPr>
          <a:xfrm>
            <a:off x="3507527" y="5717121"/>
            <a:ext cx="3369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81" name="Google Shape;581;p13"/>
          <p:cNvSpPr/>
          <p:nvPr/>
        </p:nvSpPr>
        <p:spPr>
          <a:xfrm>
            <a:off x="72173" y="6321623"/>
            <a:ext cx="282342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[based in part on AO, p.23]</a:t>
            </a:r>
            <a:endParaRPr/>
          </a:p>
        </p:txBody>
      </p:sp>
      <p:sp>
        <p:nvSpPr>
          <p:cNvPr id="582" name="Google Shape;582;p13"/>
          <p:cNvSpPr/>
          <p:nvPr/>
        </p:nvSpPr>
        <p:spPr>
          <a:xfrm>
            <a:off x="2971800" y="1531203"/>
            <a:ext cx="1636319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Test</a:t>
            </a:r>
            <a:endParaRPr b="0" sz="20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Design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Information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8" name="Google Shape;588;p14"/>
          <p:cNvGrpSpPr/>
          <p:nvPr/>
        </p:nvGrpSpPr>
        <p:grpSpPr>
          <a:xfrm>
            <a:off x="7239000" y="1295400"/>
            <a:ext cx="1788334" cy="4495800"/>
            <a:chOff x="7239000" y="1219200"/>
            <a:chExt cx="1788334" cy="4495800"/>
          </a:xfrm>
        </p:grpSpPr>
        <p:sp>
          <p:nvSpPr>
            <p:cNvPr id="589" name="Google Shape;589;p14"/>
            <p:cNvSpPr/>
            <p:nvPr/>
          </p:nvSpPr>
          <p:spPr>
            <a:xfrm>
              <a:off x="7390257" y="4058950"/>
              <a:ext cx="163707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000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rPr>
                <a:t>Verification</a:t>
              </a:r>
              <a:endParaRPr b="0" sz="20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cxnSp>
          <p:nvCxnSpPr>
            <p:cNvPr id="590" name="Google Shape;590;p14"/>
            <p:cNvCxnSpPr/>
            <p:nvPr/>
          </p:nvCxnSpPr>
          <p:spPr>
            <a:xfrm>
              <a:off x="7239000" y="2286000"/>
              <a:ext cx="274320" cy="0"/>
            </a:xfrm>
            <a:prstGeom prst="straightConnector1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91" name="Google Shape;591;p14"/>
            <p:cNvCxnSpPr/>
            <p:nvPr/>
          </p:nvCxnSpPr>
          <p:spPr>
            <a:xfrm>
              <a:off x="7391400" y="2286000"/>
              <a:ext cx="0" cy="3429000"/>
            </a:xfrm>
            <a:prstGeom prst="straightConnector1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92" name="Google Shape;592;p14"/>
            <p:cNvCxnSpPr/>
            <p:nvPr/>
          </p:nvCxnSpPr>
          <p:spPr>
            <a:xfrm>
              <a:off x="7239000" y="5713322"/>
              <a:ext cx="274320" cy="0"/>
            </a:xfrm>
            <a:prstGeom prst="straightConnector1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93" name="Google Shape;593;p14"/>
            <p:cNvSpPr/>
            <p:nvPr/>
          </p:nvSpPr>
          <p:spPr>
            <a:xfrm>
              <a:off x="7467600" y="1219200"/>
              <a:ext cx="1559734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000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rPr>
                <a:t>Validation</a:t>
              </a:r>
              <a:endParaRPr/>
            </a:p>
          </p:txBody>
        </p:sp>
        <p:cxnSp>
          <p:nvCxnSpPr>
            <p:cNvPr id="594" name="Google Shape;594;p14"/>
            <p:cNvCxnSpPr/>
            <p:nvPr/>
          </p:nvCxnSpPr>
          <p:spPr>
            <a:xfrm>
              <a:off x="7239000" y="1436659"/>
              <a:ext cx="320040" cy="0"/>
            </a:xfrm>
            <a:prstGeom prst="straightConnector1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595" name="Google Shape;595;p14"/>
          <p:cNvSpPr txBox="1"/>
          <p:nvPr>
            <p:ph type="title"/>
          </p:nvPr>
        </p:nvSpPr>
        <p:spPr>
          <a:xfrm>
            <a:off x="0" y="54864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600"/>
              <a:buFont typeface="Verdana"/>
              <a:buNone/>
            </a:pPr>
            <a:r>
              <a:rPr lang="en-US" sz="3600"/>
              <a:t>Testing and </a:t>
            </a:r>
            <a:br>
              <a:rPr lang="en-US" sz="3600"/>
            </a:br>
            <a:r>
              <a:rPr lang="en-US" sz="3600"/>
              <a:t>SW Development Lifecycle</a:t>
            </a:r>
            <a:endParaRPr/>
          </a:p>
        </p:txBody>
      </p:sp>
      <p:grpSp>
        <p:nvGrpSpPr>
          <p:cNvPr id="596" name="Google Shape;596;p14"/>
          <p:cNvGrpSpPr/>
          <p:nvPr/>
        </p:nvGrpSpPr>
        <p:grpSpPr>
          <a:xfrm>
            <a:off x="152400" y="1172528"/>
            <a:ext cx="6781800" cy="4876800"/>
            <a:chOff x="152400" y="2020826"/>
            <a:chExt cx="5038778" cy="3355846"/>
          </a:xfrm>
        </p:grpSpPr>
        <p:grpSp>
          <p:nvGrpSpPr>
            <p:cNvPr id="597" name="Google Shape;597;p14"/>
            <p:cNvGrpSpPr/>
            <p:nvPr/>
          </p:nvGrpSpPr>
          <p:grpSpPr>
            <a:xfrm>
              <a:off x="152400" y="2020826"/>
              <a:ext cx="5038778" cy="3355846"/>
              <a:chOff x="152400" y="2020826"/>
              <a:chExt cx="5038778" cy="3355846"/>
            </a:xfrm>
          </p:grpSpPr>
          <p:sp>
            <p:nvSpPr>
              <p:cNvPr id="598" name="Google Shape;598;p14"/>
              <p:cNvSpPr txBox="1"/>
              <p:nvPr/>
            </p:nvSpPr>
            <p:spPr>
              <a:xfrm>
                <a:off x="152400" y="2020826"/>
                <a:ext cx="1280160" cy="4572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600">
                    <a:solidFill>
                      <a:schemeClr val="dk1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Requirements </a:t>
                </a:r>
                <a:endParaRPr/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600">
                    <a:solidFill>
                      <a:schemeClr val="dk1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Analysis</a:t>
                </a:r>
                <a:endParaRPr/>
              </a:p>
            </p:txBody>
          </p:sp>
          <p:sp>
            <p:nvSpPr>
              <p:cNvPr id="599" name="Google Shape;599;p14"/>
              <p:cNvSpPr txBox="1"/>
              <p:nvPr/>
            </p:nvSpPr>
            <p:spPr>
              <a:xfrm>
                <a:off x="401902" y="2740152"/>
                <a:ext cx="1280160" cy="4572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600">
                    <a:solidFill>
                      <a:schemeClr val="dk1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Architectural</a:t>
                </a:r>
                <a:endParaRPr/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600">
                    <a:solidFill>
                      <a:schemeClr val="dk1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Design</a:t>
                </a:r>
                <a:endParaRPr/>
              </a:p>
            </p:txBody>
          </p:sp>
          <p:sp>
            <p:nvSpPr>
              <p:cNvPr id="600" name="Google Shape;600;p14"/>
              <p:cNvSpPr txBox="1"/>
              <p:nvPr/>
            </p:nvSpPr>
            <p:spPr>
              <a:xfrm>
                <a:off x="706702" y="3456432"/>
                <a:ext cx="1280160" cy="4572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600">
                    <a:solidFill>
                      <a:schemeClr val="dk1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Subsystem</a:t>
                </a:r>
                <a:endParaRPr/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600">
                    <a:solidFill>
                      <a:schemeClr val="dk1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Design</a:t>
                </a:r>
                <a:endParaRPr/>
              </a:p>
            </p:txBody>
          </p:sp>
          <p:sp>
            <p:nvSpPr>
              <p:cNvPr id="601" name="Google Shape;601;p14"/>
              <p:cNvSpPr txBox="1"/>
              <p:nvPr/>
            </p:nvSpPr>
            <p:spPr>
              <a:xfrm>
                <a:off x="1011502" y="4178808"/>
                <a:ext cx="1280160" cy="4572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600">
                    <a:solidFill>
                      <a:schemeClr val="dk1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Detailed</a:t>
                </a:r>
                <a:endParaRPr/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600">
                    <a:solidFill>
                      <a:schemeClr val="dk1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Design</a:t>
                </a:r>
                <a:endParaRPr/>
              </a:p>
            </p:txBody>
          </p:sp>
          <p:sp>
            <p:nvSpPr>
              <p:cNvPr id="602" name="Google Shape;602;p14"/>
              <p:cNvSpPr txBox="1"/>
              <p:nvPr/>
            </p:nvSpPr>
            <p:spPr>
              <a:xfrm>
                <a:off x="1316302" y="4919472"/>
                <a:ext cx="1328908" cy="4572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600">
                    <a:solidFill>
                      <a:schemeClr val="dk1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Implementation</a:t>
                </a:r>
                <a:endParaRPr/>
              </a:p>
            </p:txBody>
          </p:sp>
          <p:sp>
            <p:nvSpPr>
              <p:cNvPr id="603" name="Google Shape;603;p14"/>
              <p:cNvSpPr txBox="1"/>
              <p:nvPr/>
            </p:nvSpPr>
            <p:spPr>
              <a:xfrm>
                <a:off x="4093898" y="2020826"/>
                <a:ext cx="1097280" cy="457200"/>
              </a:xfrm>
              <a:prstGeom prst="rect">
                <a:avLst/>
              </a:prstGeom>
              <a:solidFill>
                <a:srgbClr val="73FBA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600">
                    <a:solidFill>
                      <a:schemeClr val="dk1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Acceptance</a:t>
                </a:r>
                <a:endParaRPr/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600">
                    <a:solidFill>
                      <a:schemeClr val="dk1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Test</a:t>
                </a:r>
                <a:endParaRPr/>
              </a:p>
            </p:txBody>
          </p:sp>
          <p:sp>
            <p:nvSpPr>
              <p:cNvPr id="604" name="Google Shape;604;p14"/>
              <p:cNvSpPr txBox="1"/>
              <p:nvPr/>
            </p:nvSpPr>
            <p:spPr>
              <a:xfrm>
                <a:off x="3789098" y="2740152"/>
                <a:ext cx="1097280" cy="457200"/>
              </a:xfrm>
              <a:prstGeom prst="rect">
                <a:avLst/>
              </a:prstGeom>
              <a:solidFill>
                <a:srgbClr val="73FBA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600">
                    <a:solidFill>
                      <a:schemeClr val="dk1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System</a:t>
                </a:r>
                <a:endParaRPr/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600">
                    <a:solidFill>
                      <a:schemeClr val="dk1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Test</a:t>
                </a:r>
                <a:endParaRPr/>
              </a:p>
            </p:txBody>
          </p:sp>
          <p:sp>
            <p:nvSpPr>
              <p:cNvPr id="605" name="Google Shape;605;p14"/>
              <p:cNvSpPr txBox="1"/>
              <p:nvPr/>
            </p:nvSpPr>
            <p:spPr>
              <a:xfrm>
                <a:off x="3484298" y="3456432"/>
                <a:ext cx="1097280" cy="457200"/>
              </a:xfrm>
              <a:prstGeom prst="rect">
                <a:avLst/>
              </a:prstGeom>
              <a:solidFill>
                <a:srgbClr val="73FBA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600">
                    <a:solidFill>
                      <a:schemeClr val="dk1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Integration</a:t>
                </a:r>
                <a:endParaRPr/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600">
                    <a:solidFill>
                      <a:schemeClr val="dk1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Test</a:t>
                </a:r>
                <a:endParaRPr/>
              </a:p>
            </p:txBody>
          </p:sp>
          <p:sp>
            <p:nvSpPr>
              <p:cNvPr id="606" name="Google Shape;606;p14"/>
              <p:cNvSpPr txBox="1"/>
              <p:nvPr/>
            </p:nvSpPr>
            <p:spPr>
              <a:xfrm>
                <a:off x="3179498" y="4178808"/>
                <a:ext cx="1097280" cy="457200"/>
              </a:xfrm>
              <a:prstGeom prst="rect">
                <a:avLst/>
              </a:prstGeom>
              <a:solidFill>
                <a:srgbClr val="73FBA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600">
                    <a:solidFill>
                      <a:schemeClr val="dk1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Module</a:t>
                </a:r>
                <a:endParaRPr/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600">
                    <a:solidFill>
                      <a:schemeClr val="dk1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Test</a:t>
                </a:r>
                <a:endParaRPr/>
              </a:p>
            </p:txBody>
          </p:sp>
          <p:sp>
            <p:nvSpPr>
              <p:cNvPr id="607" name="Google Shape;607;p14"/>
              <p:cNvSpPr txBox="1"/>
              <p:nvPr/>
            </p:nvSpPr>
            <p:spPr>
              <a:xfrm>
                <a:off x="2895600" y="4919472"/>
                <a:ext cx="1097280" cy="457200"/>
              </a:xfrm>
              <a:prstGeom prst="rect">
                <a:avLst/>
              </a:prstGeom>
              <a:solidFill>
                <a:srgbClr val="73FBA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600">
                    <a:solidFill>
                      <a:schemeClr val="dk1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Unit</a:t>
                </a:r>
                <a:endParaRPr/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600">
                    <a:solidFill>
                      <a:schemeClr val="dk1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Test</a:t>
                </a:r>
                <a:endParaRPr/>
              </a:p>
            </p:txBody>
          </p:sp>
        </p:grpSp>
        <p:grpSp>
          <p:nvGrpSpPr>
            <p:cNvPr id="608" name="Google Shape;608;p14"/>
            <p:cNvGrpSpPr/>
            <p:nvPr/>
          </p:nvGrpSpPr>
          <p:grpSpPr>
            <a:xfrm>
              <a:off x="242316" y="2464308"/>
              <a:ext cx="1060704" cy="2651760"/>
              <a:chOff x="242316" y="2464308"/>
              <a:chExt cx="1060704" cy="2651760"/>
            </a:xfrm>
          </p:grpSpPr>
          <p:cxnSp>
            <p:nvCxnSpPr>
              <p:cNvPr id="609" name="Google Shape;609;p14"/>
              <p:cNvCxnSpPr/>
              <p:nvPr/>
            </p:nvCxnSpPr>
            <p:spPr>
              <a:xfrm flipH="1" rot="-5400000">
                <a:off x="73152" y="2633472"/>
                <a:ext cx="493776" cy="155448"/>
              </a:xfrm>
              <a:prstGeom prst="bentConnector2">
                <a:avLst/>
              </a:prstGeom>
              <a:noFill/>
              <a:ln cap="flat" cmpd="sng" w="19050">
                <a:solidFill>
                  <a:srgbClr val="FFFFFF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610" name="Google Shape;610;p14"/>
              <p:cNvCxnSpPr/>
              <p:nvPr/>
            </p:nvCxnSpPr>
            <p:spPr>
              <a:xfrm flipH="1" rot="-5400000">
                <a:off x="387373" y="3346704"/>
                <a:ext cx="493776" cy="155448"/>
              </a:xfrm>
              <a:prstGeom prst="bentConnector2">
                <a:avLst/>
              </a:prstGeom>
              <a:noFill/>
              <a:ln cap="flat" cmpd="sng" w="19050">
                <a:solidFill>
                  <a:srgbClr val="FFFFFF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611" name="Google Shape;611;p14"/>
              <p:cNvCxnSpPr/>
              <p:nvPr/>
            </p:nvCxnSpPr>
            <p:spPr>
              <a:xfrm flipH="1" rot="-5400000">
                <a:off x="676656" y="4069080"/>
                <a:ext cx="493776" cy="155448"/>
              </a:xfrm>
              <a:prstGeom prst="bentConnector2">
                <a:avLst/>
              </a:prstGeom>
              <a:noFill/>
              <a:ln cap="flat" cmpd="sng" w="19050">
                <a:solidFill>
                  <a:srgbClr val="FFFFFF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612" name="Google Shape;612;p14"/>
              <p:cNvCxnSpPr/>
              <p:nvPr/>
            </p:nvCxnSpPr>
            <p:spPr>
              <a:xfrm flipH="1" rot="-5400000">
                <a:off x="978408" y="4791456"/>
                <a:ext cx="493776" cy="155448"/>
              </a:xfrm>
              <a:prstGeom prst="bentConnector2">
                <a:avLst/>
              </a:prstGeom>
              <a:noFill/>
              <a:ln cap="flat" cmpd="sng" w="19050">
                <a:solidFill>
                  <a:srgbClr val="FFFFFF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</p:grpSp>
        <p:grpSp>
          <p:nvGrpSpPr>
            <p:cNvPr id="613" name="Google Shape;613;p14"/>
            <p:cNvGrpSpPr/>
            <p:nvPr/>
          </p:nvGrpSpPr>
          <p:grpSpPr>
            <a:xfrm flipH="1">
              <a:off x="3962400" y="2464308"/>
              <a:ext cx="1060704" cy="2651760"/>
              <a:chOff x="440436" y="2464308"/>
              <a:chExt cx="1060704" cy="2651760"/>
            </a:xfrm>
          </p:grpSpPr>
          <p:cxnSp>
            <p:nvCxnSpPr>
              <p:cNvPr id="614" name="Google Shape;614;p14"/>
              <p:cNvCxnSpPr/>
              <p:nvPr/>
            </p:nvCxnSpPr>
            <p:spPr>
              <a:xfrm flipH="1" rot="-5400000">
                <a:off x="271272" y="2633472"/>
                <a:ext cx="493776" cy="155448"/>
              </a:xfrm>
              <a:prstGeom prst="bentConnector2">
                <a:avLst/>
              </a:prstGeom>
              <a:noFill/>
              <a:ln cap="flat" cmpd="sng" w="19050">
                <a:solidFill>
                  <a:srgbClr val="FFFFFF"/>
                </a:solidFill>
                <a:prstDash val="solid"/>
                <a:round/>
                <a:headEnd len="med" w="med" type="triangle"/>
                <a:tailEnd len="sm" w="sm" type="none"/>
              </a:ln>
            </p:spPr>
          </p:cxnSp>
          <p:cxnSp>
            <p:nvCxnSpPr>
              <p:cNvPr id="615" name="Google Shape;615;p14"/>
              <p:cNvCxnSpPr/>
              <p:nvPr/>
            </p:nvCxnSpPr>
            <p:spPr>
              <a:xfrm flipH="1" rot="-5400000">
                <a:off x="585493" y="3346704"/>
                <a:ext cx="493776" cy="155448"/>
              </a:xfrm>
              <a:prstGeom prst="bentConnector2">
                <a:avLst/>
              </a:prstGeom>
              <a:noFill/>
              <a:ln cap="flat" cmpd="sng" w="19050">
                <a:solidFill>
                  <a:srgbClr val="FFFFFF"/>
                </a:solidFill>
                <a:prstDash val="solid"/>
                <a:round/>
                <a:headEnd len="med" w="med" type="triangle"/>
                <a:tailEnd len="sm" w="sm" type="none"/>
              </a:ln>
            </p:spPr>
          </p:cxnSp>
          <p:cxnSp>
            <p:nvCxnSpPr>
              <p:cNvPr id="616" name="Google Shape;616;p14"/>
              <p:cNvCxnSpPr/>
              <p:nvPr/>
            </p:nvCxnSpPr>
            <p:spPr>
              <a:xfrm flipH="1" rot="-5400000">
                <a:off x="874776" y="4069080"/>
                <a:ext cx="493776" cy="155448"/>
              </a:xfrm>
              <a:prstGeom prst="bentConnector2">
                <a:avLst/>
              </a:prstGeom>
              <a:noFill/>
              <a:ln cap="flat" cmpd="sng" w="19050">
                <a:solidFill>
                  <a:srgbClr val="FFFFFF"/>
                </a:solidFill>
                <a:prstDash val="solid"/>
                <a:round/>
                <a:headEnd len="med" w="med" type="triangle"/>
                <a:tailEnd len="sm" w="sm" type="none"/>
              </a:ln>
            </p:spPr>
          </p:cxnSp>
          <p:cxnSp>
            <p:nvCxnSpPr>
              <p:cNvPr id="617" name="Google Shape;617;p14"/>
              <p:cNvCxnSpPr/>
              <p:nvPr/>
            </p:nvCxnSpPr>
            <p:spPr>
              <a:xfrm flipH="1" rot="-5400000">
                <a:off x="1176528" y="4791456"/>
                <a:ext cx="493776" cy="155448"/>
              </a:xfrm>
              <a:prstGeom prst="bentConnector2">
                <a:avLst/>
              </a:prstGeom>
              <a:noFill/>
              <a:ln cap="flat" cmpd="sng" w="19050">
                <a:solidFill>
                  <a:srgbClr val="FFFFFF"/>
                </a:solidFill>
                <a:prstDash val="solid"/>
                <a:round/>
                <a:headEnd len="med" w="med" type="triangle"/>
                <a:tailEnd len="sm" w="sm" type="none"/>
              </a:ln>
            </p:spPr>
          </p:cxnSp>
        </p:grpSp>
        <p:cxnSp>
          <p:nvCxnSpPr>
            <p:cNvPr id="618" name="Google Shape;618;p14"/>
            <p:cNvCxnSpPr/>
            <p:nvPr/>
          </p:nvCxnSpPr>
          <p:spPr>
            <a:xfrm>
              <a:off x="2438400" y="4406879"/>
              <a:ext cx="583036" cy="529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dash"/>
              <a:round/>
              <a:headEnd len="sm" w="sm" type="none"/>
              <a:tailEnd len="med" w="med" type="triangle"/>
            </a:ln>
          </p:spPr>
        </p:cxnSp>
        <p:cxnSp>
          <p:nvCxnSpPr>
            <p:cNvPr id="619" name="Google Shape;619;p14"/>
            <p:cNvCxnSpPr/>
            <p:nvPr/>
          </p:nvCxnSpPr>
          <p:spPr>
            <a:xfrm>
              <a:off x="2136934" y="3659262"/>
              <a:ext cx="1215866" cy="0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dash"/>
              <a:round/>
              <a:headEnd len="sm" w="sm" type="none"/>
              <a:tailEnd len="med" w="med" type="triangle"/>
            </a:ln>
          </p:spPr>
        </p:cxnSp>
        <p:cxnSp>
          <p:nvCxnSpPr>
            <p:cNvPr id="620" name="Google Shape;620;p14"/>
            <p:cNvCxnSpPr/>
            <p:nvPr/>
          </p:nvCxnSpPr>
          <p:spPr>
            <a:xfrm>
              <a:off x="1834462" y="2953512"/>
              <a:ext cx="1810512" cy="0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dash"/>
              <a:round/>
              <a:headEnd len="sm" w="sm" type="none"/>
              <a:tailEnd len="med" w="med" type="triangle"/>
            </a:ln>
          </p:spPr>
        </p:cxnSp>
        <p:cxnSp>
          <p:nvCxnSpPr>
            <p:cNvPr id="621" name="Google Shape;621;p14"/>
            <p:cNvCxnSpPr/>
            <p:nvPr/>
          </p:nvCxnSpPr>
          <p:spPr>
            <a:xfrm>
              <a:off x="1572768" y="2240280"/>
              <a:ext cx="2377440" cy="0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dash"/>
              <a:round/>
              <a:headEnd len="sm" w="sm" type="none"/>
              <a:tailEnd len="med" w="med" type="triangle"/>
            </a:ln>
          </p:spPr>
        </p:cxnSp>
      </p:grpSp>
      <p:cxnSp>
        <p:nvCxnSpPr>
          <p:cNvPr id="622" name="Google Shape;622;p14"/>
          <p:cNvCxnSpPr>
            <a:stCxn id="602" idx="3"/>
            <a:endCxn id="607" idx="1"/>
          </p:cNvCxnSpPr>
          <p:nvPr/>
        </p:nvCxnSpPr>
        <p:spPr>
          <a:xfrm>
            <a:off x="3507527" y="5717121"/>
            <a:ext cx="3369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23" name="Google Shape;623;p14"/>
          <p:cNvSpPr/>
          <p:nvPr/>
        </p:nvSpPr>
        <p:spPr>
          <a:xfrm>
            <a:off x="72173" y="6321623"/>
            <a:ext cx="282342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[based in part on AO, p.23]</a:t>
            </a:r>
            <a:endParaRPr/>
          </a:p>
        </p:txBody>
      </p:sp>
      <p:sp>
        <p:nvSpPr>
          <p:cNvPr id="624" name="Google Shape;624;p14"/>
          <p:cNvSpPr/>
          <p:nvPr/>
        </p:nvSpPr>
        <p:spPr>
          <a:xfrm>
            <a:off x="2971800" y="1531203"/>
            <a:ext cx="1636319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Test</a:t>
            </a:r>
            <a:endParaRPr b="0" sz="20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Design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Information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15"/>
          <p:cNvSpPr txBox="1"/>
          <p:nvPr>
            <p:ph type="title"/>
          </p:nvPr>
        </p:nvSpPr>
        <p:spPr>
          <a:xfrm>
            <a:off x="0" y="4572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800"/>
              <a:buFont typeface="Verdana"/>
              <a:buNone/>
            </a:pPr>
            <a:r>
              <a:rPr lang="en-US" sz="3800"/>
              <a:t>Principles of Software Testing </a:t>
            </a:r>
            <a:endParaRPr/>
          </a:p>
        </p:txBody>
      </p:sp>
      <p:sp>
        <p:nvSpPr>
          <p:cNvPr id="631" name="Google Shape;631;p15"/>
          <p:cNvSpPr txBox="1"/>
          <p:nvPr>
            <p:ph idx="1" type="body"/>
          </p:nvPr>
        </p:nvSpPr>
        <p:spPr>
          <a:xfrm>
            <a:off x="228600" y="2133600"/>
            <a:ext cx="8686800" cy="39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entury Schoolbook"/>
              <a:buAutoNum type="arabicPeriod"/>
            </a:pPr>
            <a:r>
              <a:rPr lang="en-US" sz="2000"/>
              <a:t>Exhaustive testing is impossible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Century Schoolbook"/>
              <a:buAutoNum type="arabicPeriod"/>
            </a:pPr>
            <a:r>
              <a:rPr lang="en-US" sz="2000"/>
              <a:t>We need to know when to stop testing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Century Schoolbook"/>
              <a:buAutoNum type="arabicPeriod"/>
            </a:pPr>
            <a:r>
              <a:rPr lang="en-US" sz="2000"/>
              <a:t>There is no silver bullet in software testing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Century Schoolbook"/>
              <a:buAutoNum type="arabicPeriod"/>
            </a:pPr>
            <a:r>
              <a:rPr lang="en-US" sz="2000"/>
              <a:t>Faults happen in some places more than others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Century Schoolbook"/>
              <a:buAutoNum type="arabicPeriod"/>
            </a:pPr>
            <a:r>
              <a:rPr lang="en-US" sz="2000"/>
              <a:t>Bug-free software does not exist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Century Schoolbook"/>
              <a:buAutoNum type="arabicPeriod"/>
            </a:pPr>
            <a:r>
              <a:rPr lang="en-US" sz="2000"/>
              <a:t>Testing is context-dependent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Century Schoolbook"/>
              <a:buAutoNum type="arabicPeriod"/>
            </a:pPr>
            <a:r>
              <a:rPr lang="en-US" sz="2000"/>
              <a:t>Verification is not validation</a:t>
            </a:r>
            <a:endParaRPr/>
          </a:p>
        </p:txBody>
      </p:sp>
      <p:sp>
        <p:nvSpPr>
          <p:cNvPr id="632" name="Google Shape;632;p15"/>
          <p:cNvSpPr txBox="1"/>
          <p:nvPr/>
        </p:nvSpPr>
        <p:spPr>
          <a:xfrm>
            <a:off x="1066800" y="1143000"/>
            <a:ext cx="7086600" cy="5334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60"/>
              <a:buFont typeface="Arial"/>
              <a:buNone/>
            </a:pPr>
            <a:r>
              <a:rPr b="0" i="1" lang="en-US" sz="2200">
                <a:solidFill>
                  <a:schemeClr val="lt1"/>
                </a:solidFill>
                <a:latin typeface="Short Stack"/>
                <a:ea typeface="Short Stack"/>
                <a:cs typeface="Short Stack"/>
                <a:sym typeface="Short Stack"/>
              </a:rPr>
              <a:t>Why testing is so hard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16"/>
          <p:cNvSpPr txBox="1"/>
          <p:nvPr>
            <p:ph type="title"/>
          </p:nvPr>
        </p:nvSpPr>
        <p:spPr>
          <a:xfrm>
            <a:off x="0" y="4572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800"/>
              <a:buFont typeface="Verdana"/>
              <a:buNone/>
            </a:pPr>
            <a:r>
              <a:rPr lang="en-US" sz="3800"/>
              <a:t>Tactical Goals: Each Test</a:t>
            </a:r>
            <a:endParaRPr/>
          </a:p>
        </p:txBody>
      </p:sp>
      <p:sp>
        <p:nvSpPr>
          <p:cNvPr id="639" name="Google Shape;639;p16"/>
          <p:cNvSpPr txBox="1"/>
          <p:nvPr>
            <p:ph idx="1" type="body"/>
          </p:nvPr>
        </p:nvSpPr>
        <p:spPr>
          <a:xfrm>
            <a:off x="228600" y="2590800"/>
            <a:ext cx="8686800" cy="35052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oto Sans Symbols"/>
              <a:buChar char="▪"/>
            </a:pPr>
            <a:r>
              <a:rPr lang="en-US" sz="2000"/>
              <a:t>What is objective and requirement of each test?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600"/>
              <a:buFont typeface="Noto Sans Symbols"/>
              <a:buChar char="▪"/>
            </a:pPr>
            <a:r>
              <a:rPr lang="en-US" sz="2000"/>
              <a:t>What fact does each test try to verify? </a:t>
            </a:r>
            <a:endParaRPr sz="2000">
              <a:solidFill>
                <a:srgbClr val="FFFF00"/>
              </a:solidFill>
            </a:endParaRPr>
          </a:p>
          <a:p>
            <a:pPr indent="-285750" lvl="0" marL="285750" rt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600"/>
              <a:buFont typeface="Noto Sans Symbols"/>
              <a:buChar char="▪"/>
            </a:pPr>
            <a:r>
              <a:rPr lang="en-US" sz="2000"/>
              <a:t>What are the threshold reliability requirements? 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600"/>
              <a:buFont typeface="Noto Sans Symbols"/>
              <a:buChar char="▪"/>
            </a:pPr>
            <a:r>
              <a:rPr lang="en-US" sz="2000"/>
              <a:t>What are the planned coverage levels? 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600"/>
              <a:buFont typeface="Noto Sans Symbols"/>
              <a:buChar char="▪"/>
            </a:pPr>
            <a:r>
              <a:rPr lang="en-US" sz="2000"/>
              <a:t>How many tests are needed? </a:t>
            </a:r>
            <a:endParaRPr/>
          </a:p>
          <a:p>
            <a:pPr indent="-184150" lvl="0" marL="285750" rt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600"/>
              <a:buFont typeface="Noto Sans Symbols"/>
              <a:buNone/>
            </a:pPr>
            <a:r>
              <a:t/>
            </a:r>
            <a:endParaRPr sz="2000"/>
          </a:p>
        </p:txBody>
      </p:sp>
      <p:sp>
        <p:nvSpPr>
          <p:cNvPr id="640" name="Google Shape;640;p16"/>
          <p:cNvSpPr txBox="1"/>
          <p:nvPr/>
        </p:nvSpPr>
        <p:spPr>
          <a:xfrm>
            <a:off x="1066800" y="1143000"/>
            <a:ext cx="7086600" cy="8382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60"/>
              <a:buFont typeface="Arial"/>
              <a:buNone/>
            </a:pPr>
            <a:r>
              <a:rPr b="0" i="1" lang="en-US" sz="2200">
                <a:solidFill>
                  <a:schemeClr val="lt1"/>
                </a:solidFill>
                <a:latin typeface="Short Stack"/>
                <a:ea typeface="Short Stack"/>
                <a:cs typeface="Short Stack"/>
                <a:sym typeface="Short Stack"/>
              </a:rPr>
              <a:t>”If you don’t know why you’re conducting each test, </a:t>
            </a:r>
            <a:endParaRPr/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60"/>
              <a:buFont typeface="Arial"/>
              <a:buNone/>
            </a:pPr>
            <a:r>
              <a:rPr b="0" i="1" lang="en-US" sz="2200">
                <a:solidFill>
                  <a:schemeClr val="lt1"/>
                </a:solidFill>
                <a:latin typeface="Short Stack"/>
                <a:ea typeface="Short Stack"/>
                <a:cs typeface="Short Stack"/>
                <a:sym typeface="Short Stack"/>
              </a:rPr>
              <a:t>it won’t be very helpful” – Jeff Offutt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17"/>
          <p:cNvSpPr txBox="1"/>
          <p:nvPr>
            <p:ph type="title"/>
          </p:nvPr>
        </p:nvSpPr>
        <p:spPr>
          <a:xfrm>
            <a:off x="0" y="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000"/>
              <a:buFont typeface="Verdana"/>
              <a:buNone/>
            </a:pPr>
            <a:r>
              <a:rPr lang="en-US"/>
              <a:t>Wrap-up</a:t>
            </a:r>
            <a:endParaRPr/>
          </a:p>
        </p:txBody>
      </p:sp>
      <p:sp>
        <p:nvSpPr>
          <p:cNvPr id="646" name="Google Shape;646;p17"/>
          <p:cNvSpPr txBox="1"/>
          <p:nvPr>
            <p:ph idx="1" type="body"/>
          </p:nvPr>
        </p:nvSpPr>
        <p:spPr>
          <a:xfrm>
            <a:off x="304800" y="1066800"/>
            <a:ext cx="86106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8450" lvl="0" marL="298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60"/>
              <a:buChar char="•"/>
            </a:pPr>
            <a:r>
              <a:rPr lang="en-US" sz="2200"/>
              <a:t>A tester’s goal is to </a:t>
            </a:r>
            <a:r>
              <a:rPr lang="en-US" sz="2200">
                <a:solidFill>
                  <a:srgbClr val="FFFF00"/>
                </a:solidFill>
              </a:rPr>
              <a:t>eliminate faults as early as possible</a:t>
            </a:r>
            <a:endParaRPr/>
          </a:p>
          <a:p>
            <a:pPr indent="-298450" lvl="0" marL="29845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1760"/>
              <a:buChar char="•"/>
            </a:pPr>
            <a:r>
              <a:rPr lang="en-US" sz="2200"/>
              <a:t>Testing </a:t>
            </a:r>
            <a:endParaRPr/>
          </a:p>
          <a:p>
            <a:pPr indent="-225425" lvl="1" marL="690563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-US" sz="2000">
                <a:solidFill>
                  <a:srgbClr val="FFFF00"/>
                </a:solidFill>
              </a:rPr>
              <a:t>Improves</a:t>
            </a:r>
            <a:r>
              <a:rPr lang="en-US" sz="2000"/>
              <a:t> </a:t>
            </a:r>
            <a:r>
              <a:rPr lang="en-US" sz="2000">
                <a:solidFill>
                  <a:srgbClr val="FFFF00"/>
                </a:solidFill>
              </a:rPr>
              <a:t>software quality</a:t>
            </a:r>
            <a:endParaRPr sz="2000"/>
          </a:p>
          <a:p>
            <a:pPr indent="-225425" lvl="1" marL="690563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2000"/>
              <a:buChar char="●"/>
            </a:pPr>
            <a:r>
              <a:rPr lang="en-US" sz="2000">
                <a:solidFill>
                  <a:srgbClr val="FFFF00"/>
                </a:solidFill>
              </a:rPr>
              <a:t>Reduce cost</a:t>
            </a:r>
            <a:endParaRPr sz="2000"/>
          </a:p>
          <a:p>
            <a:pPr indent="-225425" lvl="1" marL="690563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2000"/>
              <a:buChar char="●"/>
            </a:pPr>
            <a:r>
              <a:rPr lang="en-US" sz="2000">
                <a:solidFill>
                  <a:srgbClr val="FFFF00"/>
                </a:solidFill>
              </a:rPr>
              <a:t>Preserve customer satisfaction</a:t>
            </a:r>
            <a:endParaRPr/>
          </a:p>
          <a:p>
            <a:pPr indent="-98425" lvl="1" marL="690563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>
              <a:solidFill>
                <a:srgbClr val="FFFF00"/>
              </a:solidFill>
            </a:endParaRPr>
          </a:p>
          <a:p>
            <a:pPr indent="-273050" lvl="0" marL="288925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760"/>
              <a:buChar char="•"/>
            </a:pPr>
            <a:r>
              <a:rPr b="1" lang="en-US" sz="2200">
                <a:solidFill>
                  <a:srgbClr val="FFFF00"/>
                </a:solidFill>
              </a:rPr>
              <a:t>What’s next?</a:t>
            </a:r>
            <a:endParaRPr/>
          </a:p>
          <a:p>
            <a:pPr indent="-177800" lvl="0" marL="642938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</a:pPr>
            <a:r>
              <a:rPr lang="en-US" sz="2000"/>
              <a:t>Test automation</a:t>
            </a:r>
            <a:endParaRPr/>
          </a:p>
          <a:p>
            <a:pPr indent="-177800" lvl="0" marL="642938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600"/>
              <a:buChar char="•"/>
            </a:pPr>
            <a:r>
              <a:rPr lang="en-US" sz="2000"/>
              <a:t>JUnit</a:t>
            </a:r>
            <a:endParaRPr/>
          </a:p>
          <a:p>
            <a:pPr indent="-158750" lvl="1" marL="563245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8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View">
  <a:themeElements>
    <a:clrScheme name="Custom 7">
      <a:dk1>
        <a:srgbClr val="000000"/>
      </a:dk1>
      <a:lt1>
        <a:srgbClr val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View">
  <a:themeElements>
    <a:clrScheme name="Custom 7">
      <a:dk1>
        <a:srgbClr val="000000"/>
      </a:dk1>
      <a:lt1>
        <a:srgbClr val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Custom Design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3_Custom Design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2_Custom Design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1_Custom Design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2017-07-01T01:04:54Z</dcterms:created>
  <dc:creator>Microsoft Office User</dc:creator>
</cp:coreProperties>
</file>